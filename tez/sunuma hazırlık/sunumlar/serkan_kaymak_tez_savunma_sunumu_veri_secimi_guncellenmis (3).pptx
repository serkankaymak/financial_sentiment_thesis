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95"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9" d="100"/>
          <a:sy n="119" d="100"/>
        </p:scale>
        <p:origin x="2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20–25 sn</a:t>
            </a:r>
          </a:p>
          <a:p>
            <a:endParaRPr/>
          </a:p>
          <a:p>
            <a:r>
              <a:t>Merhaba, ben Serkan Kaymak. Bu çalışmada finansal duygu analizinde FinBERT, BERT, DistilBERT ve RoBERTa modellerini yalnızca iç test başarısına göre değil, farklı finansal veri kaynaklarına ne kadar genelleyebildiklerine göre karşılaştırdım. Sunum boyunca şu soruya cevap arayacağım: Finans alanına özel bir model gerçekten her koşulda en iyi model midir?</a:t>
            </a:r>
          </a:p>
          <a:p>
            <a:endParaRPr/>
          </a:p>
          <a:p>
            <a:r>
              <a:t>Geçiş: Önce problemi ve yöntemi kısaca kurup ardından deney sonuçlarına geçeceğim.</a:t>
            </a:r>
          </a:p>
          <a:p>
            <a:endParaRPr/>
          </a:p>
          <a:p>
            <a:r>
              <a:t>[Sources]</a:t>
            </a:r>
          </a:p>
          <a:p>
            <a:r>
              <a:t>- tez/finansal_duygu_analizi_tez.pdf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35-45 sn</a:t>
            </a:r>
          </a:p>
          <a:p>
            <a:endParaRPr/>
          </a:p>
          <a:p>
            <a:r>
              <a:t>Sunum altı adımda ilerliyor. Önce finansal duygu analizinin neden zor olduğunu ve araştırma sorularını kuracağım. Ardından veri setlerinin rollerini, iç ve dış test ayrımını, modelleri ve deney akışını açıklayacağım. Bulgularda baseline, fine-tuning, üç seed ve iki dış test sonucunu göstereceğim. Son bölümde hata mekanizmaları, sınırlılıklar ve doğrudan bulgulardan çıkan gelecek deneyleri bağlayacağım.</a:t>
            </a:r>
          </a:p>
          <a:p>
            <a:endParaRPr/>
          </a:p>
          <a:p>
            <a:r>
              <a:t>Geçiş: Önce problemin neden sıradan bir sınıflandırma problemi olmadığını görelim.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 sn</a:t>
            </a:r>
          </a:p>
          <a:p>
            <a:endParaRPr/>
          </a:p>
          <a:p>
            <a:r>
              <a:t>İlk bölümde çalışmanın motivasyonunu ve temel araştırma problemini kuruyorum.</a:t>
            </a:r>
          </a:p>
          <a:p>
            <a:endParaRPr/>
          </a:p>
          <a:p>
            <a:r>
              <a:t>Geçiş: Finansal metinlerde tek bir kelimeye bakarak duygu çıkarmak çoğu zaman yeterli değildir.</a:t>
            </a:r>
          </a:p>
          <a:p>
            <a:endParaRPr/>
          </a:p>
          <a:p>
            <a:r>
              <a:t>[Sources]</a:t>
            </a:r>
          </a:p>
          <a:p>
            <a:r>
              <a:t>- tez/finansal_duygu_analizi_tez.pdf, Bölüm 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40 sn</a:t>
            </a:r>
          </a:p>
          <a:p>
            <a:endParaRPr/>
          </a:p>
          <a:p>
            <a:r>
              <a:t>Finansal kararlar yalnızca fiyat ve bilanço gibi sayısal verilerden etkilenmiyor; haberler, şirket açıklamaları, analist raporları ve sosyal medya da piyasa algısını şekillendiriyor. Buradaki zorluk bağlamdır. Örneğin ‘gelir yüzde 10 arttı’ olumlu görünebilir. Ancak devamında ‘analist beklentilerinin altında kaldı’ deniyorsa aynı haber olumsuz algılanabilir. Bu nedenle görevimiz kelime polaritesi bulmak değil, metnin şirket veya piyasa üzerindeki etkisini yorumlamaktır.</a:t>
            </a:r>
          </a:p>
          <a:p>
            <a:endParaRPr/>
          </a:p>
          <a:p>
            <a:r>
              <a:t>Geçiş: Bu zorluk bizi başlangıçtaki FinBERT beklentisine götürüyor.</a:t>
            </a:r>
          </a:p>
          <a:p>
            <a:endParaRPr/>
          </a:p>
          <a:p>
            <a:r>
              <a:t>[Sources]</a:t>
            </a:r>
          </a:p>
          <a:p>
            <a:r>
              <a:t>- tez/finansal_duygu_analizi_tez.pdf, Bölüm 1.1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60-70 sn</a:t>
            </a:r>
          </a:p>
          <a:p>
            <a:endParaRPr/>
          </a:p>
          <a:p>
            <a:r>
              <a:t>FinBERT'i tek aşamalı bir model gibi düşünmemek gerekir. ProsusAI sürümünde önce Reuters TRC2'nin bir alt kümesiyle etiketsiz finansal metinler üzerinde dil modeli uyarlaması yapılmıştır. Ardından Financial PhraseBank ile Positive, Negative ve Neutral duygu sınıflandırması için fine-tuning uygulanmıştır.</a:t>
            </a:r>
          </a:p>
          <a:p>
            <a:endParaRPr/>
          </a:p>
          <a:p>
            <a:r>
              <a:t>Veri seçerken ilk adil-test ilkemiz, modelin yayımlanmış eğitim geçmişinde açıkça bulunan bir veri setini bağımsız başarı kanıtı olarak kullanmamaktı. Bu nedenle PhraseBank ana testten çıkarıldı; yalnız yardımcı eğitim ve ablasyon rolünde kaldı. Twitter Financial News ve S&amp;P, FinBERT'in açıklanan eğitim kaynaklarında yer almıyor. Reuters örneklerimiz TRC2 ile aynı örnekler olarak gösterilmiş değildir; ancak kaynak ailesi yakın olduğu için Reuters testini tamamen kaynak-bağımsız saymıyor ve bunu sınırlılık olarak raporluyoruz.</a:t>
            </a:r>
          </a:p>
          <a:p>
            <a:endParaRPr/>
          </a:p>
          <a:p>
            <a:r>
              <a:t>Geçiş: Bu ilke veri setlerinin çalışmadaki rollerini belirledi.</a:t>
            </a:r>
          </a:p>
          <a:p>
            <a:endParaRPr/>
          </a:p>
          <a:p>
            <a:r>
              <a:t>[Sources]</a:t>
            </a:r>
          </a:p>
          <a:p>
            <a:r>
              <a:t>- https://github.com/ProsusAI/finBERT</a:t>
            </a:r>
          </a:p>
          <a:p>
            <a:r>
              <a:t>- https://huggingface.co/ProsusAI/finbert</a:t>
            </a:r>
          </a:p>
          <a:p>
            <a:r>
              <a:t>- https://arxiv.org/abs/1908.10063</a:t>
            </a:r>
          </a:p>
          <a:p>
            <a:r>
              <a:t>- finansal_duygu_analizi_tez.pdf, Bölüm 3.2 ve 3.3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50 sn</a:t>
            </a:r>
          </a:p>
          <a:p>
            <a:endParaRPr/>
          </a:p>
          <a:p>
            <a:r>
              <a:t>İlk sorum hazır FinBERT’in ne kadar güçlü bir başlangıç modeli sunduğuydu. İkinci sorum, aynı görevde ince ayarlanan dört modelden hangisinin öne çıktığıydı. Üçüncü ve asıl sorum, iç testteki sıralamanın S&amp;P 500 ve Reuters dış testlerinde korunup korunmadığıydı. Dördüncü sorum ise veri kaynağı ve etiket semantiğinin hataları nasıl değiştirdiğiydi. Katkı olarak aynı deney düzeninde genel ve finans-özgü modelleri, çoklu tohumları ve dış genellemeyi birlikte inceliyorum.</a:t>
            </a:r>
          </a:p>
          <a:p>
            <a:endParaRPr/>
          </a:p>
          <a:p>
            <a:r>
              <a:t>Geçiş: Şimdi bu soruları hangi veri ve deney düzeniyle sınadığımı göstereyim.</a:t>
            </a:r>
          </a:p>
          <a:p>
            <a:endParaRPr/>
          </a:p>
          <a:p>
            <a:r>
              <a:t>[Sources]</a:t>
            </a:r>
          </a:p>
          <a:p>
            <a:r>
              <a:t>- tez/finansal_duygu_analizi_tez.pdf, Tablo 1-1 ve Bölüm 1.4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 sn</a:t>
            </a:r>
          </a:p>
          <a:p>
            <a:endParaRPr/>
          </a:p>
          <a:p>
            <a:r>
              <a:t>Yöntem bölümünde veri setlerinin rollerini, ana metriği ve deney akışını özetleyeceğim.</a:t>
            </a:r>
          </a:p>
          <a:p>
            <a:endParaRPr/>
          </a:p>
          <a:p>
            <a:r>
              <a:t>Geçiş: Buradaki en kritik tasarım kararı, eğitim verisi ile dış test verisini kesin biçimde ayırmaktır.</a:t>
            </a:r>
          </a:p>
          <a:p>
            <a:endParaRPr/>
          </a:p>
          <a:p>
            <a:r>
              <a:t>[Sources]</a:t>
            </a:r>
          </a:p>
          <a:p>
            <a:r>
              <a:t>- tez/finansal_duygu_analizi_tez.pdf, Bölüm 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Burada iki kavramı ayırıyorum. İç test, ana veri setinden eğitim öncesinde ayrılan ve modelin eğitim sırasında hiç görmediği bölümdür. Kaynak ve etiketleme mantığı eğitim verisiyle aynıdır; bu nedenle temel soru modelin hedef görevi öğrenip öğrenmediğidir.</a:t>
            </a:r>
          </a:p>
          <a:p>
            <a:endParaRPr/>
          </a:p>
          <a:p>
            <a:r>
              <a:t>Dış test ise eğitimden bağımsız başka bir kaynaktan gelir. Dil, dönem, metin uzunluğu ve etiket karar sınırları değişebilir. Buradaki soru modelin yeni finansal kaynağa genelleyip genelleyemediğidir.</a:t>
            </a:r>
          </a:p>
          <a:p>
            <a:endParaRPr/>
          </a:p>
          <a:p>
            <a:r>
              <a:t>Bu tezde iç test Twitter held-out setidir. S&amp;P daha yakın, Reuters daha uzak dış test olarak kullanıldı. Bu ayrımı sonraki sonuç slaytlarında kısaca tekrar hatırlatacağım.</a:t>
            </a:r>
          </a:p>
          <a:p>
            <a:endParaRPr/>
          </a:p>
          <a:p>
            <a:r>
              <a:t>[Sources]</a:t>
            </a:r>
          </a:p>
          <a:p>
            <a:r>
              <a:t>- finansal_duygu_analizi_tez.pdf, Bölüm 3.2 ve 3.7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85-95 sn</a:t>
            </a:r>
          </a:p>
          <a:p>
            <a:endParaRPr/>
          </a:p>
          <a:p>
            <a:r>
              <a:t>Veri setlerini dört ölçütle seçtik: finansal duygu görevine doğrudan uyum, Negative/Neutral/Positive ile eşlenebilir üç sınıf, açık erişim ve tekrar üretilebilirlik, ayrıca modelin bilinen eğitim geçmişinden bağımsız test kurabilme.</a:t>
            </a:r>
          </a:p>
          <a:p>
            <a:endParaRPr/>
          </a:p>
          <a:p>
            <a:r>
              <a:t>Twitter Financial News veri kartı, finansla ilgili İngilizce tweetleri Bearish, Bullish ve Neutral olarak etiketlenmiş bir korpus şeklinde tanımlıyor. Fakat etiketleyicilerin kim olduğu, insan ya da uzman olup olmadığı, kaç oy verildiği, uzlaşı oranı ve uyuşmazlıkların nasıl çözüldüğü belgelenmiyor. Dolayısıyla bu veri setini güvenilirliği doğrulanmış uzman-gold standardı olduğu için değil; göreve doğrudan uyduğu, hazır üç sınıf sunduğu ve açık biçimde yeniden kullanılabildiği için ana hedef veri olarak seçtik. Etiket kökenindeki bu belirsizliği sınırlılık olarak açıkça yazıyoruz.</a:t>
            </a:r>
          </a:p>
          <a:p>
            <a:endParaRPr/>
          </a:p>
          <a:p>
            <a:r>
              <a:t>PhraseBank'ın etiketleme süreci daha ayrıntılıdır: toplam 16 finans altyapılı etiketleyici vardır ve her cümle 5 ile 8 oy almıştır. Buna karşın FinBERT bu veriyle sentiment fine-tuning gördüğü için PhraseBank bağımsız test olamaz; deneydeki 4.840 kullanılabilir örnek yalnız eğitim/ablasyon rolündedir. S&amp;P ve Reuters'ta son karar araştırmacıya aittir; ChatGPT açıklama ve karar desteği vermiştir, bağımsız ikinci insan etiketi yoktur.</a:t>
            </a:r>
          </a:p>
          <a:p>
            <a:endParaRPr/>
          </a:p>
          <a:p>
            <a:r>
              <a:t>[Sources]</a:t>
            </a:r>
          </a:p>
          <a:p>
            <a:r>
              <a:t>- https://huggingface.co/datasets/zeroshot/twitter-financial-news-sentiment</a:t>
            </a:r>
          </a:p>
          <a:p>
            <a:r>
              <a:t>- https://huggingface.co/datasets/zeroshot/twitter-financial-news-sentiment/raw/main/README.md</a:t>
            </a:r>
          </a:p>
          <a:p>
            <a:r>
              <a:t>- https://huggingface.co/datasets/takala/financial_phrasebank</a:t>
            </a:r>
          </a:p>
          <a:p>
            <a:r>
              <a:t>- https://github.com/ProsusAI/finBERT</a:t>
            </a:r>
          </a:p>
          <a:p>
            <a:r>
              <a:t>- finansal_duygu_analizi_tez.pdf, Bölüm 3.2.1-3.2.4 ve 5.2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İç testte Neutral sınıfı 1.549 örnekle toplamın yaklaşık yüzde 64,9'unu oluşturuyor. Böyle bir dağılımda accuracy, büyük sınıf iyi tahmin edildiğinde diğer iki sınıftaki zayıflığı gizleyebilir.</a:t>
            </a:r>
          </a:p>
          <a:p>
            <a:endParaRPr/>
          </a:p>
          <a:p>
            <a:r>
              <a:t>Önce her sınıf için precision ve recall hesaplanır. F1 bu ikisinin harmonik ortalamasıdır. Macro-F1 ise Negative, Neutral ve Positive sınıflarının F1 değerlerini basit ortalamayla birleştirir. Böylece her sınıf sonuca eşit ağırlıkla katılır.</a:t>
            </a:r>
          </a:p>
          <a:p>
            <a:endParaRPr/>
          </a:p>
          <a:p>
            <a:r>
              <a:t>Bu yüzden ana karşılaştırma metriğim Macro-F1'dir; accuracy ve sınıf bazlı skorları destekleyici olarak raporluyorum.</a:t>
            </a:r>
          </a:p>
          <a:p>
            <a:endParaRPr/>
          </a:p>
          <a:p>
            <a:r>
              <a:t>[Sources]</a:t>
            </a:r>
          </a:p>
          <a:p>
            <a:r>
              <a:t>- finansal_duygu_analizi_tez.pdf, Bölüm 3.2.6 ve 3.4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60-70 sn</a:t>
            </a:r>
          </a:p>
          <a:p>
            <a:endParaRPr/>
          </a:p>
          <a:p>
            <a:r>
              <a:t>Deney akışındaki her aşama farklı bir soruya cevap veriyor. Baseline aşamasında alan-özgü FinBERT'i hiç hedefe uyarlamadan test ederek hazır modelin başlangıç gücünü ölçtüm. Fine-tuning aşamasında dört modeli aynı görev ve ayarlarla eğiterek adil karşılaştırma yaptım.</a:t>
            </a:r>
          </a:p>
          <a:p>
            <a:endParaRPr/>
          </a:p>
          <a:p>
            <a:r>
              <a:t>İç test, hedef görevin öğrenilip öğrenilmediğini ölçüyor. Üç farklı seed, rastgele ağırlık başlangıcı ve veri sırasının sonucu tesadüfen belirlemesini azaltıyor. S&amp;P ve Reuters dış testleri, görülmemiş kaynaklara aktarımı ölçüyor. Son olarak hata, confidence ve verimlilik analizleri yalnız hangi modelin kazandığını değil, neden kazandığını ve maliyetini açıklıyor.</a:t>
            </a:r>
          </a:p>
          <a:p>
            <a:endParaRPr/>
          </a:p>
          <a:p>
            <a:r>
              <a:t>Geçiş: Bu akışta karşılaştırılan modelleri netleştirelim.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Burada model adları kadar eğitim koşulunu da netleştiriyorum. Original FinBERT, ProsusAI/finbert modelini ek eğitim yapmadan doğrudan test ettiğimiz baseline'dır. Fine-tuned FinBERT ise yalnız Twitter ile değil, 8.110 Twitter Financial News ve 4.840 Financial PhraseBank örneğinin birleşimiyle yeniden fine-tune edilmiştir. Validation'daki 1.432 ve testteki 2.386 örnek yalnız Twitter'dandır.</a:t>
            </a:r>
          </a:p>
          <a:p>
            <a:endParaRPr/>
          </a:p>
          <a:p>
            <a:r>
              <a:t>BERT, DistilBERT ve RoBERTa da aynı birleşik eğitim göreviyle karşılaştırıldı. Dolayısıyla bu deney model mimarisini ve birleşik veriye uyarlamayı karşılaştırır; FinBERT için Twitter-only bir kol bulunmadığından yalnız hedef verinin etkisini ayrı ölçmez.</a:t>
            </a:r>
          </a:p>
          <a:p>
            <a:endParaRPr/>
          </a:p>
          <a:p>
            <a:r>
              <a:t>[Sources]</a:t>
            </a:r>
          </a:p>
          <a:p>
            <a:r>
              <a:t>- review/08_finetune_finbert_target_dataset.ipynb</a:t>
            </a:r>
          </a:p>
          <a:p>
            <a:r>
              <a:t>- finansal_duygu_analizi_tez.pdf, Bölüm 3.2.1 ve 3.3</a:t>
            </a:r>
          </a:p>
          <a:p>
            <a:r>
              <a:t>- https://huggingface.co/ProsusAI/finbert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 sn</a:t>
            </a:r>
          </a:p>
          <a:p>
            <a:endParaRPr/>
          </a:p>
          <a:p>
            <a:r>
              <a:t>Bulguları önce iç testten, sonra dış testlerden ve son olarak tanısal analizlerden okuyacağım.</a:t>
            </a:r>
          </a:p>
          <a:p>
            <a:endParaRPr/>
          </a:p>
          <a:p>
            <a:r>
              <a:t>Geçiş: İlk soru, hazır FinBERT’in hedef göreve uyarlanmadan ne kadar yeterli olduğuydu.</a:t>
            </a:r>
          </a:p>
          <a:p>
            <a:endParaRPr/>
          </a:p>
          <a:p>
            <a:r>
              <a:t>[Sources]</a:t>
            </a:r>
          </a:p>
          <a:p>
            <a:r>
              <a:t>- tez/finansal_duygu_analizi_tez.pdf, Bölüm 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Hazır FinBERT finansal dili bilen güçlü bir başlangıç modelidir. ProsusAI sürümü Reuters TRC2 ile alan uyarlaması görmüş, sentiment başlığı Financial PhraseBank ile eğitilmiştir. Buna rağmen hedef Twitter iç testinde Macro-F1 0.6794'tür.</a:t>
            </a:r>
          </a:p>
          <a:p>
            <a:endParaRPr/>
          </a:p>
          <a:p>
            <a:r>
              <a:t>Bu bir çelişki değil. FinBERT genel finansal sentiment sinyallerini öğrenmiştir; hedef Twitter veri seti ise bazı cümlelerde şirket ya da piyasa yönünü farklı bir karar sınırıyla etiketler. En belirgin hata Neutral örneklerin Negative sınıfına kaymasıdır.</a:t>
            </a:r>
          </a:p>
          <a:p>
            <a:endParaRPr/>
          </a:p>
          <a:p>
            <a:r>
              <a:t>Ana çıkarım: Alan bilgisi başlangıç sağlar; hedef etiket semantiği ayrıca öğrenilmelidir.</a:t>
            </a:r>
          </a:p>
          <a:p>
            <a:endParaRPr/>
          </a:p>
          <a:p>
            <a:r>
              <a:t>[Sources]</a:t>
            </a:r>
          </a:p>
          <a:p>
            <a:r>
              <a:t>- finansal_duygu_analizi_tez.pdf, Bölüm 4.1</a:t>
            </a:r>
          </a:p>
          <a:p>
            <a:r>
              <a:t>- https://huggingface.co/ProsusAI/finbert</a:t>
            </a:r>
          </a:p>
          <a:p>
            <a:r>
              <a:t>- https://github.com/ProsusAI/finBERT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65-75 sn</a:t>
            </a:r>
          </a:p>
          <a:p>
            <a:endParaRPr/>
          </a:p>
          <a:p>
            <a:r>
              <a:t>İlk örnekte “jobless claims drop” ifadesindeki drop kelimesi yüzeysel olarak olumsuz görünüyor. Fakat işsizlik başvurularının beklentinin altına düşmesi piyasa açısından olumlu bir sinyaldir. Hazır FinBERT bunu yüzde 97'nin üzerinde güvenle Negative tahmin etmiştir.</a:t>
            </a:r>
          </a:p>
          <a:p>
            <a:endParaRPr/>
          </a:p>
          <a:p>
            <a:r>
              <a:t>İkinci örnek karışık sinyal taşır: beef satışları düşerken chicken satışları artıyor. Hedef etiket Neutral'dır; model ise fell bölümüne baskın ağırlık vererek Negative tahmin etmiştir.</a:t>
            </a:r>
          </a:p>
          <a:p>
            <a:endParaRPr/>
          </a:p>
          <a:p>
            <a:r>
              <a:t>Bu iki örnek aynı mekanizmayı gösteriyor: Model genel kelime tonuna odaklanıyor; hedef veri ise ekonomik veya piyasa yönünü ve karışık sinyali dikkate alıyor. Göreve özgü fine-tuning'in neden gerekli olduğu somut olarak burada görülüyor.</a:t>
            </a:r>
          </a:p>
          <a:p>
            <a:endParaRPr/>
          </a:p>
          <a:p>
            <a:r>
              <a:t>[Sources]</a:t>
            </a:r>
          </a:p>
          <a:p>
            <a:r>
              <a:t>- review/02_baseline_original_finbert.ipynb</a:t>
            </a:r>
          </a:p>
          <a:p>
            <a:r>
              <a:t>- finansal_duygu_analizi_tez.pdf, Bölüm 4.1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42 numaralı seed'de bütün ince ayarlı modeller hazır FinBERT'i geçti. FinBERT 0,6794'ten 0,8512'ye yükseldi; RoBERTa ise 0,8651 ile birinci oldu.</a:t>
            </a:r>
          </a:p>
          <a:p>
            <a:endParaRPr/>
          </a:p>
          <a:p>
            <a:r>
              <a:t>Fakat burada nedensel yorumu doğru kurmak gerekiyor. Fine-tuned FinBERT'in eğitim havuzu 8.110 Twitter ve 4.840 PhraseBank örneğidir; validation ve test yalnız Twitter'dır. Başlangıçtaki ProsusAI FinBERT zaten PhraseBank ile sentiment fine-tuning görmüştür. Bu nedenle PhraseBank model için tamamen yeni değildir. Ayrıca Twitter-only FinBERT ablasyonu çalıştırılmadı. Sonuç, birleşik veriyle yeniden fine-tuning'in kazanımını gösterir; artışın ne kadarının yalnız Twitter'dan geldiğini göstermez.</a:t>
            </a:r>
          </a:p>
          <a:p>
            <a:endParaRPr/>
          </a:p>
          <a:p>
            <a:r>
              <a:t>Geçiş: Sıralamanın tek bir seed'e bağlı olup olmadığını üç seed ile kontrol ettim.</a:t>
            </a:r>
          </a:p>
          <a:p>
            <a:endParaRPr/>
          </a:p>
          <a:p>
            <a:r>
              <a:t>[Sources]</a:t>
            </a:r>
          </a:p>
          <a:p>
            <a:r>
              <a:t>- review/08_finetune_finbert_target_dataset.ipynb</a:t>
            </a:r>
          </a:p>
          <a:p>
            <a:r>
              <a:t>- finansal_duygu_analizi_tez.pdf, Tablo 4-1</a:t>
            </a:r>
          </a:p>
          <a:p>
            <a:r>
              <a:t>- https://huggingface.co/ProsusAI/finbert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45-55 sn</a:t>
            </a:r>
          </a:p>
          <a:p>
            <a:endParaRPr/>
          </a:p>
          <a:p>
            <a:r>
              <a:t>Tek bir eğitim koşusu model sıralamasını rastgele başlangıç, mini-batch sırası veya dropout etkisiyle değiştirebilir. Bu yüzden aynı eğitimleri 42, 123 ve 2024 seed'leriyle tekrarladım.</a:t>
            </a:r>
          </a:p>
          <a:p>
            <a:endParaRPr/>
          </a:p>
          <a:p>
            <a:r>
              <a:t>RoBERTa ortalama 0.8728 Macro-F1 ile ilk sırada kaldı. Standart sapmalar tüm modellerde düşüktür. Bu, sıralamanın tek bir şanslı koşuya dayanmadığını gösterir; yine de üç seed sonsuz kesinlik sağlamaz, yalnız rastlantısal oynaklığı daha görünür kılar.</a:t>
            </a:r>
          </a:p>
          <a:p>
            <a:endParaRPr/>
          </a:p>
          <a:p>
            <a:r>
              <a:t>[Sources]</a:t>
            </a:r>
          </a:p>
          <a:p>
            <a:r>
              <a:t>- finansal_duygu_analizi_tez.pdf, Bölüm 3.5.2 ve 4.2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75-85 sn</a:t>
            </a:r>
          </a:p>
          <a:p>
            <a:endParaRPr/>
          </a:p>
          <a:p>
            <a:r>
              <a:t>Sonuçlara geçmeden üç aracı tanımlayayım. McNemar testi aynı örnekler üzerinde iki modelin doğru-yanlış kararlarının uyuşmadığı çiftleri kullanır; yani modellerin hata oranı farkının rastlantısal olup olmadığını sınar. Birden fazla ikili karşılaştırma yaptığımızda çok sayıda p-değeri yanlış-pozitif riskini artırır. Holm düzeltmesi p-değerlerini küçükten büyüğe sıralayan adım-aşağı bir yöntemle aile düzeyindeki hata riskini kontrol eder. Bootstrap ise aynı örnek çiftlerini 5.000 kez yeniden örnekleyerek Macro-F1 farkı için yüzde 95 güven aralığı üretir.</a:t>
            </a:r>
          </a:p>
          <a:p>
            <a:endParaRPr/>
          </a:p>
          <a:p>
            <a:r>
              <a:t>Bu çerçevede RoBERTa'nın ince ayarlı FinBERT'e üstünlüğü seed 123 ve 2024'te Holm sonrasında da anlamlıdır. S&amp;P'de hazır ve ince ayarlı FinBERT farkı anlamlı değildir. Reuters'ta ise hazır FinBERT lehine güçlü ve güven aralığı sıfırı dışlayan fark vardır.</a:t>
            </a:r>
          </a:p>
          <a:p>
            <a:endParaRPr/>
          </a:p>
          <a:p>
            <a:r>
              <a:t>[Sources]</a:t>
            </a:r>
          </a:p>
          <a:p>
            <a:r>
              <a:t>- finansal_duygu_analizi_tez.pdf, Bölüm 3.5 ve 4.10</a:t>
            </a:r>
          </a:p>
          <a:p>
            <a:r>
              <a:t>- outputs/external_statistical_significance/external_statistical_significance_results.csv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40 sn</a:t>
            </a:r>
          </a:p>
          <a:p>
            <a:endParaRPr/>
          </a:p>
          <a:p>
            <a:r>
              <a:t>S&amp;P 500 dış testinde RoBERTa 0,8145 ile yine birinci oldu. İnce ayarlı FinBERT 0,7723, hazır FinBERT ise 0,7521 aldı. İç testteki sıralama büyük ölçüde korundu; ancak RoBERTa’nın skoru yaklaşık 0,87’den 0,81’e düştü. Bu, yakın bir finansal dış kaynağa geçildiğinde bile performans kaybı başladığını gösteriyor. Yine de bu sette RoBERTa’nın genellemesi güçlü kaldı.</a:t>
            </a:r>
          </a:p>
          <a:p>
            <a:endParaRPr/>
          </a:p>
          <a:p>
            <a:r>
              <a:t>Geçiş: Reuters’ta ise daha keskin ve tez açısından daha önemli bir değişim ortaya çıktı.</a:t>
            </a:r>
          </a:p>
          <a:p>
            <a:endParaRPr/>
          </a:p>
          <a:p>
            <a:r>
              <a:t>[Sources]</a:t>
            </a:r>
          </a:p>
          <a:p>
            <a:r>
              <a:t>- tez/finansal_duygu_analizi_tez.pdf, Tablo 4-2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Reuters testinde sıralama tersine döndü. Hazır FinBERT 0,6866 ile birinci olurken RoBERTa 0,6388, birleşik Twitter+PhraseBank ile yeniden ince ayarlı FinBERT ise 0,6101 aldı. Bu sonuç, fine-tuning'in iç testte kazandırırken daha uzak bir dağılımda genellemeyi azaltabileceğini düşündürüyor.</a:t>
            </a:r>
          </a:p>
          <a:p>
            <a:endParaRPr/>
          </a:p>
          <a:p>
            <a:r>
              <a:t>Ancak iki sınırı birlikte hatırlatıyorum. Birincisi, ince ayarlı FinBERT için Twitter-only kolu olmadığından düşüşü yalnız Twitter'a bağlayamayız; birleşik eğitim düzeninin sonucudur. İkincisi, hazır FinBERT Reuters TRC2 ile alan uyarlaması gördüğünden Reuters kaynak ailesine tamamen yabancı değildir. Bu bir örnek sızıntısı kanıtı değildir, fakat kaynak yakınlığı yorumda dikkate alınmalıdır.</a:t>
            </a:r>
          </a:p>
          <a:p>
            <a:endParaRPr/>
          </a:p>
          <a:p>
            <a:r>
              <a:t>[Sources]</a:t>
            </a:r>
          </a:p>
          <a:p>
            <a:r>
              <a:t>- finansal_duygu_analizi_tez.pdf, Tablo 4-4 ve Bölüm 5.2</a:t>
            </a:r>
          </a:p>
          <a:p>
            <a:r>
              <a:t>- review/08_finetune_finbert_target_dataset.ipynb</a:t>
            </a:r>
          </a:p>
          <a:p>
            <a:r>
              <a:t>- https://github.com/ProsusAI/finBERT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 sn</a:t>
            </a:r>
          </a:p>
          <a:p>
            <a:endParaRPr/>
          </a:p>
          <a:p>
            <a:r>
              <a:t>Bu bölümde skorların arkasındaki hata mekanizmasını, özellikle tarafsız sınıfını ve etiket semantiğini inceliyorum.</a:t>
            </a:r>
          </a:p>
          <a:p>
            <a:endParaRPr/>
          </a:p>
          <a:p>
            <a:r>
              <a:t>Geçiş: En belirgin kırılma tarafsız sınıfında görülüyor.</a:t>
            </a:r>
          </a:p>
          <a:p>
            <a:endParaRPr/>
          </a:p>
          <a:p>
            <a:r>
              <a:t>[Sources]</a:t>
            </a:r>
          </a:p>
          <a:p>
            <a:r>
              <a:t>- tez/finansal_duygu_analizi_tez.pdf, Bölüm 4.8 ve 4.12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45 sn</a:t>
            </a:r>
          </a:p>
          <a:p>
            <a:endParaRPr/>
          </a:p>
          <a:p>
            <a:r>
              <a:t>İnce ayarlı FinBERT’in tarafsız sınıf F1’i iç testte 0,9157. S&amp;P’de 0,7538’e, Reuters’ta 0,5277’ye düşüyor. Sentetik sette ise 0,9876 gibi çok yüksek bir değer var. Bu büyük oynama, sorunun yalnızca model kapasitesi olmadığını düşündürüyor. Veri kaynağı değiştikçe ‘tarafsız’ etiketinin pratik anlamı ve karar sınırı da değişebiliyor.</a:t>
            </a:r>
          </a:p>
          <a:p>
            <a:endParaRPr/>
          </a:p>
          <a:p>
            <a:r>
              <a:t>Geçiş: Burada iki kavramı ayırmak gerekiyor: domain shift ve label semantics.</a:t>
            </a:r>
          </a:p>
          <a:p>
            <a:endParaRPr/>
          </a:p>
          <a:p>
            <a:r>
              <a:t>[Sources]</a:t>
            </a:r>
          </a:p>
          <a:p>
            <a:r>
              <a:t>- tez/finansal_duygu_analizi_tez.pdf, Ek B.3 ve Bölüm 5.3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45 sn</a:t>
            </a:r>
          </a:p>
          <a:p>
            <a:endParaRPr/>
          </a:p>
          <a:p>
            <a:r>
              <a:t>Domain shift, eğitim ve test verilerinin farklı dağılımlardan gelmesidir. Kısa Twitter başlıklarıyla profesyonel Reuters haberlerinin dili aynı değildir. Label semantics ise aynı etiket adlarının farklı karar kurallarına dayanabilmesidir. Örneğin gelir artışı tek başına pozitif sayılabilir; fakat beklenti altı kaldığında negatif veya tarafsız etiketlenebilir. Bu iki etki Reuters düşüşünü birlikte açıklayan temel adaylardır.</a:t>
            </a:r>
          </a:p>
          <a:p>
            <a:endParaRPr/>
          </a:p>
          <a:p>
            <a:r>
              <a:t>Geçiş: Örnek bazlı hata analizi modelin bu sınırlarda nasıl davrandığını daha açık gösteriyor.</a:t>
            </a:r>
          </a:p>
          <a:p>
            <a:endParaRPr/>
          </a:p>
          <a:p>
            <a:r>
              <a:t>[Sources]</a:t>
            </a:r>
          </a:p>
          <a:p>
            <a:r>
              <a:t>- tez/finansal_duygu_analizi_tez.pdf, Bölüm 5.2–5.3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45 sn</a:t>
            </a:r>
          </a:p>
          <a:p>
            <a:endParaRPr/>
          </a:p>
          <a:p>
            <a:r>
              <a:t>İnce ayarlı FinBERT iç testte toplam 282 hata yaptı. Bunların 78’i tarafsızdan pozitife, 75’i tarafsızdan negatife geçişti. Daha önemlisi, yanlış tahminlerin yaklaşık yüzde 77’sinde model güveni 0,90’ın üzerindeydi. Yani model yalnızca kararsız olduğu için hata yapmıyor; bazı örneklerde öğrendiği karar sınırından yüksek güvenle emin olup yanlış etiket üretiyor. Bu nedenle kalibrasyon analizi devam çalışması için anlamlı.</a:t>
            </a:r>
          </a:p>
          <a:p>
            <a:endParaRPr/>
          </a:p>
          <a:p>
            <a:r>
              <a:t>Geçiş: Veri kaynağının etkisini doğrudan sınamak için PhraseBank ablasyonu yaptım.</a:t>
            </a:r>
          </a:p>
          <a:p>
            <a:endParaRPr/>
          </a:p>
          <a:p>
            <a:r>
              <a:t>[Sources]</a:t>
            </a:r>
          </a:p>
          <a:p>
            <a:r>
              <a:t>- tez/finansal_duygu_analizi_tez.pdf, Tablo 4-10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70-80 sn</a:t>
            </a:r>
          </a:p>
          <a:p>
            <a:endParaRPr/>
          </a:p>
          <a:p>
            <a:r>
              <a:t>Financial PhraseBank insan etiketlidir. Veri setinde toplam 16 finans altyapılı etiketleyici bulunur: üç araştırmacı ve Aalto Üniversitesi işletme yüksek lisans öğrencileri. Her cümle 5 ile 8 kişi tarafından değerlendirilmiş; veri kartında yüzde 50, 66, 75 ve 100 uzlaşı eşikleriyle farklı alt kümeler sunulmuştur. Bu yüzden doğru ifade “her cümle 5-8 uzman tarafından etiketlendi” değil, “16 finans altyapılı etiketleyiciden her cümle için 5-8 oy alındı”dır.</a:t>
            </a:r>
          </a:p>
          <a:p>
            <a:endParaRPr/>
          </a:p>
          <a:p>
            <a:r>
              <a:t>RoBERTa ablasyonunda yalnız Twitter ile eğitim, Twitter artı PhraseBank koşulundan hem iç testte hem Reuters'ta daha yüksek çıktı. Bu tek-seed bir bulgudur ve neden-sonuç kanıtlamaz. Makul yorum, daha iyi belgelenmiş insan etiketi olsa bile kaynak dili ve etiket semantiği uyuşmadığında ek verinin fayda sağlamayabileceğidir.</a:t>
            </a:r>
          </a:p>
          <a:p>
            <a:endParaRPr/>
          </a:p>
          <a:p>
            <a:r>
              <a:t>Bu ablasyon RoBERTa içindir. FinBERT için Twitter-only bir kol çalıştırılmamıştır.</a:t>
            </a:r>
          </a:p>
          <a:p>
            <a:endParaRPr/>
          </a:p>
          <a:p>
            <a:r>
              <a:t>[Sources]</a:t>
            </a:r>
          </a:p>
          <a:p>
            <a:r>
              <a:t>- https://huggingface.co/datasets/takala/financial_phrasebank</a:t>
            </a:r>
          </a:p>
          <a:p>
            <a:r>
              <a:t>- finansal_duygu_analizi_tez.pdf, Bölüm 3.6.2, 4.8 ve 5.2</a:t>
            </a:r>
          </a:p>
          <a:p>
            <a:r>
              <a:t>- review/08_finetune_finbert_target_dataset.ipynb</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45 sn</a:t>
            </a:r>
          </a:p>
          <a:p>
            <a:endParaRPr/>
          </a:p>
          <a:p>
            <a:r>
              <a:t>Sentetik sette RoBERTa 0,9957 gibi neredeyse kusursuz bir Macro-F1 üretti. Ancak gerçek Reuters verisinde aynı model 0,6388 düzeyine geriliyor. Bu, sentetik örneklerde sınıf ipuçlarının daha açık olabileceğini ve sentetik testin gerçek dünya genellemesini iyimser gösterebildiğini düşündürüyor. S&amp;P üzerinde en iyi zero-shot NLI sonucu da 0,558 ile denetimli modellerin belirgin biçimde gerisinde kaldı.</a:t>
            </a:r>
          </a:p>
          <a:p>
            <a:endParaRPr/>
          </a:p>
          <a:p>
            <a:r>
              <a:t>Geçiş: Model seçimi yalnız doğruluk değil, hesaplama maliyeti açısından da değerlendirildi.</a:t>
            </a:r>
          </a:p>
          <a:p>
            <a:endParaRPr/>
          </a:p>
          <a:p>
            <a:r>
              <a:t>[Sources]</a:t>
            </a:r>
          </a:p>
          <a:p>
            <a:r>
              <a:t>- tez/finansal_duygu_analizi_tez.pdf, Tablolar 4-3 ve 4-6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40 sn</a:t>
            </a:r>
          </a:p>
          <a:p>
            <a:endParaRPr/>
          </a:p>
          <a:p>
            <a:r>
              <a:t>CPU ölçümlerinde DistilBERT saniyede 70,3 örnek işleyerek BERT’in yaklaşık 2,24 katı hızına ulaştı. RoBERTa ise saniyede 35,91 örnekle daha yavaş olmasına rağmen en yüksek iç test performansını verdi. Dolayısıyla üretim ortamında tek bir doğru seçim yok. Kaynak kısıtlı ve gecikmeye duyarlı bir sistemde DistilBERT; en yüksek sınıflandırma başarısının öncelikli olduğu durumda RoBERTa daha uygun olabilir.</a:t>
            </a:r>
          </a:p>
          <a:p>
            <a:endParaRPr/>
          </a:p>
          <a:p>
            <a:r>
              <a:t>Geçiş: Bu bulguları şimdi tek bir sonuç cümlesinde birleştireyim.</a:t>
            </a:r>
          </a:p>
          <a:p>
            <a:endParaRPr/>
          </a:p>
          <a:p>
            <a:r>
              <a:t>[Sources]</a:t>
            </a:r>
          </a:p>
          <a:p>
            <a:r>
              <a:t>- tez/finansal_duygu_analizi_tez.pdf, Tablo 4-9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15-20 sn</a:t>
            </a:r>
          </a:p>
          <a:p>
            <a:endParaRPr/>
          </a:p>
          <a:p>
            <a:r>
              <a:t>Son bölümde önce çalışmanın dört ana sonucunu tek çerçevede özetleyeceğim. Ardından geçerlik sınırlarını açıkça belirtecek ve bu sınırlılıklardan doğrudan çıkan etiket güvenilirliği, kontrollü veri büyütme ve yeni deney adımlarını sunacağım.</a:t>
            </a:r>
          </a:p>
          <a:p>
            <a:endParaRPr/>
          </a:p>
          <a:p>
            <a:r>
              <a:t>Geçiş: Önce tezin tek parça halinde ana mesajını özetleyelim.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 sn</a:t>
            </a:r>
          </a:p>
          <a:p>
            <a:endParaRPr/>
          </a:p>
          <a:p>
            <a:r>
              <a:t>Birincisi, finans alanına özel ön eğitim tek başına yeterli değil. İkincisi, göreve özgü ince ayar iç dağılımda çok güçlü kazanç sağlıyor. Üçüncüsü, bu kazanç farklı kaynaklarda garanti değil; Reuters’ta hazır FinBERT yeniden öne geçti. Dördüncüsü, veri miktarından çok veri kaynağı ve etiket semantiği belirleyici olabiliyor. Bu nedenle savunma mesajım şu: iyi bir iç test skoru, gerçek dünya genellemesini tek başına kanıtlamaz.</a:t>
            </a:r>
          </a:p>
          <a:p>
            <a:endParaRPr/>
          </a:p>
          <a:p>
            <a:r>
              <a:t>Geçiş: Bu yorumu yaparken çalışmanın sınırlılıklarını da açık biçimde belirtmek gerekiyor.</a:t>
            </a:r>
          </a:p>
          <a:p>
            <a:endParaRPr/>
          </a:p>
          <a:p>
            <a:r>
              <a:t>[Sources]</a:t>
            </a:r>
          </a:p>
          <a:p>
            <a:r>
              <a:t>- tez/finansal_duygu_analizi_tez.pdf, Bölüm 6.1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Devam planındaki ilk adım yeniden etiketlemedir. Burada kullanacağım üç model belirsiz değil: ChatGPT, Claude ve Gemini. Amaç tek bir modelin kararına bağımlı kalmadan hem eğitim adaylarını hem de dış test adaylarını daha güvenilir biçimde sınıflandırmak.</a:t>
            </a:r>
          </a:p>
          <a:p>
            <a:endParaRPr/>
          </a:p>
          <a:p>
            <a:r>
              <a:t>Kurgu şöyle olacak: Üç model aynı metin için aynı etiketi verirse bu örnek 3/3 consensus olarak güvenilir çekirdek sete alınacak. İki model aynı, biri farklı karar verirse 2/3 majority olarak ayrı tutulacak ve duyarlılık analizinde değerlendirilecek. Üç model birbirinden ayrılırsa örnek belirsiz kabul edilip ya dışarıda bırakılacak ya da ayrıca hata analizi konusu yapılacak.</a:t>
            </a:r>
          </a:p>
          <a:p>
            <a:endParaRPr/>
          </a:p>
          <a:p>
            <a:r>
              <a:t>Buradaki amaç araştırmayı başkasına devretmek değil; benim nihai veri seçimi kararımı daha sistematik ve denetlenebilir hale getirmektir. Son karar yine araştırma tasarımına aittir, modeller karar destek aracı olarak kullanılacaktır.</a:t>
            </a:r>
          </a:p>
          <a:p>
            <a:endParaRPr/>
          </a:p>
          <a:p>
            <a:r>
              <a:t>[Sources]</a:t>
            </a:r>
          </a:p>
          <a:p>
            <a:r>
              <a:t>- finansal_duygu_analizi_tez.pdf, Bölüm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60-70 sn</a:t>
            </a:r>
          </a:p>
          <a:p>
            <a:endParaRPr/>
          </a:p>
          <a:p>
            <a:r>
              <a:t>Devam planındaki ikinci adım, eğitim verisini yalnız daha büyük yapmak değil, kontrollü biçimde çeşitlendirmektir. Bu çalışmada ana eğitim Twitter ve PhraseBank üzerinden kuruldu. Sonraki aşamada consensus ile güvenilir bulunan S&amp;P ve Reuters örneklerinin yalnız train adayı bölümü eğitim havuzuna eklenebilir. Kilitli external test bölümü ise en baştan ayrılacak ve eğitim, veri seçimi ya da hiperparametre kararlarında hiç kullanılmayacak.</a:t>
            </a:r>
          </a:p>
          <a:p>
            <a:endParaRPr/>
          </a:p>
          <a:p>
            <a:r>
              <a:t>Bu genişletmeye model seti de eşlik edecek. FinGPT ve Financial-RoBERTa ayrı finans-özgü model alternatifleri olarak deneye alınacak. FinGPT sentiment kaynaklarında Financial PhraseBank, FiQA, Twitter Financial News ve GPT-news tabanlı instruction sentiment verileri bulunduğu için iki şeyi birlikte yapmam gerekir: Birincisi, FinGPT'i yalnız skor açısından değil, daha önce görmüş olabileceği veri kaynakları açısından da raporlamak. İkincisi, ek eğitim veri setlerini ve Financial-RoBERTa gibi yeni modelleri benchmark overlap açısından açık denetlemek.</a:t>
            </a:r>
          </a:p>
          <a:p>
            <a:endParaRPr/>
          </a:p>
          <a:p>
            <a:r>
              <a:t>Bu nedenle yeni kurgu üç parçalıdır: mevcut Twitter+PhraseBank temel eğitim havuzu, kontrollü consensus dış-kaynak train adayı ve FinGPT ile Financial-RoBERTa dahil yeni model karşılaştırması. Ana soru şudur: kaynak çeşitliliği ve finans-özgü model ailesi genişlediğinde dış genelleme gerçekten güçleniyor mu?</a:t>
            </a:r>
          </a:p>
          <a:p>
            <a:endParaRPr/>
          </a:p>
          <a:p>
            <a:r>
              <a:t>[Sources]</a:t>
            </a:r>
          </a:p>
          <a:p>
            <a:r>
              <a:t>- https://github.com/AI4Finance-Foundation/FinGPT</a:t>
            </a:r>
          </a:p>
          <a:p>
            <a:r>
              <a:t>- https://huggingface.co/datasets/FinGPT/fingpt-sentiment-train</a:t>
            </a:r>
          </a:p>
          <a:p>
            <a:r>
              <a:t>- https://huggingface.co/soleimanian/financial-roberta-large-sentiment</a:t>
            </a:r>
          </a:p>
          <a:p>
            <a:r>
              <a:t>- https://huggingface.co/datasets/zeroshot/twitter-financial-news-sentiment</a:t>
            </a:r>
          </a:p>
          <a:p>
            <a:r>
              <a:t>- https://huggingface.co/datasets/takala/financial_phrasebank</a:t>
            </a:r>
          </a:p>
          <a:p>
            <a:r>
              <a:t>- finansal_duygu_analizi_tez.pdf, Bölüm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55-65 sn</a:t>
            </a:r>
          </a:p>
          <a:p>
            <a:endParaRPr/>
          </a:p>
          <a:p>
            <a:r>
              <a:t>Yeni deneyleri dört ailede topluyorum. İlk deney, fine-tuning miktarını değiştirerek aşırı adaptasyonun dış genellemeyi bozup bozmadığını ölçecek. İkinci deney, veri ve model kompozisyonunu birlikte ele alacak: Twitter, PhraseBank, S&amp;P, Reuters ve ek finansal sentiment veri setlerinin oranları değiştirilecek; aynı zamanda FinGPT ve Financial-RoBERTa ayrı finans-özgü model alternatifleri olarak karşılaştırmaya alınacak.</a:t>
            </a:r>
          </a:p>
          <a:p>
            <a:endParaRPr/>
          </a:p>
          <a:p>
            <a:r>
              <a:t>Üçüncü deney label semantics üzerinedir. Positive, Neutral ve Negative karar sınırları Twitter, PhraseBank, S&amp;P ve Reuters arasında aynı mı, yoksa aynı etiket adı farklı karar mantıklarına mı dayanıyor? Dördüncü deney ise calibration analizidir; model yanlış olduğunda ne kadar emin davranıyor?</a:t>
            </a:r>
          </a:p>
          <a:p>
            <a:endParaRPr/>
          </a:p>
          <a:p>
            <a:r>
              <a:t>Bu deneylerle yalnız “hangi model yüksek skor aldı?” sorusunu değil, hangi veri karışımı ve model ailesinin farklı finansal kaynaklarda daha sağlam kaldığını ölçmeyi hedefliyorum.</a:t>
            </a:r>
          </a:p>
          <a:p>
            <a:endParaRPr/>
          </a:p>
          <a:p>
            <a:r>
              <a:t>[Sources]</a:t>
            </a:r>
          </a:p>
          <a:p>
            <a:r>
              <a:t>- finansal_duygu_analizi_tez.pdf, Bölüm 6</a:t>
            </a:r>
          </a:p>
          <a:p>
            <a:r>
              <a:t>- https://github.com/AI4Finance-Foundation/FinGPT</a:t>
            </a:r>
          </a:p>
          <a:p>
            <a:r>
              <a:t>- https://huggingface.co/datasets/FinGPT/fingpt-sentiment-train</a:t>
            </a:r>
          </a:p>
          <a:p>
            <a:r>
              <a:t>- https://huggingface.co/soleimanian/financial-roberta-large-sentiment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195B-DACE-5317-2E74-E7321FA58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FF0C0-A778-09F6-C47E-B3E7094E3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FCA90-F3E7-97BB-C21F-0099D6C7C993}"/>
              </a:ext>
            </a:extLst>
          </p:cNvPr>
          <p:cNvSpPr>
            <a:spLocks noGrp="1"/>
          </p:cNvSpPr>
          <p:nvPr>
            <p:ph type="body" idx="1"/>
          </p:nvPr>
        </p:nvSpPr>
        <p:spPr/>
        <p:txBody>
          <a:bodyPr/>
          <a:lstStyle/>
          <a:p>
            <a:r>
              <a:t>Konuşma süresi: 55-65 sn</a:t>
            </a:r>
          </a:p>
          <a:p>
            <a:endParaRPr/>
          </a:p>
          <a:p>
            <a:r>
              <a:t>Yeni deneyleri dört ailede topluyorum. İlk deney, fine-tuning miktarını değiştirerek aşırı adaptasyonun dış genellemeyi bozup bozmadığını ölçecek. İkinci deney, veri ve model kompozisyonunu birlikte ele alacak: Twitter, PhraseBank, S&amp;P, Reuters ve ek finansal sentiment veri setlerinin oranları değiştirilecek; aynı zamanda FinGPT ve Financial-RoBERTa ayrı finans-özgü model alternatifleri olarak karşılaştırmaya alınacak.</a:t>
            </a:r>
          </a:p>
          <a:p>
            <a:endParaRPr/>
          </a:p>
          <a:p>
            <a:r>
              <a:t>Üçüncü deney label semantics üzerinedir. Positive, Neutral ve Negative karar sınırları Twitter, PhraseBank, S&amp;P ve Reuters arasında aynı mı, yoksa aynı etiket adı farklı karar mantıklarına mı dayanıyor? Dördüncü deney ise calibration analizidir; model yanlış olduğunda ne kadar emin davranıyor?</a:t>
            </a:r>
          </a:p>
          <a:p>
            <a:endParaRPr/>
          </a:p>
          <a:p>
            <a:r>
              <a:t>Bu deneylerle yalnız “hangi model yüksek skor aldı?” sorusunu değil, hangi veri karışımı ve model ailesinin farklı finansal kaynaklarda daha sağlam kaldığını ölçmeyi hedefliyorum.</a:t>
            </a:r>
          </a:p>
          <a:p>
            <a:endParaRPr/>
          </a:p>
          <a:p>
            <a:r>
              <a:t>[Sources]</a:t>
            </a:r>
          </a:p>
          <a:p>
            <a:r>
              <a:t>- finansal_duygu_analizi_tez.pdf, Bölüm 6</a:t>
            </a:r>
          </a:p>
          <a:p>
            <a:r>
              <a:t>- https://github.com/AI4Finance-Foundation/FinGPT</a:t>
            </a:r>
          </a:p>
          <a:p>
            <a:r>
              <a:t>- https://huggingface.co/datasets/FinGPT/fingpt-sentiment-train</a:t>
            </a:r>
          </a:p>
          <a:p>
            <a:r>
              <a:t>- https://huggingface.co/soleimanian/financial-roberta-large-sentiment</a:t>
            </a:r>
          </a:p>
          <a:p>
            <a:r>
              <a:t>[/Sources]</a:t>
            </a:r>
          </a:p>
        </p:txBody>
      </p:sp>
      <p:sp>
        <p:nvSpPr>
          <p:cNvPr id="4" name="Slide Number Placeholder 3">
            <a:extLst>
              <a:ext uri="{FF2B5EF4-FFF2-40B4-BE49-F238E27FC236}">
                <a16:creationId xmlns:a16="http://schemas.microsoft.com/office/drawing/2014/main" id="{07B3C464-0D46-DF12-8CEF-F3D0EF39C38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5897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20 sn</a:t>
            </a:r>
          </a:p>
          <a:p>
            <a:endParaRPr/>
          </a:p>
          <a:p>
            <a:r>
              <a:t>Özetle, finansal duygu analizinde model başarısı yalnız mimariye veya alan-özgü ön eğitime bağlı değil. Hedefe özgü ince ayar, veri kaynağı ve etiket semantiği birlikte belirleyici. Bu nedenle iç test başarısını mutlaka bağımsız dış testlerle doğrulamak gerekiyor. Dinlediğiniz için teşekkür ederim; sorularınızı memnuniyetle yanıtlarım.</a:t>
            </a:r>
          </a:p>
          <a:p>
            <a:endParaRPr/>
          </a:p>
          <a:p>
            <a:r>
              <a:t>Geçiş: Sorular gelirse sonraki ek slaytları kullanabilirim.</a:t>
            </a:r>
          </a:p>
          <a:p>
            <a:endParaRPr/>
          </a:p>
          <a:p>
            <a:r>
              <a:t>[Sources]</a:t>
            </a:r>
          </a:p>
          <a:p>
            <a:r>
              <a:t>- tez/finansal_duygu_analizi_tez.pdf, Bölüm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Sunulmayacak</a:t>
            </a:r>
          </a:p>
          <a:p>
            <a:endParaRPr/>
          </a:p>
          <a:p>
            <a:r>
              <a:t>Bu slayttan sonrası soru-cevap için hazırlanmış yedek içeriktir. Ana sunum sırasında zaman kaybetmemek için doğrudan gösterilmeyecek.</a:t>
            </a:r>
          </a:p>
          <a:p>
            <a:endParaRPr/>
          </a:p>
          <a:p>
            <a:r>
              <a:t>Geçiş: Sorunun konusuna göre ilgili ek slayta geçilir.</a:t>
            </a:r>
          </a:p>
          <a:p>
            <a:endParaRPr/>
          </a:p>
          <a:p>
            <a:r>
              <a:t>[Sources]</a:t>
            </a:r>
          </a:p>
          <a:p>
            <a:r>
              <a:t>- tez/finansal_duygu_analizi_tez.pdf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Soru gelirse 30–40 sn</a:t>
            </a:r>
          </a:p>
          <a:p>
            <a:endParaRPr/>
          </a:p>
          <a:p>
            <a:r>
              <a:t>Literatürde transformer modellerinin bağlamsal temsil gücü, FinBERT gibi alan-özgü modellerin avantajı ve domain shift riski ayrı ayrı tartışılıyor. Bu tez bu başlıkları aynı deney akışında birleştiriyor. Özellikle iç test ile bağımsız S&amp;P ve Reuters testlerinin ayrıştırılması, etiket semantiğinin neutral sınıfı üzerinden tartışılması ve kaynak ablasyonu çalışmanın farklılaşan yönleridir.</a:t>
            </a:r>
          </a:p>
          <a:p>
            <a:endParaRPr/>
          </a:p>
          <a:p>
            <a:r>
              <a:t>Geçiş: Model kaynakları sorulursa bir sonraki ek slayta geçilebilir.</a:t>
            </a:r>
          </a:p>
          <a:p>
            <a:endParaRPr/>
          </a:p>
          <a:p>
            <a:r>
              <a:t>[Sources]</a:t>
            </a:r>
          </a:p>
          <a:p>
            <a:r>
              <a:t>- tez/finansal_duygu_analizi_tez.pdf, Bölüm 2 ve 5.7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Soru gelirse 50-60 sn</a:t>
            </a:r>
          </a:p>
          <a:p>
            <a:endParaRPr/>
          </a:p>
          <a:p>
            <a:r>
              <a:t>FinBERT'in avantajını yorumlarken eğitim geçmişini iki aşamada ayırmak gerekir. ProsusAI modeli Reuters TRC2 alt kümesiyle finansal dil uyarlaması görmüş, sentiment başlığı Financial PhraseBank ile eğitilmiştir. Buna ek olarak sonraki çalışmada Financial-RoBERTa gibi finans alanına uyarlanmış RoBERTa tabanlı modeller de denenebilir. Bu model ailesi RoBERTa-Large üzerine 10-K, 10-Q, 8-K, earnings call transcriptleri, CSR/ESG haberleri ve finans haberleriyle further training/fine-tuning gördüğü için mevcut genel RoBERTa sonucuna daha adil bir finans-özgü RoBERTa karşılığı sunar.</a:t>
            </a:r>
          </a:p>
          <a:p>
            <a:endParaRPr/>
          </a:p>
          <a:p>
            <a:r>
              <a:t>PhraseBank ile doğrudan veri seti örtüşmesi bilindiği için onu bağımsız ana test olarak kullanmadık; yalnız yardımcı eğitim ve ablasyon rolünde tuttuk. Reuters dış testimizde birebir örnek örtüşmesi gösterilmiş değildir. Buna rağmen TRC2 ile Reuters aynı kaynak ailesine yakın olduğundan, Reuters sonucunu tamamen kaynak-bağımsız başarı diye sunmuyoruz. Bu durum veri sızıntısı kanıtı değil, yorum gücünü sınırlayan bir kaynak yakınlığıdır.</a:t>
            </a:r>
          </a:p>
          <a:p>
            <a:endParaRPr/>
          </a:p>
          <a:p>
            <a:r>
              <a:t>[Sources]</a:t>
            </a:r>
          </a:p>
          <a:p>
            <a:r>
              <a:t>- https://github.com/ProsusAI/finBERT</a:t>
            </a:r>
          </a:p>
          <a:p>
            <a:r>
              <a:t>- https://huggingface.co/ProsusAI/finbert</a:t>
            </a:r>
          </a:p>
          <a:p>
            <a:r>
              <a:t>- https://huggingface.co/soleimanian/financial-roberta-large-sentiment</a:t>
            </a:r>
          </a:p>
          <a:p>
            <a:r>
              <a:t>- https://huggingface.co/datasets/takala/financial_phrasebank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Soru gelirse 30 sn</a:t>
            </a:r>
          </a:p>
          <a:p>
            <a:endParaRPr/>
          </a:p>
          <a:p>
            <a:r>
              <a:t>Bütün ana modeller aynı üç sınıflı görevde Negative, Neutral ve Positive etiketleriyle değerlendirildi. Ana metrik Macro-F1’dir. Robustluk için 42, 123 ve 2024 tohumları kullanıldı. İç test 2.386 örnekten, dış testler ise S&amp;P, Reuters ve sentetik veri kaynaklarından oluşuyor. Ayrıntılı hiperparametreler ve deney dosyaları tezde ve notebook akışında kayıtlıdır.</a:t>
            </a:r>
          </a:p>
          <a:p>
            <a:endParaRPr/>
          </a:p>
          <a:p>
            <a:r>
              <a:t>Geçiş: Benchmark örtüşmesi veya contamination sorusu gelirse son ek slayta geçilebilir.</a:t>
            </a:r>
          </a:p>
          <a:p>
            <a:endParaRPr/>
          </a:p>
          <a:p>
            <a:r>
              <a:t>[Sources]</a:t>
            </a:r>
          </a:p>
          <a:p>
            <a:r>
              <a:t>- tez/finansal_duygu_analizi_tez.pdf, Bölüm 3 ve Ek B.1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Konuşma süresi: Soru gelirse 40 sn</a:t>
            </a:r>
          </a:p>
          <a:p>
            <a:endParaRPr/>
          </a:p>
          <a:p>
            <a:r>
              <a:t>Finans-özgü modeller karşılaştırılırken hangi korpuslarda ön eğitim veya talimat ince ayarı gördükleri incelenecek. Kendi eğitim setimizle örtüşen benchmarklar varsa bu durum avantaj olarak değil, olası contamination veya benchmark overlap riski olarak raporlanacak. Bu denetim özellikle FinBERT ve FinGPT sürümleri arasında adil karşılaştırma yapabilmek için gerekli.</a:t>
            </a:r>
          </a:p>
          <a:p>
            <a:endParaRPr/>
          </a:p>
          <a:p>
            <a:r>
              <a:t>Geçiş: Yanıtı ana sonuçla bağlayarak tamamlayın: veri geçmişi, model performansının yorumunu değiştirir.</a:t>
            </a:r>
          </a:p>
          <a:p>
            <a:endParaRPr/>
          </a:p>
          <a:p>
            <a:r>
              <a:t>[Sources]</a:t>
            </a:r>
          </a:p>
          <a:p>
            <a:r>
              <a:t>- tez/sunuma hazırlık/hocaya_2_aylik_gelistirme_plani_sunumu_serkan_kaymak_guncel_v2.pptx</a:t>
            </a:r>
          </a:p>
          <a:p>
            <a:r>
              <a:t>- https://github.com/AI4Finance-Foundation/FinGPT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C5333D0-5C8B-433A-B1A2-A549AE49A86C}"/>
              </a:ext>
            </a:extLst>
          </p:cNvPr>
          <p:cNvSpPr>
            <a:spLocks noGrp="1"/>
          </p:cNvSpPr>
          <p:nvPr/>
        </p:nvSpPr>
        <p:spPr>
          <a:xfrm>
            <a:off x="685800" y="1280160"/>
            <a:ext cx="10789920" cy="1097280"/>
          </a:xfrm>
          <a:prstGeom prst="rect">
            <a:avLst/>
          </a:prstGeom>
          <a:noFill/>
        </p:spPr>
        <p:txBody>
          <a:bodyPr wrap="square" lIns="0" tIns="0" rIns="0" bIns="0" anchor="ctr">
            <a:normAutofit fontScale="85000" lnSpcReduction="20000"/>
          </a:bodyPr>
          <a:lstStyle/>
          <a:p>
            <a:pPr marL="0" indent="0">
              <a:buNone/>
            </a:pPr>
            <a:r>
              <a:rPr sz="3300" b="1" dirty="0" err="1">
                <a:solidFill>
                  <a:srgbClr val="172033"/>
                </a:solidFill>
              </a:rPr>
              <a:t>Finansal</a:t>
            </a:r>
            <a:r>
              <a:rPr sz="3300" b="1" dirty="0">
                <a:solidFill>
                  <a:srgbClr val="172033"/>
                </a:solidFill>
              </a:rPr>
              <a:t> Duygu </a:t>
            </a:r>
            <a:r>
              <a:rPr sz="3300" b="1" dirty="0" err="1">
                <a:solidFill>
                  <a:srgbClr val="172033"/>
                </a:solidFill>
              </a:rPr>
              <a:t>Analizinde</a:t>
            </a:r>
            <a:endParaRPr sz="3300" dirty="0"/>
          </a:p>
          <a:p>
            <a:pPr marL="0" indent="0">
              <a:buNone/>
            </a:pPr>
            <a:r>
              <a:rPr sz="3300" b="1" dirty="0">
                <a:solidFill>
                  <a:srgbClr val="172033"/>
                </a:solidFill>
              </a:rPr>
              <a:t>Transformer </a:t>
            </a:r>
            <a:r>
              <a:rPr sz="3300" b="1" dirty="0" err="1">
                <a:solidFill>
                  <a:srgbClr val="172033"/>
                </a:solidFill>
              </a:rPr>
              <a:t>Modellerinin</a:t>
            </a:r>
            <a:r>
              <a:rPr sz="3300" b="1" dirty="0">
                <a:solidFill>
                  <a:srgbClr val="172033"/>
                </a:solidFill>
              </a:rPr>
              <a:t> </a:t>
            </a:r>
            <a:r>
              <a:rPr sz="3300" b="1" dirty="0" err="1">
                <a:solidFill>
                  <a:srgbClr val="172033"/>
                </a:solidFill>
              </a:rPr>
              <a:t>Karşılaştırılması</a:t>
            </a:r>
            <a:endParaRPr lang="en-US" sz="3300" b="1" dirty="0">
              <a:solidFill>
                <a:srgbClr val="172033"/>
              </a:solidFill>
            </a:endParaRPr>
          </a:p>
          <a:p>
            <a:pPr marL="0" indent="0">
              <a:buNone/>
            </a:pPr>
            <a:r>
              <a:rPr lang="en-US" sz="3300" b="1" dirty="0">
                <a:solidFill>
                  <a:srgbClr val="172033"/>
                </a:solidFill>
              </a:rPr>
              <a:t>Ve </a:t>
            </a:r>
            <a:r>
              <a:rPr lang="en-US" sz="3300" b="1" dirty="0" err="1">
                <a:solidFill>
                  <a:srgbClr val="172033"/>
                </a:solidFill>
              </a:rPr>
              <a:t>finetunetekniği</a:t>
            </a:r>
            <a:r>
              <a:rPr lang="en-US" sz="3300" b="1" dirty="0">
                <a:solidFill>
                  <a:srgbClr val="172033"/>
                </a:solidFill>
              </a:rPr>
              <a:t> </a:t>
            </a:r>
            <a:r>
              <a:rPr lang="en-US" sz="3300" b="1" dirty="0" err="1">
                <a:solidFill>
                  <a:srgbClr val="172033"/>
                </a:solidFill>
              </a:rPr>
              <a:t>kullanarak</a:t>
            </a:r>
            <a:r>
              <a:rPr lang="en-US" sz="3300" b="1" dirty="0">
                <a:solidFill>
                  <a:srgbClr val="172033"/>
                </a:solidFill>
              </a:rPr>
              <a:t> yeni </a:t>
            </a:r>
            <a:r>
              <a:rPr lang="en-US" sz="3300" b="1" dirty="0" err="1">
                <a:solidFill>
                  <a:srgbClr val="172033"/>
                </a:solidFill>
              </a:rPr>
              <a:t>bir</a:t>
            </a:r>
            <a:r>
              <a:rPr lang="en-US" sz="3300" b="1" dirty="0">
                <a:solidFill>
                  <a:srgbClr val="172033"/>
                </a:solidFill>
              </a:rPr>
              <a:t> model </a:t>
            </a:r>
            <a:r>
              <a:rPr lang="en-US" sz="3300" b="1">
                <a:solidFill>
                  <a:srgbClr val="172033"/>
                </a:solidFill>
              </a:rPr>
              <a:t>geliştirilmesi</a:t>
            </a:r>
            <a:endParaRPr sz="3300" dirty="0"/>
          </a:p>
        </p:txBody>
      </p:sp>
      <p:sp>
        <p:nvSpPr>
          <p:cNvPr id="3" name="Text 1">
            <a:extLst>
              <a:ext uri="{FF2B5EF4-FFF2-40B4-BE49-F238E27FC236}">
                <a16:creationId xmlns:a16="http://schemas.microsoft.com/office/drawing/2014/main" id="{79804825-A569-4128-AC09-15FEF0557803}"/>
              </a:ext>
            </a:extLst>
          </p:cNvPr>
          <p:cNvSpPr>
            <a:spLocks noGrp="1"/>
          </p:cNvSpPr>
          <p:nvPr/>
        </p:nvSpPr>
        <p:spPr>
          <a:xfrm>
            <a:off x="713232" y="2514600"/>
            <a:ext cx="10515600" cy="320040"/>
          </a:xfrm>
          <a:prstGeom prst="rect">
            <a:avLst/>
          </a:prstGeom>
          <a:noFill/>
        </p:spPr>
        <p:txBody>
          <a:bodyPr wrap="square" lIns="0" tIns="0" rIns="0" bIns="0" anchor="ctr"/>
          <a:lstStyle/>
          <a:p>
            <a:pPr marL="0" indent="0">
              <a:buNone/>
            </a:pPr>
            <a:r>
              <a:rPr sz="1550">
                <a:solidFill>
                  <a:srgbClr val="5E6A7D"/>
                </a:solidFill>
              </a:rPr>
              <a:t>FinBERT, BERT, DistilBERT ve RoBERTa: iç test başarısı, dış genelleme ve verimlilik</a:t>
            </a:r>
            <a:endParaRPr sz="1550"/>
          </a:p>
        </p:txBody>
      </p:sp>
      <p:sp>
        <p:nvSpPr>
          <p:cNvPr id="4" name="Text 2">
            <a:extLst>
              <a:ext uri="{FF2B5EF4-FFF2-40B4-BE49-F238E27FC236}">
                <a16:creationId xmlns:a16="http://schemas.microsoft.com/office/drawing/2014/main" id="{74692D20-B64A-4072-BE21-D76C1A3CF274}"/>
              </a:ext>
            </a:extLst>
          </p:cNvPr>
          <p:cNvSpPr>
            <a:spLocks noGrp="1"/>
          </p:cNvSpPr>
          <p:nvPr/>
        </p:nvSpPr>
        <p:spPr>
          <a:xfrm>
            <a:off x="713232" y="3063240"/>
            <a:ext cx="9875520" cy="457200"/>
          </a:xfrm>
          <a:prstGeom prst="rect">
            <a:avLst/>
          </a:prstGeom>
          <a:noFill/>
        </p:spPr>
        <p:txBody>
          <a:bodyPr wrap="square" lIns="0" tIns="0" rIns="0" bIns="0" anchor="ctr"/>
          <a:lstStyle/>
          <a:p>
            <a:pPr marL="0" indent="0">
              <a:buNone/>
            </a:pPr>
            <a:r>
              <a:rPr sz="2200" b="1">
                <a:solidFill>
                  <a:srgbClr val="0F9D8F"/>
                </a:solidFill>
              </a:rPr>
              <a:t>Ana soru: Finans için özel model gerçekten her zaman en iyi mi?</a:t>
            </a:r>
            <a:endParaRPr sz="2200"/>
          </a:p>
        </p:txBody>
      </p:sp>
      <p:sp>
        <p:nvSpPr>
          <p:cNvPr id="5" name="Shape 3">
            <a:extLst>
              <a:ext uri="{FF2B5EF4-FFF2-40B4-BE49-F238E27FC236}">
                <a16:creationId xmlns:a16="http://schemas.microsoft.com/office/drawing/2014/main" id="{E4CBCCD4-2B1E-426A-867D-E6332C44AF09}"/>
              </a:ext>
            </a:extLst>
          </p:cNvPr>
          <p:cNvSpPr>
            <a:spLocks noGrp="1"/>
          </p:cNvSpPr>
          <p:nvPr/>
        </p:nvSpPr>
        <p:spPr>
          <a:xfrm>
            <a:off x="713232" y="3749040"/>
            <a:ext cx="4663440" cy="0"/>
          </a:xfrm>
          <a:prstGeom prst="line">
            <a:avLst/>
          </a:prstGeom>
          <a:noFill/>
          <a:ln w="38100">
            <a:solidFill>
              <a:srgbClr val="0F9D8F"/>
            </a:solidFill>
            <a:prstDash val="solid"/>
          </a:ln>
        </p:spPr>
      </p:sp>
      <p:sp>
        <p:nvSpPr>
          <p:cNvPr id="6" name="Text 4">
            <a:extLst>
              <a:ext uri="{FF2B5EF4-FFF2-40B4-BE49-F238E27FC236}">
                <a16:creationId xmlns:a16="http://schemas.microsoft.com/office/drawing/2014/main" id="{C64A6B5D-0751-4FDE-9997-F6E37291CE95}"/>
              </a:ext>
            </a:extLst>
          </p:cNvPr>
          <p:cNvSpPr>
            <a:spLocks noGrp="1"/>
          </p:cNvSpPr>
          <p:nvPr/>
        </p:nvSpPr>
        <p:spPr>
          <a:xfrm>
            <a:off x="713232" y="4663440"/>
            <a:ext cx="7772400" cy="640080"/>
          </a:xfrm>
          <a:prstGeom prst="rect">
            <a:avLst/>
          </a:prstGeom>
          <a:noFill/>
        </p:spPr>
        <p:txBody>
          <a:bodyPr wrap="square" lIns="0" tIns="0" rIns="0" bIns="0" anchor="ctr"/>
          <a:lstStyle/>
          <a:p>
            <a:pPr marL="0" indent="0">
              <a:buNone/>
            </a:pPr>
            <a:r>
              <a:rPr sz="1600">
                <a:solidFill>
                  <a:srgbClr val="1A1E2A"/>
                </a:solidFill>
              </a:rPr>
              <a:t>Serkan Kaymak</a:t>
            </a:r>
            <a:endParaRPr sz="1600"/>
          </a:p>
          <a:p>
            <a:pPr marL="0" indent="0">
              <a:buNone/>
            </a:pPr>
            <a:r>
              <a:rPr sz="1600">
                <a:solidFill>
                  <a:srgbClr val="1A1E2A"/>
                </a:solidFill>
              </a:rPr>
              <a:t>Yüksek Lisans Tezi • Tez Savunması</a:t>
            </a:r>
            <a:endParaRPr sz="1600"/>
          </a:p>
        </p:txBody>
      </p:sp>
      <p:sp>
        <p:nvSpPr>
          <p:cNvPr id="8" name="Text 6">
            <a:extLst>
              <a:ext uri="{FF2B5EF4-FFF2-40B4-BE49-F238E27FC236}">
                <a16:creationId xmlns:a16="http://schemas.microsoft.com/office/drawing/2014/main" id="{19AFE1DE-360B-484C-A64F-06BE96C62145}"/>
              </a:ext>
            </a:extLst>
          </p:cNvPr>
          <p:cNvSpPr>
            <a:spLocks noGrp="1"/>
          </p:cNvSpPr>
          <p:nvPr/>
        </p:nvSpPr>
        <p:spPr>
          <a:xfrm>
            <a:off x="786384" y="5687568"/>
            <a:ext cx="1271016" cy="164592"/>
          </a:xfrm>
          <a:prstGeom prst="rect">
            <a:avLst/>
          </a:prstGeom>
          <a:noFill/>
        </p:spPr>
        <p:txBody>
          <a:bodyPr wrap="square" lIns="0" tIns="0" rIns="0" bIns="0" anchor="ctr"/>
          <a:lstStyle/>
          <a:p>
            <a:pPr marL="0" indent="0" algn="ctr">
              <a:buNone/>
            </a:pPr>
            <a:r>
              <a:rPr sz="1050" b="1">
                <a:solidFill>
                  <a:srgbClr val="FFFFFF"/>
                </a:solidFill>
              </a:rPr>
              <a:t>Cuma savunması</a:t>
            </a:r>
            <a:endParaRPr sz="1050"/>
          </a:p>
        </p:txBody>
      </p:sp>
      <p:sp>
        <p:nvSpPr>
          <p:cNvPr id="9" name="Shape 7">
            <a:extLst>
              <a:ext uri="{FF2B5EF4-FFF2-40B4-BE49-F238E27FC236}">
                <a16:creationId xmlns:a16="http://schemas.microsoft.com/office/drawing/2014/main" id="{08978407-A1E9-4F3D-BCAC-251CCE089AFD}"/>
              </a:ext>
            </a:extLst>
          </p:cNvPr>
          <p:cNvSpPr>
            <a:spLocks noGrp="1"/>
          </p:cNvSpPr>
          <p:nvPr/>
        </p:nvSpPr>
        <p:spPr>
          <a:xfrm>
            <a:off x="685800" y="5640441"/>
            <a:ext cx="1325880" cy="329184"/>
          </a:xfrm>
          <a:prstGeom prst="roundRect">
            <a:avLst>
              <a:gd name="adj" fmla="val 22222"/>
            </a:avLst>
          </a:prstGeom>
          <a:solidFill>
            <a:srgbClr val="0F9D8F"/>
          </a:solidFill>
          <a:ln w="12700">
            <a:solidFill>
              <a:srgbClr val="0F9D8F"/>
            </a:solidFill>
            <a:prstDash val="solid"/>
          </a:ln>
        </p:spPr>
      </p:sp>
      <p:sp>
        <p:nvSpPr>
          <p:cNvPr id="10" name="Text 8">
            <a:extLst>
              <a:ext uri="{FF2B5EF4-FFF2-40B4-BE49-F238E27FC236}">
                <a16:creationId xmlns:a16="http://schemas.microsoft.com/office/drawing/2014/main" id="{82D21AA9-847A-483D-8BF0-79CEB140704F}"/>
              </a:ext>
            </a:extLst>
          </p:cNvPr>
          <p:cNvSpPr>
            <a:spLocks noGrp="1"/>
          </p:cNvSpPr>
          <p:nvPr/>
        </p:nvSpPr>
        <p:spPr>
          <a:xfrm>
            <a:off x="758952" y="5704449"/>
            <a:ext cx="1179576" cy="164592"/>
          </a:xfrm>
          <a:prstGeom prst="rect">
            <a:avLst/>
          </a:prstGeom>
          <a:noFill/>
        </p:spPr>
        <p:txBody>
          <a:bodyPr wrap="square" lIns="0" tIns="0" rIns="0" bIns="0" anchor="ctr"/>
          <a:lstStyle/>
          <a:p>
            <a:pPr marL="0" indent="0" algn="ctr">
              <a:buNone/>
            </a:pPr>
            <a:r>
              <a:rPr sz="1050" b="1">
                <a:solidFill>
                  <a:srgbClr val="FFFFFF"/>
                </a:solidFill>
              </a:rPr>
              <a:t>Finansal NLP</a:t>
            </a:r>
            <a:endParaRPr sz="1050"/>
          </a:p>
        </p:txBody>
      </p:sp>
      <p:sp>
        <p:nvSpPr>
          <p:cNvPr id="11" name="Shape 9">
            <a:extLst>
              <a:ext uri="{FF2B5EF4-FFF2-40B4-BE49-F238E27FC236}">
                <a16:creationId xmlns:a16="http://schemas.microsoft.com/office/drawing/2014/main" id="{E4201F47-D5A4-4E45-A0A6-4558EFDA91E0}"/>
              </a:ext>
            </a:extLst>
          </p:cNvPr>
          <p:cNvSpPr>
            <a:spLocks noGrp="1"/>
          </p:cNvSpPr>
          <p:nvPr/>
        </p:nvSpPr>
        <p:spPr>
          <a:xfrm>
            <a:off x="2167128" y="5640441"/>
            <a:ext cx="1965960" cy="329184"/>
          </a:xfrm>
          <a:prstGeom prst="roundRect">
            <a:avLst>
              <a:gd name="adj" fmla="val 22222"/>
            </a:avLst>
          </a:prstGeom>
          <a:solidFill>
            <a:srgbClr val="F4A62A"/>
          </a:solidFill>
          <a:ln w="12700">
            <a:solidFill>
              <a:srgbClr val="F4A62A"/>
            </a:solidFill>
            <a:prstDash val="solid"/>
          </a:ln>
        </p:spPr>
      </p:sp>
      <p:sp>
        <p:nvSpPr>
          <p:cNvPr id="12" name="Text 10">
            <a:extLst>
              <a:ext uri="{FF2B5EF4-FFF2-40B4-BE49-F238E27FC236}">
                <a16:creationId xmlns:a16="http://schemas.microsoft.com/office/drawing/2014/main" id="{648DD97D-AAD1-40CD-AF73-499B164AEED4}"/>
              </a:ext>
            </a:extLst>
          </p:cNvPr>
          <p:cNvSpPr>
            <a:spLocks noGrp="1"/>
          </p:cNvSpPr>
          <p:nvPr/>
        </p:nvSpPr>
        <p:spPr>
          <a:xfrm>
            <a:off x="2240280" y="5704449"/>
            <a:ext cx="1819656" cy="164592"/>
          </a:xfrm>
          <a:prstGeom prst="rect">
            <a:avLst/>
          </a:prstGeom>
          <a:noFill/>
        </p:spPr>
        <p:txBody>
          <a:bodyPr wrap="square" lIns="0" tIns="0" rIns="0" bIns="0" anchor="ctr"/>
          <a:lstStyle/>
          <a:p>
            <a:pPr marL="0" indent="0" algn="ctr">
              <a:buNone/>
            </a:pPr>
            <a:r>
              <a:rPr sz="1050" b="1">
                <a:solidFill>
                  <a:srgbClr val="FFFFFF"/>
                </a:solidFill>
              </a:rPr>
              <a:t>Domain generalization</a:t>
            </a:r>
            <a:endParaRPr sz="1050"/>
          </a:p>
        </p:txBody>
      </p:sp>
      <p:sp>
        <p:nvSpPr>
          <p:cNvPr id="13" name="Text 11">
            <a:extLst>
              <a:ext uri="{FF2B5EF4-FFF2-40B4-BE49-F238E27FC236}">
                <a16:creationId xmlns:a16="http://schemas.microsoft.com/office/drawing/2014/main" id="{278AE8D6-F87A-431F-9061-394C90062F60}"/>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4" name="Text 12">
            <a:extLst>
              <a:ext uri="{FF2B5EF4-FFF2-40B4-BE49-F238E27FC236}">
                <a16:creationId xmlns:a16="http://schemas.microsoft.com/office/drawing/2014/main" id="{BA1821C5-116E-455D-8331-ECA331276CEC}"/>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a:t>
            </a:r>
            <a:endParaRPr sz="850"/>
          </a:p>
        </p:txBody>
      </p:sp>
      <p:sp>
        <p:nvSpPr>
          <p:cNvPr id="15" name="Shape 13">
            <a:extLst>
              <a:ext uri="{FF2B5EF4-FFF2-40B4-BE49-F238E27FC236}">
                <a16:creationId xmlns:a16="http://schemas.microsoft.com/office/drawing/2014/main" id="{0D5220F7-6131-4540-AA99-56A281ABFFFF}"/>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78306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7A5FCD9-B5A4-41E8-BDE9-7EF19E2DB493}"/>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Sunum Planı</a:t>
            </a:r>
            <a:endParaRPr sz="3100"/>
          </a:p>
        </p:txBody>
      </p:sp>
      <p:sp>
        <p:nvSpPr>
          <p:cNvPr id="3" name="Text 1">
            <a:extLst>
              <a:ext uri="{FF2B5EF4-FFF2-40B4-BE49-F238E27FC236}">
                <a16:creationId xmlns:a16="http://schemas.microsoft.com/office/drawing/2014/main" id="{53F1D159-CB8E-467E-B270-055846AB5B87}"/>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Önce problem ve yöntem, sonra bulgular, en sonda güvenilirlik ve yeni deneyler.</a:t>
            </a:r>
            <a:endParaRPr sz="1450"/>
          </a:p>
        </p:txBody>
      </p:sp>
      <p:sp>
        <p:nvSpPr>
          <p:cNvPr id="4" name="Shape 2">
            <a:extLst>
              <a:ext uri="{FF2B5EF4-FFF2-40B4-BE49-F238E27FC236}">
                <a16:creationId xmlns:a16="http://schemas.microsoft.com/office/drawing/2014/main" id="{E19B78E2-0A52-4337-B624-037CC40C3B7F}"/>
              </a:ext>
            </a:extLst>
          </p:cNvPr>
          <p:cNvSpPr>
            <a:spLocks noGrp="1"/>
          </p:cNvSpPr>
          <p:nvPr/>
        </p:nvSpPr>
        <p:spPr>
          <a:xfrm>
            <a:off x="777240" y="1417320"/>
            <a:ext cx="402336" cy="402336"/>
          </a:xfrm>
          <a:prstGeom prst="ellipse">
            <a:avLst/>
          </a:prstGeom>
          <a:solidFill>
            <a:srgbClr val="3867D6"/>
          </a:solidFill>
          <a:ln w="12700">
            <a:solidFill>
              <a:srgbClr val="3867D6"/>
            </a:solidFill>
            <a:prstDash val="solid"/>
          </a:ln>
        </p:spPr>
      </p:sp>
      <p:sp>
        <p:nvSpPr>
          <p:cNvPr id="5" name="Text 3">
            <a:extLst>
              <a:ext uri="{FF2B5EF4-FFF2-40B4-BE49-F238E27FC236}">
                <a16:creationId xmlns:a16="http://schemas.microsoft.com/office/drawing/2014/main" id="{DDF1AB1F-09FE-4D78-BAFE-DD81F23E6BA3}"/>
              </a:ext>
            </a:extLst>
          </p:cNvPr>
          <p:cNvSpPr>
            <a:spLocks noGrp="1"/>
          </p:cNvSpPr>
          <p:nvPr/>
        </p:nvSpPr>
        <p:spPr>
          <a:xfrm>
            <a:off x="777240" y="1499616"/>
            <a:ext cx="402336" cy="128016"/>
          </a:xfrm>
          <a:prstGeom prst="rect">
            <a:avLst/>
          </a:prstGeom>
          <a:noFill/>
        </p:spPr>
        <p:txBody>
          <a:bodyPr wrap="square" lIns="0" tIns="0" rIns="0" bIns="0" anchor="ctr"/>
          <a:lstStyle/>
          <a:p>
            <a:pPr marL="0" indent="0" algn="ctr">
              <a:buNone/>
            </a:pPr>
            <a:r>
              <a:rPr sz="1100" b="1">
                <a:solidFill>
                  <a:srgbClr val="FFFFFF"/>
                </a:solidFill>
              </a:rPr>
              <a:t>1</a:t>
            </a:r>
            <a:endParaRPr sz="1100"/>
          </a:p>
        </p:txBody>
      </p:sp>
      <p:sp>
        <p:nvSpPr>
          <p:cNvPr id="6" name="Text 4">
            <a:extLst>
              <a:ext uri="{FF2B5EF4-FFF2-40B4-BE49-F238E27FC236}">
                <a16:creationId xmlns:a16="http://schemas.microsoft.com/office/drawing/2014/main" id="{3B9CBF13-ECEB-4C64-AB43-9E9870BF5567}"/>
              </a:ext>
            </a:extLst>
          </p:cNvPr>
          <p:cNvSpPr>
            <a:spLocks noGrp="1"/>
          </p:cNvSpPr>
          <p:nvPr/>
        </p:nvSpPr>
        <p:spPr>
          <a:xfrm>
            <a:off x="1417320" y="1399032"/>
            <a:ext cx="2834640" cy="228600"/>
          </a:xfrm>
          <a:prstGeom prst="rect">
            <a:avLst/>
          </a:prstGeom>
          <a:noFill/>
        </p:spPr>
        <p:txBody>
          <a:bodyPr wrap="square" lIns="0" tIns="0" rIns="0" bIns="0" anchor="ctr"/>
          <a:lstStyle/>
          <a:p>
            <a:pPr marL="0" indent="0">
              <a:buNone/>
            </a:pPr>
            <a:r>
              <a:rPr sz="1700" b="1">
                <a:solidFill>
                  <a:srgbClr val="172033"/>
                </a:solidFill>
              </a:rPr>
              <a:t>Giriş ve motivasyon</a:t>
            </a:r>
            <a:endParaRPr sz="1700"/>
          </a:p>
        </p:txBody>
      </p:sp>
      <p:sp>
        <p:nvSpPr>
          <p:cNvPr id="7" name="Text 5">
            <a:extLst>
              <a:ext uri="{FF2B5EF4-FFF2-40B4-BE49-F238E27FC236}">
                <a16:creationId xmlns:a16="http://schemas.microsoft.com/office/drawing/2014/main" id="{30A154CE-2B3D-411F-BBC2-4AE7F41CB748}"/>
              </a:ext>
            </a:extLst>
          </p:cNvPr>
          <p:cNvSpPr>
            <a:spLocks noGrp="1"/>
          </p:cNvSpPr>
          <p:nvPr/>
        </p:nvSpPr>
        <p:spPr>
          <a:xfrm>
            <a:off x="5074920" y="1399032"/>
            <a:ext cx="6080760" cy="292608"/>
          </a:xfrm>
          <a:prstGeom prst="rect">
            <a:avLst/>
          </a:prstGeom>
          <a:noFill/>
        </p:spPr>
        <p:txBody>
          <a:bodyPr wrap="square" lIns="0" tIns="0" rIns="0" bIns="0" anchor="ctr">
            <a:normAutofit/>
          </a:bodyPr>
          <a:lstStyle/>
          <a:p>
            <a:pPr marL="0" indent="0">
              <a:buNone/>
            </a:pPr>
            <a:r>
              <a:rPr sz="1550">
                <a:solidFill>
                  <a:srgbClr val="5E6A7D"/>
                </a:solidFill>
              </a:rPr>
              <a:t>Finansal metinlerde sentiment neden zor?</a:t>
            </a:r>
            <a:endParaRPr sz="1550"/>
          </a:p>
        </p:txBody>
      </p:sp>
      <p:sp>
        <p:nvSpPr>
          <p:cNvPr id="8" name="Shape 6">
            <a:extLst>
              <a:ext uri="{FF2B5EF4-FFF2-40B4-BE49-F238E27FC236}">
                <a16:creationId xmlns:a16="http://schemas.microsoft.com/office/drawing/2014/main" id="{CC22C5DF-DE16-4656-82F8-9BCBF9A29FEF}"/>
              </a:ext>
            </a:extLst>
          </p:cNvPr>
          <p:cNvSpPr>
            <a:spLocks noGrp="1"/>
          </p:cNvSpPr>
          <p:nvPr/>
        </p:nvSpPr>
        <p:spPr>
          <a:xfrm>
            <a:off x="777240" y="2130552"/>
            <a:ext cx="402336" cy="402336"/>
          </a:xfrm>
          <a:prstGeom prst="ellipse">
            <a:avLst/>
          </a:prstGeom>
          <a:solidFill>
            <a:srgbClr val="3867D6"/>
          </a:solidFill>
          <a:ln w="12700">
            <a:solidFill>
              <a:srgbClr val="3867D6"/>
            </a:solidFill>
            <a:prstDash val="solid"/>
          </a:ln>
        </p:spPr>
      </p:sp>
      <p:sp>
        <p:nvSpPr>
          <p:cNvPr id="9" name="Text 7">
            <a:extLst>
              <a:ext uri="{FF2B5EF4-FFF2-40B4-BE49-F238E27FC236}">
                <a16:creationId xmlns:a16="http://schemas.microsoft.com/office/drawing/2014/main" id="{6DB9EC91-5249-4BC6-BF9C-23281E313DA2}"/>
              </a:ext>
            </a:extLst>
          </p:cNvPr>
          <p:cNvSpPr>
            <a:spLocks noGrp="1"/>
          </p:cNvSpPr>
          <p:nvPr/>
        </p:nvSpPr>
        <p:spPr>
          <a:xfrm>
            <a:off x="777240" y="2212848"/>
            <a:ext cx="402336" cy="128016"/>
          </a:xfrm>
          <a:prstGeom prst="rect">
            <a:avLst/>
          </a:prstGeom>
          <a:noFill/>
        </p:spPr>
        <p:txBody>
          <a:bodyPr wrap="square" lIns="0" tIns="0" rIns="0" bIns="0" anchor="ctr"/>
          <a:lstStyle/>
          <a:p>
            <a:pPr marL="0" indent="0" algn="ctr">
              <a:buNone/>
            </a:pPr>
            <a:r>
              <a:rPr sz="1100" b="1">
                <a:solidFill>
                  <a:srgbClr val="FFFFFF"/>
                </a:solidFill>
              </a:rPr>
              <a:t>2</a:t>
            </a:r>
            <a:endParaRPr sz="1100"/>
          </a:p>
        </p:txBody>
      </p:sp>
      <p:sp>
        <p:nvSpPr>
          <p:cNvPr id="10" name="Text 8">
            <a:extLst>
              <a:ext uri="{FF2B5EF4-FFF2-40B4-BE49-F238E27FC236}">
                <a16:creationId xmlns:a16="http://schemas.microsoft.com/office/drawing/2014/main" id="{C6463C7A-0400-4CF5-AEC6-3185BBF0B319}"/>
              </a:ext>
            </a:extLst>
          </p:cNvPr>
          <p:cNvSpPr>
            <a:spLocks noGrp="1"/>
          </p:cNvSpPr>
          <p:nvPr/>
        </p:nvSpPr>
        <p:spPr>
          <a:xfrm>
            <a:off x="1417320" y="2112264"/>
            <a:ext cx="2834640" cy="228600"/>
          </a:xfrm>
          <a:prstGeom prst="rect">
            <a:avLst/>
          </a:prstGeom>
          <a:noFill/>
        </p:spPr>
        <p:txBody>
          <a:bodyPr wrap="square" lIns="0" tIns="0" rIns="0" bIns="0" anchor="ctr"/>
          <a:lstStyle/>
          <a:p>
            <a:pPr marL="0" indent="0">
              <a:buNone/>
            </a:pPr>
            <a:r>
              <a:rPr sz="1700" b="1">
                <a:solidFill>
                  <a:srgbClr val="172033"/>
                </a:solidFill>
              </a:rPr>
              <a:t>Araştırma soruları</a:t>
            </a:r>
            <a:endParaRPr sz="1700"/>
          </a:p>
        </p:txBody>
      </p:sp>
      <p:sp>
        <p:nvSpPr>
          <p:cNvPr id="11" name="Text 9">
            <a:extLst>
              <a:ext uri="{FF2B5EF4-FFF2-40B4-BE49-F238E27FC236}">
                <a16:creationId xmlns:a16="http://schemas.microsoft.com/office/drawing/2014/main" id="{59D079BF-F20B-4DFF-B515-CF07383AD1F3}"/>
              </a:ext>
            </a:extLst>
          </p:cNvPr>
          <p:cNvSpPr>
            <a:spLocks noGrp="1"/>
          </p:cNvSpPr>
          <p:nvPr/>
        </p:nvSpPr>
        <p:spPr>
          <a:xfrm>
            <a:off x="5074920" y="2112264"/>
            <a:ext cx="6080760" cy="292608"/>
          </a:xfrm>
          <a:prstGeom prst="rect">
            <a:avLst/>
          </a:prstGeom>
          <a:noFill/>
        </p:spPr>
        <p:txBody>
          <a:bodyPr wrap="square" lIns="0" tIns="0" rIns="0" bIns="0" anchor="ctr">
            <a:normAutofit/>
          </a:bodyPr>
          <a:lstStyle/>
          <a:p>
            <a:pPr marL="0" indent="0">
              <a:buNone/>
            </a:pPr>
            <a:r>
              <a:rPr sz="1550">
                <a:solidFill>
                  <a:srgbClr val="5E6A7D"/>
                </a:solidFill>
              </a:rPr>
              <a:t>FinBERT beklentisi, fine-tuning ve genelleme</a:t>
            </a:r>
            <a:endParaRPr sz="1550"/>
          </a:p>
        </p:txBody>
      </p:sp>
      <p:sp>
        <p:nvSpPr>
          <p:cNvPr id="12" name="Shape 10">
            <a:extLst>
              <a:ext uri="{FF2B5EF4-FFF2-40B4-BE49-F238E27FC236}">
                <a16:creationId xmlns:a16="http://schemas.microsoft.com/office/drawing/2014/main" id="{6B065120-889D-46F4-A892-2532F7DAD8DE}"/>
              </a:ext>
            </a:extLst>
          </p:cNvPr>
          <p:cNvSpPr>
            <a:spLocks noGrp="1"/>
          </p:cNvSpPr>
          <p:nvPr/>
        </p:nvSpPr>
        <p:spPr>
          <a:xfrm>
            <a:off x="777240" y="2843784"/>
            <a:ext cx="402336" cy="402336"/>
          </a:xfrm>
          <a:prstGeom prst="ellipse">
            <a:avLst/>
          </a:prstGeom>
          <a:solidFill>
            <a:srgbClr val="3867D6"/>
          </a:solidFill>
          <a:ln w="12700">
            <a:solidFill>
              <a:srgbClr val="3867D6"/>
            </a:solidFill>
            <a:prstDash val="solid"/>
          </a:ln>
        </p:spPr>
      </p:sp>
      <p:sp>
        <p:nvSpPr>
          <p:cNvPr id="13" name="Text 11">
            <a:extLst>
              <a:ext uri="{FF2B5EF4-FFF2-40B4-BE49-F238E27FC236}">
                <a16:creationId xmlns:a16="http://schemas.microsoft.com/office/drawing/2014/main" id="{4B7B779A-3036-43A1-A606-8D6A03CBC8FA}"/>
              </a:ext>
            </a:extLst>
          </p:cNvPr>
          <p:cNvSpPr>
            <a:spLocks noGrp="1"/>
          </p:cNvSpPr>
          <p:nvPr/>
        </p:nvSpPr>
        <p:spPr>
          <a:xfrm>
            <a:off x="777240" y="2926080"/>
            <a:ext cx="402336" cy="128016"/>
          </a:xfrm>
          <a:prstGeom prst="rect">
            <a:avLst/>
          </a:prstGeom>
          <a:noFill/>
        </p:spPr>
        <p:txBody>
          <a:bodyPr wrap="square" lIns="0" tIns="0" rIns="0" bIns="0" anchor="ctr"/>
          <a:lstStyle/>
          <a:p>
            <a:pPr marL="0" indent="0" algn="ctr">
              <a:buNone/>
            </a:pPr>
            <a:r>
              <a:rPr sz="1100" b="1">
                <a:solidFill>
                  <a:srgbClr val="FFFFFF"/>
                </a:solidFill>
              </a:rPr>
              <a:t>3</a:t>
            </a:r>
            <a:endParaRPr sz="1100"/>
          </a:p>
        </p:txBody>
      </p:sp>
      <p:sp>
        <p:nvSpPr>
          <p:cNvPr id="14" name="Text 12">
            <a:extLst>
              <a:ext uri="{FF2B5EF4-FFF2-40B4-BE49-F238E27FC236}">
                <a16:creationId xmlns:a16="http://schemas.microsoft.com/office/drawing/2014/main" id="{1573211E-DBBF-4847-BE92-A7D749B0CFA1}"/>
              </a:ext>
            </a:extLst>
          </p:cNvPr>
          <p:cNvSpPr>
            <a:spLocks noGrp="1"/>
          </p:cNvSpPr>
          <p:nvPr/>
        </p:nvSpPr>
        <p:spPr>
          <a:xfrm>
            <a:off x="1417320" y="2825496"/>
            <a:ext cx="2834640" cy="228600"/>
          </a:xfrm>
          <a:prstGeom prst="rect">
            <a:avLst/>
          </a:prstGeom>
          <a:noFill/>
        </p:spPr>
        <p:txBody>
          <a:bodyPr wrap="square" lIns="0" tIns="0" rIns="0" bIns="0" anchor="ctr"/>
          <a:lstStyle/>
          <a:p>
            <a:pPr marL="0" indent="0">
              <a:buNone/>
            </a:pPr>
            <a:r>
              <a:rPr sz="1700" b="1">
                <a:solidFill>
                  <a:srgbClr val="172033"/>
                </a:solidFill>
              </a:rPr>
              <a:t>Materyal ve yöntem</a:t>
            </a:r>
            <a:endParaRPr sz="1700"/>
          </a:p>
        </p:txBody>
      </p:sp>
      <p:sp>
        <p:nvSpPr>
          <p:cNvPr id="15" name="Text 13">
            <a:extLst>
              <a:ext uri="{FF2B5EF4-FFF2-40B4-BE49-F238E27FC236}">
                <a16:creationId xmlns:a16="http://schemas.microsoft.com/office/drawing/2014/main" id="{11FD53A0-FBF6-4742-A4AC-45226534CD14}"/>
              </a:ext>
            </a:extLst>
          </p:cNvPr>
          <p:cNvSpPr>
            <a:spLocks noGrp="1"/>
          </p:cNvSpPr>
          <p:nvPr/>
        </p:nvSpPr>
        <p:spPr>
          <a:xfrm>
            <a:off x="5074920" y="2825496"/>
            <a:ext cx="6080760" cy="292608"/>
          </a:xfrm>
          <a:prstGeom prst="rect">
            <a:avLst/>
          </a:prstGeom>
          <a:noFill/>
        </p:spPr>
        <p:txBody>
          <a:bodyPr wrap="square" lIns="0" tIns="0" rIns="0" bIns="0" anchor="ctr">
            <a:normAutofit/>
          </a:bodyPr>
          <a:lstStyle/>
          <a:p>
            <a:pPr marL="0" indent="0">
              <a:buNone/>
            </a:pPr>
            <a:r>
              <a:rPr sz="1550">
                <a:solidFill>
                  <a:srgbClr val="5E6A7D"/>
                </a:solidFill>
              </a:rPr>
              <a:t>Veri setleri, modeller, metrik ve deney akışı</a:t>
            </a:r>
            <a:endParaRPr sz="1550"/>
          </a:p>
        </p:txBody>
      </p:sp>
      <p:sp>
        <p:nvSpPr>
          <p:cNvPr id="16" name="Shape 14">
            <a:extLst>
              <a:ext uri="{FF2B5EF4-FFF2-40B4-BE49-F238E27FC236}">
                <a16:creationId xmlns:a16="http://schemas.microsoft.com/office/drawing/2014/main" id="{3B7E5DE5-9C5C-412E-AE7A-A396B12BD348}"/>
              </a:ext>
            </a:extLst>
          </p:cNvPr>
          <p:cNvSpPr>
            <a:spLocks noGrp="1"/>
          </p:cNvSpPr>
          <p:nvPr/>
        </p:nvSpPr>
        <p:spPr>
          <a:xfrm>
            <a:off x="777240" y="3557016"/>
            <a:ext cx="402336" cy="402336"/>
          </a:xfrm>
          <a:prstGeom prst="ellipse">
            <a:avLst/>
          </a:prstGeom>
          <a:solidFill>
            <a:srgbClr val="0F9D8F"/>
          </a:solidFill>
          <a:ln w="12700">
            <a:solidFill>
              <a:srgbClr val="0F9D8F"/>
            </a:solidFill>
            <a:prstDash val="solid"/>
          </a:ln>
        </p:spPr>
      </p:sp>
      <p:sp>
        <p:nvSpPr>
          <p:cNvPr id="17" name="Text 15">
            <a:extLst>
              <a:ext uri="{FF2B5EF4-FFF2-40B4-BE49-F238E27FC236}">
                <a16:creationId xmlns:a16="http://schemas.microsoft.com/office/drawing/2014/main" id="{12B6B837-46DB-4C21-8643-39086541EE36}"/>
              </a:ext>
            </a:extLst>
          </p:cNvPr>
          <p:cNvSpPr>
            <a:spLocks noGrp="1"/>
          </p:cNvSpPr>
          <p:nvPr/>
        </p:nvSpPr>
        <p:spPr>
          <a:xfrm>
            <a:off x="777240" y="3639312"/>
            <a:ext cx="402336" cy="128016"/>
          </a:xfrm>
          <a:prstGeom prst="rect">
            <a:avLst/>
          </a:prstGeom>
          <a:noFill/>
        </p:spPr>
        <p:txBody>
          <a:bodyPr wrap="square" lIns="0" tIns="0" rIns="0" bIns="0" anchor="ctr"/>
          <a:lstStyle/>
          <a:p>
            <a:pPr marL="0" indent="0" algn="ctr">
              <a:buNone/>
            </a:pPr>
            <a:r>
              <a:rPr sz="1100" b="1">
                <a:solidFill>
                  <a:srgbClr val="FFFFFF"/>
                </a:solidFill>
              </a:rPr>
              <a:t>4</a:t>
            </a:r>
            <a:endParaRPr sz="1100"/>
          </a:p>
        </p:txBody>
      </p:sp>
      <p:sp>
        <p:nvSpPr>
          <p:cNvPr id="18" name="Text 16">
            <a:extLst>
              <a:ext uri="{FF2B5EF4-FFF2-40B4-BE49-F238E27FC236}">
                <a16:creationId xmlns:a16="http://schemas.microsoft.com/office/drawing/2014/main" id="{ED03BE50-9703-43E0-99C2-A8EBDC0F4369}"/>
              </a:ext>
            </a:extLst>
          </p:cNvPr>
          <p:cNvSpPr>
            <a:spLocks noGrp="1"/>
          </p:cNvSpPr>
          <p:nvPr/>
        </p:nvSpPr>
        <p:spPr>
          <a:xfrm>
            <a:off x="1417320" y="3538728"/>
            <a:ext cx="2834640" cy="228600"/>
          </a:xfrm>
          <a:prstGeom prst="rect">
            <a:avLst/>
          </a:prstGeom>
          <a:noFill/>
        </p:spPr>
        <p:txBody>
          <a:bodyPr wrap="square" lIns="0" tIns="0" rIns="0" bIns="0" anchor="ctr"/>
          <a:lstStyle/>
          <a:p>
            <a:pPr marL="0" indent="0">
              <a:buNone/>
            </a:pPr>
            <a:r>
              <a:rPr sz="1700" b="1">
                <a:solidFill>
                  <a:srgbClr val="172033"/>
                </a:solidFill>
              </a:rPr>
              <a:t>Deneyler ve bulgular</a:t>
            </a:r>
            <a:endParaRPr sz="1700"/>
          </a:p>
        </p:txBody>
      </p:sp>
      <p:sp>
        <p:nvSpPr>
          <p:cNvPr id="19" name="Text 17">
            <a:extLst>
              <a:ext uri="{FF2B5EF4-FFF2-40B4-BE49-F238E27FC236}">
                <a16:creationId xmlns:a16="http://schemas.microsoft.com/office/drawing/2014/main" id="{B1753F93-AE65-4CC6-B550-EE5343EDB1CD}"/>
              </a:ext>
            </a:extLst>
          </p:cNvPr>
          <p:cNvSpPr>
            <a:spLocks noGrp="1"/>
          </p:cNvSpPr>
          <p:nvPr/>
        </p:nvSpPr>
        <p:spPr>
          <a:xfrm>
            <a:off x="5074920" y="3538728"/>
            <a:ext cx="6080760" cy="292608"/>
          </a:xfrm>
          <a:prstGeom prst="rect">
            <a:avLst/>
          </a:prstGeom>
          <a:noFill/>
        </p:spPr>
        <p:txBody>
          <a:bodyPr wrap="square" lIns="0" tIns="0" rIns="0" bIns="0" anchor="ctr">
            <a:normAutofit/>
          </a:bodyPr>
          <a:lstStyle/>
          <a:p>
            <a:pPr marL="0" indent="0">
              <a:buNone/>
            </a:pPr>
            <a:r>
              <a:rPr sz="1550">
                <a:solidFill>
                  <a:srgbClr val="5E6A7D"/>
                </a:solidFill>
              </a:rPr>
              <a:t>İç test, S&amp;P, Reuters, sentetik ve zero-shot</a:t>
            </a:r>
            <a:endParaRPr sz="1550"/>
          </a:p>
        </p:txBody>
      </p:sp>
      <p:sp>
        <p:nvSpPr>
          <p:cNvPr id="20" name="Shape 18">
            <a:extLst>
              <a:ext uri="{FF2B5EF4-FFF2-40B4-BE49-F238E27FC236}">
                <a16:creationId xmlns:a16="http://schemas.microsoft.com/office/drawing/2014/main" id="{BCD0AC2C-DA4F-4DD1-9127-0C08A9C59B0C}"/>
              </a:ext>
            </a:extLst>
          </p:cNvPr>
          <p:cNvSpPr>
            <a:spLocks noGrp="1"/>
          </p:cNvSpPr>
          <p:nvPr/>
        </p:nvSpPr>
        <p:spPr>
          <a:xfrm>
            <a:off x="777240" y="4270248"/>
            <a:ext cx="402336" cy="402336"/>
          </a:xfrm>
          <a:prstGeom prst="ellipse">
            <a:avLst/>
          </a:prstGeom>
          <a:solidFill>
            <a:srgbClr val="0F9D8F"/>
          </a:solidFill>
          <a:ln w="12700">
            <a:solidFill>
              <a:srgbClr val="0F9D8F"/>
            </a:solidFill>
            <a:prstDash val="solid"/>
          </a:ln>
        </p:spPr>
      </p:sp>
      <p:sp>
        <p:nvSpPr>
          <p:cNvPr id="21" name="Text 19">
            <a:extLst>
              <a:ext uri="{FF2B5EF4-FFF2-40B4-BE49-F238E27FC236}">
                <a16:creationId xmlns:a16="http://schemas.microsoft.com/office/drawing/2014/main" id="{920AD2AD-5941-487C-8C77-20822E238432}"/>
              </a:ext>
            </a:extLst>
          </p:cNvPr>
          <p:cNvSpPr>
            <a:spLocks noGrp="1"/>
          </p:cNvSpPr>
          <p:nvPr/>
        </p:nvSpPr>
        <p:spPr>
          <a:xfrm>
            <a:off x="777240" y="4352544"/>
            <a:ext cx="402336" cy="128016"/>
          </a:xfrm>
          <a:prstGeom prst="rect">
            <a:avLst/>
          </a:prstGeom>
          <a:noFill/>
        </p:spPr>
        <p:txBody>
          <a:bodyPr wrap="square" lIns="0" tIns="0" rIns="0" bIns="0" anchor="ctr"/>
          <a:lstStyle/>
          <a:p>
            <a:pPr marL="0" indent="0" algn="ctr">
              <a:buNone/>
            </a:pPr>
            <a:r>
              <a:rPr sz="1100" b="1">
                <a:solidFill>
                  <a:srgbClr val="FFFFFF"/>
                </a:solidFill>
              </a:rPr>
              <a:t>5</a:t>
            </a:r>
            <a:endParaRPr sz="1100"/>
          </a:p>
        </p:txBody>
      </p:sp>
      <p:sp>
        <p:nvSpPr>
          <p:cNvPr id="22" name="Text 20">
            <a:extLst>
              <a:ext uri="{FF2B5EF4-FFF2-40B4-BE49-F238E27FC236}">
                <a16:creationId xmlns:a16="http://schemas.microsoft.com/office/drawing/2014/main" id="{9EEFF5FF-180B-45A5-B841-F2DC3122461B}"/>
              </a:ext>
            </a:extLst>
          </p:cNvPr>
          <p:cNvSpPr>
            <a:spLocks noGrp="1"/>
          </p:cNvSpPr>
          <p:nvPr/>
        </p:nvSpPr>
        <p:spPr>
          <a:xfrm>
            <a:off x="1417320" y="4251960"/>
            <a:ext cx="2834640" cy="228600"/>
          </a:xfrm>
          <a:prstGeom prst="rect">
            <a:avLst/>
          </a:prstGeom>
          <a:noFill/>
        </p:spPr>
        <p:txBody>
          <a:bodyPr wrap="square" lIns="0" tIns="0" rIns="0" bIns="0" anchor="ctr"/>
          <a:lstStyle/>
          <a:p>
            <a:pPr marL="0" indent="0">
              <a:buNone/>
            </a:pPr>
            <a:r>
              <a:rPr sz="1700" b="1">
                <a:solidFill>
                  <a:srgbClr val="172033"/>
                </a:solidFill>
              </a:rPr>
              <a:t>Hata / tanısal analiz</a:t>
            </a:r>
            <a:endParaRPr sz="1700"/>
          </a:p>
        </p:txBody>
      </p:sp>
      <p:sp>
        <p:nvSpPr>
          <p:cNvPr id="23" name="Text 21">
            <a:extLst>
              <a:ext uri="{FF2B5EF4-FFF2-40B4-BE49-F238E27FC236}">
                <a16:creationId xmlns:a16="http://schemas.microsoft.com/office/drawing/2014/main" id="{31AB1421-97FC-412F-82A2-B3CF3825E7CF}"/>
              </a:ext>
            </a:extLst>
          </p:cNvPr>
          <p:cNvSpPr>
            <a:spLocks noGrp="1"/>
          </p:cNvSpPr>
          <p:nvPr/>
        </p:nvSpPr>
        <p:spPr>
          <a:xfrm>
            <a:off x="5074920" y="4251960"/>
            <a:ext cx="6080760" cy="292608"/>
          </a:xfrm>
          <a:prstGeom prst="rect">
            <a:avLst/>
          </a:prstGeom>
          <a:noFill/>
        </p:spPr>
        <p:txBody>
          <a:bodyPr wrap="square" lIns="0" tIns="0" rIns="0" bIns="0" anchor="ctr">
            <a:normAutofit/>
          </a:bodyPr>
          <a:lstStyle/>
          <a:p>
            <a:pPr marL="0" indent="0">
              <a:buNone/>
            </a:pPr>
            <a:r>
              <a:rPr sz="1550">
                <a:solidFill>
                  <a:srgbClr val="5E6A7D"/>
                </a:solidFill>
              </a:rPr>
              <a:t>Neutral sınıfı, confidence, PhraseBank etkisi</a:t>
            </a:r>
            <a:endParaRPr sz="1550"/>
          </a:p>
        </p:txBody>
      </p:sp>
      <p:sp>
        <p:nvSpPr>
          <p:cNvPr id="24" name="Shape 22">
            <a:extLst>
              <a:ext uri="{FF2B5EF4-FFF2-40B4-BE49-F238E27FC236}">
                <a16:creationId xmlns:a16="http://schemas.microsoft.com/office/drawing/2014/main" id="{E238763A-CAB1-46D8-AA28-B90D06EA6BCF}"/>
              </a:ext>
            </a:extLst>
          </p:cNvPr>
          <p:cNvSpPr>
            <a:spLocks noGrp="1"/>
          </p:cNvSpPr>
          <p:nvPr/>
        </p:nvSpPr>
        <p:spPr>
          <a:xfrm>
            <a:off x="777240" y="4983480"/>
            <a:ext cx="402336" cy="402336"/>
          </a:xfrm>
          <a:prstGeom prst="ellipse">
            <a:avLst/>
          </a:prstGeom>
          <a:solidFill>
            <a:srgbClr val="F4A62A"/>
          </a:solidFill>
          <a:ln w="12700">
            <a:solidFill>
              <a:srgbClr val="F4A62A"/>
            </a:solidFill>
            <a:prstDash val="solid"/>
          </a:ln>
        </p:spPr>
      </p:sp>
      <p:sp>
        <p:nvSpPr>
          <p:cNvPr id="25" name="Text 23">
            <a:extLst>
              <a:ext uri="{FF2B5EF4-FFF2-40B4-BE49-F238E27FC236}">
                <a16:creationId xmlns:a16="http://schemas.microsoft.com/office/drawing/2014/main" id="{C81B4B15-B3E6-44D3-893F-64D8D780EA34}"/>
              </a:ext>
            </a:extLst>
          </p:cNvPr>
          <p:cNvSpPr>
            <a:spLocks noGrp="1"/>
          </p:cNvSpPr>
          <p:nvPr/>
        </p:nvSpPr>
        <p:spPr>
          <a:xfrm>
            <a:off x="777240" y="5065776"/>
            <a:ext cx="402336" cy="128016"/>
          </a:xfrm>
          <a:prstGeom prst="rect">
            <a:avLst/>
          </a:prstGeom>
          <a:noFill/>
        </p:spPr>
        <p:txBody>
          <a:bodyPr wrap="square" lIns="0" tIns="0" rIns="0" bIns="0" anchor="ctr"/>
          <a:lstStyle/>
          <a:p>
            <a:pPr marL="0" indent="0" algn="ctr">
              <a:buNone/>
            </a:pPr>
            <a:r>
              <a:rPr sz="1100" b="1">
                <a:solidFill>
                  <a:srgbClr val="FFFFFF"/>
                </a:solidFill>
              </a:rPr>
              <a:t>6</a:t>
            </a:r>
            <a:endParaRPr sz="1100"/>
          </a:p>
        </p:txBody>
      </p:sp>
      <p:sp>
        <p:nvSpPr>
          <p:cNvPr id="26" name="Text 24">
            <a:extLst>
              <a:ext uri="{FF2B5EF4-FFF2-40B4-BE49-F238E27FC236}">
                <a16:creationId xmlns:a16="http://schemas.microsoft.com/office/drawing/2014/main" id="{96EF5C4D-CB91-4BB7-AEE3-6B2FAACDE890}"/>
              </a:ext>
            </a:extLst>
          </p:cNvPr>
          <p:cNvSpPr>
            <a:spLocks noGrp="1"/>
          </p:cNvSpPr>
          <p:nvPr/>
        </p:nvSpPr>
        <p:spPr>
          <a:xfrm>
            <a:off x="1417320" y="4965192"/>
            <a:ext cx="2834640" cy="228600"/>
          </a:xfrm>
          <a:prstGeom prst="rect">
            <a:avLst/>
          </a:prstGeom>
          <a:noFill/>
        </p:spPr>
        <p:txBody>
          <a:bodyPr wrap="square" lIns="0" tIns="0" rIns="0" bIns="0" anchor="ctr"/>
          <a:lstStyle/>
          <a:p>
            <a:pPr marL="0" indent="0">
              <a:buNone/>
            </a:pPr>
            <a:r>
              <a:rPr sz="1700" b="1">
                <a:solidFill>
                  <a:srgbClr val="172033"/>
                </a:solidFill>
              </a:rPr>
              <a:t>Sonuç ve gelecek çalışma</a:t>
            </a:r>
            <a:endParaRPr sz="1700"/>
          </a:p>
        </p:txBody>
      </p:sp>
      <p:sp>
        <p:nvSpPr>
          <p:cNvPr id="27" name="Text 25">
            <a:extLst>
              <a:ext uri="{FF2B5EF4-FFF2-40B4-BE49-F238E27FC236}">
                <a16:creationId xmlns:a16="http://schemas.microsoft.com/office/drawing/2014/main" id="{F218DF91-1BCB-41BA-A34A-33E15896C4A9}"/>
              </a:ext>
            </a:extLst>
          </p:cNvPr>
          <p:cNvSpPr>
            <a:spLocks noGrp="1"/>
          </p:cNvSpPr>
          <p:nvPr/>
        </p:nvSpPr>
        <p:spPr>
          <a:xfrm>
            <a:off x="5074920" y="4965192"/>
            <a:ext cx="6080760" cy="292608"/>
          </a:xfrm>
          <a:prstGeom prst="rect">
            <a:avLst/>
          </a:prstGeom>
          <a:noFill/>
        </p:spPr>
        <p:txBody>
          <a:bodyPr wrap="square" lIns="0" tIns="0" rIns="0" bIns="0" anchor="ctr">
            <a:normAutofit/>
          </a:bodyPr>
          <a:lstStyle/>
          <a:p>
            <a:pPr marL="0" indent="0">
              <a:buNone/>
            </a:pPr>
            <a:r>
              <a:rPr sz="1550">
                <a:solidFill>
                  <a:srgbClr val="5E6A7D"/>
                </a:solidFill>
              </a:rPr>
              <a:t>Etiket güvenilirliği, veri bileşimi ve yeni deneyler</a:t>
            </a:r>
            <a:endParaRPr sz="1550"/>
          </a:p>
        </p:txBody>
      </p:sp>
      <p:sp>
        <p:nvSpPr>
          <p:cNvPr id="28" name="Text 26">
            <a:extLst>
              <a:ext uri="{FF2B5EF4-FFF2-40B4-BE49-F238E27FC236}">
                <a16:creationId xmlns:a16="http://schemas.microsoft.com/office/drawing/2014/main" id="{4268A463-029E-4670-A40F-12A79CAEB1D0}"/>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9" name="Text 27">
            <a:extLst>
              <a:ext uri="{FF2B5EF4-FFF2-40B4-BE49-F238E27FC236}">
                <a16:creationId xmlns:a16="http://schemas.microsoft.com/office/drawing/2014/main" id="{215F9751-5CCC-4A16-B6B1-20ED6A0A0061}"/>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a:t>
            </a:r>
            <a:endParaRPr sz="850"/>
          </a:p>
        </p:txBody>
      </p:sp>
      <p:sp>
        <p:nvSpPr>
          <p:cNvPr id="30" name="Shape 28">
            <a:extLst>
              <a:ext uri="{FF2B5EF4-FFF2-40B4-BE49-F238E27FC236}">
                <a16:creationId xmlns:a16="http://schemas.microsoft.com/office/drawing/2014/main" id="{3AC3BDA1-50D3-45A0-A8C2-9CBC05BB1816}"/>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566507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19E306-D024-4609-9790-781A453B4BFA}"/>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GİRİŞ ve MOTİVASYON »</a:t>
            </a:r>
            <a:endParaRPr sz="3600"/>
          </a:p>
        </p:txBody>
      </p:sp>
      <p:sp>
        <p:nvSpPr>
          <p:cNvPr id="3" name="Text 1">
            <a:extLst>
              <a:ext uri="{FF2B5EF4-FFF2-40B4-BE49-F238E27FC236}">
                <a16:creationId xmlns:a16="http://schemas.microsoft.com/office/drawing/2014/main" id="{51D9E102-6764-4852-801F-6AF7AE741792}"/>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Finansal sentiment neden sıradan metin sınıflandırmadan daha zor?</a:t>
            </a:r>
            <a:endParaRPr sz="1800"/>
          </a:p>
        </p:txBody>
      </p:sp>
      <p:sp>
        <p:nvSpPr>
          <p:cNvPr id="4" name="Text 2">
            <a:extLst>
              <a:ext uri="{FF2B5EF4-FFF2-40B4-BE49-F238E27FC236}">
                <a16:creationId xmlns:a16="http://schemas.microsoft.com/office/drawing/2014/main" id="{FF34B4E2-F2AC-44A2-8667-8A22EACC2CA4}"/>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3A4D4E14-CE6F-4171-86F3-3F095C2CCE33}"/>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a:t>
            </a:r>
            <a:endParaRPr sz="850"/>
          </a:p>
        </p:txBody>
      </p:sp>
      <p:sp>
        <p:nvSpPr>
          <p:cNvPr id="6" name="Shape 4">
            <a:extLst>
              <a:ext uri="{FF2B5EF4-FFF2-40B4-BE49-F238E27FC236}">
                <a16:creationId xmlns:a16="http://schemas.microsoft.com/office/drawing/2014/main" id="{09F08903-D302-4C43-9AAA-D74BB6AD1DCD}"/>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97544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DAFE63-E55F-4CE7-AF4A-B9B873E0D412}"/>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Finansal metinlerde duygu analizi neden önemli?</a:t>
            </a:r>
            <a:endParaRPr sz="3100"/>
          </a:p>
        </p:txBody>
      </p:sp>
      <p:sp>
        <p:nvSpPr>
          <p:cNvPr id="3" name="Text 1">
            <a:extLst>
              <a:ext uri="{FF2B5EF4-FFF2-40B4-BE49-F238E27FC236}">
                <a16:creationId xmlns:a16="http://schemas.microsoft.com/office/drawing/2014/main" id="{F3AD0E40-A451-4078-9023-893B82054ABA}"/>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Haber, tweet ve raporların piyasa algısına hızlı etkisi vardır.</a:t>
            </a:r>
            <a:endParaRPr sz="1450"/>
          </a:p>
        </p:txBody>
      </p:sp>
      <p:sp>
        <p:nvSpPr>
          <p:cNvPr id="4" name="Text 2">
            <a:extLst>
              <a:ext uri="{FF2B5EF4-FFF2-40B4-BE49-F238E27FC236}">
                <a16:creationId xmlns:a16="http://schemas.microsoft.com/office/drawing/2014/main" id="{4E4FFC0E-E6A7-4F3F-A106-29000BA7BB3B}"/>
              </a:ext>
            </a:extLst>
          </p:cNvPr>
          <p:cNvSpPr>
            <a:spLocks noGrp="1"/>
          </p:cNvSpPr>
          <p:nvPr/>
        </p:nvSpPr>
        <p:spPr>
          <a:xfrm>
            <a:off x="685800" y="1417320"/>
            <a:ext cx="6492240" cy="2468880"/>
          </a:xfrm>
          <a:prstGeom prst="rect">
            <a:avLst/>
          </a:prstGeom>
          <a:noFill/>
        </p:spPr>
        <p:txBody>
          <a:bodyPr wrap="square" lIns="635" tIns="635" rIns="635" bIns="635" anchor="ctr">
            <a:normAutofit/>
          </a:bodyPr>
          <a:lstStyle/>
          <a:p>
            <a:r>
              <a:rPr sz="1800">
                <a:solidFill>
                  <a:srgbClr val="1A1E2A"/>
                </a:solidFill>
              </a:rPr>
              <a:t>Finansal kararlar yalnızca sayısal verilerden değil; haber, sosyal medya, rapor ve beklenti metinlerinden de etkilenir.</a:t>
            </a:r>
            <a:endParaRPr sz="1800"/>
          </a:p>
          <a:p>
            <a:r>
              <a:rPr sz="1800">
                <a:solidFill>
                  <a:srgbClr val="1A1E2A"/>
                </a:solidFill>
              </a:rPr>
              <a:t>Aynı olay farklı bağlamlarda farklı sentiment doğurabilir: gelir artışı olumlu olabilir; beklenti altı kalırsa olumsuz algılanabilir.</a:t>
            </a:r>
            <a:endParaRPr sz="1800"/>
          </a:p>
          <a:p>
            <a:r>
              <a:rPr sz="1800">
                <a:solidFill>
                  <a:srgbClr val="1A1E2A"/>
                </a:solidFill>
              </a:rPr>
              <a:t>Bu nedenle finansal duygu analizi yalnızca kelime polaritesi değil, bağlam ve finansal etki yorumudur.</a:t>
            </a:r>
            <a:endParaRPr sz="1800"/>
          </a:p>
        </p:txBody>
      </p:sp>
      <p:sp>
        <p:nvSpPr>
          <p:cNvPr id="5" name="Shape 3">
            <a:extLst>
              <a:ext uri="{FF2B5EF4-FFF2-40B4-BE49-F238E27FC236}">
                <a16:creationId xmlns:a16="http://schemas.microsoft.com/office/drawing/2014/main" id="{C7EBF31C-711C-4DE8-8EB2-5106E82015B3}"/>
              </a:ext>
            </a:extLst>
          </p:cNvPr>
          <p:cNvSpPr>
            <a:spLocks noGrp="1"/>
          </p:cNvSpPr>
          <p:nvPr/>
        </p:nvSpPr>
        <p:spPr>
          <a:xfrm>
            <a:off x="713232" y="4343400"/>
            <a:ext cx="6492240" cy="822960"/>
          </a:xfrm>
          <a:prstGeom prst="roundRect">
            <a:avLst>
              <a:gd name="adj" fmla="val 8889"/>
            </a:avLst>
          </a:prstGeom>
          <a:solidFill>
            <a:srgbClr val="F0FAF8"/>
          </a:solidFill>
          <a:ln w="15240">
            <a:solidFill>
              <a:srgbClr val="0F9D8F"/>
            </a:solidFill>
            <a:prstDash val="solid"/>
          </a:ln>
        </p:spPr>
      </p:sp>
      <p:sp>
        <p:nvSpPr>
          <p:cNvPr id="6" name="Text 4">
            <a:extLst>
              <a:ext uri="{FF2B5EF4-FFF2-40B4-BE49-F238E27FC236}">
                <a16:creationId xmlns:a16="http://schemas.microsoft.com/office/drawing/2014/main" id="{0E36AA7A-ED2A-43C7-A81F-0CC26BE95DBF}"/>
              </a:ext>
            </a:extLst>
          </p:cNvPr>
          <p:cNvSpPr>
            <a:spLocks noGrp="1"/>
          </p:cNvSpPr>
          <p:nvPr/>
        </p:nvSpPr>
        <p:spPr>
          <a:xfrm>
            <a:off x="877824" y="4489704"/>
            <a:ext cx="6163056" cy="594360"/>
          </a:xfrm>
          <a:prstGeom prst="rect">
            <a:avLst/>
          </a:prstGeom>
          <a:noFill/>
        </p:spPr>
        <p:txBody>
          <a:bodyPr wrap="square" lIns="254" tIns="254" rIns="254" bIns="254" anchor="ctr">
            <a:normAutofit/>
          </a:bodyPr>
          <a:lstStyle/>
          <a:p>
            <a:pPr marL="0" indent="0">
              <a:buNone/>
            </a:pPr>
            <a:r>
              <a:rPr sz="1500" b="1">
                <a:solidFill>
                  <a:srgbClr val="172033"/>
                </a:solidFill>
              </a:rPr>
              <a:t>Finansal sentiment = metnin piyasaya veya şirkete yönelik olumlu / olumsuz / nötr etkisini yorumlama problemi</a:t>
            </a:r>
            <a:endParaRPr sz="1500"/>
          </a:p>
        </p:txBody>
      </p:sp>
      <p:sp>
        <p:nvSpPr>
          <p:cNvPr id="7" name="Text 5">
            <a:extLst>
              <a:ext uri="{FF2B5EF4-FFF2-40B4-BE49-F238E27FC236}">
                <a16:creationId xmlns:a16="http://schemas.microsoft.com/office/drawing/2014/main" id="{A0956F67-EB23-47CF-8878-CA01F1805204}"/>
              </a:ext>
            </a:extLst>
          </p:cNvPr>
          <p:cNvSpPr>
            <a:spLocks noGrp="1"/>
          </p:cNvSpPr>
          <p:nvPr/>
        </p:nvSpPr>
        <p:spPr>
          <a:xfrm>
            <a:off x="7818120" y="1417320"/>
            <a:ext cx="3474720" cy="228600"/>
          </a:xfrm>
          <a:prstGeom prst="rect">
            <a:avLst/>
          </a:prstGeom>
          <a:noFill/>
        </p:spPr>
        <p:txBody>
          <a:bodyPr wrap="square" lIns="0" tIns="0" rIns="0" bIns="0" anchor="ctr"/>
          <a:lstStyle/>
          <a:p>
            <a:pPr marL="0" indent="0">
              <a:buNone/>
            </a:pPr>
            <a:r>
              <a:rPr sz="1600" b="1">
                <a:solidFill>
                  <a:srgbClr val="172033"/>
                </a:solidFill>
              </a:rPr>
              <a:t>Örnek</a:t>
            </a:r>
            <a:endParaRPr sz="1600"/>
          </a:p>
        </p:txBody>
      </p:sp>
      <p:sp>
        <p:nvSpPr>
          <p:cNvPr id="8" name="Text 6">
            <a:extLst>
              <a:ext uri="{FF2B5EF4-FFF2-40B4-BE49-F238E27FC236}">
                <a16:creationId xmlns:a16="http://schemas.microsoft.com/office/drawing/2014/main" id="{2D29A520-C979-4FCC-8EE9-56A03E3183C3}"/>
              </a:ext>
            </a:extLst>
          </p:cNvPr>
          <p:cNvSpPr>
            <a:spLocks noGrp="1"/>
          </p:cNvSpPr>
          <p:nvPr/>
        </p:nvSpPr>
        <p:spPr>
          <a:xfrm>
            <a:off x="7818120" y="1874520"/>
            <a:ext cx="3474720" cy="731520"/>
          </a:xfrm>
          <a:prstGeom prst="rect">
            <a:avLst/>
          </a:prstGeom>
          <a:noFill/>
        </p:spPr>
        <p:txBody>
          <a:bodyPr wrap="square" lIns="381" tIns="381" rIns="381" bIns="381" anchor="ctr"/>
          <a:lstStyle/>
          <a:p>
            <a:pPr marL="0" indent="0">
              <a:buNone/>
            </a:pPr>
            <a:r>
              <a:rPr sz="1600">
                <a:solidFill>
                  <a:srgbClr val="1C8B5A"/>
                </a:solidFill>
              </a:rPr>
              <a:t>“Revenue increased by 10%.”</a:t>
            </a:r>
            <a:endParaRPr sz="1600"/>
          </a:p>
          <a:p>
            <a:pPr marL="0" indent="0">
              <a:buNone/>
            </a:pPr>
            <a:r>
              <a:rPr sz="1600">
                <a:solidFill>
                  <a:srgbClr val="1C8B5A"/>
                </a:solidFill>
              </a:rPr>
              <a:t>→ çoğu durumda Positive</a:t>
            </a:r>
            <a:endParaRPr sz="1600"/>
          </a:p>
        </p:txBody>
      </p:sp>
      <p:sp>
        <p:nvSpPr>
          <p:cNvPr id="9" name="Text 7">
            <a:extLst>
              <a:ext uri="{FF2B5EF4-FFF2-40B4-BE49-F238E27FC236}">
                <a16:creationId xmlns:a16="http://schemas.microsoft.com/office/drawing/2014/main" id="{0ECD9A15-F4DA-4E3D-A3FF-2B9AC04E4D4E}"/>
              </a:ext>
            </a:extLst>
          </p:cNvPr>
          <p:cNvSpPr>
            <a:spLocks noGrp="1"/>
          </p:cNvSpPr>
          <p:nvPr/>
        </p:nvSpPr>
        <p:spPr>
          <a:xfrm>
            <a:off x="7818120" y="2880360"/>
            <a:ext cx="3566160" cy="914400"/>
          </a:xfrm>
          <a:prstGeom prst="rect">
            <a:avLst/>
          </a:prstGeom>
          <a:noFill/>
        </p:spPr>
        <p:txBody>
          <a:bodyPr wrap="square" lIns="381" tIns="381" rIns="381" bIns="381" anchor="ctr"/>
          <a:lstStyle/>
          <a:p>
            <a:pPr marL="0" indent="0">
              <a:buNone/>
            </a:pPr>
            <a:r>
              <a:rPr sz="1600">
                <a:solidFill>
                  <a:srgbClr val="D64545"/>
                </a:solidFill>
              </a:rPr>
              <a:t>“Revenue increased by 10%,</a:t>
            </a:r>
            <a:endParaRPr sz="1600"/>
          </a:p>
          <a:p>
            <a:pPr marL="0" indent="0">
              <a:buNone/>
            </a:pPr>
            <a:r>
              <a:rPr sz="1600">
                <a:solidFill>
                  <a:srgbClr val="D64545"/>
                </a:solidFill>
              </a:rPr>
              <a:t>below analyst expectations.”</a:t>
            </a:r>
            <a:endParaRPr sz="1600"/>
          </a:p>
          <a:p>
            <a:pPr marL="0" indent="0">
              <a:buNone/>
            </a:pPr>
            <a:r>
              <a:rPr sz="1600">
                <a:solidFill>
                  <a:srgbClr val="D64545"/>
                </a:solidFill>
              </a:rPr>
              <a:t>→ bağlama göre Negative olabilir</a:t>
            </a:r>
            <a:endParaRPr sz="1600"/>
          </a:p>
        </p:txBody>
      </p:sp>
      <p:sp>
        <p:nvSpPr>
          <p:cNvPr id="10" name="Shape 8">
            <a:extLst>
              <a:ext uri="{FF2B5EF4-FFF2-40B4-BE49-F238E27FC236}">
                <a16:creationId xmlns:a16="http://schemas.microsoft.com/office/drawing/2014/main" id="{CF11F5F3-891D-4031-8785-0823A6A1F92D}"/>
              </a:ext>
            </a:extLst>
          </p:cNvPr>
          <p:cNvSpPr>
            <a:spLocks noGrp="1"/>
          </p:cNvSpPr>
          <p:nvPr/>
        </p:nvSpPr>
        <p:spPr>
          <a:xfrm>
            <a:off x="7818120" y="4160520"/>
            <a:ext cx="3520440" cy="0"/>
          </a:xfrm>
          <a:prstGeom prst="line">
            <a:avLst/>
          </a:prstGeom>
          <a:noFill/>
          <a:ln w="12700">
            <a:solidFill>
              <a:srgbClr val="DDE3EF"/>
            </a:solidFill>
            <a:prstDash val="solid"/>
          </a:ln>
        </p:spPr>
      </p:sp>
      <p:sp>
        <p:nvSpPr>
          <p:cNvPr id="11" name="Text 9">
            <a:extLst>
              <a:ext uri="{FF2B5EF4-FFF2-40B4-BE49-F238E27FC236}">
                <a16:creationId xmlns:a16="http://schemas.microsoft.com/office/drawing/2014/main" id="{6B174032-37F5-4EC6-AD3F-4889BAEA4F86}"/>
              </a:ext>
            </a:extLst>
          </p:cNvPr>
          <p:cNvSpPr>
            <a:spLocks noGrp="1"/>
          </p:cNvSpPr>
          <p:nvPr/>
        </p:nvSpPr>
        <p:spPr>
          <a:xfrm>
            <a:off x="7818120" y="4434840"/>
            <a:ext cx="3520440" cy="731520"/>
          </a:xfrm>
          <a:prstGeom prst="rect">
            <a:avLst/>
          </a:prstGeom>
          <a:noFill/>
        </p:spPr>
        <p:txBody>
          <a:bodyPr wrap="square" lIns="254" tIns="254" rIns="254" bIns="254" anchor="ctr">
            <a:normAutofit/>
          </a:bodyPr>
          <a:lstStyle/>
          <a:p>
            <a:pPr marL="0" indent="0">
              <a:buNone/>
            </a:pPr>
            <a:r>
              <a:rPr sz="1530" b="1">
                <a:solidFill>
                  <a:srgbClr val="1A1E2A"/>
                </a:solidFill>
              </a:rPr>
              <a:t>Bu yüzden modellerin farklı veri kaynaklarında aynı kararı verip vermediği kritik hale gelir.</a:t>
            </a:r>
            <a:endParaRPr sz="1530"/>
          </a:p>
        </p:txBody>
      </p:sp>
      <p:sp>
        <p:nvSpPr>
          <p:cNvPr id="12" name="Text 10">
            <a:extLst>
              <a:ext uri="{FF2B5EF4-FFF2-40B4-BE49-F238E27FC236}">
                <a16:creationId xmlns:a16="http://schemas.microsoft.com/office/drawing/2014/main" id="{ACCE5E23-8EA2-4BA4-B564-CE5427250653}"/>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3" name="Text 11">
            <a:extLst>
              <a:ext uri="{FF2B5EF4-FFF2-40B4-BE49-F238E27FC236}">
                <a16:creationId xmlns:a16="http://schemas.microsoft.com/office/drawing/2014/main" id="{C3EB2F25-70B4-4679-A590-65FB73EB706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4</a:t>
            </a:r>
            <a:endParaRPr sz="850"/>
          </a:p>
        </p:txBody>
      </p:sp>
      <p:sp>
        <p:nvSpPr>
          <p:cNvPr id="14" name="Shape 12">
            <a:extLst>
              <a:ext uri="{FF2B5EF4-FFF2-40B4-BE49-F238E27FC236}">
                <a16:creationId xmlns:a16="http://schemas.microsoft.com/office/drawing/2014/main" id="{B70B7095-47E6-445D-BF0E-F91C0282833B}"/>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758006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332ABC-BF7A-43AD-9D67-AF5CD685EDEB}"/>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FinBERT'in eğitim geçmişi veri seçimini belirledi</a:t>
            </a:r>
            <a:endParaRPr sz="3100"/>
          </a:p>
        </p:txBody>
      </p:sp>
      <p:sp>
        <p:nvSpPr>
          <p:cNvPr id="3" name="Text 1">
            <a:extLst>
              <a:ext uri="{FF2B5EF4-FFF2-40B4-BE49-F238E27FC236}">
                <a16:creationId xmlns:a16="http://schemas.microsoft.com/office/drawing/2014/main" id="{CC51E1A5-ED5C-4FDD-AD09-977BB45E7A21}"/>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Modelin daha önce gördüğü veriyi bağımsız test olarak kullanmadık.</a:t>
            </a:r>
            <a:endParaRPr sz="1450"/>
          </a:p>
        </p:txBody>
      </p:sp>
      <p:sp>
        <p:nvSpPr>
          <p:cNvPr id="4" name="Text 2">
            <a:extLst>
              <a:ext uri="{FF2B5EF4-FFF2-40B4-BE49-F238E27FC236}">
                <a16:creationId xmlns:a16="http://schemas.microsoft.com/office/drawing/2014/main" id="{369077B1-476A-4D67-A5E0-C9DE73DDDFF9}"/>
              </a:ext>
            </a:extLst>
          </p:cNvPr>
          <p:cNvSpPr>
            <a:spLocks noGrp="1"/>
          </p:cNvSpPr>
          <p:nvPr/>
        </p:nvSpPr>
        <p:spPr>
          <a:xfrm>
            <a:off x="731520" y="1417320"/>
            <a:ext cx="3108960" cy="256032"/>
          </a:xfrm>
          <a:prstGeom prst="rect">
            <a:avLst/>
          </a:prstGeom>
          <a:noFill/>
        </p:spPr>
        <p:txBody>
          <a:bodyPr wrap="square" lIns="0" tIns="0" rIns="0" bIns="0" anchor="ctr"/>
          <a:lstStyle/>
          <a:p>
            <a:pPr marL="0" indent="0">
              <a:buNone/>
            </a:pPr>
            <a:r>
              <a:rPr sz="1700" b="1">
                <a:solidFill>
                  <a:srgbClr val="172033"/>
                </a:solidFill>
              </a:rPr>
              <a:t>Alan uyarlaması</a:t>
            </a:r>
            <a:endParaRPr sz="1700"/>
          </a:p>
        </p:txBody>
      </p:sp>
      <p:sp>
        <p:nvSpPr>
          <p:cNvPr id="5" name="Text 3">
            <a:extLst>
              <a:ext uri="{FF2B5EF4-FFF2-40B4-BE49-F238E27FC236}">
                <a16:creationId xmlns:a16="http://schemas.microsoft.com/office/drawing/2014/main" id="{CC0CACDD-821F-48A8-9DEB-2E4333799536}"/>
              </a:ext>
            </a:extLst>
          </p:cNvPr>
          <p:cNvSpPr>
            <a:spLocks noGrp="1"/>
          </p:cNvSpPr>
          <p:nvPr/>
        </p:nvSpPr>
        <p:spPr>
          <a:xfrm>
            <a:off x="731520" y="1828800"/>
            <a:ext cx="4572000" cy="1143000"/>
          </a:xfrm>
          <a:prstGeom prst="rect">
            <a:avLst/>
          </a:prstGeom>
          <a:noFill/>
        </p:spPr>
        <p:txBody>
          <a:bodyPr wrap="square" lIns="381" tIns="381" rIns="381" bIns="381" anchor="ctr">
            <a:normAutofit/>
          </a:bodyPr>
          <a:lstStyle/>
          <a:p>
            <a:pPr marL="0" indent="0">
              <a:buNone/>
            </a:pPr>
            <a:r>
              <a:rPr sz="1800">
                <a:solidFill>
                  <a:srgbClr val="1A1E2A"/>
                </a:solidFill>
              </a:rPr>
              <a:t>Reuters TRC2 alt kümesi
Etiketsiz finansal metinlerle
dil modeli uyarlaması</a:t>
            </a:r>
            <a:endParaRPr sz="1800"/>
          </a:p>
        </p:txBody>
      </p:sp>
      <p:sp>
        <p:nvSpPr>
          <p:cNvPr id="6" name="Text 4">
            <a:extLst>
              <a:ext uri="{FF2B5EF4-FFF2-40B4-BE49-F238E27FC236}">
                <a16:creationId xmlns:a16="http://schemas.microsoft.com/office/drawing/2014/main" id="{AAFF94A6-BA39-44C2-9181-B0E9D257F47F}"/>
              </a:ext>
            </a:extLst>
          </p:cNvPr>
          <p:cNvSpPr>
            <a:spLocks noGrp="1"/>
          </p:cNvSpPr>
          <p:nvPr/>
        </p:nvSpPr>
        <p:spPr>
          <a:xfrm>
            <a:off x="6400800" y="1417320"/>
            <a:ext cx="3108960" cy="256032"/>
          </a:xfrm>
          <a:prstGeom prst="rect">
            <a:avLst/>
          </a:prstGeom>
          <a:noFill/>
        </p:spPr>
        <p:txBody>
          <a:bodyPr wrap="square" lIns="0" tIns="0" rIns="0" bIns="0" anchor="ctr"/>
          <a:lstStyle/>
          <a:p>
            <a:pPr marL="0" indent="0">
              <a:buNone/>
            </a:pPr>
            <a:r>
              <a:rPr sz="1700" b="1">
                <a:solidFill>
                  <a:srgbClr val="172033"/>
                </a:solidFill>
              </a:rPr>
              <a:t>Duygu sınıflandırması</a:t>
            </a:r>
            <a:endParaRPr sz="1700"/>
          </a:p>
        </p:txBody>
      </p:sp>
      <p:sp>
        <p:nvSpPr>
          <p:cNvPr id="7" name="Text 5">
            <a:extLst>
              <a:ext uri="{FF2B5EF4-FFF2-40B4-BE49-F238E27FC236}">
                <a16:creationId xmlns:a16="http://schemas.microsoft.com/office/drawing/2014/main" id="{6743D4EB-7166-442F-8F4F-16F72AC3DAD4}"/>
              </a:ext>
            </a:extLst>
          </p:cNvPr>
          <p:cNvSpPr>
            <a:spLocks noGrp="1"/>
          </p:cNvSpPr>
          <p:nvPr/>
        </p:nvSpPr>
        <p:spPr>
          <a:xfrm>
            <a:off x="6400800" y="1828800"/>
            <a:ext cx="4572000" cy="1143000"/>
          </a:xfrm>
          <a:prstGeom prst="rect">
            <a:avLst/>
          </a:prstGeom>
          <a:noFill/>
        </p:spPr>
        <p:txBody>
          <a:bodyPr wrap="square" lIns="381" tIns="381" rIns="381" bIns="381" anchor="ctr">
            <a:normAutofit/>
          </a:bodyPr>
          <a:lstStyle/>
          <a:p>
            <a:pPr marL="0" indent="0">
              <a:buNone/>
            </a:pPr>
            <a:r>
              <a:rPr sz="1800">
                <a:solidFill>
                  <a:srgbClr val="1A1E2A"/>
                </a:solidFill>
              </a:rPr>
              <a:t>Financial PhraseBank
Positive / Negative / Neutral
sentiment fine-tuning</a:t>
            </a:r>
            <a:endParaRPr sz="1800"/>
          </a:p>
        </p:txBody>
      </p:sp>
      <p:sp>
        <p:nvSpPr>
          <p:cNvPr id="8" name="Shape 6">
            <a:extLst>
              <a:ext uri="{FF2B5EF4-FFF2-40B4-BE49-F238E27FC236}">
                <a16:creationId xmlns:a16="http://schemas.microsoft.com/office/drawing/2014/main" id="{9EA90E57-8579-4DB3-8462-B5618AB204BC}"/>
              </a:ext>
            </a:extLst>
          </p:cNvPr>
          <p:cNvSpPr>
            <a:spLocks noGrp="1"/>
          </p:cNvSpPr>
          <p:nvPr/>
        </p:nvSpPr>
        <p:spPr>
          <a:xfrm>
            <a:off x="5943600" y="1325880"/>
            <a:ext cx="0" cy="1920240"/>
          </a:xfrm>
          <a:prstGeom prst="line">
            <a:avLst/>
          </a:prstGeom>
          <a:noFill/>
          <a:ln w="25400">
            <a:solidFill>
              <a:srgbClr val="DDE3EF"/>
            </a:solidFill>
            <a:prstDash val="solid"/>
          </a:ln>
        </p:spPr>
      </p:sp>
      <p:sp>
        <p:nvSpPr>
          <p:cNvPr id="9" name="Shape 7">
            <a:extLst>
              <a:ext uri="{FF2B5EF4-FFF2-40B4-BE49-F238E27FC236}">
                <a16:creationId xmlns:a16="http://schemas.microsoft.com/office/drawing/2014/main" id="{9D8F916D-4A28-4DFD-9FAB-16CC4428FE47}"/>
              </a:ext>
            </a:extLst>
          </p:cNvPr>
          <p:cNvSpPr>
            <a:spLocks noGrp="1"/>
          </p:cNvSpPr>
          <p:nvPr/>
        </p:nvSpPr>
        <p:spPr>
          <a:xfrm>
            <a:off x="1143000" y="4069080"/>
            <a:ext cx="9784080" cy="868680"/>
          </a:xfrm>
          <a:prstGeom prst="roundRect">
            <a:avLst>
              <a:gd name="adj" fmla="val 8421"/>
            </a:avLst>
          </a:prstGeom>
          <a:solidFill>
            <a:srgbClr val="F0FAF8"/>
          </a:solidFill>
          <a:ln w="15240">
            <a:solidFill>
              <a:srgbClr val="F4A62A"/>
            </a:solidFill>
            <a:prstDash val="solid"/>
          </a:ln>
        </p:spPr>
      </p:sp>
      <p:sp>
        <p:nvSpPr>
          <p:cNvPr id="10" name="Text 8">
            <a:extLst>
              <a:ext uri="{FF2B5EF4-FFF2-40B4-BE49-F238E27FC236}">
                <a16:creationId xmlns:a16="http://schemas.microsoft.com/office/drawing/2014/main" id="{6E536953-CCC4-4191-98F1-9F48D09A398B}"/>
              </a:ext>
            </a:extLst>
          </p:cNvPr>
          <p:cNvSpPr>
            <a:spLocks noGrp="1"/>
          </p:cNvSpPr>
          <p:nvPr/>
        </p:nvSpPr>
        <p:spPr>
          <a:xfrm>
            <a:off x="1307592" y="4215384"/>
            <a:ext cx="9454896" cy="640080"/>
          </a:xfrm>
          <a:prstGeom prst="rect">
            <a:avLst/>
          </a:prstGeom>
          <a:noFill/>
        </p:spPr>
        <p:txBody>
          <a:bodyPr wrap="square" lIns="254" tIns="254" rIns="254" bIns="254" anchor="ctr">
            <a:normAutofit/>
          </a:bodyPr>
          <a:lstStyle/>
          <a:p>
            <a:pPr marL="0" indent="0">
              <a:buNone/>
            </a:pPr>
            <a:r>
              <a:rPr sz="1500" b="1" dirty="0">
                <a:solidFill>
                  <a:srgbClr val="172033"/>
                </a:solidFill>
              </a:rPr>
              <a:t>Adil test: </a:t>
            </a:r>
            <a:r>
              <a:rPr sz="1500" b="1" dirty="0" err="1">
                <a:solidFill>
                  <a:srgbClr val="172033"/>
                </a:solidFill>
              </a:rPr>
              <a:t>PhraseBank</a:t>
            </a:r>
            <a:r>
              <a:rPr sz="1500" b="1" dirty="0">
                <a:solidFill>
                  <a:srgbClr val="172033"/>
                </a:solidFill>
              </a:rPr>
              <a:t> ana </a:t>
            </a:r>
            <a:r>
              <a:rPr sz="1500" b="1" dirty="0" err="1">
                <a:solidFill>
                  <a:srgbClr val="172033"/>
                </a:solidFill>
              </a:rPr>
              <a:t>testten</a:t>
            </a:r>
            <a:r>
              <a:rPr sz="1500" b="1" dirty="0">
                <a:solidFill>
                  <a:srgbClr val="172033"/>
                </a:solidFill>
              </a:rPr>
              <a:t> </a:t>
            </a:r>
            <a:r>
              <a:rPr sz="1500" b="1" dirty="0" err="1">
                <a:solidFill>
                  <a:srgbClr val="172033"/>
                </a:solidFill>
              </a:rPr>
              <a:t>çıkarıldı</a:t>
            </a:r>
            <a:r>
              <a:rPr sz="1500" b="1" dirty="0">
                <a:solidFill>
                  <a:srgbClr val="172033"/>
                </a:solidFill>
              </a:rPr>
              <a:t>; Twitter </a:t>
            </a:r>
            <a:r>
              <a:rPr sz="1500" b="1" dirty="0" err="1">
                <a:solidFill>
                  <a:srgbClr val="172033"/>
                </a:solidFill>
              </a:rPr>
              <a:t>ve</a:t>
            </a:r>
            <a:r>
              <a:rPr sz="1500" b="1" dirty="0">
                <a:solidFill>
                  <a:srgbClr val="172033"/>
                </a:solidFill>
              </a:rPr>
              <a:t> S&amp;P yeni </a:t>
            </a:r>
            <a:r>
              <a:rPr sz="1500" b="1" dirty="0" err="1">
                <a:solidFill>
                  <a:srgbClr val="172033"/>
                </a:solidFill>
              </a:rPr>
              <a:t>kaynaklardı</a:t>
            </a:r>
            <a:endParaRPr sz="1500" dirty="0"/>
          </a:p>
        </p:txBody>
      </p:sp>
      <p:sp>
        <p:nvSpPr>
          <p:cNvPr id="11" name="Text 9">
            <a:extLst>
              <a:ext uri="{FF2B5EF4-FFF2-40B4-BE49-F238E27FC236}">
                <a16:creationId xmlns:a16="http://schemas.microsoft.com/office/drawing/2014/main" id="{F0F3B7C7-633D-42A5-94D3-50083AFE245B}"/>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2" name="Text 10">
            <a:extLst>
              <a:ext uri="{FF2B5EF4-FFF2-40B4-BE49-F238E27FC236}">
                <a16:creationId xmlns:a16="http://schemas.microsoft.com/office/drawing/2014/main" id="{AAB604CA-15CE-4B74-8E2A-03FA599F2E2B}"/>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5</a:t>
            </a:r>
            <a:endParaRPr sz="850"/>
          </a:p>
        </p:txBody>
      </p:sp>
      <p:sp>
        <p:nvSpPr>
          <p:cNvPr id="13" name="Shape 11">
            <a:extLst>
              <a:ext uri="{FF2B5EF4-FFF2-40B4-BE49-F238E27FC236}">
                <a16:creationId xmlns:a16="http://schemas.microsoft.com/office/drawing/2014/main" id="{BD53F89A-AADA-4371-8E7E-D766D3E187B0}"/>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54913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A532958-C8DF-42A7-8607-EF0C466E8E58}"/>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Araştırma soruları ve katkılar</a:t>
            </a:r>
            <a:endParaRPr sz="3100"/>
          </a:p>
        </p:txBody>
      </p:sp>
      <p:sp>
        <p:nvSpPr>
          <p:cNvPr id="3" name="Text 1">
            <a:extLst>
              <a:ext uri="{FF2B5EF4-FFF2-40B4-BE49-F238E27FC236}">
                <a16:creationId xmlns:a16="http://schemas.microsoft.com/office/drawing/2014/main" id="{EF838D68-B941-4EAD-8260-EF6EAA983F15}"/>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Çalışma yalnızca model yarışı değil; genelleme ve veri etkisi analizi.</a:t>
            </a:r>
            <a:endParaRPr sz="1450"/>
          </a:p>
        </p:txBody>
      </p:sp>
      <p:sp>
        <p:nvSpPr>
          <p:cNvPr id="4" name="Shape 2">
            <a:extLst>
              <a:ext uri="{FF2B5EF4-FFF2-40B4-BE49-F238E27FC236}">
                <a16:creationId xmlns:a16="http://schemas.microsoft.com/office/drawing/2014/main" id="{6650D583-A4FC-4A39-9D78-D75CCF9A2067}"/>
              </a:ext>
            </a:extLst>
          </p:cNvPr>
          <p:cNvSpPr>
            <a:spLocks noGrp="1"/>
          </p:cNvSpPr>
          <p:nvPr/>
        </p:nvSpPr>
        <p:spPr>
          <a:xfrm>
            <a:off x="685800" y="1261872"/>
            <a:ext cx="685800" cy="329184"/>
          </a:xfrm>
          <a:prstGeom prst="roundRect">
            <a:avLst>
              <a:gd name="adj" fmla="val 22222"/>
            </a:avLst>
          </a:prstGeom>
          <a:solidFill>
            <a:srgbClr val="3867D6"/>
          </a:solidFill>
          <a:ln w="12700">
            <a:solidFill>
              <a:srgbClr val="3867D6"/>
            </a:solidFill>
            <a:prstDash val="solid"/>
          </a:ln>
        </p:spPr>
      </p:sp>
      <p:sp>
        <p:nvSpPr>
          <p:cNvPr id="5" name="Text 3">
            <a:extLst>
              <a:ext uri="{FF2B5EF4-FFF2-40B4-BE49-F238E27FC236}">
                <a16:creationId xmlns:a16="http://schemas.microsoft.com/office/drawing/2014/main" id="{A229AF28-E8E4-4349-84CF-7B141806CF88}"/>
              </a:ext>
            </a:extLst>
          </p:cNvPr>
          <p:cNvSpPr>
            <a:spLocks noGrp="1"/>
          </p:cNvSpPr>
          <p:nvPr/>
        </p:nvSpPr>
        <p:spPr>
          <a:xfrm>
            <a:off x="758952" y="1325880"/>
            <a:ext cx="539496" cy="164592"/>
          </a:xfrm>
          <a:prstGeom prst="rect">
            <a:avLst/>
          </a:prstGeom>
          <a:noFill/>
        </p:spPr>
        <p:txBody>
          <a:bodyPr wrap="square" lIns="0" tIns="0" rIns="0" bIns="0" anchor="ctr"/>
          <a:lstStyle/>
          <a:p>
            <a:pPr marL="0" indent="0" algn="ctr">
              <a:buNone/>
            </a:pPr>
            <a:r>
              <a:rPr sz="1050" b="1">
                <a:solidFill>
                  <a:srgbClr val="FFFFFF"/>
                </a:solidFill>
              </a:rPr>
              <a:t>RQ1</a:t>
            </a:r>
            <a:endParaRPr sz="1050"/>
          </a:p>
        </p:txBody>
      </p:sp>
      <p:sp>
        <p:nvSpPr>
          <p:cNvPr id="6" name="Text 4">
            <a:extLst>
              <a:ext uri="{FF2B5EF4-FFF2-40B4-BE49-F238E27FC236}">
                <a16:creationId xmlns:a16="http://schemas.microsoft.com/office/drawing/2014/main" id="{2A476083-7FEC-4BE5-9562-B70F0AC47295}"/>
              </a:ext>
            </a:extLst>
          </p:cNvPr>
          <p:cNvSpPr>
            <a:spLocks noGrp="1"/>
          </p:cNvSpPr>
          <p:nvPr/>
        </p:nvSpPr>
        <p:spPr>
          <a:xfrm>
            <a:off x="1600200" y="1289304"/>
            <a:ext cx="9601200" cy="292608"/>
          </a:xfrm>
          <a:prstGeom prst="rect">
            <a:avLst/>
          </a:prstGeom>
          <a:noFill/>
        </p:spPr>
        <p:txBody>
          <a:bodyPr wrap="square" lIns="0" tIns="0" rIns="0" bIns="0" anchor="ctr">
            <a:normAutofit/>
          </a:bodyPr>
          <a:lstStyle/>
          <a:p>
            <a:pPr marL="0" indent="0">
              <a:buNone/>
            </a:pPr>
            <a:r>
              <a:rPr sz="1650">
                <a:solidFill>
                  <a:srgbClr val="1A1E2A"/>
                </a:solidFill>
              </a:rPr>
              <a:t>Original FinBERT, göreve özel fine-tuning olmadan ne kadar güçlü bir baseline sağlar?</a:t>
            </a:r>
            <a:endParaRPr sz="1650"/>
          </a:p>
        </p:txBody>
      </p:sp>
      <p:sp>
        <p:nvSpPr>
          <p:cNvPr id="7" name="Shape 5">
            <a:extLst>
              <a:ext uri="{FF2B5EF4-FFF2-40B4-BE49-F238E27FC236}">
                <a16:creationId xmlns:a16="http://schemas.microsoft.com/office/drawing/2014/main" id="{5A07CD41-4D37-4028-988C-181F10FCE4C2}"/>
              </a:ext>
            </a:extLst>
          </p:cNvPr>
          <p:cNvSpPr>
            <a:spLocks noGrp="1"/>
          </p:cNvSpPr>
          <p:nvPr/>
        </p:nvSpPr>
        <p:spPr>
          <a:xfrm>
            <a:off x="685800" y="1975104"/>
            <a:ext cx="685800" cy="329184"/>
          </a:xfrm>
          <a:prstGeom prst="roundRect">
            <a:avLst>
              <a:gd name="adj" fmla="val 22222"/>
            </a:avLst>
          </a:prstGeom>
          <a:solidFill>
            <a:srgbClr val="0F9D8F"/>
          </a:solidFill>
          <a:ln w="12700">
            <a:solidFill>
              <a:srgbClr val="0F9D8F"/>
            </a:solidFill>
            <a:prstDash val="solid"/>
          </a:ln>
        </p:spPr>
      </p:sp>
      <p:sp>
        <p:nvSpPr>
          <p:cNvPr id="8" name="Text 6">
            <a:extLst>
              <a:ext uri="{FF2B5EF4-FFF2-40B4-BE49-F238E27FC236}">
                <a16:creationId xmlns:a16="http://schemas.microsoft.com/office/drawing/2014/main" id="{7524BD0D-CB08-490A-80AE-149378B066FD}"/>
              </a:ext>
            </a:extLst>
          </p:cNvPr>
          <p:cNvSpPr>
            <a:spLocks noGrp="1"/>
          </p:cNvSpPr>
          <p:nvPr/>
        </p:nvSpPr>
        <p:spPr>
          <a:xfrm>
            <a:off x="758952" y="2039112"/>
            <a:ext cx="539496" cy="164592"/>
          </a:xfrm>
          <a:prstGeom prst="rect">
            <a:avLst/>
          </a:prstGeom>
          <a:noFill/>
        </p:spPr>
        <p:txBody>
          <a:bodyPr wrap="square" lIns="0" tIns="0" rIns="0" bIns="0" anchor="ctr"/>
          <a:lstStyle/>
          <a:p>
            <a:pPr marL="0" indent="0" algn="ctr">
              <a:buNone/>
            </a:pPr>
            <a:r>
              <a:rPr sz="1050" b="1">
                <a:solidFill>
                  <a:srgbClr val="FFFFFF"/>
                </a:solidFill>
              </a:rPr>
              <a:t>RQ2</a:t>
            </a:r>
            <a:endParaRPr sz="1050"/>
          </a:p>
        </p:txBody>
      </p:sp>
      <p:sp>
        <p:nvSpPr>
          <p:cNvPr id="9" name="Text 7">
            <a:extLst>
              <a:ext uri="{FF2B5EF4-FFF2-40B4-BE49-F238E27FC236}">
                <a16:creationId xmlns:a16="http://schemas.microsoft.com/office/drawing/2014/main" id="{475D3100-5E52-4ACE-9913-F682811CB00F}"/>
              </a:ext>
            </a:extLst>
          </p:cNvPr>
          <p:cNvSpPr>
            <a:spLocks noGrp="1"/>
          </p:cNvSpPr>
          <p:nvPr/>
        </p:nvSpPr>
        <p:spPr>
          <a:xfrm>
            <a:off x="1600200" y="2002536"/>
            <a:ext cx="9601200" cy="292608"/>
          </a:xfrm>
          <a:prstGeom prst="rect">
            <a:avLst/>
          </a:prstGeom>
          <a:noFill/>
        </p:spPr>
        <p:txBody>
          <a:bodyPr wrap="square" lIns="0" tIns="0" rIns="0" bIns="0" anchor="ctr">
            <a:normAutofit/>
          </a:bodyPr>
          <a:lstStyle/>
          <a:p>
            <a:pPr marL="0" indent="0">
              <a:buNone/>
            </a:pPr>
            <a:r>
              <a:rPr sz="1650">
                <a:solidFill>
                  <a:srgbClr val="1A1E2A"/>
                </a:solidFill>
              </a:rPr>
              <a:t>Fine-tuning sonrası FinBERT, BERT, DistilBERT ve RoBERTa arasında hangi model öne çıkar?</a:t>
            </a:r>
            <a:endParaRPr sz="1650"/>
          </a:p>
        </p:txBody>
      </p:sp>
      <p:sp>
        <p:nvSpPr>
          <p:cNvPr id="10" name="Shape 8">
            <a:extLst>
              <a:ext uri="{FF2B5EF4-FFF2-40B4-BE49-F238E27FC236}">
                <a16:creationId xmlns:a16="http://schemas.microsoft.com/office/drawing/2014/main" id="{32A443D5-052D-4D79-B199-331AF2CE217A}"/>
              </a:ext>
            </a:extLst>
          </p:cNvPr>
          <p:cNvSpPr>
            <a:spLocks noGrp="1"/>
          </p:cNvSpPr>
          <p:nvPr/>
        </p:nvSpPr>
        <p:spPr>
          <a:xfrm>
            <a:off x="685800" y="2688336"/>
            <a:ext cx="685800" cy="329184"/>
          </a:xfrm>
          <a:prstGeom prst="roundRect">
            <a:avLst>
              <a:gd name="adj" fmla="val 22222"/>
            </a:avLst>
          </a:prstGeom>
          <a:solidFill>
            <a:srgbClr val="F4A62A"/>
          </a:solidFill>
          <a:ln w="12700">
            <a:solidFill>
              <a:srgbClr val="F4A62A"/>
            </a:solidFill>
            <a:prstDash val="solid"/>
          </a:ln>
        </p:spPr>
      </p:sp>
      <p:sp>
        <p:nvSpPr>
          <p:cNvPr id="11" name="Text 9">
            <a:extLst>
              <a:ext uri="{FF2B5EF4-FFF2-40B4-BE49-F238E27FC236}">
                <a16:creationId xmlns:a16="http://schemas.microsoft.com/office/drawing/2014/main" id="{ADB9DD3F-7416-4A7B-B83E-C09456FCD1C0}"/>
              </a:ext>
            </a:extLst>
          </p:cNvPr>
          <p:cNvSpPr>
            <a:spLocks noGrp="1"/>
          </p:cNvSpPr>
          <p:nvPr/>
        </p:nvSpPr>
        <p:spPr>
          <a:xfrm>
            <a:off x="758952" y="2752344"/>
            <a:ext cx="539496" cy="164592"/>
          </a:xfrm>
          <a:prstGeom prst="rect">
            <a:avLst/>
          </a:prstGeom>
          <a:noFill/>
        </p:spPr>
        <p:txBody>
          <a:bodyPr wrap="square" lIns="0" tIns="0" rIns="0" bIns="0" anchor="ctr"/>
          <a:lstStyle/>
          <a:p>
            <a:pPr marL="0" indent="0" algn="ctr">
              <a:buNone/>
            </a:pPr>
            <a:r>
              <a:rPr sz="1050" b="1">
                <a:solidFill>
                  <a:srgbClr val="FFFFFF"/>
                </a:solidFill>
              </a:rPr>
              <a:t>RQ3</a:t>
            </a:r>
            <a:endParaRPr sz="1050"/>
          </a:p>
        </p:txBody>
      </p:sp>
      <p:sp>
        <p:nvSpPr>
          <p:cNvPr id="12" name="Text 10">
            <a:extLst>
              <a:ext uri="{FF2B5EF4-FFF2-40B4-BE49-F238E27FC236}">
                <a16:creationId xmlns:a16="http://schemas.microsoft.com/office/drawing/2014/main" id="{8C3103A5-565C-434C-8828-367B78947902}"/>
              </a:ext>
            </a:extLst>
          </p:cNvPr>
          <p:cNvSpPr>
            <a:spLocks noGrp="1"/>
          </p:cNvSpPr>
          <p:nvPr/>
        </p:nvSpPr>
        <p:spPr>
          <a:xfrm>
            <a:off x="1600200" y="2715768"/>
            <a:ext cx="9601200" cy="292608"/>
          </a:xfrm>
          <a:prstGeom prst="rect">
            <a:avLst/>
          </a:prstGeom>
          <a:noFill/>
        </p:spPr>
        <p:txBody>
          <a:bodyPr wrap="square" lIns="0" tIns="0" rIns="0" bIns="0" anchor="ctr">
            <a:normAutofit/>
          </a:bodyPr>
          <a:lstStyle/>
          <a:p>
            <a:pPr marL="0" indent="0">
              <a:buNone/>
            </a:pPr>
            <a:r>
              <a:rPr sz="1650">
                <a:solidFill>
                  <a:srgbClr val="1A1E2A"/>
                </a:solidFill>
              </a:rPr>
              <a:t>İç testte başarılı model S&amp;P ve Reuters gibi dış finansal kaynaklarda da başarılı kalır mı?</a:t>
            </a:r>
            <a:endParaRPr sz="1650"/>
          </a:p>
        </p:txBody>
      </p:sp>
      <p:sp>
        <p:nvSpPr>
          <p:cNvPr id="13" name="Shape 11">
            <a:extLst>
              <a:ext uri="{FF2B5EF4-FFF2-40B4-BE49-F238E27FC236}">
                <a16:creationId xmlns:a16="http://schemas.microsoft.com/office/drawing/2014/main" id="{084395EE-AA5E-44F5-B437-C6B59D842D40}"/>
              </a:ext>
            </a:extLst>
          </p:cNvPr>
          <p:cNvSpPr>
            <a:spLocks noGrp="1"/>
          </p:cNvSpPr>
          <p:nvPr/>
        </p:nvSpPr>
        <p:spPr>
          <a:xfrm>
            <a:off x="685800" y="3401568"/>
            <a:ext cx="685800" cy="329184"/>
          </a:xfrm>
          <a:prstGeom prst="roundRect">
            <a:avLst>
              <a:gd name="adj" fmla="val 22222"/>
            </a:avLst>
          </a:prstGeom>
          <a:solidFill>
            <a:srgbClr val="D64545"/>
          </a:solidFill>
          <a:ln w="12700">
            <a:solidFill>
              <a:srgbClr val="D64545"/>
            </a:solidFill>
            <a:prstDash val="solid"/>
          </a:ln>
        </p:spPr>
      </p:sp>
      <p:sp>
        <p:nvSpPr>
          <p:cNvPr id="14" name="Text 12">
            <a:extLst>
              <a:ext uri="{FF2B5EF4-FFF2-40B4-BE49-F238E27FC236}">
                <a16:creationId xmlns:a16="http://schemas.microsoft.com/office/drawing/2014/main" id="{519241B1-6EEC-4D09-BF9D-11D48EA0F590}"/>
              </a:ext>
            </a:extLst>
          </p:cNvPr>
          <p:cNvSpPr>
            <a:spLocks noGrp="1"/>
          </p:cNvSpPr>
          <p:nvPr/>
        </p:nvSpPr>
        <p:spPr>
          <a:xfrm>
            <a:off x="758952" y="3465576"/>
            <a:ext cx="539496" cy="164592"/>
          </a:xfrm>
          <a:prstGeom prst="rect">
            <a:avLst/>
          </a:prstGeom>
          <a:noFill/>
        </p:spPr>
        <p:txBody>
          <a:bodyPr wrap="square" lIns="0" tIns="0" rIns="0" bIns="0" anchor="ctr"/>
          <a:lstStyle/>
          <a:p>
            <a:pPr marL="0" indent="0" algn="ctr">
              <a:buNone/>
            </a:pPr>
            <a:r>
              <a:rPr sz="1050" b="1">
                <a:solidFill>
                  <a:srgbClr val="FFFFFF"/>
                </a:solidFill>
              </a:rPr>
              <a:t>RQ4</a:t>
            </a:r>
            <a:endParaRPr sz="1050"/>
          </a:p>
        </p:txBody>
      </p:sp>
      <p:sp>
        <p:nvSpPr>
          <p:cNvPr id="15" name="Text 13">
            <a:extLst>
              <a:ext uri="{FF2B5EF4-FFF2-40B4-BE49-F238E27FC236}">
                <a16:creationId xmlns:a16="http://schemas.microsoft.com/office/drawing/2014/main" id="{7A8E3E2A-E251-4212-B122-67DD7E6D4516}"/>
              </a:ext>
            </a:extLst>
          </p:cNvPr>
          <p:cNvSpPr>
            <a:spLocks noGrp="1"/>
          </p:cNvSpPr>
          <p:nvPr/>
        </p:nvSpPr>
        <p:spPr>
          <a:xfrm>
            <a:off x="1600200" y="3429000"/>
            <a:ext cx="9601200" cy="292608"/>
          </a:xfrm>
          <a:prstGeom prst="rect">
            <a:avLst/>
          </a:prstGeom>
          <a:noFill/>
        </p:spPr>
        <p:txBody>
          <a:bodyPr wrap="square" lIns="0" tIns="0" rIns="0" bIns="0" anchor="ctr">
            <a:normAutofit/>
          </a:bodyPr>
          <a:lstStyle/>
          <a:p>
            <a:pPr marL="0" indent="0">
              <a:buNone/>
            </a:pPr>
            <a:r>
              <a:rPr sz="1650">
                <a:solidFill>
                  <a:srgbClr val="1A1E2A"/>
                </a:solidFill>
              </a:rPr>
              <a:t>Veri kaynağı, etiket semantiği ve ek veri kullanımı model başarısını nasıl etkiler?</a:t>
            </a:r>
            <a:endParaRPr sz="1650"/>
          </a:p>
        </p:txBody>
      </p:sp>
      <p:sp>
        <p:nvSpPr>
          <p:cNvPr id="16" name="Text 14">
            <a:extLst>
              <a:ext uri="{FF2B5EF4-FFF2-40B4-BE49-F238E27FC236}">
                <a16:creationId xmlns:a16="http://schemas.microsoft.com/office/drawing/2014/main" id="{CA914B31-ABD8-45E8-99EF-716EF1F38FA5}"/>
              </a:ext>
            </a:extLst>
          </p:cNvPr>
          <p:cNvSpPr>
            <a:spLocks noGrp="1"/>
          </p:cNvSpPr>
          <p:nvPr/>
        </p:nvSpPr>
        <p:spPr>
          <a:xfrm>
            <a:off x="713232" y="4434840"/>
            <a:ext cx="1188720" cy="228600"/>
          </a:xfrm>
          <a:prstGeom prst="rect">
            <a:avLst/>
          </a:prstGeom>
          <a:noFill/>
        </p:spPr>
        <p:txBody>
          <a:bodyPr wrap="square" lIns="0" tIns="0" rIns="0" bIns="0" anchor="ctr"/>
          <a:lstStyle/>
          <a:p>
            <a:pPr marL="0" indent="0">
              <a:buNone/>
            </a:pPr>
            <a:r>
              <a:rPr sz="1700" b="1">
                <a:solidFill>
                  <a:srgbClr val="172033"/>
                </a:solidFill>
              </a:rPr>
              <a:t>Katkı</a:t>
            </a:r>
            <a:endParaRPr sz="1700"/>
          </a:p>
        </p:txBody>
      </p:sp>
      <p:sp>
        <p:nvSpPr>
          <p:cNvPr id="17" name="Text 15">
            <a:extLst>
              <a:ext uri="{FF2B5EF4-FFF2-40B4-BE49-F238E27FC236}">
                <a16:creationId xmlns:a16="http://schemas.microsoft.com/office/drawing/2014/main" id="{19D42BB8-7569-4379-A191-F69E041918D3}"/>
              </a:ext>
            </a:extLst>
          </p:cNvPr>
          <p:cNvSpPr>
            <a:spLocks noGrp="1"/>
          </p:cNvSpPr>
          <p:nvPr/>
        </p:nvSpPr>
        <p:spPr>
          <a:xfrm>
            <a:off x="1965960" y="4315968"/>
            <a:ext cx="9052560" cy="1143000"/>
          </a:xfrm>
          <a:prstGeom prst="rect">
            <a:avLst/>
          </a:prstGeom>
          <a:noFill/>
        </p:spPr>
        <p:txBody>
          <a:bodyPr wrap="square" lIns="635" tIns="635" rIns="635" bIns="635" anchor="ctr">
            <a:normAutofit/>
          </a:bodyPr>
          <a:lstStyle/>
          <a:p>
            <a:r>
              <a:rPr sz="1460">
                <a:solidFill>
                  <a:srgbClr val="1A1E2A"/>
                </a:solidFill>
              </a:rPr>
              <a:t>Aynı görevde genel ve finans-özgü transformer modellerinin karşılaştırılması</a:t>
            </a:r>
            <a:endParaRPr sz="1460"/>
          </a:p>
          <a:p>
            <a:r>
              <a:rPr sz="1460">
                <a:solidFill>
                  <a:srgbClr val="1A1E2A"/>
                </a:solidFill>
              </a:rPr>
              <a:t>İç test ile dış test performansı arasındaki farkın S&amp;P ve Reuters üzerinden incelenmesi</a:t>
            </a:r>
            <a:endParaRPr sz="1460"/>
          </a:p>
          <a:p>
            <a:r>
              <a:rPr sz="1460">
                <a:solidFill>
                  <a:srgbClr val="1A1E2A"/>
                </a:solidFill>
              </a:rPr>
              <a:t>Neutral sınıfı, PhraseBank etkisi, sentetik veri ve verimlilik gibi tanısal analizlerle sonuçların yorumlanması</a:t>
            </a:r>
            <a:endParaRPr sz="1460"/>
          </a:p>
        </p:txBody>
      </p:sp>
      <p:sp>
        <p:nvSpPr>
          <p:cNvPr id="18" name="Text 16">
            <a:extLst>
              <a:ext uri="{FF2B5EF4-FFF2-40B4-BE49-F238E27FC236}">
                <a16:creationId xmlns:a16="http://schemas.microsoft.com/office/drawing/2014/main" id="{0659B7C6-C83F-45C2-9A5B-098537F36846}"/>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9" name="Text 17">
            <a:extLst>
              <a:ext uri="{FF2B5EF4-FFF2-40B4-BE49-F238E27FC236}">
                <a16:creationId xmlns:a16="http://schemas.microsoft.com/office/drawing/2014/main" id="{1D57B327-2C5E-49E4-95BD-CEAD8F10F973}"/>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6</a:t>
            </a:r>
            <a:endParaRPr sz="850"/>
          </a:p>
        </p:txBody>
      </p:sp>
      <p:sp>
        <p:nvSpPr>
          <p:cNvPr id="20" name="Shape 18">
            <a:extLst>
              <a:ext uri="{FF2B5EF4-FFF2-40B4-BE49-F238E27FC236}">
                <a16:creationId xmlns:a16="http://schemas.microsoft.com/office/drawing/2014/main" id="{41F1DFBE-AA59-4407-AE49-634FF6A9D360}"/>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426004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986719-7E92-4E9C-9561-FE0F98A451A9}"/>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MATERYAL ve YÖNTEM »</a:t>
            </a:r>
            <a:endParaRPr sz="3600"/>
          </a:p>
        </p:txBody>
      </p:sp>
      <p:sp>
        <p:nvSpPr>
          <p:cNvPr id="3" name="Text 1">
            <a:extLst>
              <a:ext uri="{FF2B5EF4-FFF2-40B4-BE49-F238E27FC236}">
                <a16:creationId xmlns:a16="http://schemas.microsoft.com/office/drawing/2014/main" id="{6C527D82-BFB8-45D0-BF39-B67C1C1EEEB8}"/>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Veri setleri, model ailesi, metrik ve deney akışı</a:t>
            </a:r>
            <a:endParaRPr sz="1800"/>
          </a:p>
        </p:txBody>
      </p:sp>
      <p:sp>
        <p:nvSpPr>
          <p:cNvPr id="4" name="Text 2">
            <a:extLst>
              <a:ext uri="{FF2B5EF4-FFF2-40B4-BE49-F238E27FC236}">
                <a16:creationId xmlns:a16="http://schemas.microsoft.com/office/drawing/2014/main" id="{5B66B64E-9163-479C-8C9A-726594E64534}"/>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7D681342-6BFE-4AD5-968F-BB44C822FEB3}"/>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7</a:t>
            </a:r>
            <a:endParaRPr sz="850"/>
          </a:p>
        </p:txBody>
      </p:sp>
      <p:sp>
        <p:nvSpPr>
          <p:cNvPr id="6" name="Shape 4">
            <a:extLst>
              <a:ext uri="{FF2B5EF4-FFF2-40B4-BE49-F238E27FC236}">
                <a16:creationId xmlns:a16="http://schemas.microsoft.com/office/drawing/2014/main" id="{AEF78790-B569-4A9C-BE8F-359C94440971}"/>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133964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9EA70D-D191-442A-929E-407471D6C2AF}"/>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İç test ve dış test aynı şeyi ölçmez</a:t>
            </a:r>
            <a:endParaRPr sz="3100"/>
          </a:p>
        </p:txBody>
      </p:sp>
      <p:sp>
        <p:nvSpPr>
          <p:cNvPr id="3" name="Text 1">
            <a:extLst>
              <a:ext uri="{FF2B5EF4-FFF2-40B4-BE49-F238E27FC236}">
                <a16:creationId xmlns:a16="http://schemas.microsoft.com/office/drawing/2014/main" id="{2C80C1E0-70BF-4B81-B3B8-476F52777FC7}"/>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İç test öğrenmeyi; dış test yeni kaynağa aktarımı sınar.</a:t>
            </a:r>
            <a:endParaRPr sz="1450"/>
          </a:p>
        </p:txBody>
      </p:sp>
      <p:sp>
        <p:nvSpPr>
          <p:cNvPr id="4" name="Text 2">
            <a:extLst>
              <a:ext uri="{FF2B5EF4-FFF2-40B4-BE49-F238E27FC236}">
                <a16:creationId xmlns:a16="http://schemas.microsoft.com/office/drawing/2014/main" id="{CE5E1FF3-C5D9-48E7-85D9-DE4171830ED8}"/>
              </a:ext>
            </a:extLst>
          </p:cNvPr>
          <p:cNvSpPr>
            <a:spLocks noGrp="1"/>
          </p:cNvSpPr>
          <p:nvPr/>
        </p:nvSpPr>
        <p:spPr>
          <a:xfrm>
            <a:off x="777240" y="1325880"/>
            <a:ext cx="3291840" cy="274320"/>
          </a:xfrm>
          <a:prstGeom prst="rect">
            <a:avLst/>
          </a:prstGeom>
          <a:noFill/>
        </p:spPr>
        <p:txBody>
          <a:bodyPr wrap="square" lIns="0" tIns="0" rIns="0" bIns="0" anchor="ctr"/>
          <a:lstStyle/>
          <a:p>
            <a:pPr marL="0" indent="0">
              <a:buNone/>
            </a:pPr>
            <a:r>
              <a:rPr sz="1900" b="1">
                <a:solidFill>
                  <a:srgbClr val="3867D6"/>
                </a:solidFill>
              </a:rPr>
              <a:t>İç test</a:t>
            </a:r>
            <a:endParaRPr sz="1900"/>
          </a:p>
        </p:txBody>
      </p:sp>
      <p:sp>
        <p:nvSpPr>
          <p:cNvPr id="5" name="Text 3">
            <a:extLst>
              <a:ext uri="{FF2B5EF4-FFF2-40B4-BE49-F238E27FC236}">
                <a16:creationId xmlns:a16="http://schemas.microsoft.com/office/drawing/2014/main" id="{6819FDB4-697C-40E7-BB19-5B4454050020}"/>
              </a:ext>
            </a:extLst>
          </p:cNvPr>
          <p:cNvSpPr>
            <a:spLocks noGrp="1"/>
          </p:cNvSpPr>
          <p:nvPr/>
        </p:nvSpPr>
        <p:spPr>
          <a:xfrm>
            <a:off x="77724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Eğitimde görülmeyen, ana veri setinden ayrılmış bölümdür.
Kaynak ve etiket mantığı aynıdır.
Soru: Model hedef görevi öğrendi mi?</a:t>
            </a:r>
            <a:endParaRPr sz="1650"/>
          </a:p>
        </p:txBody>
      </p:sp>
      <p:sp>
        <p:nvSpPr>
          <p:cNvPr id="6" name="Text 4">
            <a:extLst>
              <a:ext uri="{FF2B5EF4-FFF2-40B4-BE49-F238E27FC236}">
                <a16:creationId xmlns:a16="http://schemas.microsoft.com/office/drawing/2014/main" id="{57FEF3C3-760B-4D5E-B380-8E456EC34C72}"/>
              </a:ext>
            </a:extLst>
          </p:cNvPr>
          <p:cNvSpPr>
            <a:spLocks noGrp="1"/>
          </p:cNvSpPr>
          <p:nvPr/>
        </p:nvSpPr>
        <p:spPr>
          <a:xfrm>
            <a:off x="6400800" y="1325880"/>
            <a:ext cx="3291840" cy="274320"/>
          </a:xfrm>
          <a:prstGeom prst="rect">
            <a:avLst/>
          </a:prstGeom>
          <a:noFill/>
        </p:spPr>
        <p:txBody>
          <a:bodyPr wrap="square" lIns="0" tIns="0" rIns="0" bIns="0" anchor="ctr"/>
          <a:lstStyle/>
          <a:p>
            <a:pPr marL="0" indent="0">
              <a:buNone/>
            </a:pPr>
            <a:r>
              <a:rPr sz="1900" b="1">
                <a:solidFill>
                  <a:srgbClr val="0F9D8F"/>
                </a:solidFill>
              </a:rPr>
              <a:t>Dış test</a:t>
            </a:r>
            <a:endParaRPr sz="1900"/>
          </a:p>
        </p:txBody>
      </p:sp>
      <p:sp>
        <p:nvSpPr>
          <p:cNvPr id="7" name="Text 5">
            <a:extLst>
              <a:ext uri="{FF2B5EF4-FFF2-40B4-BE49-F238E27FC236}">
                <a16:creationId xmlns:a16="http://schemas.microsoft.com/office/drawing/2014/main" id="{BAC815FF-DF4D-472D-9114-5473FA5EA8C3}"/>
              </a:ext>
            </a:extLst>
          </p:cNvPr>
          <p:cNvSpPr>
            <a:spLocks noGrp="1"/>
          </p:cNvSpPr>
          <p:nvPr/>
        </p:nvSpPr>
        <p:spPr>
          <a:xfrm>
            <a:off x="640080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Eğitimden bağımsız başka bir kaynaktan gelir.
Dil, dönem veya etiket ölçütü değişebilir.
Soru: Model yeni kaynağa genelliyor mu?</a:t>
            </a:r>
            <a:endParaRPr sz="1650"/>
          </a:p>
        </p:txBody>
      </p:sp>
      <p:sp>
        <p:nvSpPr>
          <p:cNvPr id="8" name="Shape 6">
            <a:extLst>
              <a:ext uri="{FF2B5EF4-FFF2-40B4-BE49-F238E27FC236}">
                <a16:creationId xmlns:a16="http://schemas.microsoft.com/office/drawing/2014/main" id="{4BEF18BD-0039-4813-998E-8A0E4056A7C6}"/>
              </a:ext>
            </a:extLst>
          </p:cNvPr>
          <p:cNvSpPr>
            <a:spLocks noGrp="1"/>
          </p:cNvSpPr>
          <p:nvPr/>
        </p:nvSpPr>
        <p:spPr>
          <a:xfrm>
            <a:off x="5989320" y="1234440"/>
            <a:ext cx="0" cy="2011680"/>
          </a:xfrm>
          <a:prstGeom prst="line">
            <a:avLst/>
          </a:prstGeom>
          <a:noFill/>
          <a:ln w="25400">
            <a:solidFill>
              <a:srgbClr val="DDE3EF"/>
            </a:solidFill>
            <a:prstDash val="solid"/>
          </a:ln>
        </p:spPr>
      </p:sp>
      <p:sp>
        <p:nvSpPr>
          <p:cNvPr id="9" name="Text 7">
            <a:extLst>
              <a:ext uri="{FF2B5EF4-FFF2-40B4-BE49-F238E27FC236}">
                <a16:creationId xmlns:a16="http://schemas.microsoft.com/office/drawing/2014/main" id="{3F8DC7EF-CDF0-4448-940A-8246AB162BC5}"/>
              </a:ext>
            </a:extLst>
          </p:cNvPr>
          <p:cNvSpPr>
            <a:spLocks noGrp="1"/>
          </p:cNvSpPr>
          <p:nvPr/>
        </p:nvSpPr>
        <p:spPr>
          <a:xfrm>
            <a:off x="914400" y="3840480"/>
            <a:ext cx="4114800" cy="274320"/>
          </a:xfrm>
          <a:prstGeom prst="rect">
            <a:avLst/>
          </a:prstGeom>
          <a:noFill/>
        </p:spPr>
        <p:txBody>
          <a:bodyPr wrap="square" lIns="0" tIns="0" rIns="0" bIns="0" anchor="ctr"/>
          <a:lstStyle/>
          <a:p>
            <a:pPr marL="0" indent="0">
              <a:buNone/>
            </a:pPr>
            <a:r>
              <a:rPr sz="1700" b="1">
                <a:solidFill>
                  <a:srgbClr val="172033"/>
                </a:solidFill>
              </a:rPr>
              <a:t>Bu tezdeki karşılık</a:t>
            </a:r>
            <a:endParaRPr sz="1700"/>
          </a:p>
        </p:txBody>
      </p:sp>
      <p:sp>
        <p:nvSpPr>
          <p:cNvPr id="10" name="Text 8">
            <a:extLst>
              <a:ext uri="{FF2B5EF4-FFF2-40B4-BE49-F238E27FC236}">
                <a16:creationId xmlns:a16="http://schemas.microsoft.com/office/drawing/2014/main" id="{F9B32FB0-E227-4E64-9EEA-5E81C2B4D8B4}"/>
              </a:ext>
            </a:extLst>
          </p:cNvPr>
          <p:cNvSpPr>
            <a:spLocks noGrp="1"/>
          </p:cNvSpPr>
          <p:nvPr/>
        </p:nvSpPr>
        <p:spPr>
          <a:xfrm>
            <a:off x="914400" y="4297680"/>
            <a:ext cx="9875520" cy="640080"/>
          </a:xfrm>
          <a:prstGeom prst="rect">
            <a:avLst/>
          </a:prstGeom>
          <a:noFill/>
        </p:spPr>
        <p:txBody>
          <a:bodyPr wrap="square" lIns="381" tIns="381" rIns="381" bIns="381" anchor="ctr">
            <a:normAutofit/>
          </a:bodyPr>
          <a:lstStyle/>
          <a:p>
            <a:pPr marL="0" indent="0">
              <a:buNone/>
            </a:pPr>
            <a:r>
              <a:rPr sz="1700" b="1">
                <a:solidFill>
                  <a:srgbClr val="D64545"/>
                </a:solidFill>
              </a:rPr>
              <a:t>İç: Twitter held-out, N=2.386</a:t>
            </a:r>
            <a:endParaRPr sz="1700"/>
          </a:p>
          <a:p>
            <a:pPr marL="0" indent="0">
              <a:buNone/>
            </a:pPr>
            <a:r>
              <a:rPr sz="1700" b="1">
                <a:solidFill>
                  <a:srgbClr val="D64545"/>
                </a:solidFill>
              </a:rPr>
              <a:t>Yakın dış: S&amp;P 500, N=1.060  |  Uzak dış: Reuters, N=5.000</a:t>
            </a:r>
            <a:endParaRPr sz="1700"/>
          </a:p>
        </p:txBody>
      </p:sp>
      <p:sp>
        <p:nvSpPr>
          <p:cNvPr id="11" name="Text 9">
            <a:extLst>
              <a:ext uri="{FF2B5EF4-FFF2-40B4-BE49-F238E27FC236}">
                <a16:creationId xmlns:a16="http://schemas.microsoft.com/office/drawing/2014/main" id="{A1AAA1EC-C786-419C-BEBD-4689C9B64F6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2" name="Text 10">
            <a:extLst>
              <a:ext uri="{FF2B5EF4-FFF2-40B4-BE49-F238E27FC236}">
                <a16:creationId xmlns:a16="http://schemas.microsoft.com/office/drawing/2014/main" id="{46D7951B-9AE4-448C-BEA1-21C6B881EB80}"/>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8</a:t>
            </a:r>
            <a:endParaRPr sz="850"/>
          </a:p>
        </p:txBody>
      </p:sp>
      <p:sp>
        <p:nvSpPr>
          <p:cNvPr id="13" name="Shape 11">
            <a:extLst>
              <a:ext uri="{FF2B5EF4-FFF2-40B4-BE49-F238E27FC236}">
                <a16:creationId xmlns:a16="http://schemas.microsoft.com/office/drawing/2014/main" id="{5435FA89-93CB-429A-86F7-8E09D9602B8E}"/>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87893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D7FFBCA-B755-4B5D-887B-EEF99941CAF7}"/>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Veri seçimi: bağımsızlık ve etiket güveni</a:t>
            </a:r>
            <a:endParaRPr sz="3100"/>
          </a:p>
        </p:txBody>
      </p:sp>
      <p:sp>
        <p:nvSpPr>
          <p:cNvPr id="3" name="Text 1">
            <a:extLst>
              <a:ext uri="{FF2B5EF4-FFF2-40B4-BE49-F238E27FC236}">
                <a16:creationId xmlns:a16="http://schemas.microsoft.com/office/drawing/2014/main" id="{58BF06D2-D694-4889-8690-6F1BABAE2C4C}"/>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Ölçütler: görev uyumu, üç sınıf, açık erişim ve model geçmişinden bağımsız test.</a:t>
            </a:r>
            <a:endParaRPr sz="1450"/>
          </a:p>
        </p:txBody>
      </p:sp>
      <p:sp>
        <p:nvSpPr>
          <p:cNvPr id="4" name="Shape 2">
            <a:extLst>
              <a:ext uri="{FF2B5EF4-FFF2-40B4-BE49-F238E27FC236}">
                <a16:creationId xmlns:a16="http://schemas.microsoft.com/office/drawing/2014/main" id="{934DFE73-81C9-4D62-ACCB-2357ABAF12BB}"/>
              </a:ext>
            </a:extLst>
          </p:cNvPr>
          <p:cNvSpPr>
            <a:spLocks noGrp="1"/>
          </p:cNvSpPr>
          <p:nvPr/>
        </p:nvSpPr>
        <p:spPr>
          <a:xfrm>
            <a:off x="594360" y="1234440"/>
            <a:ext cx="3950208" cy="607423"/>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537455E8-86F3-48C3-B6F6-F85F7F6722A2}"/>
              </a:ext>
            </a:extLst>
          </p:cNvPr>
          <p:cNvSpPr>
            <a:spLocks noGrp="1"/>
          </p:cNvSpPr>
          <p:nvPr/>
        </p:nvSpPr>
        <p:spPr>
          <a:xfrm>
            <a:off x="667512" y="1307592"/>
            <a:ext cx="3803904" cy="515983"/>
          </a:xfrm>
          <a:prstGeom prst="rect">
            <a:avLst/>
          </a:prstGeom>
          <a:noFill/>
        </p:spPr>
        <p:txBody>
          <a:bodyPr wrap="square" lIns="0" tIns="0" rIns="0" bIns="0" anchor="ctr">
            <a:normAutofit/>
          </a:bodyPr>
          <a:lstStyle/>
          <a:p>
            <a:pPr marL="0" indent="0">
              <a:buNone/>
            </a:pPr>
            <a:r>
              <a:rPr sz="1150" b="1">
                <a:solidFill>
                  <a:srgbClr val="FFFFFF"/>
                </a:solidFill>
              </a:rPr>
              <a:t>Veri seti</a:t>
            </a:r>
            <a:endParaRPr sz="1150"/>
          </a:p>
        </p:txBody>
      </p:sp>
      <p:sp>
        <p:nvSpPr>
          <p:cNvPr id="6" name="Shape 4">
            <a:extLst>
              <a:ext uri="{FF2B5EF4-FFF2-40B4-BE49-F238E27FC236}">
                <a16:creationId xmlns:a16="http://schemas.microsoft.com/office/drawing/2014/main" id="{F69CD960-64BF-4DF6-931E-5B90E3696F72}"/>
              </a:ext>
            </a:extLst>
          </p:cNvPr>
          <p:cNvSpPr>
            <a:spLocks noGrp="1"/>
          </p:cNvSpPr>
          <p:nvPr/>
        </p:nvSpPr>
        <p:spPr>
          <a:xfrm>
            <a:off x="4544568" y="1234440"/>
            <a:ext cx="1426464" cy="607423"/>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235CE91B-60DD-45B7-A17B-9BF4589623B4}"/>
              </a:ext>
            </a:extLst>
          </p:cNvPr>
          <p:cNvSpPr>
            <a:spLocks noGrp="1"/>
          </p:cNvSpPr>
          <p:nvPr/>
        </p:nvSpPr>
        <p:spPr>
          <a:xfrm>
            <a:off x="4617720" y="1307592"/>
            <a:ext cx="1280160" cy="515983"/>
          </a:xfrm>
          <a:prstGeom prst="rect">
            <a:avLst/>
          </a:prstGeom>
          <a:noFill/>
        </p:spPr>
        <p:txBody>
          <a:bodyPr wrap="square" lIns="0" tIns="0" rIns="0" bIns="0" anchor="ctr">
            <a:normAutofit/>
          </a:bodyPr>
          <a:lstStyle/>
          <a:p>
            <a:pPr marL="0" indent="0">
              <a:buNone/>
            </a:pPr>
            <a:r>
              <a:rPr sz="1150" b="1">
                <a:solidFill>
                  <a:srgbClr val="FFFFFF"/>
                </a:solidFill>
              </a:rPr>
              <a:t>N</a:t>
            </a:r>
            <a:endParaRPr sz="1150"/>
          </a:p>
        </p:txBody>
      </p:sp>
      <p:sp>
        <p:nvSpPr>
          <p:cNvPr id="8" name="Shape 6">
            <a:extLst>
              <a:ext uri="{FF2B5EF4-FFF2-40B4-BE49-F238E27FC236}">
                <a16:creationId xmlns:a16="http://schemas.microsoft.com/office/drawing/2014/main" id="{BCD71B10-CA91-4573-8539-41253D4DCACD}"/>
              </a:ext>
            </a:extLst>
          </p:cNvPr>
          <p:cNvSpPr>
            <a:spLocks noGrp="1"/>
          </p:cNvSpPr>
          <p:nvPr/>
        </p:nvSpPr>
        <p:spPr>
          <a:xfrm>
            <a:off x="5971032" y="1234440"/>
            <a:ext cx="3072384" cy="607423"/>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B179ED9A-0022-4C3B-9033-E72520089A2D}"/>
              </a:ext>
            </a:extLst>
          </p:cNvPr>
          <p:cNvSpPr>
            <a:spLocks noGrp="1"/>
          </p:cNvSpPr>
          <p:nvPr/>
        </p:nvSpPr>
        <p:spPr>
          <a:xfrm>
            <a:off x="6044184" y="1307592"/>
            <a:ext cx="2926080" cy="515983"/>
          </a:xfrm>
          <a:prstGeom prst="rect">
            <a:avLst/>
          </a:prstGeom>
          <a:noFill/>
        </p:spPr>
        <p:txBody>
          <a:bodyPr wrap="square" lIns="0" tIns="0" rIns="0" bIns="0" anchor="ctr">
            <a:normAutofit/>
          </a:bodyPr>
          <a:lstStyle/>
          <a:p>
            <a:pPr marL="0" indent="0">
              <a:buNone/>
            </a:pPr>
            <a:r>
              <a:rPr sz="1150" b="1">
                <a:solidFill>
                  <a:srgbClr val="FFFFFF"/>
                </a:solidFill>
              </a:rPr>
              <a:t>Rol</a:t>
            </a:r>
            <a:endParaRPr sz="1150"/>
          </a:p>
        </p:txBody>
      </p:sp>
      <p:sp>
        <p:nvSpPr>
          <p:cNvPr id="10" name="Shape 8">
            <a:extLst>
              <a:ext uri="{FF2B5EF4-FFF2-40B4-BE49-F238E27FC236}">
                <a16:creationId xmlns:a16="http://schemas.microsoft.com/office/drawing/2014/main" id="{629135C7-28E3-41B3-BCA8-5E73B2D48ED9}"/>
              </a:ext>
            </a:extLst>
          </p:cNvPr>
          <p:cNvSpPr>
            <a:spLocks noGrp="1"/>
          </p:cNvSpPr>
          <p:nvPr/>
        </p:nvSpPr>
        <p:spPr>
          <a:xfrm>
            <a:off x="9043416" y="1234440"/>
            <a:ext cx="2523744" cy="607423"/>
          </a:xfrm>
          <a:prstGeom prst="rect">
            <a:avLst/>
          </a:prstGeom>
          <a:solidFill>
            <a:srgbClr val="1D2B46"/>
          </a:solidFill>
          <a:ln w="6350">
            <a:solidFill>
              <a:srgbClr val="DDE3EF"/>
            </a:solidFill>
            <a:prstDash val="solid"/>
          </a:ln>
        </p:spPr>
      </p:sp>
      <p:sp>
        <p:nvSpPr>
          <p:cNvPr id="11" name="Text 9">
            <a:extLst>
              <a:ext uri="{FF2B5EF4-FFF2-40B4-BE49-F238E27FC236}">
                <a16:creationId xmlns:a16="http://schemas.microsoft.com/office/drawing/2014/main" id="{F265B5D2-8152-441A-AA1A-C2C19412DD16}"/>
              </a:ext>
            </a:extLst>
          </p:cNvPr>
          <p:cNvSpPr>
            <a:spLocks noGrp="1"/>
          </p:cNvSpPr>
          <p:nvPr/>
        </p:nvSpPr>
        <p:spPr>
          <a:xfrm>
            <a:off x="9116568" y="1307592"/>
            <a:ext cx="2377440" cy="515983"/>
          </a:xfrm>
          <a:prstGeom prst="rect">
            <a:avLst/>
          </a:prstGeom>
          <a:noFill/>
        </p:spPr>
        <p:txBody>
          <a:bodyPr wrap="square" lIns="0" tIns="0" rIns="0" bIns="0" anchor="ctr">
            <a:normAutofit/>
          </a:bodyPr>
          <a:lstStyle/>
          <a:p>
            <a:pPr marL="0" indent="0">
              <a:buNone/>
            </a:pPr>
            <a:r>
              <a:rPr sz="1150" b="1">
                <a:solidFill>
                  <a:srgbClr val="FFFFFF"/>
                </a:solidFill>
              </a:rPr>
              <a:t>Etiket / güven</a:t>
            </a:r>
            <a:endParaRPr sz="1150"/>
          </a:p>
        </p:txBody>
      </p:sp>
      <p:sp>
        <p:nvSpPr>
          <p:cNvPr id="12" name="Shape 10">
            <a:extLst>
              <a:ext uri="{FF2B5EF4-FFF2-40B4-BE49-F238E27FC236}">
                <a16:creationId xmlns:a16="http://schemas.microsoft.com/office/drawing/2014/main" id="{7EBDB51B-08BC-45E8-A8E2-22761DC7FCFD}"/>
              </a:ext>
            </a:extLst>
          </p:cNvPr>
          <p:cNvSpPr>
            <a:spLocks noGrp="1"/>
          </p:cNvSpPr>
          <p:nvPr/>
        </p:nvSpPr>
        <p:spPr>
          <a:xfrm>
            <a:off x="594360" y="1841863"/>
            <a:ext cx="3950208" cy="607423"/>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43FCB780-08B6-4026-9373-50FEDC398ACD}"/>
              </a:ext>
            </a:extLst>
          </p:cNvPr>
          <p:cNvSpPr>
            <a:spLocks noGrp="1"/>
          </p:cNvSpPr>
          <p:nvPr/>
        </p:nvSpPr>
        <p:spPr>
          <a:xfrm>
            <a:off x="667512" y="1915015"/>
            <a:ext cx="3803904" cy="515983"/>
          </a:xfrm>
          <a:prstGeom prst="rect">
            <a:avLst/>
          </a:prstGeom>
          <a:noFill/>
        </p:spPr>
        <p:txBody>
          <a:bodyPr wrap="square" lIns="0" tIns="0" rIns="0" bIns="0" anchor="ctr">
            <a:normAutofit/>
          </a:bodyPr>
          <a:lstStyle/>
          <a:p>
            <a:pPr marL="0" indent="0">
              <a:buNone/>
            </a:pPr>
            <a:r>
              <a:rPr sz="1220">
                <a:solidFill>
                  <a:srgbClr val="1A1E2A"/>
                </a:solidFill>
              </a:rPr>
              <a:t>Twitter Financial News</a:t>
            </a:r>
            <a:endParaRPr sz="1220"/>
          </a:p>
        </p:txBody>
      </p:sp>
      <p:sp>
        <p:nvSpPr>
          <p:cNvPr id="14" name="Shape 12">
            <a:extLst>
              <a:ext uri="{FF2B5EF4-FFF2-40B4-BE49-F238E27FC236}">
                <a16:creationId xmlns:a16="http://schemas.microsoft.com/office/drawing/2014/main" id="{9A64A98D-611C-4D67-89B4-B637FC745CF4}"/>
              </a:ext>
            </a:extLst>
          </p:cNvPr>
          <p:cNvSpPr>
            <a:spLocks noGrp="1"/>
          </p:cNvSpPr>
          <p:nvPr/>
        </p:nvSpPr>
        <p:spPr>
          <a:xfrm>
            <a:off x="4544568" y="1841863"/>
            <a:ext cx="1426464" cy="607423"/>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5123E59D-A8FB-4BC6-9F4C-28241409393E}"/>
              </a:ext>
            </a:extLst>
          </p:cNvPr>
          <p:cNvSpPr>
            <a:spLocks noGrp="1"/>
          </p:cNvSpPr>
          <p:nvPr/>
        </p:nvSpPr>
        <p:spPr>
          <a:xfrm>
            <a:off x="4617720" y="1915015"/>
            <a:ext cx="1280160" cy="515983"/>
          </a:xfrm>
          <a:prstGeom prst="rect">
            <a:avLst/>
          </a:prstGeom>
          <a:noFill/>
        </p:spPr>
        <p:txBody>
          <a:bodyPr wrap="square" lIns="0" tIns="0" rIns="0" bIns="0" anchor="ctr">
            <a:normAutofit/>
          </a:bodyPr>
          <a:lstStyle/>
          <a:p>
            <a:pPr marL="0" indent="0">
              <a:buNone/>
            </a:pPr>
            <a:r>
              <a:rPr sz="1220">
                <a:solidFill>
                  <a:srgbClr val="1A1E2A"/>
                </a:solidFill>
              </a:rPr>
              <a:t>11.931</a:t>
            </a:r>
            <a:endParaRPr sz="1220"/>
          </a:p>
        </p:txBody>
      </p:sp>
      <p:sp>
        <p:nvSpPr>
          <p:cNvPr id="16" name="Shape 14">
            <a:extLst>
              <a:ext uri="{FF2B5EF4-FFF2-40B4-BE49-F238E27FC236}">
                <a16:creationId xmlns:a16="http://schemas.microsoft.com/office/drawing/2014/main" id="{D78E8B9A-6DC3-461E-B3D6-8299809C1583}"/>
              </a:ext>
            </a:extLst>
          </p:cNvPr>
          <p:cNvSpPr>
            <a:spLocks noGrp="1"/>
          </p:cNvSpPr>
          <p:nvPr/>
        </p:nvSpPr>
        <p:spPr>
          <a:xfrm>
            <a:off x="5971032" y="1841863"/>
            <a:ext cx="3072384" cy="607423"/>
          </a:xfrm>
          <a:prstGeom prst="rect">
            <a:avLst/>
          </a:prstGeom>
          <a:solidFill>
            <a:srgbClr val="FFFFFF"/>
          </a:solidFill>
          <a:ln w="6350">
            <a:solidFill>
              <a:srgbClr val="DDE3EF"/>
            </a:solidFill>
            <a:prstDash val="solid"/>
          </a:ln>
        </p:spPr>
      </p:sp>
      <p:sp>
        <p:nvSpPr>
          <p:cNvPr id="17" name="Text 15">
            <a:extLst>
              <a:ext uri="{FF2B5EF4-FFF2-40B4-BE49-F238E27FC236}">
                <a16:creationId xmlns:a16="http://schemas.microsoft.com/office/drawing/2014/main" id="{625C4885-C7BA-43A5-8097-CD2F516A4840}"/>
              </a:ext>
            </a:extLst>
          </p:cNvPr>
          <p:cNvSpPr>
            <a:spLocks noGrp="1"/>
          </p:cNvSpPr>
          <p:nvPr/>
        </p:nvSpPr>
        <p:spPr>
          <a:xfrm>
            <a:off x="6044184" y="1915015"/>
            <a:ext cx="2926080" cy="515983"/>
          </a:xfrm>
          <a:prstGeom prst="rect">
            <a:avLst/>
          </a:prstGeom>
          <a:noFill/>
        </p:spPr>
        <p:txBody>
          <a:bodyPr wrap="square" lIns="0" tIns="0" rIns="0" bIns="0" anchor="ctr">
            <a:normAutofit/>
          </a:bodyPr>
          <a:lstStyle/>
          <a:p>
            <a:pPr marL="0" indent="0">
              <a:buNone/>
            </a:pPr>
            <a:r>
              <a:rPr sz="1220">
                <a:solidFill>
                  <a:srgbClr val="1A1E2A"/>
                </a:solidFill>
              </a:rPr>
              <a:t>Ana hedef</a:t>
            </a:r>
            <a:endParaRPr sz="1220"/>
          </a:p>
        </p:txBody>
      </p:sp>
      <p:sp>
        <p:nvSpPr>
          <p:cNvPr id="18" name="Shape 16">
            <a:extLst>
              <a:ext uri="{FF2B5EF4-FFF2-40B4-BE49-F238E27FC236}">
                <a16:creationId xmlns:a16="http://schemas.microsoft.com/office/drawing/2014/main" id="{358B1DFE-9195-4967-BFE2-0AF39DDC99D5}"/>
              </a:ext>
            </a:extLst>
          </p:cNvPr>
          <p:cNvSpPr>
            <a:spLocks noGrp="1"/>
          </p:cNvSpPr>
          <p:nvPr/>
        </p:nvSpPr>
        <p:spPr>
          <a:xfrm>
            <a:off x="9043416" y="1841863"/>
            <a:ext cx="2523744" cy="607423"/>
          </a:xfrm>
          <a:prstGeom prst="rect">
            <a:avLst/>
          </a:prstGeom>
          <a:solidFill>
            <a:srgbClr val="FFFFFF"/>
          </a:solidFill>
          <a:ln w="6350">
            <a:solidFill>
              <a:srgbClr val="DDE3EF"/>
            </a:solidFill>
            <a:prstDash val="solid"/>
          </a:ln>
        </p:spPr>
      </p:sp>
      <p:sp>
        <p:nvSpPr>
          <p:cNvPr id="19" name="Text 17">
            <a:extLst>
              <a:ext uri="{FF2B5EF4-FFF2-40B4-BE49-F238E27FC236}">
                <a16:creationId xmlns:a16="http://schemas.microsoft.com/office/drawing/2014/main" id="{BFD0A3EC-A593-4302-8768-22C6C45442F4}"/>
              </a:ext>
            </a:extLst>
          </p:cNvPr>
          <p:cNvSpPr>
            <a:spLocks noGrp="1"/>
          </p:cNvSpPr>
          <p:nvPr/>
        </p:nvSpPr>
        <p:spPr>
          <a:xfrm>
            <a:off x="9116568" y="1915015"/>
            <a:ext cx="2377440" cy="515983"/>
          </a:xfrm>
          <a:prstGeom prst="rect">
            <a:avLst/>
          </a:prstGeom>
          <a:noFill/>
        </p:spPr>
        <p:txBody>
          <a:bodyPr wrap="square" lIns="0" tIns="0" rIns="0" bIns="0" anchor="ctr">
            <a:normAutofit/>
          </a:bodyPr>
          <a:lstStyle/>
          <a:p>
            <a:pPr marL="0" indent="0">
              <a:buNone/>
            </a:pPr>
            <a:r>
              <a:rPr sz="1220">
                <a:solidFill>
                  <a:srgbClr val="1A1E2A"/>
                </a:solidFill>
              </a:rPr>
              <a:t>Hazır 3 sınıf*</a:t>
            </a:r>
            <a:endParaRPr sz="1220"/>
          </a:p>
        </p:txBody>
      </p:sp>
      <p:sp>
        <p:nvSpPr>
          <p:cNvPr id="20" name="Shape 18">
            <a:extLst>
              <a:ext uri="{FF2B5EF4-FFF2-40B4-BE49-F238E27FC236}">
                <a16:creationId xmlns:a16="http://schemas.microsoft.com/office/drawing/2014/main" id="{E2D65C3E-6273-4A52-96E6-5FEA539A4B52}"/>
              </a:ext>
            </a:extLst>
          </p:cNvPr>
          <p:cNvSpPr>
            <a:spLocks noGrp="1"/>
          </p:cNvSpPr>
          <p:nvPr/>
        </p:nvSpPr>
        <p:spPr>
          <a:xfrm>
            <a:off x="594360" y="2449286"/>
            <a:ext cx="3950208" cy="607423"/>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9D8B7B9F-9C27-4D84-BC28-14F2CD7789A5}"/>
              </a:ext>
            </a:extLst>
          </p:cNvPr>
          <p:cNvSpPr>
            <a:spLocks noGrp="1"/>
          </p:cNvSpPr>
          <p:nvPr/>
        </p:nvSpPr>
        <p:spPr>
          <a:xfrm>
            <a:off x="667512" y="2522438"/>
            <a:ext cx="3803904" cy="515983"/>
          </a:xfrm>
          <a:prstGeom prst="rect">
            <a:avLst/>
          </a:prstGeom>
          <a:noFill/>
        </p:spPr>
        <p:txBody>
          <a:bodyPr wrap="square" lIns="0" tIns="0" rIns="0" bIns="0" anchor="ctr">
            <a:normAutofit/>
          </a:bodyPr>
          <a:lstStyle/>
          <a:p>
            <a:pPr marL="0" indent="0">
              <a:buNone/>
            </a:pPr>
            <a:r>
              <a:rPr sz="1220">
                <a:solidFill>
                  <a:srgbClr val="1A1E2A"/>
                </a:solidFill>
              </a:rPr>
              <a:t>Financial PhraseBank</a:t>
            </a:r>
            <a:endParaRPr sz="1220"/>
          </a:p>
        </p:txBody>
      </p:sp>
      <p:sp>
        <p:nvSpPr>
          <p:cNvPr id="22" name="Shape 20">
            <a:extLst>
              <a:ext uri="{FF2B5EF4-FFF2-40B4-BE49-F238E27FC236}">
                <a16:creationId xmlns:a16="http://schemas.microsoft.com/office/drawing/2014/main" id="{DF6A509C-2230-4F6F-97D7-5889CC49D2F0}"/>
              </a:ext>
            </a:extLst>
          </p:cNvPr>
          <p:cNvSpPr>
            <a:spLocks noGrp="1"/>
          </p:cNvSpPr>
          <p:nvPr/>
        </p:nvSpPr>
        <p:spPr>
          <a:xfrm>
            <a:off x="4544568" y="2449286"/>
            <a:ext cx="1426464" cy="607423"/>
          </a:xfrm>
          <a:prstGeom prst="rect">
            <a:avLst/>
          </a:prstGeom>
          <a:solidFill>
            <a:srgbClr val="F4F6FB"/>
          </a:solidFill>
          <a:ln w="6350">
            <a:solidFill>
              <a:srgbClr val="DDE3EF"/>
            </a:solidFill>
            <a:prstDash val="solid"/>
          </a:ln>
        </p:spPr>
      </p:sp>
      <p:sp>
        <p:nvSpPr>
          <p:cNvPr id="23" name="Text 21">
            <a:extLst>
              <a:ext uri="{FF2B5EF4-FFF2-40B4-BE49-F238E27FC236}">
                <a16:creationId xmlns:a16="http://schemas.microsoft.com/office/drawing/2014/main" id="{107B4826-9722-4EBB-9BD3-707EBC359867}"/>
              </a:ext>
            </a:extLst>
          </p:cNvPr>
          <p:cNvSpPr>
            <a:spLocks noGrp="1"/>
          </p:cNvSpPr>
          <p:nvPr/>
        </p:nvSpPr>
        <p:spPr>
          <a:xfrm>
            <a:off x="4617720" y="2522438"/>
            <a:ext cx="1280160" cy="515983"/>
          </a:xfrm>
          <a:prstGeom prst="rect">
            <a:avLst/>
          </a:prstGeom>
          <a:noFill/>
        </p:spPr>
        <p:txBody>
          <a:bodyPr wrap="square" lIns="0" tIns="0" rIns="0" bIns="0" anchor="ctr">
            <a:normAutofit/>
          </a:bodyPr>
          <a:lstStyle/>
          <a:p>
            <a:pPr marL="0" indent="0">
              <a:buNone/>
            </a:pPr>
            <a:r>
              <a:rPr sz="1220">
                <a:solidFill>
                  <a:srgbClr val="1A1E2A"/>
                </a:solidFill>
              </a:rPr>
              <a:t>4.840</a:t>
            </a:r>
            <a:endParaRPr sz="1220"/>
          </a:p>
        </p:txBody>
      </p:sp>
      <p:sp>
        <p:nvSpPr>
          <p:cNvPr id="24" name="Shape 22">
            <a:extLst>
              <a:ext uri="{FF2B5EF4-FFF2-40B4-BE49-F238E27FC236}">
                <a16:creationId xmlns:a16="http://schemas.microsoft.com/office/drawing/2014/main" id="{BA4AA965-CBA3-4822-A25A-93EF37534737}"/>
              </a:ext>
            </a:extLst>
          </p:cNvPr>
          <p:cNvSpPr>
            <a:spLocks noGrp="1"/>
          </p:cNvSpPr>
          <p:nvPr/>
        </p:nvSpPr>
        <p:spPr>
          <a:xfrm>
            <a:off x="5971032" y="2449286"/>
            <a:ext cx="3072384" cy="607423"/>
          </a:xfrm>
          <a:prstGeom prst="rect">
            <a:avLst/>
          </a:prstGeom>
          <a:solidFill>
            <a:srgbClr val="F4F6FB"/>
          </a:solidFill>
          <a:ln w="6350">
            <a:solidFill>
              <a:srgbClr val="DDE3EF"/>
            </a:solidFill>
            <a:prstDash val="solid"/>
          </a:ln>
        </p:spPr>
      </p:sp>
      <p:sp>
        <p:nvSpPr>
          <p:cNvPr id="25" name="Text 23">
            <a:extLst>
              <a:ext uri="{FF2B5EF4-FFF2-40B4-BE49-F238E27FC236}">
                <a16:creationId xmlns:a16="http://schemas.microsoft.com/office/drawing/2014/main" id="{F58E968B-C101-4286-89C1-8E0047587644}"/>
              </a:ext>
            </a:extLst>
          </p:cNvPr>
          <p:cNvSpPr>
            <a:spLocks noGrp="1"/>
          </p:cNvSpPr>
          <p:nvPr/>
        </p:nvSpPr>
        <p:spPr>
          <a:xfrm>
            <a:off x="6044184" y="2522438"/>
            <a:ext cx="2926080" cy="515983"/>
          </a:xfrm>
          <a:prstGeom prst="rect">
            <a:avLst/>
          </a:prstGeom>
          <a:noFill/>
        </p:spPr>
        <p:txBody>
          <a:bodyPr wrap="square" lIns="0" tIns="0" rIns="0" bIns="0" anchor="ctr">
            <a:normAutofit/>
          </a:bodyPr>
          <a:lstStyle/>
          <a:p>
            <a:pPr marL="0" indent="0">
              <a:buNone/>
            </a:pPr>
            <a:r>
              <a:rPr sz="1220">
                <a:solidFill>
                  <a:srgbClr val="1A1E2A"/>
                </a:solidFill>
              </a:rPr>
              <a:t>Yardımcı train</a:t>
            </a:r>
            <a:endParaRPr sz="1220"/>
          </a:p>
        </p:txBody>
      </p:sp>
      <p:sp>
        <p:nvSpPr>
          <p:cNvPr id="26" name="Shape 24">
            <a:extLst>
              <a:ext uri="{FF2B5EF4-FFF2-40B4-BE49-F238E27FC236}">
                <a16:creationId xmlns:a16="http://schemas.microsoft.com/office/drawing/2014/main" id="{8D20A500-41B5-4B0D-9679-C443D662ACD1}"/>
              </a:ext>
            </a:extLst>
          </p:cNvPr>
          <p:cNvSpPr>
            <a:spLocks noGrp="1"/>
          </p:cNvSpPr>
          <p:nvPr/>
        </p:nvSpPr>
        <p:spPr>
          <a:xfrm>
            <a:off x="9043416" y="2449286"/>
            <a:ext cx="2523744" cy="607423"/>
          </a:xfrm>
          <a:prstGeom prst="rect">
            <a:avLst/>
          </a:prstGeom>
          <a:solidFill>
            <a:srgbClr val="F4F6FB"/>
          </a:solidFill>
          <a:ln w="6350">
            <a:solidFill>
              <a:srgbClr val="DDE3EF"/>
            </a:solidFill>
            <a:prstDash val="solid"/>
          </a:ln>
        </p:spPr>
      </p:sp>
      <p:sp>
        <p:nvSpPr>
          <p:cNvPr id="27" name="Text 25">
            <a:extLst>
              <a:ext uri="{FF2B5EF4-FFF2-40B4-BE49-F238E27FC236}">
                <a16:creationId xmlns:a16="http://schemas.microsoft.com/office/drawing/2014/main" id="{C7278D6C-3762-4AFD-A5E8-8099D05E1E57}"/>
              </a:ext>
            </a:extLst>
          </p:cNvPr>
          <p:cNvSpPr>
            <a:spLocks noGrp="1"/>
          </p:cNvSpPr>
          <p:nvPr/>
        </p:nvSpPr>
        <p:spPr>
          <a:xfrm>
            <a:off x="9116568" y="2522438"/>
            <a:ext cx="2377440" cy="515983"/>
          </a:xfrm>
          <a:prstGeom prst="rect">
            <a:avLst/>
          </a:prstGeom>
          <a:noFill/>
        </p:spPr>
        <p:txBody>
          <a:bodyPr wrap="square" lIns="0" tIns="0" rIns="0" bIns="0" anchor="ctr">
            <a:normAutofit/>
          </a:bodyPr>
          <a:lstStyle/>
          <a:p>
            <a:pPr marL="0" indent="0">
              <a:buNone/>
            </a:pPr>
            <a:r>
              <a:rPr sz="1220">
                <a:solidFill>
                  <a:srgbClr val="1A1E2A"/>
                </a:solidFill>
              </a:rPr>
              <a:t>İnsan; 5–8 oy</a:t>
            </a:r>
            <a:endParaRPr sz="1220"/>
          </a:p>
        </p:txBody>
      </p:sp>
      <p:sp>
        <p:nvSpPr>
          <p:cNvPr id="28" name="Shape 26">
            <a:extLst>
              <a:ext uri="{FF2B5EF4-FFF2-40B4-BE49-F238E27FC236}">
                <a16:creationId xmlns:a16="http://schemas.microsoft.com/office/drawing/2014/main" id="{BF029D17-A21E-4781-81E6-46EDBE7980BD}"/>
              </a:ext>
            </a:extLst>
          </p:cNvPr>
          <p:cNvSpPr>
            <a:spLocks noGrp="1"/>
          </p:cNvSpPr>
          <p:nvPr/>
        </p:nvSpPr>
        <p:spPr>
          <a:xfrm>
            <a:off x="594360" y="3056709"/>
            <a:ext cx="3950208" cy="607423"/>
          </a:xfrm>
          <a:prstGeom prst="rect">
            <a:avLst/>
          </a:prstGeom>
          <a:solidFill>
            <a:srgbClr val="FFFFFF"/>
          </a:solidFill>
          <a:ln w="6350">
            <a:solidFill>
              <a:srgbClr val="DDE3EF"/>
            </a:solidFill>
            <a:prstDash val="solid"/>
          </a:ln>
        </p:spPr>
      </p:sp>
      <p:sp>
        <p:nvSpPr>
          <p:cNvPr id="29" name="Text 27">
            <a:extLst>
              <a:ext uri="{FF2B5EF4-FFF2-40B4-BE49-F238E27FC236}">
                <a16:creationId xmlns:a16="http://schemas.microsoft.com/office/drawing/2014/main" id="{F892490A-A019-4957-BA8D-8AEFF71890F0}"/>
              </a:ext>
            </a:extLst>
          </p:cNvPr>
          <p:cNvSpPr>
            <a:spLocks noGrp="1"/>
          </p:cNvSpPr>
          <p:nvPr/>
        </p:nvSpPr>
        <p:spPr>
          <a:xfrm>
            <a:off x="667512" y="3129861"/>
            <a:ext cx="3803904" cy="515983"/>
          </a:xfrm>
          <a:prstGeom prst="rect">
            <a:avLst/>
          </a:prstGeom>
          <a:noFill/>
        </p:spPr>
        <p:txBody>
          <a:bodyPr wrap="square" lIns="0" tIns="0" rIns="0" bIns="0" anchor="ctr">
            <a:normAutofit/>
          </a:bodyPr>
          <a:lstStyle/>
          <a:p>
            <a:pPr marL="0" indent="0">
              <a:buNone/>
            </a:pPr>
            <a:r>
              <a:rPr sz="1220">
                <a:solidFill>
                  <a:srgbClr val="1A1E2A"/>
                </a:solidFill>
              </a:rPr>
              <a:t>İç test</a:t>
            </a:r>
            <a:endParaRPr sz="1220"/>
          </a:p>
        </p:txBody>
      </p:sp>
      <p:sp>
        <p:nvSpPr>
          <p:cNvPr id="30" name="Shape 28">
            <a:extLst>
              <a:ext uri="{FF2B5EF4-FFF2-40B4-BE49-F238E27FC236}">
                <a16:creationId xmlns:a16="http://schemas.microsoft.com/office/drawing/2014/main" id="{33CB4D07-05F1-4314-A161-16D781D0B66F}"/>
              </a:ext>
            </a:extLst>
          </p:cNvPr>
          <p:cNvSpPr>
            <a:spLocks noGrp="1"/>
          </p:cNvSpPr>
          <p:nvPr/>
        </p:nvSpPr>
        <p:spPr>
          <a:xfrm>
            <a:off x="4544568" y="3056709"/>
            <a:ext cx="1426464" cy="607423"/>
          </a:xfrm>
          <a:prstGeom prst="rect">
            <a:avLst/>
          </a:prstGeom>
          <a:solidFill>
            <a:srgbClr val="FFFFFF"/>
          </a:solidFill>
          <a:ln w="6350">
            <a:solidFill>
              <a:srgbClr val="DDE3EF"/>
            </a:solidFill>
            <a:prstDash val="solid"/>
          </a:ln>
        </p:spPr>
      </p:sp>
      <p:sp>
        <p:nvSpPr>
          <p:cNvPr id="31" name="Text 29">
            <a:extLst>
              <a:ext uri="{FF2B5EF4-FFF2-40B4-BE49-F238E27FC236}">
                <a16:creationId xmlns:a16="http://schemas.microsoft.com/office/drawing/2014/main" id="{B3D7DB90-F356-4227-B630-4D542B985177}"/>
              </a:ext>
            </a:extLst>
          </p:cNvPr>
          <p:cNvSpPr>
            <a:spLocks noGrp="1"/>
          </p:cNvSpPr>
          <p:nvPr/>
        </p:nvSpPr>
        <p:spPr>
          <a:xfrm>
            <a:off x="4617720" y="3129861"/>
            <a:ext cx="1280160" cy="515983"/>
          </a:xfrm>
          <a:prstGeom prst="rect">
            <a:avLst/>
          </a:prstGeom>
          <a:noFill/>
        </p:spPr>
        <p:txBody>
          <a:bodyPr wrap="square" lIns="0" tIns="0" rIns="0" bIns="0" anchor="ctr">
            <a:normAutofit/>
          </a:bodyPr>
          <a:lstStyle/>
          <a:p>
            <a:pPr marL="0" indent="0">
              <a:buNone/>
            </a:pPr>
            <a:r>
              <a:rPr sz="1220">
                <a:solidFill>
                  <a:srgbClr val="1A1E2A"/>
                </a:solidFill>
              </a:rPr>
              <a:t>2.386</a:t>
            </a:r>
            <a:endParaRPr sz="1220"/>
          </a:p>
        </p:txBody>
      </p:sp>
      <p:sp>
        <p:nvSpPr>
          <p:cNvPr id="32" name="Shape 30">
            <a:extLst>
              <a:ext uri="{FF2B5EF4-FFF2-40B4-BE49-F238E27FC236}">
                <a16:creationId xmlns:a16="http://schemas.microsoft.com/office/drawing/2014/main" id="{6C453DC9-AAD9-4856-91D5-3927B62449CD}"/>
              </a:ext>
            </a:extLst>
          </p:cNvPr>
          <p:cNvSpPr>
            <a:spLocks noGrp="1"/>
          </p:cNvSpPr>
          <p:nvPr/>
        </p:nvSpPr>
        <p:spPr>
          <a:xfrm>
            <a:off x="5971032" y="3056709"/>
            <a:ext cx="3072384" cy="607423"/>
          </a:xfrm>
          <a:prstGeom prst="rect">
            <a:avLst/>
          </a:prstGeom>
          <a:solidFill>
            <a:srgbClr val="FFFFFF"/>
          </a:solidFill>
          <a:ln w="6350">
            <a:solidFill>
              <a:srgbClr val="DDE3EF"/>
            </a:solidFill>
            <a:prstDash val="solid"/>
          </a:ln>
        </p:spPr>
      </p:sp>
      <p:sp>
        <p:nvSpPr>
          <p:cNvPr id="33" name="Text 31">
            <a:extLst>
              <a:ext uri="{FF2B5EF4-FFF2-40B4-BE49-F238E27FC236}">
                <a16:creationId xmlns:a16="http://schemas.microsoft.com/office/drawing/2014/main" id="{7B6A94B7-D490-4BF4-ACAD-762BBA317E8A}"/>
              </a:ext>
            </a:extLst>
          </p:cNvPr>
          <p:cNvSpPr>
            <a:spLocks noGrp="1"/>
          </p:cNvSpPr>
          <p:nvPr/>
        </p:nvSpPr>
        <p:spPr>
          <a:xfrm>
            <a:off x="6044184" y="3129861"/>
            <a:ext cx="2926080" cy="515983"/>
          </a:xfrm>
          <a:prstGeom prst="rect">
            <a:avLst/>
          </a:prstGeom>
          <a:noFill/>
        </p:spPr>
        <p:txBody>
          <a:bodyPr wrap="square" lIns="0" tIns="0" rIns="0" bIns="0" anchor="ctr">
            <a:normAutofit/>
          </a:bodyPr>
          <a:lstStyle/>
          <a:p>
            <a:pPr marL="0" indent="0">
              <a:buNone/>
            </a:pPr>
            <a:r>
              <a:rPr sz="1220">
                <a:solidFill>
                  <a:srgbClr val="1A1E2A"/>
                </a:solidFill>
              </a:rPr>
              <a:t>Aynı kaynak test</a:t>
            </a:r>
            <a:endParaRPr sz="1220"/>
          </a:p>
        </p:txBody>
      </p:sp>
      <p:sp>
        <p:nvSpPr>
          <p:cNvPr id="34" name="Shape 32">
            <a:extLst>
              <a:ext uri="{FF2B5EF4-FFF2-40B4-BE49-F238E27FC236}">
                <a16:creationId xmlns:a16="http://schemas.microsoft.com/office/drawing/2014/main" id="{2F3FBF74-9A8F-45D5-90B0-BC7C95B9FE9A}"/>
              </a:ext>
            </a:extLst>
          </p:cNvPr>
          <p:cNvSpPr>
            <a:spLocks noGrp="1"/>
          </p:cNvSpPr>
          <p:nvPr/>
        </p:nvSpPr>
        <p:spPr>
          <a:xfrm>
            <a:off x="9043416" y="3056709"/>
            <a:ext cx="2523744" cy="607423"/>
          </a:xfrm>
          <a:prstGeom prst="rect">
            <a:avLst/>
          </a:prstGeom>
          <a:solidFill>
            <a:srgbClr val="FFFFFF"/>
          </a:solidFill>
          <a:ln w="6350">
            <a:solidFill>
              <a:srgbClr val="DDE3EF"/>
            </a:solidFill>
            <a:prstDash val="solid"/>
          </a:ln>
        </p:spPr>
      </p:sp>
      <p:sp>
        <p:nvSpPr>
          <p:cNvPr id="35" name="Text 33">
            <a:extLst>
              <a:ext uri="{FF2B5EF4-FFF2-40B4-BE49-F238E27FC236}">
                <a16:creationId xmlns:a16="http://schemas.microsoft.com/office/drawing/2014/main" id="{F9534EB1-3271-4B69-8301-4D61AF537786}"/>
              </a:ext>
            </a:extLst>
          </p:cNvPr>
          <p:cNvSpPr>
            <a:spLocks noGrp="1"/>
          </p:cNvSpPr>
          <p:nvPr/>
        </p:nvSpPr>
        <p:spPr>
          <a:xfrm>
            <a:off x="9116568" y="3129861"/>
            <a:ext cx="2377440" cy="515983"/>
          </a:xfrm>
          <a:prstGeom prst="rect">
            <a:avLst/>
          </a:prstGeom>
          <a:noFill/>
        </p:spPr>
        <p:txBody>
          <a:bodyPr wrap="square" lIns="0" tIns="0" rIns="0" bIns="0" anchor="ctr">
            <a:normAutofit/>
          </a:bodyPr>
          <a:lstStyle/>
          <a:p>
            <a:pPr marL="0" indent="0">
              <a:buNone/>
            </a:pPr>
            <a:r>
              <a:rPr sz="1220">
                <a:solidFill>
                  <a:srgbClr val="1A1E2A"/>
                </a:solidFill>
              </a:rPr>
              <a:t>Hazır Twitter etiketi</a:t>
            </a:r>
            <a:endParaRPr sz="1220"/>
          </a:p>
        </p:txBody>
      </p:sp>
      <p:sp>
        <p:nvSpPr>
          <p:cNvPr id="36" name="Shape 34">
            <a:extLst>
              <a:ext uri="{FF2B5EF4-FFF2-40B4-BE49-F238E27FC236}">
                <a16:creationId xmlns:a16="http://schemas.microsoft.com/office/drawing/2014/main" id="{AFD30C19-83C4-4B40-A6D8-2D298F61E4BC}"/>
              </a:ext>
            </a:extLst>
          </p:cNvPr>
          <p:cNvSpPr>
            <a:spLocks noGrp="1"/>
          </p:cNvSpPr>
          <p:nvPr/>
        </p:nvSpPr>
        <p:spPr>
          <a:xfrm>
            <a:off x="594360" y="3664131"/>
            <a:ext cx="3950208" cy="607423"/>
          </a:xfrm>
          <a:prstGeom prst="rect">
            <a:avLst/>
          </a:prstGeom>
          <a:solidFill>
            <a:srgbClr val="F4F6FB"/>
          </a:solidFill>
          <a:ln w="6350">
            <a:solidFill>
              <a:srgbClr val="DDE3EF"/>
            </a:solidFill>
            <a:prstDash val="solid"/>
          </a:ln>
        </p:spPr>
      </p:sp>
      <p:sp>
        <p:nvSpPr>
          <p:cNvPr id="37" name="Text 35">
            <a:extLst>
              <a:ext uri="{FF2B5EF4-FFF2-40B4-BE49-F238E27FC236}">
                <a16:creationId xmlns:a16="http://schemas.microsoft.com/office/drawing/2014/main" id="{E25065E5-3726-4F29-8737-4CAD351EE882}"/>
              </a:ext>
            </a:extLst>
          </p:cNvPr>
          <p:cNvSpPr>
            <a:spLocks noGrp="1"/>
          </p:cNvSpPr>
          <p:nvPr/>
        </p:nvSpPr>
        <p:spPr>
          <a:xfrm>
            <a:off x="667512" y="3737283"/>
            <a:ext cx="3803904" cy="515983"/>
          </a:xfrm>
          <a:prstGeom prst="rect">
            <a:avLst/>
          </a:prstGeom>
          <a:noFill/>
        </p:spPr>
        <p:txBody>
          <a:bodyPr wrap="square" lIns="0" tIns="0" rIns="0" bIns="0" anchor="ctr">
            <a:normAutofit/>
          </a:bodyPr>
          <a:lstStyle/>
          <a:p>
            <a:pPr marL="0" indent="0">
              <a:buNone/>
            </a:pPr>
            <a:r>
              <a:rPr sz="1220">
                <a:solidFill>
                  <a:srgbClr val="1A1E2A"/>
                </a:solidFill>
              </a:rPr>
              <a:t>S&amp;P 500</a:t>
            </a:r>
            <a:endParaRPr sz="1220"/>
          </a:p>
        </p:txBody>
      </p:sp>
      <p:sp>
        <p:nvSpPr>
          <p:cNvPr id="38" name="Shape 36">
            <a:extLst>
              <a:ext uri="{FF2B5EF4-FFF2-40B4-BE49-F238E27FC236}">
                <a16:creationId xmlns:a16="http://schemas.microsoft.com/office/drawing/2014/main" id="{13D988A9-9A70-418A-B930-12DB53788965}"/>
              </a:ext>
            </a:extLst>
          </p:cNvPr>
          <p:cNvSpPr>
            <a:spLocks noGrp="1"/>
          </p:cNvSpPr>
          <p:nvPr/>
        </p:nvSpPr>
        <p:spPr>
          <a:xfrm>
            <a:off x="4544568" y="3664131"/>
            <a:ext cx="1426464" cy="607423"/>
          </a:xfrm>
          <a:prstGeom prst="rect">
            <a:avLst/>
          </a:prstGeom>
          <a:solidFill>
            <a:srgbClr val="F4F6FB"/>
          </a:solidFill>
          <a:ln w="6350">
            <a:solidFill>
              <a:srgbClr val="DDE3EF"/>
            </a:solidFill>
            <a:prstDash val="solid"/>
          </a:ln>
        </p:spPr>
      </p:sp>
      <p:sp>
        <p:nvSpPr>
          <p:cNvPr id="39" name="Text 37">
            <a:extLst>
              <a:ext uri="{FF2B5EF4-FFF2-40B4-BE49-F238E27FC236}">
                <a16:creationId xmlns:a16="http://schemas.microsoft.com/office/drawing/2014/main" id="{4C1EA350-8DBF-4FA7-A39C-EE287CBD5B21}"/>
              </a:ext>
            </a:extLst>
          </p:cNvPr>
          <p:cNvSpPr>
            <a:spLocks noGrp="1"/>
          </p:cNvSpPr>
          <p:nvPr/>
        </p:nvSpPr>
        <p:spPr>
          <a:xfrm>
            <a:off x="4617720" y="3737283"/>
            <a:ext cx="1280160" cy="515983"/>
          </a:xfrm>
          <a:prstGeom prst="rect">
            <a:avLst/>
          </a:prstGeom>
          <a:noFill/>
        </p:spPr>
        <p:txBody>
          <a:bodyPr wrap="square" lIns="0" tIns="0" rIns="0" bIns="0" anchor="ctr">
            <a:normAutofit/>
          </a:bodyPr>
          <a:lstStyle/>
          <a:p>
            <a:pPr marL="0" indent="0">
              <a:buNone/>
            </a:pPr>
            <a:r>
              <a:rPr sz="1220">
                <a:solidFill>
                  <a:srgbClr val="1A1E2A"/>
                </a:solidFill>
              </a:rPr>
              <a:t>1.060</a:t>
            </a:r>
            <a:endParaRPr sz="1220"/>
          </a:p>
        </p:txBody>
      </p:sp>
      <p:sp>
        <p:nvSpPr>
          <p:cNvPr id="40" name="Shape 38">
            <a:extLst>
              <a:ext uri="{FF2B5EF4-FFF2-40B4-BE49-F238E27FC236}">
                <a16:creationId xmlns:a16="http://schemas.microsoft.com/office/drawing/2014/main" id="{76DBC469-1DF0-46A9-8E90-5063A1E5ECEE}"/>
              </a:ext>
            </a:extLst>
          </p:cNvPr>
          <p:cNvSpPr>
            <a:spLocks noGrp="1"/>
          </p:cNvSpPr>
          <p:nvPr/>
        </p:nvSpPr>
        <p:spPr>
          <a:xfrm>
            <a:off x="5971032" y="3664131"/>
            <a:ext cx="3072384" cy="607423"/>
          </a:xfrm>
          <a:prstGeom prst="rect">
            <a:avLst/>
          </a:prstGeom>
          <a:solidFill>
            <a:srgbClr val="F4F6FB"/>
          </a:solidFill>
          <a:ln w="6350">
            <a:solidFill>
              <a:srgbClr val="DDE3EF"/>
            </a:solidFill>
            <a:prstDash val="solid"/>
          </a:ln>
        </p:spPr>
      </p:sp>
      <p:sp>
        <p:nvSpPr>
          <p:cNvPr id="41" name="Text 39">
            <a:extLst>
              <a:ext uri="{FF2B5EF4-FFF2-40B4-BE49-F238E27FC236}">
                <a16:creationId xmlns:a16="http://schemas.microsoft.com/office/drawing/2014/main" id="{B623CAFF-2110-41B6-AD05-1804FB38DD9E}"/>
              </a:ext>
            </a:extLst>
          </p:cNvPr>
          <p:cNvSpPr>
            <a:spLocks noGrp="1"/>
          </p:cNvSpPr>
          <p:nvPr/>
        </p:nvSpPr>
        <p:spPr>
          <a:xfrm>
            <a:off x="6044184" y="3737283"/>
            <a:ext cx="2926080" cy="515983"/>
          </a:xfrm>
          <a:prstGeom prst="rect">
            <a:avLst/>
          </a:prstGeom>
          <a:noFill/>
        </p:spPr>
        <p:txBody>
          <a:bodyPr wrap="square" lIns="0" tIns="0" rIns="0" bIns="0" anchor="ctr">
            <a:normAutofit/>
          </a:bodyPr>
          <a:lstStyle/>
          <a:p>
            <a:pPr marL="0" indent="0">
              <a:buNone/>
            </a:pPr>
            <a:r>
              <a:rPr sz="1220">
                <a:solidFill>
                  <a:srgbClr val="1A1E2A"/>
                </a:solidFill>
              </a:rPr>
              <a:t>Yakın dış test</a:t>
            </a:r>
            <a:endParaRPr sz="1220"/>
          </a:p>
        </p:txBody>
      </p:sp>
      <p:sp>
        <p:nvSpPr>
          <p:cNvPr id="42" name="Shape 40">
            <a:extLst>
              <a:ext uri="{FF2B5EF4-FFF2-40B4-BE49-F238E27FC236}">
                <a16:creationId xmlns:a16="http://schemas.microsoft.com/office/drawing/2014/main" id="{68FBAE20-6B6B-463C-A613-1C6894874ABD}"/>
              </a:ext>
            </a:extLst>
          </p:cNvPr>
          <p:cNvSpPr>
            <a:spLocks noGrp="1"/>
          </p:cNvSpPr>
          <p:nvPr/>
        </p:nvSpPr>
        <p:spPr>
          <a:xfrm>
            <a:off x="9043416" y="3664131"/>
            <a:ext cx="2523744" cy="607423"/>
          </a:xfrm>
          <a:prstGeom prst="rect">
            <a:avLst/>
          </a:prstGeom>
          <a:solidFill>
            <a:srgbClr val="F4F6FB"/>
          </a:solidFill>
          <a:ln w="6350">
            <a:solidFill>
              <a:srgbClr val="DDE3EF"/>
            </a:solidFill>
            <a:prstDash val="solid"/>
          </a:ln>
        </p:spPr>
      </p:sp>
      <p:sp>
        <p:nvSpPr>
          <p:cNvPr id="43" name="Text 41">
            <a:extLst>
              <a:ext uri="{FF2B5EF4-FFF2-40B4-BE49-F238E27FC236}">
                <a16:creationId xmlns:a16="http://schemas.microsoft.com/office/drawing/2014/main" id="{44201DB0-14A6-4776-9574-CEBC22F1E0D3}"/>
              </a:ext>
            </a:extLst>
          </p:cNvPr>
          <p:cNvSpPr>
            <a:spLocks noGrp="1"/>
          </p:cNvSpPr>
          <p:nvPr/>
        </p:nvSpPr>
        <p:spPr>
          <a:xfrm>
            <a:off x="9116568" y="3737283"/>
            <a:ext cx="2377440" cy="515983"/>
          </a:xfrm>
          <a:prstGeom prst="rect">
            <a:avLst/>
          </a:prstGeom>
          <a:noFill/>
        </p:spPr>
        <p:txBody>
          <a:bodyPr wrap="square" lIns="0" tIns="0" rIns="0" bIns="0" anchor="ctr">
            <a:normAutofit/>
          </a:bodyPr>
          <a:lstStyle/>
          <a:p>
            <a:pPr marL="0" indent="0">
              <a:buNone/>
            </a:pPr>
            <a:r>
              <a:rPr sz="1220">
                <a:solidFill>
                  <a:srgbClr val="1A1E2A"/>
                </a:solidFill>
              </a:rPr>
              <a:t>Araştırmacı + destek</a:t>
            </a:r>
            <a:endParaRPr sz="1220"/>
          </a:p>
        </p:txBody>
      </p:sp>
      <p:sp>
        <p:nvSpPr>
          <p:cNvPr id="44" name="Shape 42">
            <a:extLst>
              <a:ext uri="{FF2B5EF4-FFF2-40B4-BE49-F238E27FC236}">
                <a16:creationId xmlns:a16="http://schemas.microsoft.com/office/drawing/2014/main" id="{74EDA2CE-0A3F-4004-85A8-A122D85DDA8F}"/>
              </a:ext>
            </a:extLst>
          </p:cNvPr>
          <p:cNvSpPr>
            <a:spLocks noGrp="1"/>
          </p:cNvSpPr>
          <p:nvPr/>
        </p:nvSpPr>
        <p:spPr>
          <a:xfrm>
            <a:off x="594360" y="4271554"/>
            <a:ext cx="3950208" cy="607423"/>
          </a:xfrm>
          <a:prstGeom prst="rect">
            <a:avLst/>
          </a:prstGeom>
          <a:solidFill>
            <a:srgbClr val="FFFFFF"/>
          </a:solidFill>
          <a:ln w="6350">
            <a:solidFill>
              <a:srgbClr val="DDE3EF"/>
            </a:solidFill>
            <a:prstDash val="solid"/>
          </a:ln>
        </p:spPr>
      </p:sp>
      <p:sp>
        <p:nvSpPr>
          <p:cNvPr id="45" name="Text 43">
            <a:extLst>
              <a:ext uri="{FF2B5EF4-FFF2-40B4-BE49-F238E27FC236}">
                <a16:creationId xmlns:a16="http://schemas.microsoft.com/office/drawing/2014/main" id="{BD56A525-6276-4357-8009-EE9A6E6EF5CB}"/>
              </a:ext>
            </a:extLst>
          </p:cNvPr>
          <p:cNvSpPr>
            <a:spLocks noGrp="1"/>
          </p:cNvSpPr>
          <p:nvPr/>
        </p:nvSpPr>
        <p:spPr>
          <a:xfrm>
            <a:off x="667512" y="4344706"/>
            <a:ext cx="3803904" cy="515983"/>
          </a:xfrm>
          <a:prstGeom prst="rect">
            <a:avLst/>
          </a:prstGeom>
          <a:noFill/>
        </p:spPr>
        <p:txBody>
          <a:bodyPr wrap="square" lIns="0" tIns="0" rIns="0" bIns="0" anchor="ctr">
            <a:normAutofit/>
          </a:bodyPr>
          <a:lstStyle/>
          <a:p>
            <a:pPr marL="0" indent="0">
              <a:buNone/>
            </a:pPr>
            <a:r>
              <a:rPr sz="1220">
                <a:solidFill>
                  <a:srgbClr val="1A1E2A"/>
                </a:solidFill>
              </a:rPr>
              <a:t>Reuters</a:t>
            </a:r>
            <a:endParaRPr sz="1220"/>
          </a:p>
        </p:txBody>
      </p:sp>
      <p:sp>
        <p:nvSpPr>
          <p:cNvPr id="46" name="Shape 44">
            <a:extLst>
              <a:ext uri="{FF2B5EF4-FFF2-40B4-BE49-F238E27FC236}">
                <a16:creationId xmlns:a16="http://schemas.microsoft.com/office/drawing/2014/main" id="{2EF407A8-7AB3-4DCB-9D0B-2C666805093F}"/>
              </a:ext>
            </a:extLst>
          </p:cNvPr>
          <p:cNvSpPr>
            <a:spLocks noGrp="1"/>
          </p:cNvSpPr>
          <p:nvPr/>
        </p:nvSpPr>
        <p:spPr>
          <a:xfrm>
            <a:off x="4544568" y="4271554"/>
            <a:ext cx="1426464" cy="607423"/>
          </a:xfrm>
          <a:prstGeom prst="rect">
            <a:avLst/>
          </a:prstGeom>
          <a:solidFill>
            <a:srgbClr val="FFFFFF"/>
          </a:solidFill>
          <a:ln w="6350">
            <a:solidFill>
              <a:srgbClr val="DDE3EF"/>
            </a:solidFill>
            <a:prstDash val="solid"/>
          </a:ln>
        </p:spPr>
      </p:sp>
      <p:sp>
        <p:nvSpPr>
          <p:cNvPr id="47" name="Text 45">
            <a:extLst>
              <a:ext uri="{FF2B5EF4-FFF2-40B4-BE49-F238E27FC236}">
                <a16:creationId xmlns:a16="http://schemas.microsoft.com/office/drawing/2014/main" id="{4D390286-5186-4510-B634-56B484BBE32B}"/>
              </a:ext>
            </a:extLst>
          </p:cNvPr>
          <p:cNvSpPr>
            <a:spLocks noGrp="1"/>
          </p:cNvSpPr>
          <p:nvPr/>
        </p:nvSpPr>
        <p:spPr>
          <a:xfrm>
            <a:off x="4617720" y="4344706"/>
            <a:ext cx="1280160" cy="515983"/>
          </a:xfrm>
          <a:prstGeom prst="rect">
            <a:avLst/>
          </a:prstGeom>
          <a:noFill/>
        </p:spPr>
        <p:txBody>
          <a:bodyPr wrap="square" lIns="0" tIns="0" rIns="0" bIns="0" anchor="ctr">
            <a:normAutofit/>
          </a:bodyPr>
          <a:lstStyle/>
          <a:p>
            <a:pPr marL="0" indent="0">
              <a:buNone/>
            </a:pPr>
            <a:r>
              <a:rPr sz="1220">
                <a:solidFill>
                  <a:srgbClr val="1A1E2A"/>
                </a:solidFill>
              </a:rPr>
              <a:t>5.000</a:t>
            </a:r>
            <a:endParaRPr sz="1220"/>
          </a:p>
        </p:txBody>
      </p:sp>
      <p:sp>
        <p:nvSpPr>
          <p:cNvPr id="48" name="Shape 46">
            <a:extLst>
              <a:ext uri="{FF2B5EF4-FFF2-40B4-BE49-F238E27FC236}">
                <a16:creationId xmlns:a16="http://schemas.microsoft.com/office/drawing/2014/main" id="{39642530-7395-4ADC-8EE5-EBA176121F4D}"/>
              </a:ext>
            </a:extLst>
          </p:cNvPr>
          <p:cNvSpPr>
            <a:spLocks noGrp="1"/>
          </p:cNvSpPr>
          <p:nvPr/>
        </p:nvSpPr>
        <p:spPr>
          <a:xfrm>
            <a:off x="5971032" y="4271554"/>
            <a:ext cx="3072384" cy="607423"/>
          </a:xfrm>
          <a:prstGeom prst="rect">
            <a:avLst/>
          </a:prstGeom>
          <a:solidFill>
            <a:srgbClr val="FFFFFF"/>
          </a:solidFill>
          <a:ln w="6350">
            <a:solidFill>
              <a:srgbClr val="DDE3EF"/>
            </a:solidFill>
            <a:prstDash val="solid"/>
          </a:ln>
        </p:spPr>
      </p:sp>
      <p:sp>
        <p:nvSpPr>
          <p:cNvPr id="49" name="Text 47">
            <a:extLst>
              <a:ext uri="{FF2B5EF4-FFF2-40B4-BE49-F238E27FC236}">
                <a16:creationId xmlns:a16="http://schemas.microsoft.com/office/drawing/2014/main" id="{A89A9AA6-FF68-49C5-957A-EE4C038E01E8}"/>
              </a:ext>
            </a:extLst>
          </p:cNvPr>
          <p:cNvSpPr>
            <a:spLocks noGrp="1"/>
          </p:cNvSpPr>
          <p:nvPr/>
        </p:nvSpPr>
        <p:spPr>
          <a:xfrm>
            <a:off x="6044184" y="4344706"/>
            <a:ext cx="2926080" cy="515983"/>
          </a:xfrm>
          <a:prstGeom prst="rect">
            <a:avLst/>
          </a:prstGeom>
          <a:noFill/>
        </p:spPr>
        <p:txBody>
          <a:bodyPr wrap="square" lIns="0" tIns="0" rIns="0" bIns="0" anchor="ctr">
            <a:normAutofit/>
          </a:bodyPr>
          <a:lstStyle/>
          <a:p>
            <a:pPr marL="0" indent="0">
              <a:buNone/>
            </a:pPr>
            <a:r>
              <a:rPr sz="1220">
                <a:solidFill>
                  <a:srgbClr val="1A1E2A"/>
                </a:solidFill>
              </a:rPr>
              <a:t>Uzak dış test</a:t>
            </a:r>
            <a:endParaRPr sz="1220"/>
          </a:p>
        </p:txBody>
      </p:sp>
      <p:sp>
        <p:nvSpPr>
          <p:cNvPr id="50" name="Shape 48">
            <a:extLst>
              <a:ext uri="{FF2B5EF4-FFF2-40B4-BE49-F238E27FC236}">
                <a16:creationId xmlns:a16="http://schemas.microsoft.com/office/drawing/2014/main" id="{C290BD62-4571-4D6E-9CA0-57A84932B459}"/>
              </a:ext>
            </a:extLst>
          </p:cNvPr>
          <p:cNvSpPr>
            <a:spLocks noGrp="1"/>
          </p:cNvSpPr>
          <p:nvPr/>
        </p:nvSpPr>
        <p:spPr>
          <a:xfrm>
            <a:off x="9043416" y="4271554"/>
            <a:ext cx="2523744" cy="607423"/>
          </a:xfrm>
          <a:prstGeom prst="rect">
            <a:avLst/>
          </a:prstGeom>
          <a:solidFill>
            <a:srgbClr val="FFFFFF"/>
          </a:solidFill>
          <a:ln w="6350">
            <a:solidFill>
              <a:srgbClr val="DDE3EF"/>
            </a:solidFill>
            <a:prstDash val="solid"/>
          </a:ln>
        </p:spPr>
      </p:sp>
      <p:sp>
        <p:nvSpPr>
          <p:cNvPr id="51" name="Text 49">
            <a:extLst>
              <a:ext uri="{FF2B5EF4-FFF2-40B4-BE49-F238E27FC236}">
                <a16:creationId xmlns:a16="http://schemas.microsoft.com/office/drawing/2014/main" id="{2E9A380A-A781-4362-AFB2-0792C3638197}"/>
              </a:ext>
            </a:extLst>
          </p:cNvPr>
          <p:cNvSpPr>
            <a:spLocks noGrp="1"/>
          </p:cNvSpPr>
          <p:nvPr/>
        </p:nvSpPr>
        <p:spPr>
          <a:xfrm>
            <a:off x="9116568" y="4344706"/>
            <a:ext cx="2377440" cy="515983"/>
          </a:xfrm>
          <a:prstGeom prst="rect">
            <a:avLst/>
          </a:prstGeom>
          <a:noFill/>
        </p:spPr>
        <p:txBody>
          <a:bodyPr wrap="square" lIns="0" tIns="0" rIns="0" bIns="0" anchor="ctr">
            <a:normAutofit/>
          </a:bodyPr>
          <a:lstStyle/>
          <a:p>
            <a:pPr marL="0" indent="0">
              <a:buNone/>
            </a:pPr>
            <a:r>
              <a:rPr sz="1220">
                <a:solidFill>
                  <a:srgbClr val="1A1E2A"/>
                </a:solidFill>
              </a:rPr>
              <a:t>Araştırmacı + destek</a:t>
            </a:r>
            <a:endParaRPr sz="1220"/>
          </a:p>
        </p:txBody>
      </p:sp>
      <p:sp>
        <p:nvSpPr>
          <p:cNvPr id="52" name="Shape 50">
            <a:extLst>
              <a:ext uri="{FF2B5EF4-FFF2-40B4-BE49-F238E27FC236}">
                <a16:creationId xmlns:a16="http://schemas.microsoft.com/office/drawing/2014/main" id="{F9FCBFA4-D5AF-420A-B22B-75C69667362F}"/>
              </a:ext>
            </a:extLst>
          </p:cNvPr>
          <p:cNvSpPr>
            <a:spLocks noGrp="1"/>
          </p:cNvSpPr>
          <p:nvPr/>
        </p:nvSpPr>
        <p:spPr>
          <a:xfrm>
            <a:off x="594360" y="4878977"/>
            <a:ext cx="3950208" cy="607423"/>
          </a:xfrm>
          <a:prstGeom prst="rect">
            <a:avLst/>
          </a:prstGeom>
          <a:solidFill>
            <a:srgbClr val="F4F6FB"/>
          </a:solidFill>
          <a:ln w="6350">
            <a:solidFill>
              <a:srgbClr val="DDE3EF"/>
            </a:solidFill>
            <a:prstDash val="solid"/>
          </a:ln>
        </p:spPr>
      </p:sp>
      <p:sp>
        <p:nvSpPr>
          <p:cNvPr id="53" name="Text 51">
            <a:extLst>
              <a:ext uri="{FF2B5EF4-FFF2-40B4-BE49-F238E27FC236}">
                <a16:creationId xmlns:a16="http://schemas.microsoft.com/office/drawing/2014/main" id="{BE62AEFD-EAEF-4FD7-8C15-2BFDC13319DC}"/>
              </a:ext>
            </a:extLst>
          </p:cNvPr>
          <p:cNvSpPr>
            <a:spLocks noGrp="1"/>
          </p:cNvSpPr>
          <p:nvPr/>
        </p:nvSpPr>
        <p:spPr>
          <a:xfrm>
            <a:off x="667512" y="4952129"/>
            <a:ext cx="3803904" cy="515983"/>
          </a:xfrm>
          <a:prstGeom prst="rect">
            <a:avLst/>
          </a:prstGeom>
          <a:noFill/>
        </p:spPr>
        <p:txBody>
          <a:bodyPr wrap="square" lIns="0" tIns="0" rIns="0" bIns="0" anchor="ctr">
            <a:normAutofit/>
          </a:bodyPr>
          <a:lstStyle/>
          <a:p>
            <a:pPr marL="0" indent="0">
              <a:buNone/>
            </a:pPr>
            <a:r>
              <a:rPr sz="1220">
                <a:solidFill>
                  <a:srgbClr val="1A1E2A"/>
                </a:solidFill>
              </a:rPr>
              <a:t>Sentetik</a:t>
            </a:r>
            <a:endParaRPr sz="1220"/>
          </a:p>
        </p:txBody>
      </p:sp>
      <p:sp>
        <p:nvSpPr>
          <p:cNvPr id="54" name="Shape 52">
            <a:extLst>
              <a:ext uri="{FF2B5EF4-FFF2-40B4-BE49-F238E27FC236}">
                <a16:creationId xmlns:a16="http://schemas.microsoft.com/office/drawing/2014/main" id="{2153B381-F194-48EF-8F41-41ECF4EE5D85}"/>
              </a:ext>
            </a:extLst>
          </p:cNvPr>
          <p:cNvSpPr>
            <a:spLocks noGrp="1"/>
          </p:cNvSpPr>
          <p:nvPr/>
        </p:nvSpPr>
        <p:spPr>
          <a:xfrm>
            <a:off x="4544568" y="4878977"/>
            <a:ext cx="1426464" cy="607423"/>
          </a:xfrm>
          <a:prstGeom prst="rect">
            <a:avLst/>
          </a:prstGeom>
          <a:solidFill>
            <a:srgbClr val="F4F6FB"/>
          </a:solidFill>
          <a:ln w="6350">
            <a:solidFill>
              <a:srgbClr val="DDE3EF"/>
            </a:solidFill>
            <a:prstDash val="solid"/>
          </a:ln>
        </p:spPr>
      </p:sp>
      <p:sp>
        <p:nvSpPr>
          <p:cNvPr id="55" name="Text 53">
            <a:extLst>
              <a:ext uri="{FF2B5EF4-FFF2-40B4-BE49-F238E27FC236}">
                <a16:creationId xmlns:a16="http://schemas.microsoft.com/office/drawing/2014/main" id="{856691A5-27FB-49B7-84BF-5A25A5EED414}"/>
              </a:ext>
            </a:extLst>
          </p:cNvPr>
          <p:cNvSpPr>
            <a:spLocks noGrp="1"/>
          </p:cNvSpPr>
          <p:nvPr/>
        </p:nvSpPr>
        <p:spPr>
          <a:xfrm>
            <a:off x="4617720" y="4952129"/>
            <a:ext cx="1280160" cy="515983"/>
          </a:xfrm>
          <a:prstGeom prst="rect">
            <a:avLst/>
          </a:prstGeom>
          <a:noFill/>
        </p:spPr>
        <p:txBody>
          <a:bodyPr wrap="square" lIns="0" tIns="0" rIns="0" bIns="0" anchor="ctr">
            <a:normAutofit/>
          </a:bodyPr>
          <a:lstStyle/>
          <a:p>
            <a:pPr marL="0" indent="0">
              <a:buNone/>
            </a:pPr>
            <a:r>
              <a:rPr sz="1220">
                <a:solidFill>
                  <a:srgbClr val="1A1E2A"/>
                </a:solidFill>
              </a:rPr>
              <a:t>3.000</a:t>
            </a:r>
            <a:endParaRPr sz="1220"/>
          </a:p>
        </p:txBody>
      </p:sp>
      <p:sp>
        <p:nvSpPr>
          <p:cNvPr id="56" name="Shape 54">
            <a:extLst>
              <a:ext uri="{FF2B5EF4-FFF2-40B4-BE49-F238E27FC236}">
                <a16:creationId xmlns:a16="http://schemas.microsoft.com/office/drawing/2014/main" id="{6C789589-C774-45A5-BC5F-28932F864D7A}"/>
              </a:ext>
            </a:extLst>
          </p:cNvPr>
          <p:cNvSpPr>
            <a:spLocks noGrp="1"/>
          </p:cNvSpPr>
          <p:nvPr/>
        </p:nvSpPr>
        <p:spPr>
          <a:xfrm>
            <a:off x="5971032" y="4878977"/>
            <a:ext cx="3072384" cy="607423"/>
          </a:xfrm>
          <a:prstGeom prst="rect">
            <a:avLst/>
          </a:prstGeom>
          <a:solidFill>
            <a:srgbClr val="F4F6FB"/>
          </a:solidFill>
          <a:ln w="6350">
            <a:solidFill>
              <a:srgbClr val="DDE3EF"/>
            </a:solidFill>
            <a:prstDash val="solid"/>
          </a:ln>
        </p:spPr>
      </p:sp>
      <p:sp>
        <p:nvSpPr>
          <p:cNvPr id="57" name="Text 55">
            <a:extLst>
              <a:ext uri="{FF2B5EF4-FFF2-40B4-BE49-F238E27FC236}">
                <a16:creationId xmlns:a16="http://schemas.microsoft.com/office/drawing/2014/main" id="{67B52FD9-3F2D-4FF7-B948-59A7F3566D33}"/>
              </a:ext>
            </a:extLst>
          </p:cNvPr>
          <p:cNvSpPr>
            <a:spLocks noGrp="1"/>
          </p:cNvSpPr>
          <p:nvPr/>
        </p:nvSpPr>
        <p:spPr>
          <a:xfrm>
            <a:off x="6044184" y="4952129"/>
            <a:ext cx="2926080" cy="515983"/>
          </a:xfrm>
          <a:prstGeom prst="rect">
            <a:avLst/>
          </a:prstGeom>
          <a:noFill/>
        </p:spPr>
        <p:txBody>
          <a:bodyPr wrap="square" lIns="0" tIns="0" rIns="0" bIns="0" anchor="ctr">
            <a:normAutofit/>
          </a:bodyPr>
          <a:lstStyle/>
          <a:p>
            <a:pPr marL="0" indent="0">
              <a:buNone/>
            </a:pPr>
            <a:r>
              <a:rPr sz="1220">
                <a:solidFill>
                  <a:srgbClr val="1A1E2A"/>
                </a:solidFill>
              </a:rPr>
              <a:t>Tanısal test</a:t>
            </a:r>
            <a:endParaRPr sz="1220"/>
          </a:p>
        </p:txBody>
      </p:sp>
      <p:sp>
        <p:nvSpPr>
          <p:cNvPr id="58" name="Shape 56">
            <a:extLst>
              <a:ext uri="{FF2B5EF4-FFF2-40B4-BE49-F238E27FC236}">
                <a16:creationId xmlns:a16="http://schemas.microsoft.com/office/drawing/2014/main" id="{044EF396-1323-4E06-9760-C840D7B8754D}"/>
              </a:ext>
            </a:extLst>
          </p:cNvPr>
          <p:cNvSpPr>
            <a:spLocks noGrp="1"/>
          </p:cNvSpPr>
          <p:nvPr/>
        </p:nvSpPr>
        <p:spPr>
          <a:xfrm>
            <a:off x="9043416" y="4878977"/>
            <a:ext cx="2523744" cy="607423"/>
          </a:xfrm>
          <a:prstGeom prst="rect">
            <a:avLst/>
          </a:prstGeom>
          <a:solidFill>
            <a:srgbClr val="F4F6FB"/>
          </a:solidFill>
          <a:ln w="6350">
            <a:solidFill>
              <a:srgbClr val="DDE3EF"/>
            </a:solidFill>
            <a:prstDash val="solid"/>
          </a:ln>
        </p:spPr>
      </p:sp>
      <p:sp>
        <p:nvSpPr>
          <p:cNvPr id="59" name="Text 57">
            <a:extLst>
              <a:ext uri="{FF2B5EF4-FFF2-40B4-BE49-F238E27FC236}">
                <a16:creationId xmlns:a16="http://schemas.microsoft.com/office/drawing/2014/main" id="{955BC8CD-E764-4C10-8AC8-670D059159DF}"/>
              </a:ext>
            </a:extLst>
          </p:cNvPr>
          <p:cNvSpPr>
            <a:spLocks noGrp="1"/>
          </p:cNvSpPr>
          <p:nvPr/>
        </p:nvSpPr>
        <p:spPr>
          <a:xfrm>
            <a:off x="9116568" y="4952129"/>
            <a:ext cx="2377440" cy="515983"/>
          </a:xfrm>
          <a:prstGeom prst="rect">
            <a:avLst/>
          </a:prstGeom>
          <a:noFill/>
        </p:spPr>
        <p:txBody>
          <a:bodyPr wrap="square" lIns="0" tIns="0" rIns="0" bIns="0" anchor="ctr">
            <a:normAutofit/>
          </a:bodyPr>
          <a:lstStyle/>
          <a:p>
            <a:pPr marL="0" indent="0">
              <a:buNone/>
            </a:pPr>
            <a:r>
              <a:rPr sz="1220">
                <a:solidFill>
                  <a:srgbClr val="1A1E2A"/>
                </a:solidFill>
              </a:rPr>
              <a:t>Koşullu üretim</a:t>
            </a:r>
            <a:endParaRPr sz="1220"/>
          </a:p>
        </p:txBody>
      </p:sp>
      <p:sp>
        <p:nvSpPr>
          <p:cNvPr id="60" name="Text 58">
            <a:extLst>
              <a:ext uri="{FF2B5EF4-FFF2-40B4-BE49-F238E27FC236}">
                <a16:creationId xmlns:a16="http://schemas.microsoft.com/office/drawing/2014/main" id="{850C5711-0385-4C29-99E6-72050C7744D5}"/>
              </a:ext>
            </a:extLst>
          </p:cNvPr>
          <p:cNvSpPr>
            <a:spLocks noGrp="1"/>
          </p:cNvSpPr>
          <p:nvPr/>
        </p:nvSpPr>
        <p:spPr>
          <a:xfrm>
            <a:off x="777240" y="5687568"/>
            <a:ext cx="1965960" cy="228600"/>
          </a:xfrm>
          <a:prstGeom prst="rect">
            <a:avLst/>
          </a:prstGeom>
          <a:noFill/>
        </p:spPr>
        <p:txBody>
          <a:bodyPr wrap="square" lIns="0" tIns="0" rIns="0" bIns="0" anchor="ctr"/>
          <a:lstStyle/>
          <a:p>
            <a:pPr marL="0" indent="0">
              <a:buNone/>
            </a:pPr>
            <a:r>
              <a:rPr sz="1500" b="1">
                <a:solidFill>
                  <a:srgbClr val="172033"/>
                </a:solidFill>
              </a:rPr>
              <a:t>Twitter etiketi*</a:t>
            </a:r>
            <a:endParaRPr sz="1500"/>
          </a:p>
        </p:txBody>
      </p:sp>
      <p:sp>
        <p:nvSpPr>
          <p:cNvPr id="61" name="Text 59">
            <a:extLst>
              <a:ext uri="{FF2B5EF4-FFF2-40B4-BE49-F238E27FC236}">
                <a16:creationId xmlns:a16="http://schemas.microsoft.com/office/drawing/2014/main" id="{7E428D5A-151A-44A5-8F2C-A40C1DB4600C}"/>
              </a:ext>
            </a:extLst>
          </p:cNvPr>
          <p:cNvSpPr>
            <a:spLocks noGrp="1"/>
          </p:cNvSpPr>
          <p:nvPr/>
        </p:nvSpPr>
        <p:spPr>
          <a:xfrm>
            <a:off x="3246120" y="5687568"/>
            <a:ext cx="8001000" cy="320040"/>
          </a:xfrm>
          <a:prstGeom prst="rect">
            <a:avLst/>
          </a:prstGeom>
          <a:noFill/>
        </p:spPr>
        <p:txBody>
          <a:bodyPr wrap="square" lIns="0" tIns="0" rIns="0" bIns="0" anchor="ctr">
            <a:normAutofit/>
          </a:bodyPr>
          <a:lstStyle/>
          <a:p>
            <a:pPr marL="0" indent="0">
              <a:buNone/>
            </a:pPr>
            <a:r>
              <a:rPr sz="1420">
                <a:solidFill>
                  <a:srgbClr val="1A1E2A"/>
                </a:solidFill>
              </a:rPr>
              <a:t>Veri kartı üç sınıfı tanımlar; etiketleyici profili, uzmanlığı, uzlaşı ve adjudication süreci açıklanmaz.</a:t>
            </a:r>
            <a:endParaRPr sz="1420"/>
          </a:p>
        </p:txBody>
      </p:sp>
      <p:sp>
        <p:nvSpPr>
          <p:cNvPr id="62" name="Text 60">
            <a:extLst>
              <a:ext uri="{FF2B5EF4-FFF2-40B4-BE49-F238E27FC236}">
                <a16:creationId xmlns:a16="http://schemas.microsoft.com/office/drawing/2014/main" id="{336146A4-2422-4462-A3C2-B4104C4B2E3B}"/>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63" name="Text 61">
            <a:extLst>
              <a:ext uri="{FF2B5EF4-FFF2-40B4-BE49-F238E27FC236}">
                <a16:creationId xmlns:a16="http://schemas.microsoft.com/office/drawing/2014/main" id="{47E49C6C-5A1D-4A05-8401-4DE69A880026}"/>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9</a:t>
            </a:r>
            <a:endParaRPr sz="850"/>
          </a:p>
        </p:txBody>
      </p:sp>
      <p:sp>
        <p:nvSpPr>
          <p:cNvPr id="64" name="Shape 62">
            <a:extLst>
              <a:ext uri="{FF2B5EF4-FFF2-40B4-BE49-F238E27FC236}">
                <a16:creationId xmlns:a16="http://schemas.microsoft.com/office/drawing/2014/main" id="{3E00B93B-50AD-40F3-8E17-758FE7EEBDC8}"/>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371452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D9523D-96CB-4BF4-B5C2-ACC5DD12FD68}"/>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Macro-F1: baskın Neutral sınıfına karşı adil ölçüm</a:t>
            </a:r>
            <a:endParaRPr sz="3100"/>
          </a:p>
        </p:txBody>
      </p:sp>
      <p:sp>
        <p:nvSpPr>
          <p:cNvPr id="3" name="Text 1">
            <a:extLst>
              <a:ext uri="{FF2B5EF4-FFF2-40B4-BE49-F238E27FC236}">
                <a16:creationId xmlns:a16="http://schemas.microsoft.com/office/drawing/2014/main" id="{BD91F809-D0DA-422A-91FA-EBC68FE1D623}"/>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İç testin %64,9'u Neutral; accuracy tek başına yeterli değil.</a:t>
            </a:r>
            <a:endParaRPr sz="1450"/>
          </a:p>
        </p:txBody>
      </p:sp>
      <p:sp>
        <p:nvSpPr>
          <p:cNvPr id="4" name="Text 2">
            <a:extLst>
              <a:ext uri="{FF2B5EF4-FFF2-40B4-BE49-F238E27FC236}">
                <a16:creationId xmlns:a16="http://schemas.microsoft.com/office/drawing/2014/main" id="{02A0642A-63E8-45CE-93E8-1707F6B55F55}"/>
              </a:ext>
            </a:extLst>
          </p:cNvPr>
          <p:cNvSpPr>
            <a:spLocks noGrp="1"/>
          </p:cNvSpPr>
          <p:nvPr/>
        </p:nvSpPr>
        <p:spPr>
          <a:xfrm>
            <a:off x="822960" y="1371600"/>
            <a:ext cx="1828800" cy="228600"/>
          </a:xfrm>
          <a:prstGeom prst="rect">
            <a:avLst/>
          </a:prstGeom>
          <a:noFill/>
        </p:spPr>
        <p:txBody>
          <a:bodyPr wrap="square" lIns="0" tIns="0" rIns="0" bIns="0" anchor="ctr"/>
          <a:lstStyle/>
          <a:p>
            <a:pPr marL="0" indent="0">
              <a:buNone/>
            </a:pPr>
            <a:r>
              <a:rPr sz="1700" b="1">
                <a:solidFill>
                  <a:srgbClr val="172033"/>
                </a:solidFill>
              </a:rPr>
              <a:t>Sınıflar</a:t>
            </a:r>
            <a:endParaRPr sz="1700"/>
          </a:p>
        </p:txBody>
      </p:sp>
      <p:sp>
        <p:nvSpPr>
          <p:cNvPr id="5" name="Shape 3">
            <a:extLst>
              <a:ext uri="{FF2B5EF4-FFF2-40B4-BE49-F238E27FC236}">
                <a16:creationId xmlns:a16="http://schemas.microsoft.com/office/drawing/2014/main" id="{83AA8370-B44D-428D-9C94-6FA5ECA5CE3A}"/>
              </a:ext>
            </a:extLst>
          </p:cNvPr>
          <p:cNvSpPr>
            <a:spLocks noGrp="1"/>
          </p:cNvSpPr>
          <p:nvPr/>
        </p:nvSpPr>
        <p:spPr>
          <a:xfrm>
            <a:off x="822960" y="1828800"/>
            <a:ext cx="1508760" cy="502920"/>
          </a:xfrm>
          <a:prstGeom prst="roundRect">
            <a:avLst>
              <a:gd name="adj" fmla="val 14545"/>
            </a:avLst>
          </a:prstGeom>
          <a:solidFill>
            <a:srgbClr val="D64545"/>
          </a:solidFill>
          <a:ln w="12700">
            <a:solidFill>
              <a:srgbClr val="D64545"/>
            </a:solidFill>
            <a:prstDash val="solid"/>
          </a:ln>
        </p:spPr>
      </p:sp>
      <p:sp>
        <p:nvSpPr>
          <p:cNvPr id="6" name="Text 4">
            <a:extLst>
              <a:ext uri="{FF2B5EF4-FFF2-40B4-BE49-F238E27FC236}">
                <a16:creationId xmlns:a16="http://schemas.microsoft.com/office/drawing/2014/main" id="{B39F13AF-4203-4ACD-A8B0-1B28FCDCABA6}"/>
              </a:ext>
            </a:extLst>
          </p:cNvPr>
          <p:cNvSpPr>
            <a:spLocks noGrp="1"/>
          </p:cNvSpPr>
          <p:nvPr/>
        </p:nvSpPr>
        <p:spPr>
          <a:xfrm>
            <a:off x="822960" y="1975104"/>
            <a:ext cx="1508760" cy="182880"/>
          </a:xfrm>
          <a:prstGeom prst="rect">
            <a:avLst/>
          </a:prstGeom>
          <a:noFill/>
        </p:spPr>
        <p:txBody>
          <a:bodyPr wrap="square" lIns="0" tIns="0" rIns="0" bIns="0" anchor="ctr"/>
          <a:lstStyle/>
          <a:p>
            <a:pPr marL="0" indent="0" algn="ctr">
              <a:buNone/>
            </a:pPr>
            <a:r>
              <a:rPr sz="1400" b="1">
                <a:solidFill>
                  <a:srgbClr val="FFFFFF"/>
                </a:solidFill>
              </a:rPr>
              <a:t>Negative</a:t>
            </a:r>
            <a:endParaRPr sz="1400"/>
          </a:p>
        </p:txBody>
      </p:sp>
      <p:sp>
        <p:nvSpPr>
          <p:cNvPr id="7" name="Shape 5">
            <a:extLst>
              <a:ext uri="{FF2B5EF4-FFF2-40B4-BE49-F238E27FC236}">
                <a16:creationId xmlns:a16="http://schemas.microsoft.com/office/drawing/2014/main" id="{3E7D3D62-5C68-4E3F-A3BD-C5311E1D3123}"/>
              </a:ext>
            </a:extLst>
          </p:cNvPr>
          <p:cNvSpPr>
            <a:spLocks noGrp="1"/>
          </p:cNvSpPr>
          <p:nvPr/>
        </p:nvSpPr>
        <p:spPr>
          <a:xfrm>
            <a:off x="2697480" y="1828800"/>
            <a:ext cx="1508760" cy="502920"/>
          </a:xfrm>
          <a:prstGeom prst="roundRect">
            <a:avLst>
              <a:gd name="adj" fmla="val 14545"/>
            </a:avLst>
          </a:prstGeom>
          <a:solidFill>
            <a:srgbClr val="F4A62A"/>
          </a:solidFill>
          <a:ln w="12700">
            <a:solidFill>
              <a:srgbClr val="F4A62A"/>
            </a:solidFill>
            <a:prstDash val="solid"/>
          </a:ln>
        </p:spPr>
      </p:sp>
      <p:sp>
        <p:nvSpPr>
          <p:cNvPr id="8" name="Text 6">
            <a:extLst>
              <a:ext uri="{FF2B5EF4-FFF2-40B4-BE49-F238E27FC236}">
                <a16:creationId xmlns:a16="http://schemas.microsoft.com/office/drawing/2014/main" id="{209DB793-A086-4828-98F5-34A6AF072D0A}"/>
              </a:ext>
            </a:extLst>
          </p:cNvPr>
          <p:cNvSpPr>
            <a:spLocks noGrp="1"/>
          </p:cNvSpPr>
          <p:nvPr/>
        </p:nvSpPr>
        <p:spPr>
          <a:xfrm>
            <a:off x="2697480" y="1975104"/>
            <a:ext cx="1508760" cy="182880"/>
          </a:xfrm>
          <a:prstGeom prst="rect">
            <a:avLst/>
          </a:prstGeom>
          <a:noFill/>
        </p:spPr>
        <p:txBody>
          <a:bodyPr wrap="square" lIns="0" tIns="0" rIns="0" bIns="0" anchor="ctr"/>
          <a:lstStyle/>
          <a:p>
            <a:pPr marL="0" indent="0" algn="ctr">
              <a:buNone/>
            </a:pPr>
            <a:r>
              <a:rPr sz="1400" b="1">
                <a:solidFill>
                  <a:srgbClr val="FFFFFF"/>
                </a:solidFill>
              </a:rPr>
              <a:t>Neutral</a:t>
            </a:r>
            <a:endParaRPr sz="1400"/>
          </a:p>
        </p:txBody>
      </p:sp>
      <p:sp>
        <p:nvSpPr>
          <p:cNvPr id="9" name="Shape 7">
            <a:extLst>
              <a:ext uri="{FF2B5EF4-FFF2-40B4-BE49-F238E27FC236}">
                <a16:creationId xmlns:a16="http://schemas.microsoft.com/office/drawing/2014/main" id="{BC654793-413F-47A1-8012-F626E4C147B1}"/>
              </a:ext>
            </a:extLst>
          </p:cNvPr>
          <p:cNvSpPr>
            <a:spLocks noGrp="1"/>
          </p:cNvSpPr>
          <p:nvPr/>
        </p:nvSpPr>
        <p:spPr>
          <a:xfrm>
            <a:off x="4572000" y="1828800"/>
            <a:ext cx="1508760" cy="502920"/>
          </a:xfrm>
          <a:prstGeom prst="roundRect">
            <a:avLst>
              <a:gd name="adj" fmla="val 14545"/>
            </a:avLst>
          </a:prstGeom>
          <a:solidFill>
            <a:srgbClr val="1C8B5A"/>
          </a:solidFill>
          <a:ln w="12700">
            <a:solidFill>
              <a:srgbClr val="1C8B5A"/>
            </a:solidFill>
            <a:prstDash val="solid"/>
          </a:ln>
        </p:spPr>
      </p:sp>
      <p:sp>
        <p:nvSpPr>
          <p:cNvPr id="10" name="Text 8">
            <a:extLst>
              <a:ext uri="{FF2B5EF4-FFF2-40B4-BE49-F238E27FC236}">
                <a16:creationId xmlns:a16="http://schemas.microsoft.com/office/drawing/2014/main" id="{AC6EC9F2-9E13-4DDD-8B72-A3F7B6F64AEB}"/>
              </a:ext>
            </a:extLst>
          </p:cNvPr>
          <p:cNvSpPr>
            <a:spLocks noGrp="1"/>
          </p:cNvSpPr>
          <p:nvPr/>
        </p:nvSpPr>
        <p:spPr>
          <a:xfrm>
            <a:off x="4572000" y="1975104"/>
            <a:ext cx="1508760" cy="182880"/>
          </a:xfrm>
          <a:prstGeom prst="rect">
            <a:avLst/>
          </a:prstGeom>
          <a:noFill/>
        </p:spPr>
        <p:txBody>
          <a:bodyPr wrap="square" lIns="0" tIns="0" rIns="0" bIns="0" anchor="ctr"/>
          <a:lstStyle/>
          <a:p>
            <a:pPr marL="0" indent="0" algn="ctr">
              <a:buNone/>
            </a:pPr>
            <a:r>
              <a:rPr sz="1400" b="1">
                <a:solidFill>
                  <a:srgbClr val="FFFFFF"/>
                </a:solidFill>
              </a:rPr>
              <a:t>Positive</a:t>
            </a:r>
            <a:endParaRPr sz="1400"/>
          </a:p>
        </p:txBody>
      </p:sp>
      <p:sp>
        <p:nvSpPr>
          <p:cNvPr id="11" name="Text 9">
            <a:extLst>
              <a:ext uri="{FF2B5EF4-FFF2-40B4-BE49-F238E27FC236}">
                <a16:creationId xmlns:a16="http://schemas.microsoft.com/office/drawing/2014/main" id="{8140ECBA-7808-4AFD-933E-A66DA53CF3EC}"/>
              </a:ext>
            </a:extLst>
          </p:cNvPr>
          <p:cNvSpPr>
            <a:spLocks noGrp="1"/>
          </p:cNvSpPr>
          <p:nvPr/>
        </p:nvSpPr>
        <p:spPr>
          <a:xfrm>
            <a:off x="822960" y="2926080"/>
            <a:ext cx="2743200" cy="228600"/>
          </a:xfrm>
          <a:prstGeom prst="rect">
            <a:avLst/>
          </a:prstGeom>
          <a:noFill/>
        </p:spPr>
        <p:txBody>
          <a:bodyPr wrap="square" lIns="0" tIns="0" rIns="0" bIns="0" anchor="ctr"/>
          <a:lstStyle/>
          <a:p>
            <a:pPr marL="0" indent="0">
              <a:buNone/>
            </a:pPr>
            <a:r>
              <a:rPr sz="1700" b="1">
                <a:solidFill>
                  <a:srgbClr val="172033"/>
                </a:solidFill>
              </a:rPr>
              <a:t>İç test dağılımı</a:t>
            </a:r>
            <a:endParaRPr sz="1700"/>
          </a:p>
        </p:txBody>
      </p:sp>
      <p:sp>
        <p:nvSpPr>
          <p:cNvPr id="12" name="Text 10">
            <a:extLst>
              <a:ext uri="{FF2B5EF4-FFF2-40B4-BE49-F238E27FC236}">
                <a16:creationId xmlns:a16="http://schemas.microsoft.com/office/drawing/2014/main" id="{D323C210-5EA7-4721-88EF-8DF488B053E7}"/>
              </a:ext>
            </a:extLst>
          </p:cNvPr>
          <p:cNvSpPr>
            <a:spLocks noGrp="1"/>
          </p:cNvSpPr>
          <p:nvPr/>
        </p:nvSpPr>
        <p:spPr>
          <a:xfrm>
            <a:off x="822960" y="3337560"/>
            <a:ext cx="4937760" cy="731520"/>
          </a:xfrm>
          <a:prstGeom prst="rect">
            <a:avLst/>
          </a:prstGeom>
          <a:noFill/>
        </p:spPr>
        <p:txBody>
          <a:bodyPr wrap="square" lIns="381" tIns="381" rIns="381" bIns="381" anchor="ctr">
            <a:normAutofit/>
          </a:bodyPr>
          <a:lstStyle/>
          <a:p>
            <a:pPr marL="0" indent="0">
              <a:buNone/>
            </a:pPr>
            <a:r>
              <a:rPr sz="1700">
                <a:solidFill>
                  <a:srgbClr val="1A1E2A"/>
                </a:solidFill>
              </a:rPr>
              <a:t>358 Negative • 1.549 Neutral • 479 Positive</a:t>
            </a:r>
            <a:endParaRPr sz="1700"/>
          </a:p>
        </p:txBody>
      </p:sp>
      <p:sp>
        <p:nvSpPr>
          <p:cNvPr id="13" name="Text 11">
            <a:extLst>
              <a:ext uri="{FF2B5EF4-FFF2-40B4-BE49-F238E27FC236}">
                <a16:creationId xmlns:a16="http://schemas.microsoft.com/office/drawing/2014/main" id="{B0D4A2EF-14E3-4DC0-B64A-EC8628B85813}"/>
              </a:ext>
            </a:extLst>
          </p:cNvPr>
          <p:cNvSpPr>
            <a:spLocks noGrp="1"/>
          </p:cNvSpPr>
          <p:nvPr/>
        </p:nvSpPr>
        <p:spPr>
          <a:xfrm>
            <a:off x="6629400" y="1371600"/>
            <a:ext cx="2926080" cy="228600"/>
          </a:xfrm>
          <a:prstGeom prst="rect">
            <a:avLst/>
          </a:prstGeom>
          <a:noFill/>
        </p:spPr>
        <p:txBody>
          <a:bodyPr wrap="square" lIns="0" tIns="0" rIns="0" bIns="0" anchor="ctr"/>
          <a:lstStyle/>
          <a:p>
            <a:pPr marL="0" indent="0">
              <a:buNone/>
            </a:pPr>
            <a:r>
              <a:rPr sz="1700" b="1">
                <a:solidFill>
                  <a:srgbClr val="172033"/>
                </a:solidFill>
              </a:rPr>
              <a:t>F1 ve Macro-F1</a:t>
            </a:r>
            <a:endParaRPr sz="1700"/>
          </a:p>
        </p:txBody>
      </p:sp>
      <p:sp>
        <p:nvSpPr>
          <p:cNvPr id="14" name="Text 12">
            <a:extLst>
              <a:ext uri="{FF2B5EF4-FFF2-40B4-BE49-F238E27FC236}">
                <a16:creationId xmlns:a16="http://schemas.microsoft.com/office/drawing/2014/main" id="{75E9EE71-8716-4F9E-A9D8-8E31D54FEB63}"/>
              </a:ext>
            </a:extLst>
          </p:cNvPr>
          <p:cNvSpPr>
            <a:spLocks noGrp="1"/>
          </p:cNvSpPr>
          <p:nvPr/>
        </p:nvSpPr>
        <p:spPr>
          <a:xfrm>
            <a:off x="6629400" y="1810512"/>
            <a:ext cx="4343400" cy="1828800"/>
          </a:xfrm>
          <a:prstGeom prst="rect">
            <a:avLst/>
          </a:prstGeom>
          <a:noFill/>
        </p:spPr>
        <p:txBody>
          <a:bodyPr wrap="square" lIns="635" tIns="635" rIns="635" bIns="635" anchor="ctr">
            <a:normAutofit/>
          </a:bodyPr>
          <a:lstStyle/>
          <a:p>
            <a:r>
              <a:rPr sz="1620">
                <a:solidFill>
                  <a:srgbClr val="1A1E2A"/>
                </a:solidFill>
              </a:rPr>
              <a:t>Precision = TP / (TP + FP)</a:t>
            </a:r>
            <a:endParaRPr sz="1620"/>
          </a:p>
          <a:p>
            <a:r>
              <a:rPr sz="1620">
                <a:solidFill>
                  <a:srgbClr val="1A1E2A"/>
                </a:solidFill>
              </a:rPr>
              <a:t>Recall = TP / (TP + FN)</a:t>
            </a:r>
            <a:endParaRPr sz="1620"/>
          </a:p>
          <a:p>
            <a:r>
              <a:rPr sz="1620">
                <a:solidFill>
                  <a:srgbClr val="1A1E2A"/>
                </a:solidFill>
              </a:rPr>
              <a:t>F1 = 2PR / (P + R)</a:t>
            </a:r>
            <a:endParaRPr sz="1620"/>
          </a:p>
          <a:p>
            <a:r>
              <a:rPr sz="1620">
                <a:solidFill>
                  <a:srgbClr val="1A1E2A"/>
                </a:solidFill>
              </a:rPr>
              <a:t>Macro-F1 = (F1neg + F1neu + F1pos) / 3</a:t>
            </a:r>
            <a:endParaRPr sz="1620"/>
          </a:p>
        </p:txBody>
      </p:sp>
      <p:sp>
        <p:nvSpPr>
          <p:cNvPr id="15" name="Shape 13">
            <a:extLst>
              <a:ext uri="{FF2B5EF4-FFF2-40B4-BE49-F238E27FC236}">
                <a16:creationId xmlns:a16="http://schemas.microsoft.com/office/drawing/2014/main" id="{1AF95697-FC04-4D02-97C5-8ADAAB71E03C}"/>
              </a:ext>
            </a:extLst>
          </p:cNvPr>
          <p:cNvSpPr>
            <a:spLocks noGrp="1"/>
          </p:cNvSpPr>
          <p:nvPr/>
        </p:nvSpPr>
        <p:spPr>
          <a:xfrm>
            <a:off x="6629400" y="4206240"/>
            <a:ext cx="4114800" cy="640080"/>
          </a:xfrm>
          <a:prstGeom prst="roundRect">
            <a:avLst>
              <a:gd name="adj" fmla="val 11429"/>
            </a:avLst>
          </a:prstGeom>
          <a:solidFill>
            <a:srgbClr val="F0FAF8"/>
          </a:solidFill>
          <a:ln w="15240">
            <a:solidFill>
              <a:srgbClr val="3867D6"/>
            </a:solidFill>
            <a:prstDash val="solid"/>
          </a:ln>
        </p:spPr>
      </p:sp>
      <p:sp>
        <p:nvSpPr>
          <p:cNvPr id="16" name="Text 14">
            <a:extLst>
              <a:ext uri="{FF2B5EF4-FFF2-40B4-BE49-F238E27FC236}">
                <a16:creationId xmlns:a16="http://schemas.microsoft.com/office/drawing/2014/main" id="{3759E403-B7B1-4171-9C3C-7BCD833591B6}"/>
              </a:ext>
            </a:extLst>
          </p:cNvPr>
          <p:cNvSpPr>
            <a:spLocks noGrp="1"/>
          </p:cNvSpPr>
          <p:nvPr/>
        </p:nvSpPr>
        <p:spPr>
          <a:xfrm>
            <a:off x="6793992" y="4352544"/>
            <a:ext cx="3785616" cy="411480"/>
          </a:xfrm>
          <a:prstGeom prst="rect">
            <a:avLst/>
          </a:prstGeom>
          <a:noFill/>
        </p:spPr>
        <p:txBody>
          <a:bodyPr wrap="square" lIns="254" tIns="254" rIns="254" bIns="254" anchor="ctr">
            <a:normAutofit fontScale="89889"/>
          </a:bodyPr>
          <a:lstStyle/>
          <a:p>
            <a:pPr marL="0" indent="0">
              <a:buNone/>
            </a:pPr>
            <a:r>
              <a:rPr sz="1500" b="1">
                <a:solidFill>
                  <a:srgbClr val="172033"/>
                </a:solidFill>
              </a:rPr>
              <a:t>Her sınıf eşit ağırlıkta: büyük Neutral sınıfı sonucu domine etmez.</a:t>
            </a:r>
            <a:endParaRPr sz="1500"/>
          </a:p>
        </p:txBody>
      </p:sp>
      <p:sp>
        <p:nvSpPr>
          <p:cNvPr id="17" name="Text 15">
            <a:extLst>
              <a:ext uri="{FF2B5EF4-FFF2-40B4-BE49-F238E27FC236}">
                <a16:creationId xmlns:a16="http://schemas.microsoft.com/office/drawing/2014/main" id="{0F456F0C-8195-418F-AFD0-F6D82F6BC8B2}"/>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8" name="Text 16">
            <a:extLst>
              <a:ext uri="{FF2B5EF4-FFF2-40B4-BE49-F238E27FC236}">
                <a16:creationId xmlns:a16="http://schemas.microsoft.com/office/drawing/2014/main" id="{A567F1D2-EF5D-497A-AE2B-E4D930B5F1E4}"/>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10</a:t>
            </a:r>
            <a:endParaRPr sz="850"/>
          </a:p>
        </p:txBody>
      </p:sp>
      <p:sp>
        <p:nvSpPr>
          <p:cNvPr id="19" name="Shape 17">
            <a:extLst>
              <a:ext uri="{FF2B5EF4-FFF2-40B4-BE49-F238E27FC236}">
                <a16:creationId xmlns:a16="http://schemas.microsoft.com/office/drawing/2014/main" id="{D9C13935-FBC0-49F6-95AF-77C6278D3880}"/>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965957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9A86DF-4E8D-426B-8587-44F78FB68860}"/>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Deneysel akış: her aşama farklı bir soruyu sınadı</a:t>
            </a:r>
            <a:endParaRPr sz="3100"/>
          </a:p>
        </p:txBody>
      </p:sp>
      <p:sp>
        <p:nvSpPr>
          <p:cNvPr id="3" name="Text 1">
            <a:extLst>
              <a:ext uri="{FF2B5EF4-FFF2-40B4-BE49-F238E27FC236}">
                <a16:creationId xmlns:a16="http://schemas.microsoft.com/office/drawing/2014/main" id="{041A47D9-9E45-4033-9679-69EEBCF9DEBE}"/>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Baseline'dan genellemeye uzanan kontrollü karşılaştırma.</a:t>
            </a:r>
            <a:endParaRPr sz="1450"/>
          </a:p>
        </p:txBody>
      </p:sp>
      <p:sp>
        <p:nvSpPr>
          <p:cNvPr id="4" name="Shape 2">
            <a:extLst>
              <a:ext uri="{FF2B5EF4-FFF2-40B4-BE49-F238E27FC236}">
                <a16:creationId xmlns:a16="http://schemas.microsoft.com/office/drawing/2014/main" id="{5D4ABC9C-199F-4811-8AB9-74A35C30035D}"/>
              </a:ext>
            </a:extLst>
          </p:cNvPr>
          <p:cNvSpPr>
            <a:spLocks noGrp="1"/>
          </p:cNvSpPr>
          <p:nvPr/>
        </p:nvSpPr>
        <p:spPr>
          <a:xfrm>
            <a:off x="731520" y="1874520"/>
            <a:ext cx="1600200" cy="1097280"/>
          </a:xfrm>
          <a:prstGeom prst="roundRect">
            <a:avLst>
              <a:gd name="adj" fmla="val 6667"/>
            </a:avLst>
          </a:prstGeom>
          <a:solidFill>
            <a:srgbClr val="EEF3FF"/>
          </a:solidFill>
          <a:ln w="15240">
            <a:solidFill>
              <a:srgbClr val="3867D6"/>
            </a:solidFill>
            <a:prstDash val="solid"/>
          </a:ln>
        </p:spPr>
      </p:sp>
      <p:sp>
        <p:nvSpPr>
          <p:cNvPr id="5" name="Text 3">
            <a:extLst>
              <a:ext uri="{FF2B5EF4-FFF2-40B4-BE49-F238E27FC236}">
                <a16:creationId xmlns:a16="http://schemas.microsoft.com/office/drawing/2014/main" id="{49F43CF5-9170-461C-AF09-DCAF153E508A}"/>
              </a:ext>
            </a:extLst>
          </p:cNvPr>
          <p:cNvSpPr>
            <a:spLocks noGrp="1"/>
          </p:cNvSpPr>
          <p:nvPr/>
        </p:nvSpPr>
        <p:spPr>
          <a:xfrm>
            <a:off x="822960" y="2130552"/>
            <a:ext cx="1417320" cy="502920"/>
          </a:xfrm>
          <a:prstGeom prst="rect">
            <a:avLst/>
          </a:prstGeom>
          <a:noFill/>
        </p:spPr>
        <p:txBody>
          <a:bodyPr wrap="square" lIns="254" tIns="254" rIns="254" bIns="254" anchor="ctr">
            <a:normAutofit fontScale="87911" lnSpcReduction="10000"/>
          </a:bodyPr>
          <a:lstStyle/>
          <a:p>
            <a:pPr marL="0" indent="0" algn="ctr">
              <a:buNone/>
            </a:pPr>
            <a:r>
              <a:rPr sz="1250" b="1">
                <a:solidFill>
                  <a:srgbClr val="172033"/>
                </a:solidFill>
              </a:rPr>
              <a:t>Ana veri</a:t>
            </a:r>
            <a:endParaRPr sz="1250"/>
          </a:p>
          <a:p>
            <a:pPr marL="0" indent="0" algn="ctr">
              <a:buNone/>
            </a:pPr>
            <a:r>
              <a:rPr sz="1250" b="1">
                <a:solidFill>
                  <a:srgbClr val="172033"/>
                </a:solidFill>
              </a:rPr>
              <a:t>Twitter + yardımcı PhraseBank</a:t>
            </a:r>
            <a:endParaRPr sz="1250"/>
          </a:p>
        </p:txBody>
      </p:sp>
      <p:sp>
        <p:nvSpPr>
          <p:cNvPr id="6" name="Shape 4">
            <a:extLst>
              <a:ext uri="{FF2B5EF4-FFF2-40B4-BE49-F238E27FC236}">
                <a16:creationId xmlns:a16="http://schemas.microsoft.com/office/drawing/2014/main" id="{F285898A-EB99-42DF-B6ED-DCAFC83C7FD1}"/>
              </a:ext>
            </a:extLst>
          </p:cNvPr>
          <p:cNvSpPr>
            <a:spLocks noGrp="1"/>
          </p:cNvSpPr>
          <p:nvPr/>
        </p:nvSpPr>
        <p:spPr>
          <a:xfrm>
            <a:off x="2359152" y="2240280"/>
            <a:ext cx="292608" cy="320040"/>
          </a:xfrm>
          <a:prstGeom prst="chevron">
            <a:avLst/>
          </a:prstGeom>
          <a:solidFill>
            <a:srgbClr val="DDE3EF"/>
          </a:solidFill>
          <a:ln w="12700">
            <a:solidFill>
              <a:srgbClr val="DDE3EF"/>
            </a:solidFill>
            <a:prstDash val="solid"/>
          </a:ln>
        </p:spPr>
      </p:sp>
      <p:sp>
        <p:nvSpPr>
          <p:cNvPr id="7" name="Shape 5">
            <a:extLst>
              <a:ext uri="{FF2B5EF4-FFF2-40B4-BE49-F238E27FC236}">
                <a16:creationId xmlns:a16="http://schemas.microsoft.com/office/drawing/2014/main" id="{5BBBC72F-C9E2-4886-A3E1-CE7007231455}"/>
              </a:ext>
            </a:extLst>
          </p:cNvPr>
          <p:cNvSpPr>
            <a:spLocks noGrp="1"/>
          </p:cNvSpPr>
          <p:nvPr/>
        </p:nvSpPr>
        <p:spPr>
          <a:xfrm>
            <a:off x="2971800" y="1874520"/>
            <a:ext cx="1600200" cy="1097280"/>
          </a:xfrm>
          <a:prstGeom prst="roundRect">
            <a:avLst>
              <a:gd name="adj" fmla="val 6667"/>
            </a:avLst>
          </a:prstGeom>
          <a:solidFill>
            <a:srgbClr val="EAF9F6"/>
          </a:solidFill>
          <a:ln w="15240">
            <a:solidFill>
              <a:srgbClr val="0F9D8F"/>
            </a:solidFill>
            <a:prstDash val="solid"/>
          </a:ln>
        </p:spPr>
      </p:sp>
      <p:sp>
        <p:nvSpPr>
          <p:cNvPr id="8" name="Text 6">
            <a:extLst>
              <a:ext uri="{FF2B5EF4-FFF2-40B4-BE49-F238E27FC236}">
                <a16:creationId xmlns:a16="http://schemas.microsoft.com/office/drawing/2014/main" id="{83F58322-CC16-48D0-8DB7-494DA1F01DD9}"/>
              </a:ext>
            </a:extLst>
          </p:cNvPr>
          <p:cNvSpPr>
            <a:spLocks noGrp="1"/>
          </p:cNvSpPr>
          <p:nvPr/>
        </p:nvSpPr>
        <p:spPr>
          <a:xfrm>
            <a:off x="3063240" y="2130552"/>
            <a:ext cx="1417320" cy="502920"/>
          </a:xfrm>
          <a:prstGeom prst="rect">
            <a:avLst/>
          </a:prstGeom>
          <a:noFill/>
        </p:spPr>
        <p:txBody>
          <a:bodyPr wrap="square" lIns="254" tIns="254" rIns="254" bIns="254" anchor="ctr">
            <a:normAutofit/>
          </a:bodyPr>
          <a:lstStyle/>
          <a:p>
            <a:pPr marL="0" indent="0" algn="ctr">
              <a:buNone/>
            </a:pPr>
            <a:r>
              <a:rPr sz="1250" b="1">
                <a:solidFill>
                  <a:srgbClr val="172033"/>
                </a:solidFill>
              </a:rPr>
              <a:t>Aynı görevde</a:t>
            </a:r>
            <a:endParaRPr sz="1250"/>
          </a:p>
          <a:p>
            <a:pPr marL="0" indent="0" algn="ctr">
              <a:buNone/>
            </a:pPr>
            <a:r>
              <a:rPr sz="1250" b="1">
                <a:solidFill>
                  <a:srgbClr val="172033"/>
                </a:solidFill>
              </a:rPr>
              <a:t>4 model</a:t>
            </a:r>
            <a:endParaRPr sz="1250"/>
          </a:p>
        </p:txBody>
      </p:sp>
      <p:sp>
        <p:nvSpPr>
          <p:cNvPr id="9" name="Shape 7">
            <a:extLst>
              <a:ext uri="{FF2B5EF4-FFF2-40B4-BE49-F238E27FC236}">
                <a16:creationId xmlns:a16="http://schemas.microsoft.com/office/drawing/2014/main" id="{09A85A0E-4DF2-4855-AAFC-3BEED9C30AB6}"/>
              </a:ext>
            </a:extLst>
          </p:cNvPr>
          <p:cNvSpPr>
            <a:spLocks noGrp="1"/>
          </p:cNvSpPr>
          <p:nvPr/>
        </p:nvSpPr>
        <p:spPr>
          <a:xfrm>
            <a:off x="4599432" y="2240280"/>
            <a:ext cx="292608" cy="320040"/>
          </a:xfrm>
          <a:prstGeom prst="chevron">
            <a:avLst/>
          </a:prstGeom>
          <a:solidFill>
            <a:srgbClr val="DDE3EF"/>
          </a:solidFill>
          <a:ln w="12700">
            <a:solidFill>
              <a:srgbClr val="DDE3EF"/>
            </a:solidFill>
            <a:prstDash val="solid"/>
          </a:ln>
        </p:spPr>
      </p:sp>
      <p:sp>
        <p:nvSpPr>
          <p:cNvPr id="10" name="Shape 8">
            <a:extLst>
              <a:ext uri="{FF2B5EF4-FFF2-40B4-BE49-F238E27FC236}">
                <a16:creationId xmlns:a16="http://schemas.microsoft.com/office/drawing/2014/main" id="{783B3E6E-269D-43C6-ADE6-56E9DC6D26DE}"/>
              </a:ext>
            </a:extLst>
          </p:cNvPr>
          <p:cNvSpPr>
            <a:spLocks noGrp="1"/>
          </p:cNvSpPr>
          <p:nvPr/>
        </p:nvSpPr>
        <p:spPr>
          <a:xfrm>
            <a:off x="5349240" y="1874520"/>
            <a:ext cx="1600200" cy="1097280"/>
          </a:xfrm>
          <a:prstGeom prst="roundRect">
            <a:avLst>
              <a:gd name="adj" fmla="val 6667"/>
            </a:avLst>
          </a:prstGeom>
          <a:solidFill>
            <a:srgbClr val="FFF5E7"/>
          </a:solidFill>
          <a:ln w="15240">
            <a:solidFill>
              <a:srgbClr val="F4A62A"/>
            </a:solidFill>
            <a:prstDash val="solid"/>
          </a:ln>
        </p:spPr>
      </p:sp>
      <p:sp>
        <p:nvSpPr>
          <p:cNvPr id="11" name="Text 9">
            <a:extLst>
              <a:ext uri="{FF2B5EF4-FFF2-40B4-BE49-F238E27FC236}">
                <a16:creationId xmlns:a16="http://schemas.microsoft.com/office/drawing/2014/main" id="{584AA40A-49EA-4011-A097-303FB08E4AA7}"/>
              </a:ext>
            </a:extLst>
          </p:cNvPr>
          <p:cNvSpPr>
            <a:spLocks noGrp="1"/>
          </p:cNvSpPr>
          <p:nvPr/>
        </p:nvSpPr>
        <p:spPr>
          <a:xfrm>
            <a:off x="5440680" y="2130552"/>
            <a:ext cx="1417320" cy="502920"/>
          </a:xfrm>
          <a:prstGeom prst="rect">
            <a:avLst/>
          </a:prstGeom>
          <a:noFill/>
        </p:spPr>
        <p:txBody>
          <a:bodyPr wrap="square" lIns="254" tIns="254" rIns="254" bIns="254" anchor="ctr">
            <a:normAutofit/>
          </a:bodyPr>
          <a:lstStyle/>
          <a:p>
            <a:pPr marL="0" indent="0" algn="ctr">
              <a:buNone/>
            </a:pPr>
            <a:r>
              <a:rPr sz="1250" b="1">
                <a:solidFill>
                  <a:srgbClr val="172033"/>
                </a:solidFill>
              </a:rPr>
              <a:t>İç test</a:t>
            </a:r>
            <a:endParaRPr sz="1250"/>
          </a:p>
          <a:p>
            <a:pPr marL="0" indent="0" algn="ctr">
              <a:buNone/>
            </a:pPr>
            <a:r>
              <a:rPr sz="1250" b="1">
                <a:solidFill>
                  <a:srgbClr val="172033"/>
                </a:solidFill>
              </a:rPr>
              <a:t>2.386 örnek</a:t>
            </a:r>
            <a:endParaRPr sz="1250"/>
          </a:p>
        </p:txBody>
      </p:sp>
      <p:sp>
        <p:nvSpPr>
          <p:cNvPr id="12" name="Shape 10">
            <a:extLst>
              <a:ext uri="{FF2B5EF4-FFF2-40B4-BE49-F238E27FC236}">
                <a16:creationId xmlns:a16="http://schemas.microsoft.com/office/drawing/2014/main" id="{70403004-512B-444C-870C-C6350901C089}"/>
              </a:ext>
            </a:extLst>
          </p:cNvPr>
          <p:cNvSpPr>
            <a:spLocks noGrp="1"/>
          </p:cNvSpPr>
          <p:nvPr/>
        </p:nvSpPr>
        <p:spPr>
          <a:xfrm>
            <a:off x="6976872" y="2240280"/>
            <a:ext cx="292608" cy="320040"/>
          </a:xfrm>
          <a:prstGeom prst="chevron">
            <a:avLst/>
          </a:prstGeom>
          <a:solidFill>
            <a:srgbClr val="DDE3EF"/>
          </a:solidFill>
          <a:ln w="12700">
            <a:solidFill>
              <a:srgbClr val="DDE3EF"/>
            </a:solidFill>
            <a:prstDash val="solid"/>
          </a:ln>
        </p:spPr>
      </p:sp>
      <p:sp>
        <p:nvSpPr>
          <p:cNvPr id="13" name="Shape 11">
            <a:extLst>
              <a:ext uri="{FF2B5EF4-FFF2-40B4-BE49-F238E27FC236}">
                <a16:creationId xmlns:a16="http://schemas.microsoft.com/office/drawing/2014/main" id="{12364309-30E4-4181-A301-4C9494ED1B3E}"/>
              </a:ext>
            </a:extLst>
          </p:cNvPr>
          <p:cNvSpPr>
            <a:spLocks noGrp="1"/>
          </p:cNvSpPr>
          <p:nvPr/>
        </p:nvSpPr>
        <p:spPr>
          <a:xfrm>
            <a:off x="7726680" y="1874520"/>
            <a:ext cx="1600200" cy="1097280"/>
          </a:xfrm>
          <a:prstGeom prst="roundRect">
            <a:avLst>
              <a:gd name="adj" fmla="val 6667"/>
            </a:avLst>
          </a:prstGeom>
          <a:solidFill>
            <a:srgbClr val="FFF0F0"/>
          </a:solidFill>
          <a:ln w="15240">
            <a:solidFill>
              <a:srgbClr val="D64545"/>
            </a:solidFill>
            <a:prstDash val="solid"/>
          </a:ln>
        </p:spPr>
      </p:sp>
      <p:sp>
        <p:nvSpPr>
          <p:cNvPr id="14" name="Text 12">
            <a:extLst>
              <a:ext uri="{FF2B5EF4-FFF2-40B4-BE49-F238E27FC236}">
                <a16:creationId xmlns:a16="http://schemas.microsoft.com/office/drawing/2014/main" id="{6838193D-80E3-4083-9074-9D5803B39FBB}"/>
              </a:ext>
            </a:extLst>
          </p:cNvPr>
          <p:cNvSpPr>
            <a:spLocks noGrp="1"/>
          </p:cNvSpPr>
          <p:nvPr/>
        </p:nvSpPr>
        <p:spPr>
          <a:xfrm>
            <a:off x="7818120" y="2130552"/>
            <a:ext cx="1417320" cy="502920"/>
          </a:xfrm>
          <a:prstGeom prst="rect">
            <a:avLst/>
          </a:prstGeom>
          <a:noFill/>
        </p:spPr>
        <p:txBody>
          <a:bodyPr wrap="square" lIns="254" tIns="254" rIns="254" bIns="254" anchor="ctr">
            <a:normAutofit/>
          </a:bodyPr>
          <a:lstStyle/>
          <a:p>
            <a:pPr marL="0" indent="0" algn="ctr">
              <a:buNone/>
            </a:pPr>
            <a:r>
              <a:rPr sz="1250" b="1">
                <a:solidFill>
                  <a:srgbClr val="172033"/>
                </a:solidFill>
              </a:rPr>
              <a:t>Dış test</a:t>
            </a:r>
            <a:endParaRPr sz="1250"/>
          </a:p>
          <a:p>
            <a:pPr marL="0" indent="0" algn="ctr">
              <a:buNone/>
            </a:pPr>
            <a:r>
              <a:rPr sz="1250" b="1">
                <a:solidFill>
                  <a:srgbClr val="172033"/>
                </a:solidFill>
              </a:rPr>
              <a:t>S&amp;P / Reuters</a:t>
            </a:r>
            <a:endParaRPr sz="1250"/>
          </a:p>
        </p:txBody>
      </p:sp>
      <p:sp>
        <p:nvSpPr>
          <p:cNvPr id="15" name="Shape 13">
            <a:extLst>
              <a:ext uri="{FF2B5EF4-FFF2-40B4-BE49-F238E27FC236}">
                <a16:creationId xmlns:a16="http://schemas.microsoft.com/office/drawing/2014/main" id="{E6897776-B1AB-46AC-BC24-2EA0C6F8E006}"/>
              </a:ext>
            </a:extLst>
          </p:cNvPr>
          <p:cNvSpPr>
            <a:spLocks noGrp="1"/>
          </p:cNvSpPr>
          <p:nvPr/>
        </p:nvSpPr>
        <p:spPr>
          <a:xfrm>
            <a:off x="9354312" y="2240280"/>
            <a:ext cx="292608" cy="320040"/>
          </a:xfrm>
          <a:prstGeom prst="chevron">
            <a:avLst/>
          </a:prstGeom>
          <a:solidFill>
            <a:srgbClr val="DDE3EF"/>
          </a:solidFill>
          <a:ln w="12700">
            <a:solidFill>
              <a:srgbClr val="DDE3EF"/>
            </a:solidFill>
            <a:prstDash val="solid"/>
          </a:ln>
        </p:spPr>
      </p:sp>
      <p:sp>
        <p:nvSpPr>
          <p:cNvPr id="16" name="Shape 14">
            <a:extLst>
              <a:ext uri="{FF2B5EF4-FFF2-40B4-BE49-F238E27FC236}">
                <a16:creationId xmlns:a16="http://schemas.microsoft.com/office/drawing/2014/main" id="{71D5DAC5-8464-4958-86FE-07029B65CD59}"/>
              </a:ext>
            </a:extLst>
          </p:cNvPr>
          <p:cNvSpPr>
            <a:spLocks noGrp="1"/>
          </p:cNvSpPr>
          <p:nvPr/>
        </p:nvSpPr>
        <p:spPr>
          <a:xfrm>
            <a:off x="9921240" y="1874520"/>
            <a:ext cx="1600200" cy="1097280"/>
          </a:xfrm>
          <a:prstGeom prst="roundRect">
            <a:avLst>
              <a:gd name="adj" fmla="val 6667"/>
            </a:avLst>
          </a:prstGeom>
          <a:solidFill>
            <a:srgbClr val="F1F2F6"/>
          </a:solidFill>
          <a:ln w="15240">
            <a:solidFill>
              <a:srgbClr val="5E6A7D"/>
            </a:solidFill>
            <a:prstDash val="solid"/>
          </a:ln>
        </p:spPr>
      </p:sp>
      <p:sp>
        <p:nvSpPr>
          <p:cNvPr id="17" name="Text 15">
            <a:extLst>
              <a:ext uri="{FF2B5EF4-FFF2-40B4-BE49-F238E27FC236}">
                <a16:creationId xmlns:a16="http://schemas.microsoft.com/office/drawing/2014/main" id="{D4D8CB01-A855-4466-912E-45188DDD6FD9}"/>
              </a:ext>
            </a:extLst>
          </p:cNvPr>
          <p:cNvSpPr>
            <a:spLocks noGrp="1"/>
          </p:cNvSpPr>
          <p:nvPr/>
        </p:nvSpPr>
        <p:spPr>
          <a:xfrm>
            <a:off x="10012680" y="2130552"/>
            <a:ext cx="1417320" cy="502920"/>
          </a:xfrm>
          <a:prstGeom prst="rect">
            <a:avLst/>
          </a:prstGeom>
          <a:noFill/>
        </p:spPr>
        <p:txBody>
          <a:bodyPr wrap="square" lIns="254" tIns="254" rIns="254" bIns="254" anchor="ctr">
            <a:normAutofit/>
          </a:bodyPr>
          <a:lstStyle/>
          <a:p>
            <a:pPr marL="0" indent="0" algn="ctr">
              <a:buNone/>
            </a:pPr>
            <a:r>
              <a:rPr sz="1250" b="1">
                <a:solidFill>
                  <a:srgbClr val="172033"/>
                </a:solidFill>
              </a:rPr>
              <a:t>Tanısal analiz</a:t>
            </a:r>
            <a:endParaRPr sz="1250"/>
          </a:p>
          <a:p>
            <a:pPr marL="0" indent="0" algn="ctr">
              <a:buNone/>
            </a:pPr>
            <a:r>
              <a:rPr sz="1250" b="1">
                <a:solidFill>
                  <a:srgbClr val="172033"/>
                </a:solidFill>
              </a:rPr>
              <a:t>Hata / maliyet</a:t>
            </a:r>
            <a:endParaRPr sz="1250"/>
          </a:p>
        </p:txBody>
      </p:sp>
      <p:sp>
        <p:nvSpPr>
          <p:cNvPr id="18" name="Shape 16">
            <a:extLst>
              <a:ext uri="{FF2B5EF4-FFF2-40B4-BE49-F238E27FC236}">
                <a16:creationId xmlns:a16="http://schemas.microsoft.com/office/drawing/2014/main" id="{72AF9000-9EA9-4BDA-A4D5-C265D28D16F9}"/>
              </a:ext>
            </a:extLst>
          </p:cNvPr>
          <p:cNvSpPr>
            <a:spLocks noGrp="1"/>
          </p:cNvSpPr>
          <p:nvPr/>
        </p:nvSpPr>
        <p:spPr>
          <a:xfrm>
            <a:off x="960120" y="3886200"/>
            <a:ext cx="2560320" cy="320040"/>
          </a:xfrm>
          <a:prstGeom prst="rect">
            <a:avLst/>
          </a:prstGeom>
          <a:solidFill>
            <a:srgbClr val="1D2B46"/>
          </a:solidFill>
          <a:ln w="6350">
            <a:solidFill>
              <a:srgbClr val="DDE3EF"/>
            </a:solidFill>
            <a:prstDash val="solid"/>
          </a:ln>
        </p:spPr>
      </p:sp>
      <p:sp>
        <p:nvSpPr>
          <p:cNvPr id="19" name="Text 17">
            <a:extLst>
              <a:ext uri="{FF2B5EF4-FFF2-40B4-BE49-F238E27FC236}">
                <a16:creationId xmlns:a16="http://schemas.microsoft.com/office/drawing/2014/main" id="{D0BA6002-BD60-489B-83F1-BB8EAF5CA0CC}"/>
              </a:ext>
            </a:extLst>
          </p:cNvPr>
          <p:cNvSpPr>
            <a:spLocks noGrp="1"/>
          </p:cNvSpPr>
          <p:nvPr/>
        </p:nvSpPr>
        <p:spPr>
          <a:xfrm>
            <a:off x="1033272" y="3959352"/>
            <a:ext cx="2414016" cy="228600"/>
          </a:xfrm>
          <a:prstGeom prst="rect">
            <a:avLst/>
          </a:prstGeom>
          <a:noFill/>
        </p:spPr>
        <p:txBody>
          <a:bodyPr wrap="square" lIns="0" tIns="0" rIns="0" bIns="0" anchor="ctr">
            <a:normAutofit/>
          </a:bodyPr>
          <a:lstStyle/>
          <a:p>
            <a:pPr marL="0" indent="0">
              <a:buNone/>
            </a:pPr>
            <a:r>
              <a:rPr sz="1150" b="1">
                <a:solidFill>
                  <a:srgbClr val="FFFFFF"/>
                </a:solidFill>
              </a:rPr>
              <a:t>Aşama</a:t>
            </a:r>
            <a:endParaRPr sz="1150"/>
          </a:p>
        </p:txBody>
      </p:sp>
      <p:sp>
        <p:nvSpPr>
          <p:cNvPr id="20" name="Shape 18">
            <a:extLst>
              <a:ext uri="{FF2B5EF4-FFF2-40B4-BE49-F238E27FC236}">
                <a16:creationId xmlns:a16="http://schemas.microsoft.com/office/drawing/2014/main" id="{3023B849-E43B-4A7A-85D8-0DE36FA3C727}"/>
              </a:ext>
            </a:extLst>
          </p:cNvPr>
          <p:cNvSpPr>
            <a:spLocks noGrp="1"/>
          </p:cNvSpPr>
          <p:nvPr/>
        </p:nvSpPr>
        <p:spPr>
          <a:xfrm>
            <a:off x="3520440" y="3886200"/>
            <a:ext cx="7680960" cy="320040"/>
          </a:xfrm>
          <a:prstGeom prst="rect">
            <a:avLst/>
          </a:prstGeom>
          <a:solidFill>
            <a:srgbClr val="1D2B46"/>
          </a:solidFill>
          <a:ln w="6350">
            <a:solidFill>
              <a:srgbClr val="DDE3EF"/>
            </a:solidFill>
            <a:prstDash val="solid"/>
          </a:ln>
        </p:spPr>
      </p:sp>
      <p:sp>
        <p:nvSpPr>
          <p:cNvPr id="21" name="Text 19">
            <a:extLst>
              <a:ext uri="{FF2B5EF4-FFF2-40B4-BE49-F238E27FC236}">
                <a16:creationId xmlns:a16="http://schemas.microsoft.com/office/drawing/2014/main" id="{630CBCE0-43E7-4D2F-92CA-780C4BAA9AC0}"/>
              </a:ext>
            </a:extLst>
          </p:cNvPr>
          <p:cNvSpPr>
            <a:spLocks noGrp="1"/>
          </p:cNvSpPr>
          <p:nvPr/>
        </p:nvSpPr>
        <p:spPr>
          <a:xfrm>
            <a:off x="3593592" y="3959352"/>
            <a:ext cx="7534656" cy="228600"/>
          </a:xfrm>
          <a:prstGeom prst="rect">
            <a:avLst/>
          </a:prstGeom>
          <a:noFill/>
        </p:spPr>
        <p:txBody>
          <a:bodyPr wrap="square" lIns="0" tIns="0" rIns="0" bIns="0" anchor="ctr">
            <a:normAutofit/>
          </a:bodyPr>
          <a:lstStyle/>
          <a:p>
            <a:pPr marL="0" indent="0">
              <a:buNone/>
            </a:pPr>
            <a:r>
              <a:rPr sz="1150" b="1">
                <a:solidFill>
                  <a:srgbClr val="FFFFFF"/>
                </a:solidFill>
              </a:rPr>
              <a:t>Amaç</a:t>
            </a:r>
            <a:endParaRPr sz="1150"/>
          </a:p>
        </p:txBody>
      </p:sp>
      <p:sp>
        <p:nvSpPr>
          <p:cNvPr id="22" name="Shape 20">
            <a:extLst>
              <a:ext uri="{FF2B5EF4-FFF2-40B4-BE49-F238E27FC236}">
                <a16:creationId xmlns:a16="http://schemas.microsoft.com/office/drawing/2014/main" id="{D8637053-C657-4442-AD22-12D64ABC0145}"/>
              </a:ext>
            </a:extLst>
          </p:cNvPr>
          <p:cNvSpPr>
            <a:spLocks noGrp="1"/>
          </p:cNvSpPr>
          <p:nvPr/>
        </p:nvSpPr>
        <p:spPr>
          <a:xfrm>
            <a:off x="960120" y="4206240"/>
            <a:ext cx="2560320" cy="320040"/>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AFAE401F-B828-4084-9CED-5EB6A714DFC3}"/>
              </a:ext>
            </a:extLst>
          </p:cNvPr>
          <p:cNvSpPr>
            <a:spLocks noGrp="1"/>
          </p:cNvSpPr>
          <p:nvPr/>
        </p:nvSpPr>
        <p:spPr>
          <a:xfrm>
            <a:off x="1033272" y="4279392"/>
            <a:ext cx="2414016" cy="228600"/>
          </a:xfrm>
          <a:prstGeom prst="rect">
            <a:avLst/>
          </a:prstGeom>
          <a:noFill/>
        </p:spPr>
        <p:txBody>
          <a:bodyPr wrap="square" lIns="0" tIns="0" rIns="0" bIns="0" anchor="ctr">
            <a:normAutofit/>
          </a:bodyPr>
          <a:lstStyle/>
          <a:p>
            <a:pPr marL="0" indent="0">
              <a:buNone/>
            </a:pPr>
            <a:r>
              <a:rPr sz="1250">
                <a:solidFill>
                  <a:srgbClr val="1A1E2A"/>
                </a:solidFill>
              </a:rPr>
              <a:t>Baseline</a:t>
            </a:r>
            <a:endParaRPr sz="1250"/>
          </a:p>
        </p:txBody>
      </p:sp>
      <p:sp>
        <p:nvSpPr>
          <p:cNvPr id="24" name="Shape 22">
            <a:extLst>
              <a:ext uri="{FF2B5EF4-FFF2-40B4-BE49-F238E27FC236}">
                <a16:creationId xmlns:a16="http://schemas.microsoft.com/office/drawing/2014/main" id="{2245163E-413A-4CC9-B42C-0A6F89CE96CA}"/>
              </a:ext>
            </a:extLst>
          </p:cNvPr>
          <p:cNvSpPr>
            <a:spLocks noGrp="1"/>
          </p:cNvSpPr>
          <p:nvPr/>
        </p:nvSpPr>
        <p:spPr>
          <a:xfrm>
            <a:off x="3520440" y="4206240"/>
            <a:ext cx="7680960" cy="320040"/>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B2988D48-F7D9-41D8-BE04-7A7E78081EE2}"/>
              </a:ext>
            </a:extLst>
          </p:cNvPr>
          <p:cNvSpPr>
            <a:spLocks noGrp="1"/>
          </p:cNvSpPr>
          <p:nvPr/>
        </p:nvSpPr>
        <p:spPr>
          <a:xfrm>
            <a:off x="3593592" y="4279392"/>
            <a:ext cx="7534656" cy="228600"/>
          </a:xfrm>
          <a:prstGeom prst="rect">
            <a:avLst/>
          </a:prstGeom>
          <a:noFill/>
        </p:spPr>
        <p:txBody>
          <a:bodyPr wrap="square" lIns="0" tIns="0" rIns="0" bIns="0" anchor="ctr">
            <a:normAutofit/>
          </a:bodyPr>
          <a:lstStyle/>
          <a:p>
            <a:pPr marL="0" indent="0">
              <a:buNone/>
            </a:pPr>
            <a:r>
              <a:rPr sz="1250">
                <a:solidFill>
                  <a:srgbClr val="1A1E2A"/>
                </a:solidFill>
              </a:rPr>
              <a:t>Alan-özgü FinBERT hedefe uyarlanmadan ne kadar güçlü?</a:t>
            </a:r>
            <a:endParaRPr sz="1250"/>
          </a:p>
        </p:txBody>
      </p:sp>
      <p:sp>
        <p:nvSpPr>
          <p:cNvPr id="26" name="Shape 24">
            <a:extLst>
              <a:ext uri="{FF2B5EF4-FFF2-40B4-BE49-F238E27FC236}">
                <a16:creationId xmlns:a16="http://schemas.microsoft.com/office/drawing/2014/main" id="{E46D3703-D2A1-470D-8F2B-1BA49495F030}"/>
              </a:ext>
            </a:extLst>
          </p:cNvPr>
          <p:cNvSpPr>
            <a:spLocks noGrp="1"/>
          </p:cNvSpPr>
          <p:nvPr/>
        </p:nvSpPr>
        <p:spPr>
          <a:xfrm>
            <a:off x="960120" y="4526280"/>
            <a:ext cx="2560320" cy="320040"/>
          </a:xfrm>
          <a:prstGeom prst="rect">
            <a:avLst/>
          </a:prstGeom>
          <a:solidFill>
            <a:srgbClr val="F4F6FB"/>
          </a:solidFill>
          <a:ln w="6350">
            <a:solidFill>
              <a:srgbClr val="DDE3EF"/>
            </a:solidFill>
            <a:prstDash val="solid"/>
          </a:ln>
        </p:spPr>
      </p:sp>
      <p:sp>
        <p:nvSpPr>
          <p:cNvPr id="27" name="Text 25">
            <a:extLst>
              <a:ext uri="{FF2B5EF4-FFF2-40B4-BE49-F238E27FC236}">
                <a16:creationId xmlns:a16="http://schemas.microsoft.com/office/drawing/2014/main" id="{CBC445B9-70BD-46C6-B122-269D97831D73}"/>
              </a:ext>
            </a:extLst>
          </p:cNvPr>
          <p:cNvSpPr>
            <a:spLocks noGrp="1"/>
          </p:cNvSpPr>
          <p:nvPr/>
        </p:nvSpPr>
        <p:spPr>
          <a:xfrm>
            <a:off x="1033272" y="4599432"/>
            <a:ext cx="2414016" cy="228600"/>
          </a:xfrm>
          <a:prstGeom prst="rect">
            <a:avLst/>
          </a:prstGeom>
          <a:noFill/>
        </p:spPr>
        <p:txBody>
          <a:bodyPr wrap="square" lIns="0" tIns="0" rIns="0" bIns="0" anchor="ctr">
            <a:normAutofit/>
          </a:bodyPr>
          <a:lstStyle/>
          <a:p>
            <a:pPr marL="0" indent="0">
              <a:buNone/>
            </a:pPr>
            <a:r>
              <a:rPr sz="1250">
                <a:solidFill>
                  <a:srgbClr val="1A1E2A"/>
                </a:solidFill>
              </a:rPr>
              <a:t>Fine-tuning</a:t>
            </a:r>
            <a:endParaRPr sz="1250"/>
          </a:p>
        </p:txBody>
      </p:sp>
      <p:sp>
        <p:nvSpPr>
          <p:cNvPr id="28" name="Shape 26">
            <a:extLst>
              <a:ext uri="{FF2B5EF4-FFF2-40B4-BE49-F238E27FC236}">
                <a16:creationId xmlns:a16="http://schemas.microsoft.com/office/drawing/2014/main" id="{3589403A-98C2-47DB-AA2D-DC91AFD254AF}"/>
              </a:ext>
            </a:extLst>
          </p:cNvPr>
          <p:cNvSpPr>
            <a:spLocks noGrp="1"/>
          </p:cNvSpPr>
          <p:nvPr/>
        </p:nvSpPr>
        <p:spPr>
          <a:xfrm>
            <a:off x="3520440" y="4526280"/>
            <a:ext cx="7680960" cy="320040"/>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15656E09-C280-425C-B6E3-E6351929E4BF}"/>
              </a:ext>
            </a:extLst>
          </p:cNvPr>
          <p:cNvSpPr>
            <a:spLocks noGrp="1"/>
          </p:cNvSpPr>
          <p:nvPr/>
        </p:nvSpPr>
        <p:spPr>
          <a:xfrm>
            <a:off x="3593592" y="4599432"/>
            <a:ext cx="7534656" cy="228600"/>
          </a:xfrm>
          <a:prstGeom prst="rect">
            <a:avLst/>
          </a:prstGeom>
          <a:noFill/>
        </p:spPr>
        <p:txBody>
          <a:bodyPr wrap="square" lIns="0" tIns="0" rIns="0" bIns="0" anchor="ctr">
            <a:normAutofit/>
          </a:bodyPr>
          <a:lstStyle/>
          <a:p>
            <a:pPr marL="0" indent="0">
              <a:buNone/>
            </a:pPr>
            <a:r>
              <a:rPr sz="1250">
                <a:solidFill>
                  <a:srgbClr val="1A1E2A"/>
                </a:solidFill>
              </a:rPr>
              <a:t>Aynı görev ve ayarlarla adil model karşılaştırması.</a:t>
            </a:r>
            <a:endParaRPr sz="1250"/>
          </a:p>
        </p:txBody>
      </p:sp>
      <p:sp>
        <p:nvSpPr>
          <p:cNvPr id="30" name="Shape 28">
            <a:extLst>
              <a:ext uri="{FF2B5EF4-FFF2-40B4-BE49-F238E27FC236}">
                <a16:creationId xmlns:a16="http://schemas.microsoft.com/office/drawing/2014/main" id="{EC0AFB69-A730-463D-8630-CF4C1A8B581C}"/>
              </a:ext>
            </a:extLst>
          </p:cNvPr>
          <p:cNvSpPr>
            <a:spLocks noGrp="1"/>
          </p:cNvSpPr>
          <p:nvPr/>
        </p:nvSpPr>
        <p:spPr>
          <a:xfrm>
            <a:off x="960120" y="4846320"/>
            <a:ext cx="2560320" cy="320040"/>
          </a:xfrm>
          <a:prstGeom prst="rect">
            <a:avLst/>
          </a:prstGeom>
          <a:solidFill>
            <a:srgbClr val="FFFFFF"/>
          </a:solidFill>
          <a:ln w="6350">
            <a:solidFill>
              <a:srgbClr val="DDE3EF"/>
            </a:solidFill>
            <a:prstDash val="solid"/>
          </a:ln>
        </p:spPr>
      </p:sp>
      <p:sp>
        <p:nvSpPr>
          <p:cNvPr id="31" name="Text 29">
            <a:extLst>
              <a:ext uri="{FF2B5EF4-FFF2-40B4-BE49-F238E27FC236}">
                <a16:creationId xmlns:a16="http://schemas.microsoft.com/office/drawing/2014/main" id="{657AFD9C-432C-417B-A7DF-B529BCBE2FD2}"/>
              </a:ext>
            </a:extLst>
          </p:cNvPr>
          <p:cNvSpPr>
            <a:spLocks noGrp="1"/>
          </p:cNvSpPr>
          <p:nvPr/>
        </p:nvSpPr>
        <p:spPr>
          <a:xfrm>
            <a:off x="1033272" y="4919472"/>
            <a:ext cx="2414016" cy="228600"/>
          </a:xfrm>
          <a:prstGeom prst="rect">
            <a:avLst/>
          </a:prstGeom>
          <a:noFill/>
        </p:spPr>
        <p:txBody>
          <a:bodyPr wrap="square" lIns="0" tIns="0" rIns="0" bIns="0" anchor="ctr">
            <a:normAutofit/>
          </a:bodyPr>
          <a:lstStyle/>
          <a:p>
            <a:pPr marL="0" indent="0">
              <a:buNone/>
            </a:pPr>
            <a:r>
              <a:rPr sz="1250">
                <a:solidFill>
                  <a:srgbClr val="1A1E2A"/>
                </a:solidFill>
              </a:rPr>
              <a:t>Robustluk</a:t>
            </a:r>
            <a:endParaRPr sz="1250"/>
          </a:p>
        </p:txBody>
      </p:sp>
      <p:sp>
        <p:nvSpPr>
          <p:cNvPr id="32" name="Shape 30">
            <a:extLst>
              <a:ext uri="{FF2B5EF4-FFF2-40B4-BE49-F238E27FC236}">
                <a16:creationId xmlns:a16="http://schemas.microsoft.com/office/drawing/2014/main" id="{9D0EADA7-8BF5-44F8-8DDC-4EB3F78C2A46}"/>
              </a:ext>
            </a:extLst>
          </p:cNvPr>
          <p:cNvSpPr>
            <a:spLocks noGrp="1"/>
          </p:cNvSpPr>
          <p:nvPr/>
        </p:nvSpPr>
        <p:spPr>
          <a:xfrm>
            <a:off x="3520440" y="4846320"/>
            <a:ext cx="7680960" cy="320040"/>
          </a:xfrm>
          <a:prstGeom prst="rect">
            <a:avLst/>
          </a:prstGeom>
          <a:solidFill>
            <a:srgbClr val="FFFFFF"/>
          </a:solidFill>
          <a:ln w="6350">
            <a:solidFill>
              <a:srgbClr val="DDE3EF"/>
            </a:solidFill>
            <a:prstDash val="solid"/>
          </a:ln>
        </p:spPr>
      </p:sp>
      <p:sp>
        <p:nvSpPr>
          <p:cNvPr id="33" name="Text 31">
            <a:extLst>
              <a:ext uri="{FF2B5EF4-FFF2-40B4-BE49-F238E27FC236}">
                <a16:creationId xmlns:a16="http://schemas.microsoft.com/office/drawing/2014/main" id="{10E8251D-3A1B-4928-82CC-7F8889EAC8B2}"/>
              </a:ext>
            </a:extLst>
          </p:cNvPr>
          <p:cNvSpPr>
            <a:spLocks noGrp="1"/>
          </p:cNvSpPr>
          <p:nvPr/>
        </p:nvSpPr>
        <p:spPr>
          <a:xfrm>
            <a:off x="3593592" y="4919472"/>
            <a:ext cx="7534656" cy="228600"/>
          </a:xfrm>
          <a:prstGeom prst="rect">
            <a:avLst/>
          </a:prstGeom>
          <a:noFill/>
        </p:spPr>
        <p:txBody>
          <a:bodyPr wrap="square" lIns="0" tIns="0" rIns="0" bIns="0" anchor="ctr">
            <a:normAutofit/>
          </a:bodyPr>
          <a:lstStyle/>
          <a:p>
            <a:pPr marL="0" indent="0">
              <a:buNone/>
            </a:pPr>
            <a:r>
              <a:rPr sz="1250">
                <a:solidFill>
                  <a:srgbClr val="1A1E2A"/>
                </a:solidFill>
              </a:rPr>
              <a:t>3 seed ile rastgele başlangıç ve veri sırası etkisini azaltma.</a:t>
            </a:r>
            <a:endParaRPr sz="1250"/>
          </a:p>
        </p:txBody>
      </p:sp>
      <p:sp>
        <p:nvSpPr>
          <p:cNvPr id="34" name="Shape 32">
            <a:extLst>
              <a:ext uri="{FF2B5EF4-FFF2-40B4-BE49-F238E27FC236}">
                <a16:creationId xmlns:a16="http://schemas.microsoft.com/office/drawing/2014/main" id="{192B992B-2BDC-435C-94C5-83E96802FBEE}"/>
              </a:ext>
            </a:extLst>
          </p:cNvPr>
          <p:cNvSpPr>
            <a:spLocks noGrp="1"/>
          </p:cNvSpPr>
          <p:nvPr/>
        </p:nvSpPr>
        <p:spPr>
          <a:xfrm>
            <a:off x="960120" y="5166360"/>
            <a:ext cx="2560320" cy="320040"/>
          </a:xfrm>
          <a:prstGeom prst="rect">
            <a:avLst/>
          </a:prstGeom>
          <a:solidFill>
            <a:srgbClr val="F4F6FB"/>
          </a:solidFill>
          <a:ln w="6350">
            <a:solidFill>
              <a:srgbClr val="DDE3EF"/>
            </a:solidFill>
            <a:prstDash val="solid"/>
          </a:ln>
        </p:spPr>
      </p:sp>
      <p:sp>
        <p:nvSpPr>
          <p:cNvPr id="35" name="Text 33">
            <a:extLst>
              <a:ext uri="{FF2B5EF4-FFF2-40B4-BE49-F238E27FC236}">
                <a16:creationId xmlns:a16="http://schemas.microsoft.com/office/drawing/2014/main" id="{5EE808A9-6D6A-4A6B-84BC-449B53839115}"/>
              </a:ext>
            </a:extLst>
          </p:cNvPr>
          <p:cNvSpPr>
            <a:spLocks noGrp="1"/>
          </p:cNvSpPr>
          <p:nvPr/>
        </p:nvSpPr>
        <p:spPr>
          <a:xfrm>
            <a:off x="1033272" y="5239512"/>
            <a:ext cx="2414016" cy="228600"/>
          </a:xfrm>
          <a:prstGeom prst="rect">
            <a:avLst/>
          </a:prstGeom>
          <a:noFill/>
        </p:spPr>
        <p:txBody>
          <a:bodyPr wrap="square" lIns="0" tIns="0" rIns="0" bIns="0" anchor="ctr">
            <a:normAutofit/>
          </a:bodyPr>
          <a:lstStyle/>
          <a:p>
            <a:pPr marL="0" indent="0">
              <a:buNone/>
            </a:pPr>
            <a:r>
              <a:rPr sz="1250">
                <a:solidFill>
                  <a:srgbClr val="1A1E2A"/>
                </a:solidFill>
              </a:rPr>
              <a:t>External test</a:t>
            </a:r>
            <a:endParaRPr sz="1250"/>
          </a:p>
        </p:txBody>
      </p:sp>
      <p:sp>
        <p:nvSpPr>
          <p:cNvPr id="36" name="Shape 34">
            <a:extLst>
              <a:ext uri="{FF2B5EF4-FFF2-40B4-BE49-F238E27FC236}">
                <a16:creationId xmlns:a16="http://schemas.microsoft.com/office/drawing/2014/main" id="{D461202E-B0DB-468D-B445-9E3D52AF939F}"/>
              </a:ext>
            </a:extLst>
          </p:cNvPr>
          <p:cNvSpPr>
            <a:spLocks noGrp="1"/>
          </p:cNvSpPr>
          <p:nvPr/>
        </p:nvSpPr>
        <p:spPr>
          <a:xfrm>
            <a:off x="3520440" y="5166360"/>
            <a:ext cx="7680960" cy="320040"/>
          </a:xfrm>
          <a:prstGeom prst="rect">
            <a:avLst/>
          </a:prstGeom>
          <a:solidFill>
            <a:srgbClr val="F4F6FB"/>
          </a:solidFill>
          <a:ln w="6350">
            <a:solidFill>
              <a:srgbClr val="DDE3EF"/>
            </a:solidFill>
            <a:prstDash val="solid"/>
          </a:ln>
        </p:spPr>
      </p:sp>
      <p:sp>
        <p:nvSpPr>
          <p:cNvPr id="37" name="Text 35">
            <a:extLst>
              <a:ext uri="{FF2B5EF4-FFF2-40B4-BE49-F238E27FC236}">
                <a16:creationId xmlns:a16="http://schemas.microsoft.com/office/drawing/2014/main" id="{F28340E6-28BC-4D5A-A42E-3A54FBAA0C85}"/>
              </a:ext>
            </a:extLst>
          </p:cNvPr>
          <p:cNvSpPr>
            <a:spLocks noGrp="1"/>
          </p:cNvSpPr>
          <p:nvPr/>
        </p:nvSpPr>
        <p:spPr>
          <a:xfrm>
            <a:off x="3593592" y="5239512"/>
            <a:ext cx="7534656" cy="228600"/>
          </a:xfrm>
          <a:prstGeom prst="rect">
            <a:avLst/>
          </a:prstGeom>
          <a:noFill/>
        </p:spPr>
        <p:txBody>
          <a:bodyPr wrap="square" lIns="0" tIns="0" rIns="0" bIns="0" anchor="ctr">
            <a:normAutofit/>
          </a:bodyPr>
          <a:lstStyle/>
          <a:p>
            <a:pPr marL="0" indent="0">
              <a:buNone/>
            </a:pPr>
            <a:r>
              <a:rPr sz="1250">
                <a:solidFill>
                  <a:srgbClr val="1A1E2A"/>
                </a:solidFill>
              </a:rPr>
              <a:t>Görülmemiş kaynaklarda genelleme başarısını ölçme.</a:t>
            </a:r>
            <a:endParaRPr sz="1250"/>
          </a:p>
        </p:txBody>
      </p:sp>
      <p:sp>
        <p:nvSpPr>
          <p:cNvPr id="38" name="Text 36">
            <a:extLst>
              <a:ext uri="{FF2B5EF4-FFF2-40B4-BE49-F238E27FC236}">
                <a16:creationId xmlns:a16="http://schemas.microsoft.com/office/drawing/2014/main" id="{B632BF99-303A-4B0E-BA24-C4C8EAE4614E}"/>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9" name="Text 37">
            <a:extLst>
              <a:ext uri="{FF2B5EF4-FFF2-40B4-BE49-F238E27FC236}">
                <a16:creationId xmlns:a16="http://schemas.microsoft.com/office/drawing/2014/main" id="{2B9505B4-0279-4D0A-89F1-8EBFDD3B3F3B}"/>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11</a:t>
            </a:r>
            <a:endParaRPr sz="850"/>
          </a:p>
        </p:txBody>
      </p:sp>
      <p:sp>
        <p:nvSpPr>
          <p:cNvPr id="40" name="Shape 38">
            <a:extLst>
              <a:ext uri="{FF2B5EF4-FFF2-40B4-BE49-F238E27FC236}">
                <a16:creationId xmlns:a16="http://schemas.microsoft.com/office/drawing/2014/main" id="{602C058D-6EF0-4EF7-8A53-C7625CBE8F6D}"/>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629437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9A543C7-526D-40C5-AD3E-756F2DA0D562}"/>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Kullanılan modeller</a:t>
            </a:r>
            <a:endParaRPr sz="3100"/>
          </a:p>
        </p:txBody>
      </p:sp>
      <p:sp>
        <p:nvSpPr>
          <p:cNvPr id="3" name="Text 1">
            <a:extLst>
              <a:ext uri="{FF2B5EF4-FFF2-40B4-BE49-F238E27FC236}">
                <a16:creationId xmlns:a16="http://schemas.microsoft.com/office/drawing/2014/main" id="{AD75F8A8-3DA5-47E1-9D0B-B32539046EB9}"/>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Genel amaçlı modeller ile finans-özgü FinBERT aynı görevde karşılaştırıldı.</a:t>
            </a:r>
            <a:endParaRPr sz="1450"/>
          </a:p>
        </p:txBody>
      </p:sp>
      <p:sp>
        <p:nvSpPr>
          <p:cNvPr id="4" name="Shape 2">
            <a:extLst>
              <a:ext uri="{FF2B5EF4-FFF2-40B4-BE49-F238E27FC236}">
                <a16:creationId xmlns:a16="http://schemas.microsoft.com/office/drawing/2014/main" id="{579BE3DC-1D27-4868-84C3-696A363C5316}"/>
              </a:ext>
            </a:extLst>
          </p:cNvPr>
          <p:cNvSpPr>
            <a:spLocks noGrp="1"/>
          </p:cNvSpPr>
          <p:nvPr/>
        </p:nvSpPr>
        <p:spPr>
          <a:xfrm>
            <a:off x="566928" y="1234440"/>
            <a:ext cx="2444191" cy="754380"/>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69190B8F-6CDA-49E6-936D-93313CAD4D9C}"/>
              </a:ext>
            </a:extLst>
          </p:cNvPr>
          <p:cNvSpPr>
            <a:spLocks noGrp="1"/>
          </p:cNvSpPr>
          <p:nvPr/>
        </p:nvSpPr>
        <p:spPr>
          <a:xfrm>
            <a:off x="640080" y="1307592"/>
            <a:ext cx="2297887" cy="662940"/>
          </a:xfrm>
          <a:prstGeom prst="rect">
            <a:avLst/>
          </a:prstGeom>
          <a:noFill/>
        </p:spPr>
        <p:txBody>
          <a:bodyPr wrap="square" lIns="0" tIns="0" rIns="0" bIns="0" anchor="ctr">
            <a:normAutofit/>
          </a:bodyPr>
          <a:lstStyle/>
          <a:p>
            <a:pPr marL="0" indent="0">
              <a:buNone/>
            </a:pPr>
            <a:r>
              <a:rPr sz="1150" b="1">
                <a:solidFill>
                  <a:srgbClr val="FFFFFF"/>
                </a:solidFill>
              </a:rPr>
              <a:t>Model</a:t>
            </a:r>
            <a:endParaRPr sz="1150"/>
          </a:p>
        </p:txBody>
      </p:sp>
      <p:sp>
        <p:nvSpPr>
          <p:cNvPr id="6" name="Shape 4">
            <a:extLst>
              <a:ext uri="{FF2B5EF4-FFF2-40B4-BE49-F238E27FC236}">
                <a16:creationId xmlns:a16="http://schemas.microsoft.com/office/drawing/2014/main" id="{0D8899CE-BCB2-499D-9D65-FD2833822F8C}"/>
              </a:ext>
            </a:extLst>
          </p:cNvPr>
          <p:cNvSpPr>
            <a:spLocks noGrp="1"/>
          </p:cNvSpPr>
          <p:nvPr/>
        </p:nvSpPr>
        <p:spPr>
          <a:xfrm>
            <a:off x="3011119" y="1234440"/>
            <a:ext cx="3110789" cy="754380"/>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C8BCD43A-6F9B-4C24-9D86-2E25C67F64AC}"/>
              </a:ext>
            </a:extLst>
          </p:cNvPr>
          <p:cNvSpPr>
            <a:spLocks noGrp="1"/>
          </p:cNvSpPr>
          <p:nvPr/>
        </p:nvSpPr>
        <p:spPr>
          <a:xfrm>
            <a:off x="3084271" y="1307592"/>
            <a:ext cx="2964485" cy="662940"/>
          </a:xfrm>
          <a:prstGeom prst="rect">
            <a:avLst/>
          </a:prstGeom>
          <a:noFill/>
        </p:spPr>
        <p:txBody>
          <a:bodyPr wrap="square" lIns="0" tIns="0" rIns="0" bIns="0" anchor="ctr">
            <a:normAutofit/>
          </a:bodyPr>
          <a:lstStyle/>
          <a:p>
            <a:pPr marL="0" indent="0">
              <a:buNone/>
            </a:pPr>
            <a:r>
              <a:rPr sz="1150" b="1">
                <a:solidFill>
                  <a:srgbClr val="FFFFFF"/>
                </a:solidFill>
              </a:rPr>
              <a:t>Rol</a:t>
            </a:r>
            <a:endParaRPr sz="1150"/>
          </a:p>
        </p:txBody>
      </p:sp>
      <p:sp>
        <p:nvSpPr>
          <p:cNvPr id="8" name="Shape 6">
            <a:extLst>
              <a:ext uri="{FF2B5EF4-FFF2-40B4-BE49-F238E27FC236}">
                <a16:creationId xmlns:a16="http://schemas.microsoft.com/office/drawing/2014/main" id="{5C735805-BCD4-4051-9E59-C49B93CD08C4}"/>
              </a:ext>
            </a:extLst>
          </p:cNvPr>
          <p:cNvSpPr>
            <a:spLocks noGrp="1"/>
          </p:cNvSpPr>
          <p:nvPr/>
        </p:nvSpPr>
        <p:spPr>
          <a:xfrm>
            <a:off x="6121908" y="1234440"/>
            <a:ext cx="5554980" cy="75438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9DF832CD-977A-4AF9-A425-41F48A675551}"/>
              </a:ext>
            </a:extLst>
          </p:cNvPr>
          <p:cNvSpPr>
            <a:spLocks noGrp="1"/>
          </p:cNvSpPr>
          <p:nvPr/>
        </p:nvSpPr>
        <p:spPr>
          <a:xfrm>
            <a:off x="6195060" y="1307592"/>
            <a:ext cx="5408676" cy="662940"/>
          </a:xfrm>
          <a:prstGeom prst="rect">
            <a:avLst/>
          </a:prstGeom>
          <a:noFill/>
        </p:spPr>
        <p:txBody>
          <a:bodyPr wrap="square" lIns="0" tIns="0" rIns="0" bIns="0" anchor="ctr">
            <a:normAutofit/>
          </a:bodyPr>
          <a:lstStyle/>
          <a:p>
            <a:pPr marL="0" indent="0">
              <a:buNone/>
            </a:pPr>
            <a:r>
              <a:rPr sz="1150" b="1">
                <a:solidFill>
                  <a:srgbClr val="FFFFFF"/>
                </a:solidFill>
              </a:rPr>
              <a:t>Tezdeki anlamı</a:t>
            </a:r>
            <a:endParaRPr sz="1150"/>
          </a:p>
        </p:txBody>
      </p:sp>
      <p:sp>
        <p:nvSpPr>
          <p:cNvPr id="10" name="Shape 8">
            <a:extLst>
              <a:ext uri="{FF2B5EF4-FFF2-40B4-BE49-F238E27FC236}">
                <a16:creationId xmlns:a16="http://schemas.microsoft.com/office/drawing/2014/main" id="{A42D5A1D-0E0C-446A-AD5D-BE37A3837BD8}"/>
              </a:ext>
            </a:extLst>
          </p:cNvPr>
          <p:cNvSpPr>
            <a:spLocks noGrp="1"/>
          </p:cNvSpPr>
          <p:nvPr/>
        </p:nvSpPr>
        <p:spPr>
          <a:xfrm>
            <a:off x="566928" y="1988820"/>
            <a:ext cx="2444191" cy="754380"/>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00CC6BC6-7175-4809-8582-9B1859DC325C}"/>
              </a:ext>
            </a:extLst>
          </p:cNvPr>
          <p:cNvSpPr>
            <a:spLocks noGrp="1"/>
          </p:cNvSpPr>
          <p:nvPr/>
        </p:nvSpPr>
        <p:spPr>
          <a:xfrm>
            <a:off x="640080" y="2061972"/>
            <a:ext cx="2297887" cy="662940"/>
          </a:xfrm>
          <a:prstGeom prst="rect">
            <a:avLst/>
          </a:prstGeom>
          <a:noFill/>
        </p:spPr>
        <p:txBody>
          <a:bodyPr wrap="square" lIns="0" tIns="0" rIns="0" bIns="0" anchor="ctr">
            <a:normAutofit/>
          </a:bodyPr>
          <a:lstStyle/>
          <a:p>
            <a:pPr marL="0" indent="0">
              <a:buNone/>
            </a:pPr>
            <a:r>
              <a:rPr sz="1220">
                <a:solidFill>
                  <a:srgbClr val="1A1E2A"/>
                </a:solidFill>
              </a:rPr>
              <a:t>Original FinBERT</a:t>
            </a:r>
            <a:endParaRPr sz="1220"/>
          </a:p>
        </p:txBody>
      </p:sp>
      <p:sp>
        <p:nvSpPr>
          <p:cNvPr id="12" name="Shape 10">
            <a:extLst>
              <a:ext uri="{FF2B5EF4-FFF2-40B4-BE49-F238E27FC236}">
                <a16:creationId xmlns:a16="http://schemas.microsoft.com/office/drawing/2014/main" id="{A0C032C5-343C-4AC1-A3BC-5FD7C6D5B199}"/>
              </a:ext>
            </a:extLst>
          </p:cNvPr>
          <p:cNvSpPr>
            <a:spLocks noGrp="1"/>
          </p:cNvSpPr>
          <p:nvPr/>
        </p:nvSpPr>
        <p:spPr>
          <a:xfrm>
            <a:off x="3011119" y="1988820"/>
            <a:ext cx="3110789" cy="754380"/>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2FFE798C-68C7-4977-B8E1-49ED6A614689}"/>
              </a:ext>
            </a:extLst>
          </p:cNvPr>
          <p:cNvSpPr>
            <a:spLocks noGrp="1"/>
          </p:cNvSpPr>
          <p:nvPr/>
        </p:nvSpPr>
        <p:spPr>
          <a:xfrm>
            <a:off x="3084271" y="2061972"/>
            <a:ext cx="2964485" cy="662940"/>
          </a:xfrm>
          <a:prstGeom prst="rect">
            <a:avLst/>
          </a:prstGeom>
          <a:noFill/>
        </p:spPr>
        <p:txBody>
          <a:bodyPr wrap="square" lIns="0" tIns="0" rIns="0" bIns="0" anchor="ctr">
            <a:normAutofit/>
          </a:bodyPr>
          <a:lstStyle/>
          <a:p>
            <a:pPr marL="0" indent="0">
              <a:buNone/>
            </a:pPr>
            <a:r>
              <a:rPr sz="1220">
                <a:solidFill>
                  <a:srgbClr val="1A1E2A"/>
                </a:solidFill>
              </a:rPr>
              <a:t>Baseline</a:t>
            </a:r>
            <a:endParaRPr sz="1220"/>
          </a:p>
        </p:txBody>
      </p:sp>
      <p:sp>
        <p:nvSpPr>
          <p:cNvPr id="14" name="Shape 12">
            <a:extLst>
              <a:ext uri="{FF2B5EF4-FFF2-40B4-BE49-F238E27FC236}">
                <a16:creationId xmlns:a16="http://schemas.microsoft.com/office/drawing/2014/main" id="{7EF95DE2-DDD4-454C-8FB7-5E5376BCAFC0}"/>
              </a:ext>
            </a:extLst>
          </p:cNvPr>
          <p:cNvSpPr>
            <a:spLocks noGrp="1"/>
          </p:cNvSpPr>
          <p:nvPr/>
        </p:nvSpPr>
        <p:spPr>
          <a:xfrm>
            <a:off x="6121908" y="1988820"/>
            <a:ext cx="5554980" cy="75438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229ED9FA-8371-4691-8F46-2DC2B2AB6AEC}"/>
              </a:ext>
            </a:extLst>
          </p:cNvPr>
          <p:cNvSpPr>
            <a:spLocks noGrp="1"/>
          </p:cNvSpPr>
          <p:nvPr/>
        </p:nvSpPr>
        <p:spPr>
          <a:xfrm>
            <a:off x="6195060" y="2061972"/>
            <a:ext cx="5408676" cy="662940"/>
          </a:xfrm>
          <a:prstGeom prst="rect">
            <a:avLst/>
          </a:prstGeom>
          <a:noFill/>
        </p:spPr>
        <p:txBody>
          <a:bodyPr wrap="square" lIns="0" tIns="0" rIns="0" bIns="0" anchor="ctr">
            <a:normAutofit/>
          </a:bodyPr>
          <a:lstStyle/>
          <a:p>
            <a:pPr marL="0" indent="0">
              <a:buNone/>
            </a:pPr>
            <a:r>
              <a:rPr sz="1220">
                <a:solidFill>
                  <a:srgbClr val="1A1E2A"/>
                </a:solidFill>
              </a:rPr>
              <a:t>Finansal alana özel model fine-tune edilmeden ne yapıyor?</a:t>
            </a:r>
            <a:endParaRPr sz="1220"/>
          </a:p>
        </p:txBody>
      </p:sp>
      <p:sp>
        <p:nvSpPr>
          <p:cNvPr id="16" name="Shape 14">
            <a:extLst>
              <a:ext uri="{FF2B5EF4-FFF2-40B4-BE49-F238E27FC236}">
                <a16:creationId xmlns:a16="http://schemas.microsoft.com/office/drawing/2014/main" id="{8A686766-C8D7-46D8-8AF9-4A5846A48D2F}"/>
              </a:ext>
            </a:extLst>
          </p:cNvPr>
          <p:cNvSpPr>
            <a:spLocks noGrp="1"/>
          </p:cNvSpPr>
          <p:nvPr/>
        </p:nvSpPr>
        <p:spPr>
          <a:xfrm>
            <a:off x="566928" y="2743200"/>
            <a:ext cx="2444191" cy="754380"/>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7A4B2199-32C9-411A-A160-2C339107E916}"/>
              </a:ext>
            </a:extLst>
          </p:cNvPr>
          <p:cNvSpPr>
            <a:spLocks noGrp="1"/>
          </p:cNvSpPr>
          <p:nvPr/>
        </p:nvSpPr>
        <p:spPr>
          <a:xfrm>
            <a:off x="640080" y="2816352"/>
            <a:ext cx="2297887" cy="662940"/>
          </a:xfrm>
          <a:prstGeom prst="rect">
            <a:avLst/>
          </a:prstGeom>
          <a:noFill/>
        </p:spPr>
        <p:txBody>
          <a:bodyPr wrap="square" lIns="0" tIns="0" rIns="0" bIns="0" anchor="ctr">
            <a:normAutofit/>
          </a:bodyPr>
          <a:lstStyle/>
          <a:p>
            <a:pPr marL="0" indent="0">
              <a:buNone/>
            </a:pPr>
            <a:r>
              <a:rPr sz="1220">
                <a:solidFill>
                  <a:srgbClr val="1A1E2A"/>
                </a:solidFill>
              </a:rPr>
              <a:t>Fine-tuned FinBERT</a:t>
            </a:r>
            <a:endParaRPr sz="1220"/>
          </a:p>
        </p:txBody>
      </p:sp>
      <p:sp>
        <p:nvSpPr>
          <p:cNvPr id="18" name="Shape 16">
            <a:extLst>
              <a:ext uri="{FF2B5EF4-FFF2-40B4-BE49-F238E27FC236}">
                <a16:creationId xmlns:a16="http://schemas.microsoft.com/office/drawing/2014/main" id="{7E697FAF-9171-4F0A-84FF-2E0E404B08C1}"/>
              </a:ext>
            </a:extLst>
          </p:cNvPr>
          <p:cNvSpPr>
            <a:spLocks noGrp="1"/>
          </p:cNvSpPr>
          <p:nvPr/>
        </p:nvSpPr>
        <p:spPr>
          <a:xfrm>
            <a:off x="3011119" y="2743200"/>
            <a:ext cx="3110789" cy="754380"/>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5158A471-837C-4D5E-B6D0-C16B7D4568F5}"/>
              </a:ext>
            </a:extLst>
          </p:cNvPr>
          <p:cNvSpPr>
            <a:spLocks noGrp="1"/>
          </p:cNvSpPr>
          <p:nvPr/>
        </p:nvSpPr>
        <p:spPr>
          <a:xfrm>
            <a:off x="3084271" y="2816352"/>
            <a:ext cx="2964485" cy="662940"/>
          </a:xfrm>
          <a:prstGeom prst="rect">
            <a:avLst/>
          </a:prstGeom>
          <a:noFill/>
        </p:spPr>
        <p:txBody>
          <a:bodyPr wrap="square" lIns="0" tIns="0" rIns="0" bIns="0" anchor="ctr">
            <a:normAutofit/>
          </a:bodyPr>
          <a:lstStyle/>
          <a:p>
            <a:pPr marL="0" indent="0">
              <a:buNone/>
            </a:pPr>
            <a:r>
              <a:rPr sz="1220">
                <a:solidFill>
                  <a:srgbClr val="1A1E2A"/>
                </a:solidFill>
              </a:rPr>
              <a:t>Finans-özgü + task adaptation</a:t>
            </a:r>
            <a:endParaRPr sz="1220"/>
          </a:p>
        </p:txBody>
      </p:sp>
      <p:sp>
        <p:nvSpPr>
          <p:cNvPr id="20" name="Shape 18">
            <a:extLst>
              <a:ext uri="{FF2B5EF4-FFF2-40B4-BE49-F238E27FC236}">
                <a16:creationId xmlns:a16="http://schemas.microsoft.com/office/drawing/2014/main" id="{ADBCF3DF-15F3-455F-8FBD-14BC032D6748}"/>
              </a:ext>
            </a:extLst>
          </p:cNvPr>
          <p:cNvSpPr>
            <a:spLocks noGrp="1"/>
          </p:cNvSpPr>
          <p:nvPr/>
        </p:nvSpPr>
        <p:spPr>
          <a:xfrm>
            <a:off x="6121908" y="2743200"/>
            <a:ext cx="5554980" cy="754380"/>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C8BCB564-E43F-4378-B1D2-0B9F39F1BFA6}"/>
              </a:ext>
            </a:extLst>
          </p:cNvPr>
          <p:cNvSpPr>
            <a:spLocks noGrp="1"/>
          </p:cNvSpPr>
          <p:nvPr/>
        </p:nvSpPr>
        <p:spPr>
          <a:xfrm>
            <a:off x="6195060" y="2816352"/>
            <a:ext cx="5408676" cy="662940"/>
          </a:xfrm>
          <a:prstGeom prst="rect">
            <a:avLst/>
          </a:prstGeom>
          <a:noFill/>
        </p:spPr>
        <p:txBody>
          <a:bodyPr wrap="square" lIns="0" tIns="0" rIns="0" bIns="0" anchor="ctr">
            <a:normAutofit/>
          </a:bodyPr>
          <a:lstStyle/>
          <a:p>
            <a:pPr marL="0" indent="0">
              <a:buNone/>
            </a:pPr>
            <a:r>
              <a:rPr sz="1220">
                <a:solidFill>
                  <a:srgbClr val="1A1E2A"/>
                </a:solidFill>
              </a:rPr>
              <a:t>FinBERT birleşik eğitimle yeniden ayarlanınca ne kadar iyileşiyor?</a:t>
            </a:r>
            <a:endParaRPr sz="1220"/>
          </a:p>
        </p:txBody>
      </p:sp>
      <p:sp>
        <p:nvSpPr>
          <p:cNvPr id="22" name="Shape 20">
            <a:extLst>
              <a:ext uri="{FF2B5EF4-FFF2-40B4-BE49-F238E27FC236}">
                <a16:creationId xmlns:a16="http://schemas.microsoft.com/office/drawing/2014/main" id="{487CFDAF-6B99-4987-97D3-92A6AD7A3759}"/>
              </a:ext>
            </a:extLst>
          </p:cNvPr>
          <p:cNvSpPr>
            <a:spLocks noGrp="1"/>
          </p:cNvSpPr>
          <p:nvPr/>
        </p:nvSpPr>
        <p:spPr>
          <a:xfrm>
            <a:off x="566928" y="3497580"/>
            <a:ext cx="2444191" cy="754380"/>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D0B3D478-BB34-4BCB-8C75-C49CF6BE1C34}"/>
              </a:ext>
            </a:extLst>
          </p:cNvPr>
          <p:cNvSpPr>
            <a:spLocks noGrp="1"/>
          </p:cNvSpPr>
          <p:nvPr/>
        </p:nvSpPr>
        <p:spPr>
          <a:xfrm>
            <a:off x="640080" y="3570732"/>
            <a:ext cx="2297887" cy="662940"/>
          </a:xfrm>
          <a:prstGeom prst="rect">
            <a:avLst/>
          </a:prstGeom>
          <a:noFill/>
        </p:spPr>
        <p:txBody>
          <a:bodyPr wrap="square" lIns="0" tIns="0" rIns="0" bIns="0" anchor="ctr">
            <a:normAutofit/>
          </a:bodyPr>
          <a:lstStyle/>
          <a:p>
            <a:pPr marL="0" indent="0">
              <a:buNone/>
            </a:pPr>
            <a:r>
              <a:rPr sz="1220">
                <a:solidFill>
                  <a:srgbClr val="1A1E2A"/>
                </a:solidFill>
              </a:rPr>
              <a:t>BERT</a:t>
            </a:r>
            <a:endParaRPr sz="1220"/>
          </a:p>
        </p:txBody>
      </p:sp>
      <p:sp>
        <p:nvSpPr>
          <p:cNvPr id="24" name="Shape 22">
            <a:extLst>
              <a:ext uri="{FF2B5EF4-FFF2-40B4-BE49-F238E27FC236}">
                <a16:creationId xmlns:a16="http://schemas.microsoft.com/office/drawing/2014/main" id="{66F07A56-F8EA-431E-9B09-1306B01E48F3}"/>
              </a:ext>
            </a:extLst>
          </p:cNvPr>
          <p:cNvSpPr>
            <a:spLocks noGrp="1"/>
          </p:cNvSpPr>
          <p:nvPr/>
        </p:nvSpPr>
        <p:spPr>
          <a:xfrm>
            <a:off x="3011119" y="3497580"/>
            <a:ext cx="3110789" cy="754380"/>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6A98BE0A-CA3E-4EE2-8BB9-0E87CD3AC020}"/>
              </a:ext>
            </a:extLst>
          </p:cNvPr>
          <p:cNvSpPr>
            <a:spLocks noGrp="1"/>
          </p:cNvSpPr>
          <p:nvPr/>
        </p:nvSpPr>
        <p:spPr>
          <a:xfrm>
            <a:off x="3084271" y="3570732"/>
            <a:ext cx="2964485" cy="662940"/>
          </a:xfrm>
          <a:prstGeom prst="rect">
            <a:avLst/>
          </a:prstGeom>
          <a:noFill/>
        </p:spPr>
        <p:txBody>
          <a:bodyPr wrap="square" lIns="0" tIns="0" rIns="0" bIns="0" anchor="ctr">
            <a:normAutofit/>
          </a:bodyPr>
          <a:lstStyle/>
          <a:p>
            <a:pPr marL="0" indent="0">
              <a:buNone/>
            </a:pPr>
            <a:r>
              <a:rPr sz="1220">
                <a:solidFill>
                  <a:srgbClr val="1A1E2A"/>
                </a:solidFill>
              </a:rPr>
              <a:t>Genel transformer baseline</a:t>
            </a:r>
            <a:endParaRPr sz="1220"/>
          </a:p>
        </p:txBody>
      </p:sp>
      <p:sp>
        <p:nvSpPr>
          <p:cNvPr id="26" name="Shape 24">
            <a:extLst>
              <a:ext uri="{FF2B5EF4-FFF2-40B4-BE49-F238E27FC236}">
                <a16:creationId xmlns:a16="http://schemas.microsoft.com/office/drawing/2014/main" id="{804164B0-FCB6-4AB1-B110-61FDDC2F1811}"/>
              </a:ext>
            </a:extLst>
          </p:cNvPr>
          <p:cNvSpPr>
            <a:spLocks noGrp="1"/>
          </p:cNvSpPr>
          <p:nvPr/>
        </p:nvSpPr>
        <p:spPr>
          <a:xfrm>
            <a:off x="6121908" y="3497580"/>
            <a:ext cx="5554980" cy="754380"/>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43769076-6366-45D7-97DD-61CAB64DD30A}"/>
              </a:ext>
            </a:extLst>
          </p:cNvPr>
          <p:cNvSpPr>
            <a:spLocks noGrp="1"/>
          </p:cNvSpPr>
          <p:nvPr/>
        </p:nvSpPr>
        <p:spPr>
          <a:xfrm>
            <a:off x="6195060" y="3570732"/>
            <a:ext cx="5408676" cy="662940"/>
          </a:xfrm>
          <a:prstGeom prst="rect">
            <a:avLst/>
          </a:prstGeom>
          <a:noFill/>
        </p:spPr>
        <p:txBody>
          <a:bodyPr wrap="square" lIns="0" tIns="0" rIns="0" bIns="0" anchor="ctr">
            <a:normAutofit/>
          </a:bodyPr>
          <a:lstStyle/>
          <a:p>
            <a:pPr marL="0" indent="0">
              <a:buNone/>
            </a:pPr>
            <a:r>
              <a:rPr sz="1220">
                <a:solidFill>
                  <a:srgbClr val="1A1E2A"/>
                </a:solidFill>
              </a:rPr>
              <a:t>Genel dil temsili finans görevinde ne kadar yeterli?</a:t>
            </a:r>
            <a:endParaRPr sz="1220"/>
          </a:p>
        </p:txBody>
      </p:sp>
      <p:sp>
        <p:nvSpPr>
          <p:cNvPr id="28" name="Shape 26">
            <a:extLst>
              <a:ext uri="{FF2B5EF4-FFF2-40B4-BE49-F238E27FC236}">
                <a16:creationId xmlns:a16="http://schemas.microsoft.com/office/drawing/2014/main" id="{2FF2B028-BFF8-48FA-849B-8FBE6A861846}"/>
              </a:ext>
            </a:extLst>
          </p:cNvPr>
          <p:cNvSpPr>
            <a:spLocks noGrp="1"/>
          </p:cNvSpPr>
          <p:nvPr/>
        </p:nvSpPr>
        <p:spPr>
          <a:xfrm>
            <a:off x="566928" y="4251960"/>
            <a:ext cx="2444191" cy="754380"/>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1487AFEC-9F44-4D5F-AB65-E59E974BEAB6}"/>
              </a:ext>
            </a:extLst>
          </p:cNvPr>
          <p:cNvSpPr>
            <a:spLocks noGrp="1"/>
          </p:cNvSpPr>
          <p:nvPr/>
        </p:nvSpPr>
        <p:spPr>
          <a:xfrm>
            <a:off x="640080" y="4325112"/>
            <a:ext cx="2297887" cy="662940"/>
          </a:xfrm>
          <a:prstGeom prst="rect">
            <a:avLst/>
          </a:prstGeom>
          <a:noFill/>
        </p:spPr>
        <p:txBody>
          <a:bodyPr wrap="square" lIns="0" tIns="0" rIns="0" bIns="0" anchor="ctr">
            <a:normAutofit/>
          </a:bodyPr>
          <a:lstStyle/>
          <a:p>
            <a:pPr marL="0" indent="0">
              <a:buNone/>
            </a:pPr>
            <a:r>
              <a:rPr sz="1220">
                <a:solidFill>
                  <a:srgbClr val="1A1E2A"/>
                </a:solidFill>
              </a:rPr>
              <a:t>DistilBERT</a:t>
            </a:r>
            <a:endParaRPr sz="1220"/>
          </a:p>
        </p:txBody>
      </p:sp>
      <p:sp>
        <p:nvSpPr>
          <p:cNvPr id="30" name="Shape 28">
            <a:extLst>
              <a:ext uri="{FF2B5EF4-FFF2-40B4-BE49-F238E27FC236}">
                <a16:creationId xmlns:a16="http://schemas.microsoft.com/office/drawing/2014/main" id="{8C670035-1028-4AC1-8642-4BE7582613F3}"/>
              </a:ext>
            </a:extLst>
          </p:cNvPr>
          <p:cNvSpPr>
            <a:spLocks noGrp="1"/>
          </p:cNvSpPr>
          <p:nvPr/>
        </p:nvSpPr>
        <p:spPr>
          <a:xfrm>
            <a:off x="3011119" y="4251960"/>
            <a:ext cx="3110789" cy="754380"/>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9B1FC3DE-7118-4A3A-85FF-3DCE7B04A154}"/>
              </a:ext>
            </a:extLst>
          </p:cNvPr>
          <p:cNvSpPr>
            <a:spLocks noGrp="1"/>
          </p:cNvSpPr>
          <p:nvPr/>
        </p:nvSpPr>
        <p:spPr>
          <a:xfrm>
            <a:off x="3084271" y="4325112"/>
            <a:ext cx="2964485" cy="662940"/>
          </a:xfrm>
          <a:prstGeom prst="rect">
            <a:avLst/>
          </a:prstGeom>
          <a:noFill/>
        </p:spPr>
        <p:txBody>
          <a:bodyPr wrap="square" lIns="0" tIns="0" rIns="0" bIns="0" anchor="ctr">
            <a:normAutofit/>
          </a:bodyPr>
          <a:lstStyle/>
          <a:p>
            <a:pPr marL="0" indent="0">
              <a:buNone/>
            </a:pPr>
            <a:r>
              <a:rPr sz="1220">
                <a:solidFill>
                  <a:srgbClr val="1A1E2A"/>
                </a:solidFill>
              </a:rPr>
              <a:t>Verimlilik modeli</a:t>
            </a:r>
            <a:endParaRPr sz="1220"/>
          </a:p>
        </p:txBody>
      </p:sp>
      <p:sp>
        <p:nvSpPr>
          <p:cNvPr id="32" name="Shape 30">
            <a:extLst>
              <a:ext uri="{FF2B5EF4-FFF2-40B4-BE49-F238E27FC236}">
                <a16:creationId xmlns:a16="http://schemas.microsoft.com/office/drawing/2014/main" id="{B06C6985-A118-4849-8BAE-982718615425}"/>
              </a:ext>
            </a:extLst>
          </p:cNvPr>
          <p:cNvSpPr>
            <a:spLocks noGrp="1"/>
          </p:cNvSpPr>
          <p:nvPr/>
        </p:nvSpPr>
        <p:spPr>
          <a:xfrm>
            <a:off x="6121908" y="4251960"/>
            <a:ext cx="5554980" cy="754380"/>
          </a:xfrm>
          <a:prstGeom prst="rect">
            <a:avLst/>
          </a:prstGeom>
          <a:solidFill>
            <a:srgbClr val="F4F6FB"/>
          </a:solidFill>
          <a:ln w="6350">
            <a:solidFill>
              <a:srgbClr val="DDE3EF"/>
            </a:solidFill>
            <a:prstDash val="solid"/>
          </a:ln>
        </p:spPr>
      </p:sp>
      <p:sp>
        <p:nvSpPr>
          <p:cNvPr id="33" name="Text 31">
            <a:extLst>
              <a:ext uri="{FF2B5EF4-FFF2-40B4-BE49-F238E27FC236}">
                <a16:creationId xmlns:a16="http://schemas.microsoft.com/office/drawing/2014/main" id="{7CE66E9B-7CCC-411E-982A-C53E9709A030}"/>
              </a:ext>
            </a:extLst>
          </p:cNvPr>
          <p:cNvSpPr>
            <a:spLocks noGrp="1"/>
          </p:cNvSpPr>
          <p:nvPr/>
        </p:nvSpPr>
        <p:spPr>
          <a:xfrm>
            <a:off x="6195060" y="4325112"/>
            <a:ext cx="5408676" cy="662940"/>
          </a:xfrm>
          <a:prstGeom prst="rect">
            <a:avLst/>
          </a:prstGeom>
          <a:noFill/>
        </p:spPr>
        <p:txBody>
          <a:bodyPr wrap="square" lIns="0" tIns="0" rIns="0" bIns="0" anchor="ctr">
            <a:normAutofit/>
          </a:bodyPr>
          <a:lstStyle/>
          <a:p>
            <a:pPr marL="0" indent="0">
              <a:buNone/>
            </a:pPr>
            <a:r>
              <a:rPr sz="1220">
                <a:solidFill>
                  <a:srgbClr val="1A1E2A"/>
                </a:solidFill>
              </a:rPr>
              <a:t>Daha hızlı ama daha küçük model performans-maliyet dengesi kurabilir mi?</a:t>
            </a:r>
            <a:endParaRPr sz="1220"/>
          </a:p>
        </p:txBody>
      </p:sp>
      <p:sp>
        <p:nvSpPr>
          <p:cNvPr id="34" name="Shape 32">
            <a:extLst>
              <a:ext uri="{FF2B5EF4-FFF2-40B4-BE49-F238E27FC236}">
                <a16:creationId xmlns:a16="http://schemas.microsoft.com/office/drawing/2014/main" id="{C9E8A139-AA6A-440F-8D8E-EC7B3CFFF2F0}"/>
              </a:ext>
            </a:extLst>
          </p:cNvPr>
          <p:cNvSpPr>
            <a:spLocks noGrp="1"/>
          </p:cNvSpPr>
          <p:nvPr/>
        </p:nvSpPr>
        <p:spPr>
          <a:xfrm>
            <a:off x="566928" y="5006340"/>
            <a:ext cx="2444191" cy="754380"/>
          </a:xfrm>
          <a:prstGeom prst="rect">
            <a:avLst/>
          </a:prstGeom>
          <a:solidFill>
            <a:srgbClr val="FFFFFF"/>
          </a:solidFill>
          <a:ln w="6350">
            <a:solidFill>
              <a:srgbClr val="DDE3EF"/>
            </a:solidFill>
            <a:prstDash val="solid"/>
          </a:ln>
        </p:spPr>
      </p:sp>
      <p:sp>
        <p:nvSpPr>
          <p:cNvPr id="35" name="Text 33">
            <a:extLst>
              <a:ext uri="{FF2B5EF4-FFF2-40B4-BE49-F238E27FC236}">
                <a16:creationId xmlns:a16="http://schemas.microsoft.com/office/drawing/2014/main" id="{F3283CD9-332A-48ED-B0D1-0DCBA85BE5D8}"/>
              </a:ext>
            </a:extLst>
          </p:cNvPr>
          <p:cNvSpPr>
            <a:spLocks noGrp="1"/>
          </p:cNvSpPr>
          <p:nvPr/>
        </p:nvSpPr>
        <p:spPr>
          <a:xfrm>
            <a:off x="640080" y="5079492"/>
            <a:ext cx="2297887" cy="662940"/>
          </a:xfrm>
          <a:prstGeom prst="rect">
            <a:avLst/>
          </a:prstGeom>
          <a:noFill/>
        </p:spPr>
        <p:txBody>
          <a:bodyPr wrap="square" lIns="0" tIns="0" rIns="0" bIns="0" anchor="ctr">
            <a:normAutofit/>
          </a:bodyPr>
          <a:lstStyle/>
          <a:p>
            <a:pPr marL="0" indent="0">
              <a:buNone/>
            </a:pPr>
            <a:r>
              <a:rPr sz="1220">
                <a:solidFill>
                  <a:srgbClr val="1A1E2A"/>
                </a:solidFill>
              </a:rPr>
              <a:t>RoBERTa</a:t>
            </a:r>
            <a:endParaRPr sz="1220"/>
          </a:p>
        </p:txBody>
      </p:sp>
      <p:sp>
        <p:nvSpPr>
          <p:cNvPr id="36" name="Shape 34">
            <a:extLst>
              <a:ext uri="{FF2B5EF4-FFF2-40B4-BE49-F238E27FC236}">
                <a16:creationId xmlns:a16="http://schemas.microsoft.com/office/drawing/2014/main" id="{38BC5E72-B876-451A-8554-8FA0C8933EDC}"/>
              </a:ext>
            </a:extLst>
          </p:cNvPr>
          <p:cNvSpPr>
            <a:spLocks noGrp="1"/>
          </p:cNvSpPr>
          <p:nvPr/>
        </p:nvSpPr>
        <p:spPr>
          <a:xfrm>
            <a:off x="3011119" y="5006340"/>
            <a:ext cx="3110789" cy="754380"/>
          </a:xfrm>
          <a:prstGeom prst="rect">
            <a:avLst/>
          </a:prstGeom>
          <a:solidFill>
            <a:srgbClr val="FFFFFF"/>
          </a:solidFill>
          <a:ln w="6350">
            <a:solidFill>
              <a:srgbClr val="DDE3EF"/>
            </a:solidFill>
            <a:prstDash val="solid"/>
          </a:ln>
        </p:spPr>
      </p:sp>
      <p:sp>
        <p:nvSpPr>
          <p:cNvPr id="37" name="Text 35">
            <a:extLst>
              <a:ext uri="{FF2B5EF4-FFF2-40B4-BE49-F238E27FC236}">
                <a16:creationId xmlns:a16="http://schemas.microsoft.com/office/drawing/2014/main" id="{F8982B05-0996-4867-9105-9172EBAD03C6}"/>
              </a:ext>
            </a:extLst>
          </p:cNvPr>
          <p:cNvSpPr>
            <a:spLocks noGrp="1"/>
          </p:cNvSpPr>
          <p:nvPr/>
        </p:nvSpPr>
        <p:spPr>
          <a:xfrm>
            <a:off x="3084271" y="5079492"/>
            <a:ext cx="2964485" cy="662940"/>
          </a:xfrm>
          <a:prstGeom prst="rect">
            <a:avLst/>
          </a:prstGeom>
          <a:noFill/>
        </p:spPr>
        <p:txBody>
          <a:bodyPr wrap="square" lIns="0" tIns="0" rIns="0" bIns="0" anchor="ctr">
            <a:normAutofit/>
          </a:bodyPr>
          <a:lstStyle/>
          <a:p>
            <a:pPr marL="0" indent="0">
              <a:buNone/>
            </a:pPr>
            <a:r>
              <a:rPr sz="1220">
                <a:solidFill>
                  <a:srgbClr val="1A1E2A"/>
                </a:solidFill>
              </a:rPr>
              <a:t>Güçlü genel encoder</a:t>
            </a:r>
            <a:endParaRPr sz="1220"/>
          </a:p>
        </p:txBody>
      </p:sp>
      <p:sp>
        <p:nvSpPr>
          <p:cNvPr id="38" name="Shape 36">
            <a:extLst>
              <a:ext uri="{FF2B5EF4-FFF2-40B4-BE49-F238E27FC236}">
                <a16:creationId xmlns:a16="http://schemas.microsoft.com/office/drawing/2014/main" id="{EE5759FB-2C16-4B16-984C-86845112B297}"/>
              </a:ext>
            </a:extLst>
          </p:cNvPr>
          <p:cNvSpPr>
            <a:spLocks noGrp="1"/>
          </p:cNvSpPr>
          <p:nvPr/>
        </p:nvSpPr>
        <p:spPr>
          <a:xfrm>
            <a:off x="6121908" y="5006340"/>
            <a:ext cx="5554980" cy="754380"/>
          </a:xfrm>
          <a:prstGeom prst="rect">
            <a:avLst/>
          </a:prstGeom>
          <a:solidFill>
            <a:srgbClr val="FFFFFF"/>
          </a:solidFill>
          <a:ln w="6350">
            <a:solidFill>
              <a:srgbClr val="DDE3EF"/>
            </a:solidFill>
            <a:prstDash val="solid"/>
          </a:ln>
        </p:spPr>
      </p:sp>
      <p:sp>
        <p:nvSpPr>
          <p:cNvPr id="39" name="Text 37">
            <a:extLst>
              <a:ext uri="{FF2B5EF4-FFF2-40B4-BE49-F238E27FC236}">
                <a16:creationId xmlns:a16="http://schemas.microsoft.com/office/drawing/2014/main" id="{F11E7FEF-C004-48B3-B266-C8A02775F61E}"/>
              </a:ext>
            </a:extLst>
          </p:cNvPr>
          <p:cNvSpPr>
            <a:spLocks noGrp="1"/>
          </p:cNvSpPr>
          <p:nvPr/>
        </p:nvSpPr>
        <p:spPr>
          <a:xfrm>
            <a:off x="6195060" y="5079492"/>
            <a:ext cx="5408676" cy="662940"/>
          </a:xfrm>
          <a:prstGeom prst="rect">
            <a:avLst/>
          </a:prstGeom>
          <a:noFill/>
        </p:spPr>
        <p:txBody>
          <a:bodyPr wrap="square" lIns="0" tIns="0" rIns="0" bIns="0" anchor="ctr">
            <a:normAutofit/>
          </a:bodyPr>
          <a:lstStyle/>
          <a:p>
            <a:pPr marL="0" indent="0">
              <a:buNone/>
            </a:pPr>
            <a:r>
              <a:rPr sz="1220">
                <a:solidFill>
                  <a:srgbClr val="1A1E2A"/>
                </a:solidFill>
              </a:rPr>
              <a:t>Finans-özgü olmayan ama mimari olarak güçlü model FinBERT’i geçebilir mi?</a:t>
            </a:r>
            <a:endParaRPr sz="1220"/>
          </a:p>
        </p:txBody>
      </p:sp>
      <p:sp>
        <p:nvSpPr>
          <p:cNvPr id="40" name="Text 38">
            <a:extLst>
              <a:ext uri="{FF2B5EF4-FFF2-40B4-BE49-F238E27FC236}">
                <a16:creationId xmlns:a16="http://schemas.microsoft.com/office/drawing/2014/main" id="{C98FE04F-C4D0-43AA-851F-EE0B213DF17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41" name="Text 39">
            <a:extLst>
              <a:ext uri="{FF2B5EF4-FFF2-40B4-BE49-F238E27FC236}">
                <a16:creationId xmlns:a16="http://schemas.microsoft.com/office/drawing/2014/main" id="{6E1CE1CA-34C4-409B-BD7F-2AC5564F2168}"/>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12</a:t>
            </a:r>
            <a:endParaRPr sz="850"/>
          </a:p>
        </p:txBody>
      </p:sp>
      <p:sp>
        <p:nvSpPr>
          <p:cNvPr id="42" name="Shape 40">
            <a:extLst>
              <a:ext uri="{FF2B5EF4-FFF2-40B4-BE49-F238E27FC236}">
                <a16:creationId xmlns:a16="http://schemas.microsoft.com/office/drawing/2014/main" id="{D9821AFD-24E4-426F-9F24-11F65A45F3CE}"/>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200735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058254-DB65-4432-93FA-E8ADDB2A1B5E}"/>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DENEYLER ve BULGULAR »</a:t>
            </a:r>
            <a:endParaRPr sz="3600"/>
          </a:p>
        </p:txBody>
      </p:sp>
      <p:sp>
        <p:nvSpPr>
          <p:cNvPr id="3" name="Text 1">
            <a:extLst>
              <a:ext uri="{FF2B5EF4-FFF2-40B4-BE49-F238E27FC236}">
                <a16:creationId xmlns:a16="http://schemas.microsoft.com/office/drawing/2014/main" id="{DB561B03-4664-4AA4-8AC1-F971F0441500}"/>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İç test başarıları, dış genelleme ve ana kırılma noktaları</a:t>
            </a:r>
            <a:endParaRPr sz="1800"/>
          </a:p>
        </p:txBody>
      </p:sp>
      <p:sp>
        <p:nvSpPr>
          <p:cNvPr id="4" name="Text 2">
            <a:extLst>
              <a:ext uri="{FF2B5EF4-FFF2-40B4-BE49-F238E27FC236}">
                <a16:creationId xmlns:a16="http://schemas.microsoft.com/office/drawing/2014/main" id="{EFC85E6A-0894-4E07-8EB1-C268FC0CA48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D6C6248D-CB7F-4930-BFB6-902880A70CCF}"/>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13</a:t>
            </a:r>
            <a:endParaRPr sz="850"/>
          </a:p>
        </p:txBody>
      </p:sp>
      <p:sp>
        <p:nvSpPr>
          <p:cNvPr id="6" name="Shape 4">
            <a:extLst>
              <a:ext uri="{FF2B5EF4-FFF2-40B4-BE49-F238E27FC236}">
                <a16:creationId xmlns:a16="http://schemas.microsoft.com/office/drawing/2014/main" id="{45DF8EF5-6710-465C-B729-D48DD325F29D}"/>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325193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9858429-7B63-4909-8AE7-E74E468E5A77}"/>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Hazır FinBERT güçlüydü; hedef göreve tam uymadı</a:t>
            </a:r>
            <a:endParaRPr sz="3100"/>
          </a:p>
        </p:txBody>
      </p:sp>
      <p:sp>
        <p:nvSpPr>
          <p:cNvPr id="3" name="Text 1">
            <a:extLst>
              <a:ext uri="{FF2B5EF4-FFF2-40B4-BE49-F238E27FC236}">
                <a16:creationId xmlns:a16="http://schemas.microsoft.com/office/drawing/2014/main" id="{E4F7CFE5-5FB9-44AF-9BE4-EB9223A75BF2}"/>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Finans dilini biliyor; Twitter'ın piyasa-yönlü karar sınırlarını görmemişti.</a:t>
            </a:r>
            <a:endParaRPr sz="1450"/>
          </a:p>
        </p:txBody>
      </p:sp>
      <p:sp>
        <p:nvSpPr>
          <p:cNvPr id="4" name="Text 2">
            <a:extLst>
              <a:ext uri="{FF2B5EF4-FFF2-40B4-BE49-F238E27FC236}">
                <a16:creationId xmlns:a16="http://schemas.microsoft.com/office/drawing/2014/main" id="{299083AC-8E69-47AD-9D12-C9A71E14947E}"/>
              </a:ext>
            </a:extLst>
          </p:cNvPr>
          <p:cNvSpPr>
            <a:spLocks noGrp="1"/>
          </p:cNvSpPr>
          <p:nvPr/>
        </p:nvSpPr>
        <p:spPr>
          <a:xfrm>
            <a:off x="914400" y="1417320"/>
            <a:ext cx="3657600" cy="320040"/>
          </a:xfrm>
          <a:prstGeom prst="rect">
            <a:avLst/>
          </a:prstGeom>
          <a:noFill/>
        </p:spPr>
        <p:txBody>
          <a:bodyPr wrap="square" lIns="0" tIns="0" rIns="0" bIns="0" anchor="ctr"/>
          <a:lstStyle/>
          <a:p>
            <a:pPr marL="0" indent="0">
              <a:buNone/>
            </a:pPr>
            <a:r>
              <a:rPr sz="2100" b="1">
                <a:solidFill>
                  <a:srgbClr val="172033"/>
                </a:solidFill>
              </a:rPr>
              <a:t>Original FinBERT</a:t>
            </a:r>
            <a:endParaRPr sz="2100"/>
          </a:p>
        </p:txBody>
      </p:sp>
      <p:sp>
        <p:nvSpPr>
          <p:cNvPr id="5" name="Text 3">
            <a:extLst>
              <a:ext uri="{FF2B5EF4-FFF2-40B4-BE49-F238E27FC236}">
                <a16:creationId xmlns:a16="http://schemas.microsoft.com/office/drawing/2014/main" id="{0D83E1DC-D2AC-4BDA-8A32-04E1B540FE74}"/>
              </a:ext>
            </a:extLst>
          </p:cNvPr>
          <p:cNvSpPr>
            <a:spLocks noGrp="1"/>
          </p:cNvSpPr>
          <p:nvPr/>
        </p:nvSpPr>
        <p:spPr>
          <a:xfrm>
            <a:off x="914400" y="1874520"/>
            <a:ext cx="2743200" cy="640080"/>
          </a:xfrm>
          <a:prstGeom prst="rect">
            <a:avLst/>
          </a:prstGeom>
          <a:noFill/>
        </p:spPr>
        <p:txBody>
          <a:bodyPr wrap="square" lIns="0" tIns="0" rIns="0" bIns="0" anchor="ctr"/>
          <a:lstStyle/>
          <a:p>
            <a:pPr marL="0" indent="0">
              <a:buNone/>
            </a:pPr>
            <a:r>
              <a:rPr sz="4200" b="1">
                <a:solidFill>
                  <a:srgbClr val="3867D6"/>
                </a:solidFill>
              </a:rPr>
              <a:t>0.6794</a:t>
            </a:r>
            <a:endParaRPr sz="4200"/>
          </a:p>
        </p:txBody>
      </p:sp>
      <p:sp>
        <p:nvSpPr>
          <p:cNvPr id="6" name="Text 4">
            <a:extLst>
              <a:ext uri="{FF2B5EF4-FFF2-40B4-BE49-F238E27FC236}">
                <a16:creationId xmlns:a16="http://schemas.microsoft.com/office/drawing/2014/main" id="{EA0F2502-D2C9-4E78-B0D8-D7BABA4CCBF1}"/>
              </a:ext>
            </a:extLst>
          </p:cNvPr>
          <p:cNvSpPr>
            <a:spLocks noGrp="1"/>
          </p:cNvSpPr>
          <p:nvPr/>
        </p:nvSpPr>
        <p:spPr>
          <a:xfrm>
            <a:off x="960120" y="2578608"/>
            <a:ext cx="3200400" cy="228600"/>
          </a:xfrm>
          <a:prstGeom prst="rect">
            <a:avLst/>
          </a:prstGeom>
          <a:noFill/>
        </p:spPr>
        <p:txBody>
          <a:bodyPr wrap="square" lIns="0" tIns="0" rIns="0" bIns="0" anchor="ctr"/>
          <a:lstStyle/>
          <a:p>
            <a:pPr marL="0" indent="0">
              <a:buNone/>
            </a:pPr>
            <a:r>
              <a:rPr sz="1500">
                <a:solidFill>
                  <a:srgbClr val="5E6A7D"/>
                </a:solidFill>
              </a:rPr>
              <a:t>Internal Macro-F1</a:t>
            </a:r>
            <a:endParaRPr sz="1500"/>
          </a:p>
        </p:txBody>
      </p:sp>
      <p:sp>
        <p:nvSpPr>
          <p:cNvPr id="7" name="Text 5">
            <a:extLst>
              <a:ext uri="{FF2B5EF4-FFF2-40B4-BE49-F238E27FC236}">
                <a16:creationId xmlns:a16="http://schemas.microsoft.com/office/drawing/2014/main" id="{AA5222FD-A226-498D-B5B3-2048E3ED9C8F}"/>
              </a:ext>
            </a:extLst>
          </p:cNvPr>
          <p:cNvSpPr>
            <a:spLocks noGrp="1"/>
          </p:cNvSpPr>
          <p:nvPr/>
        </p:nvSpPr>
        <p:spPr>
          <a:xfrm>
            <a:off x="4754880" y="1417320"/>
            <a:ext cx="6217920" cy="2057400"/>
          </a:xfrm>
          <a:prstGeom prst="rect">
            <a:avLst/>
          </a:prstGeom>
          <a:noFill/>
        </p:spPr>
        <p:txBody>
          <a:bodyPr wrap="square" lIns="635" tIns="635" rIns="635" bIns="635" anchor="ctr">
            <a:normAutofit/>
          </a:bodyPr>
          <a:lstStyle/>
          <a:p>
            <a:r>
              <a:rPr sz="1700">
                <a:solidFill>
                  <a:srgbClr val="1A1E2A"/>
                </a:solidFill>
              </a:rPr>
              <a:t>Finans diline uyarlanmış; PhraseBank ile sentiment fine-tuning görmüş bir modeldir.</a:t>
            </a:r>
            <a:endParaRPr sz="1700"/>
          </a:p>
          <a:p>
            <a:r>
              <a:rPr sz="1700">
                <a:solidFill>
                  <a:srgbClr val="1A1E2A"/>
                </a:solidFill>
              </a:rPr>
              <a:t>Twitter iç testinde Macro-F1 = 0.6794; başlıca hata Neutral → Negative'ti.</a:t>
            </a:r>
            <a:endParaRPr sz="1700"/>
          </a:p>
          <a:p>
            <a:r>
              <a:rPr sz="1700">
                <a:solidFill>
                  <a:srgbClr val="1A1E2A"/>
                </a:solidFill>
              </a:rPr>
              <a:t>Sonuç: alan bilgisi, hedef etiket semantiğini tek başına çözmez.</a:t>
            </a:r>
            <a:endParaRPr sz="1700"/>
          </a:p>
        </p:txBody>
      </p:sp>
      <p:sp>
        <p:nvSpPr>
          <p:cNvPr id="8" name="Shape 6">
            <a:extLst>
              <a:ext uri="{FF2B5EF4-FFF2-40B4-BE49-F238E27FC236}">
                <a16:creationId xmlns:a16="http://schemas.microsoft.com/office/drawing/2014/main" id="{FE3EFDF4-78D8-4094-B177-D87C5F0836BC}"/>
              </a:ext>
            </a:extLst>
          </p:cNvPr>
          <p:cNvSpPr>
            <a:spLocks noGrp="1"/>
          </p:cNvSpPr>
          <p:nvPr/>
        </p:nvSpPr>
        <p:spPr>
          <a:xfrm>
            <a:off x="914400" y="4160520"/>
            <a:ext cx="10058400" cy="731520"/>
          </a:xfrm>
          <a:prstGeom prst="roundRect">
            <a:avLst>
              <a:gd name="adj" fmla="val 10000"/>
            </a:avLst>
          </a:prstGeom>
          <a:solidFill>
            <a:srgbClr val="F0FAF8"/>
          </a:solidFill>
          <a:ln w="15240">
            <a:solidFill>
              <a:srgbClr val="0F9D8F"/>
            </a:solidFill>
            <a:prstDash val="solid"/>
          </a:ln>
        </p:spPr>
      </p:sp>
      <p:sp>
        <p:nvSpPr>
          <p:cNvPr id="9" name="Text 7">
            <a:extLst>
              <a:ext uri="{FF2B5EF4-FFF2-40B4-BE49-F238E27FC236}">
                <a16:creationId xmlns:a16="http://schemas.microsoft.com/office/drawing/2014/main" id="{C97B49DD-B3AA-4FF1-9876-775F1F068B43}"/>
              </a:ext>
            </a:extLst>
          </p:cNvPr>
          <p:cNvSpPr>
            <a:spLocks noGrp="1"/>
          </p:cNvSpPr>
          <p:nvPr/>
        </p:nvSpPr>
        <p:spPr>
          <a:xfrm>
            <a:off x="1078992" y="4306824"/>
            <a:ext cx="9729216" cy="502920"/>
          </a:xfrm>
          <a:prstGeom prst="rect">
            <a:avLst/>
          </a:prstGeom>
          <a:noFill/>
        </p:spPr>
        <p:txBody>
          <a:bodyPr wrap="square" lIns="254" tIns="254" rIns="254" bIns="254" anchor="ctr">
            <a:normAutofit/>
          </a:bodyPr>
          <a:lstStyle/>
          <a:p>
            <a:pPr marL="0" indent="0">
              <a:buNone/>
            </a:pPr>
            <a:r>
              <a:rPr sz="1500" b="1">
                <a:solidFill>
                  <a:srgbClr val="172033"/>
                </a:solidFill>
              </a:rPr>
              <a:t>İlk ders: alan bilgisi güçlü bir başlangıçtır; hedef karar sınırları ayrıca öğrenilmelidir.</a:t>
            </a:r>
            <a:endParaRPr sz="1500"/>
          </a:p>
        </p:txBody>
      </p:sp>
      <p:sp>
        <p:nvSpPr>
          <p:cNvPr id="10" name="Text 8">
            <a:extLst>
              <a:ext uri="{FF2B5EF4-FFF2-40B4-BE49-F238E27FC236}">
                <a16:creationId xmlns:a16="http://schemas.microsoft.com/office/drawing/2014/main" id="{A7A6D051-7EDF-48B3-A4B9-D0FFCF909C57}"/>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1" name="Text 9">
            <a:extLst>
              <a:ext uri="{FF2B5EF4-FFF2-40B4-BE49-F238E27FC236}">
                <a16:creationId xmlns:a16="http://schemas.microsoft.com/office/drawing/2014/main" id="{F6504025-D0DB-480B-9978-50E2C8992C35}"/>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14</a:t>
            </a:r>
            <a:endParaRPr sz="850"/>
          </a:p>
        </p:txBody>
      </p:sp>
      <p:sp>
        <p:nvSpPr>
          <p:cNvPr id="12" name="Shape 10">
            <a:extLst>
              <a:ext uri="{FF2B5EF4-FFF2-40B4-BE49-F238E27FC236}">
                <a16:creationId xmlns:a16="http://schemas.microsoft.com/office/drawing/2014/main" id="{E7D9631E-14BE-41FA-9AA2-2B7FF0334057}"/>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70960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9EA70D-D191-442A-929E-407471D6C2AF}"/>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FinBERT hatası: olumsuz kelime, yanlış piyasa yorumu</a:t>
            </a:r>
            <a:endParaRPr sz="3100"/>
          </a:p>
        </p:txBody>
      </p:sp>
      <p:sp>
        <p:nvSpPr>
          <p:cNvPr id="3" name="Text 1">
            <a:extLst>
              <a:ext uri="{FF2B5EF4-FFF2-40B4-BE49-F238E27FC236}">
                <a16:creationId xmlns:a16="http://schemas.microsoft.com/office/drawing/2014/main" id="{2C80C1E0-70BF-4B81-B3B8-476F52777FC7}"/>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İki örnek, yüzeysel kelime eşleşmesinin neden yetmediğini gösteriyor.</a:t>
            </a:r>
            <a:endParaRPr sz="1450"/>
          </a:p>
        </p:txBody>
      </p:sp>
      <p:sp>
        <p:nvSpPr>
          <p:cNvPr id="4" name="Text 2">
            <a:extLst>
              <a:ext uri="{FF2B5EF4-FFF2-40B4-BE49-F238E27FC236}">
                <a16:creationId xmlns:a16="http://schemas.microsoft.com/office/drawing/2014/main" id="{CE5E1FF3-C5D9-48E7-85D9-DE4171830ED8}"/>
              </a:ext>
            </a:extLst>
          </p:cNvPr>
          <p:cNvSpPr>
            <a:spLocks noGrp="1"/>
          </p:cNvSpPr>
          <p:nvPr/>
        </p:nvSpPr>
        <p:spPr>
          <a:xfrm>
            <a:off x="777240" y="1325880"/>
            <a:ext cx="3291840" cy="274320"/>
          </a:xfrm>
          <a:prstGeom prst="rect">
            <a:avLst/>
          </a:prstGeom>
          <a:noFill/>
        </p:spPr>
        <p:txBody>
          <a:bodyPr wrap="square" lIns="0" tIns="0" rIns="0" bIns="0" anchor="ctr"/>
          <a:lstStyle/>
          <a:p>
            <a:pPr marL="0" indent="0">
              <a:buNone/>
            </a:pPr>
            <a:r>
              <a:rPr sz="1900" b="1">
                <a:solidFill>
                  <a:srgbClr val="3867D6"/>
                </a:solidFill>
              </a:rPr>
              <a:t>Örnek 1 — Gold: Positive</a:t>
            </a:r>
            <a:endParaRPr sz="1900"/>
          </a:p>
        </p:txBody>
      </p:sp>
      <p:sp>
        <p:nvSpPr>
          <p:cNvPr id="5" name="Text 3">
            <a:extLst>
              <a:ext uri="{FF2B5EF4-FFF2-40B4-BE49-F238E27FC236}">
                <a16:creationId xmlns:a16="http://schemas.microsoft.com/office/drawing/2014/main" id="{6819FDB4-697C-40E7-BB19-5B4454050020}"/>
              </a:ext>
            </a:extLst>
          </p:cNvPr>
          <p:cNvSpPr>
            <a:spLocks noGrp="1"/>
          </p:cNvSpPr>
          <p:nvPr/>
        </p:nvSpPr>
        <p:spPr>
          <a:xfrm>
            <a:off x="77724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“Jobless claims drop below consensus”
FinBERT: Negative (%97,03)
Düşük başvuru olumlu; “drop” modeli yanıltıyor.</a:t>
            </a:r>
            <a:endParaRPr sz="1650"/>
          </a:p>
        </p:txBody>
      </p:sp>
      <p:sp>
        <p:nvSpPr>
          <p:cNvPr id="6" name="Text 4">
            <a:extLst>
              <a:ext uri="{FF2B5EF4-FFF2-40B4-BE49-F238E27FC236}">
                <a16:creationId xmlns:a16="http://schemas.microsoft.com/office/drawing/2014/main" id="{57FEF3C3-760B-4D5E-B380-8E456EC34C72}"/>
              </a:ext>
            </a:extLst>
          </p:cNvPr>
          <p:cNvSpPr>
            <a:spLocks noGrp="1"/>
          </p:cNvSpPr>
          <p:nvPr/>
        </p:nvSpPr>
        <p:spPr>
          <a:xfrm>
            <a:off x="6400800" y="1325880"/>
            <a:ext cx="3291840" cy="274320"/>
          </a:xfrm>
          <a:prstGeom prst="rect">
            <a:avLst/>
          </a:prstGeom>
          <a:noFill/>
        </p:spPr>
        <p:txBody>
          <a:bodyPr wrap="square" lIns="0" tIns="0" rIns="0" bIns="0" anchor="ctr"/>
          <a:lstStyle/>
          <a:p>
            <a:pPr marL="0" indent="0">
              <a:buNone/>
            </a:pPr>
            <a:r>
              <a:rPr sz="1900" b="1">
                <a:solidFill>
                  <a:srgbClr val="0F9D8F"/>
                </a:solidFill>
              </a:rPr>
              <a:t>Örnek 2 — Gold: Neutral</a:t>
            </a:r>
            <a:endParaRPr sz="1900"/>
          </a:p>
        </p:txBody>
      </p:sp>
      <p:sp>
        <p:nvSpPr>
          <p:cNvPr id="7" name="Text 5">
            <a:extLst>
              <a:ext uri="{FF2B5EF4-FFF2-40B4-BE49-F238E27FC236}">
                <a16:creationId xmlns:a16="http://schemas.microsoft.com/office/drawing/2014/main" id="{BAC815FF-DF4D-472D-9114-5473FA5EA8C3}"/>
              </a:ext>
            </a:extLst>
          </p:cNvPr>
          <p:cNvSpPr>
            <a:spLocks noGrp="1"/>
          </p:cNvSpPr>
          <p:nvPr/>
        </p:nvSpPr>
        <p:spPr>
          <a:xfrm>
            <a:off x="640080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“Beef sales fell 8%; chicken rose 4.5%”
FinBERT: Negative
Karışık sinyal; “fell” kısmı baskın geliyor.</a:t>
            </a:r>
            <a:endParaRPr sz="1650"/>
          </a:p>
        </p:txBody>
      </p:sp>
      <p:sp>
        <p:nvSpPr>
          <p:cNvPr id="8" name="Shape 6">
            <a:extLst>
              <a:ext uri="{FF2B5EF4-FFF2-40B4-BE49-F238E27FC236}">
                <a16:creationId xmlns:a16="http://schemas.microsoft.com/office/drawing/2014/main" id="{4BEF18BD-0039-4813-998E-8A0E4056A7C6}"/>
              </a:ext>
            </a:extLst>
          </p:cNvPr>
          <p:cNvSpPr>
            <a:spLocks noGrp="1"/>
          </p:cNvSpPr>
          <p:nvPr/>
        </p:nvSpPr>
        <p:spPr>
          <a:xfrm>
            <a:off x="5989320" y="1234440"/>
            <a:ext cx="0" cy="2011680"/>
          </a:xfrm>
          <a:prstGeom prst="line">
            <a:avLst/>
          </a:prstGeom>
          <a:noFill/>
          <a:ln w="25400">
            <a:solidFill>
              <a:srgbClr val="DDE3EF"/>
            </a:solidFill>
            <a:prstDash val="solid"/>
          </a:ln>
        </p:spPr>
      </p:sp>
      <p:sp>
        <p:nvSpPr>
          <p:cNvPr id="9" name="Text 7">
            <a:extLst>
              <a:ext uri="{FF2B5EF4-FFF2-40B4-BE49-F238E27FC236}">
                <a16:creationId xmlns:a16="http://schemas.microsoft.com/office/drawing/2014/main" id="{3F8DC7EF-CDF0-4448-940A-8246AB162BC5}"/>
              </a:ext>
            </a:extLst>
          </p:cNvPr>
          <p:cNvSpPr>
            <a:spLocks noGrp="1"/>
          </p:cNvSpPr>
          <p:nvPr/>
        </p:nvSpPr>
        <p:spPr>
          <a:xfrm>
            <a:off x="914400" y="3840480"/>
            <a:ext cx="4114800" cy="274320"/>
          </a:xfrm>
          <a:prstGeom prst="rect">
            <a:avLst/>
          </a:prstGeom>
          <a:noFill/>
        </p:spPr>
        <p:txBody>
          <a:bodyPr wrap="square" lIns="0" tIns="0" rIns="0" bIns="0" anchor="ctr"/>
          <a:lstStyle/>
          <a:p>
            <a:pPr marL="0" indent="0">
              <a:buNone/>
            </a:pPr>
            <a:r>
              <a:rPr sz="1700" b="1">
                <a:solidFill>
                  <a:srgbClr val="172033"/>
                </a:solidFill>
              </a:rPr>
              <a:t>Hata mekanizması</a:t>
            </a:r>
            <a:endParaRPr sz="1700"/>
          </a:p>
        </p:txBody>
      </p:sp>
      <p:sp>
        <p:nvSpPr>
          <p:cNvPr id="10" name="Text 8">
            <a:extLst>
              <a:ext uri="{FF2B5EF4-FFF2-40B4-BE49-F238E27FC236}">
                <a16:creationId xmlns:a16="http://schemas.microsoft.com/office/drawing/2014/main" id="{F9B32FB0-E227-4E64-9EEA-5E81C2B4D8B4}"/>
              </a:ext>
            </a:extLst>
          </p:cNvPr>
          <p:cNvSpPr>
            <a:spLocks noGrp="1"/>
          </p:cNvSpPr>
          <p:nvPr/>
        </p:nvSpPr>
        <p:spPr>
          <a:xfrm>
            <a:off x="914400" y="4297680"/>
            <a:ext cx="9875520" cy="640080"/>
          </a:xfrm>
          <a:prstGeom prst="rect">
            <a:avLst/>
          </a:prstGeom>
          <a:noFill/>
        </p:spPr>
        <p:txBody>
          <a:bodyPr wrap="square" lIns="381" tIns="381" rIns="381" bIns="381" anchor="ctr">
            <a:normAutofit/>
          </a:bodyPr>
          <a:lstStyle/>
          <a:p>
            <a:pPr marL="0" indent="0">
              <a:buNone/>
            </a:pPr>
            <a:r>
              <a:rPr sz="1700" b="1">
                <a:solidFill>
                  <a:srgbClr val="D64545"/>
                </a:solidFill>
              </a:rPr>
              <a:t>FinBERT genel finansal tonu; hedef veri ise piyasa yönünü etiketliyor.</a:t>
            </a:r>
            <a:endParaRPr sz="1700"/>
          </a:p>
          <a:p>
            <a:pPr marL="0" indent="0">
              <a:buNone/>
            </a:pPr>
            <a:r>
              <a:rPr sz="1700" b="1">
                <a:solidFill>
                  <a:srgbClr val="D64545"/>
                </a:solidFill>
              </a:rPr>
              <a:t>Semantik fark, göreve özgü fine-tuning ihtiyacını açıklıyor.</a:t>
            </a:r>
            <a:endParaRPr sz="1700"/>
          </a:p>
        </p:txBody>
      </p:sp>
      <p:sp>
        <p:nvSpPr>
          <p:cNvPr id="11" name="Text 9">
            <a:extLst>
              <a:ext uri="{FF2B5EF4-FFF2-40B4-BE49-F238E27FC236}">
                <a16:creationId xmlns:a16="http://schemas.microsoft.com/office/drawing/2014/main" id="{A1AAA1EC-C786-419C-BEBD-4689C9B64F6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2" name="Text 10">
            <a:extLst>
              <a:ext uri="{FF2B5EF4-FFF2-40B4-BE49-F238E27FC236}">
                <a16:creationId xmlns:a16="http://schemas.microsoft.com/office/drawing/2014/main" id="{46D7951B-9AE4-448C-BEA1-21C6B881EB80}"/>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15</a:t>
            </a:r>
            <a:endParaRPr sz="850"/>
          </a:p>
        </p:txBody>
      </p:sp>
      <p:sp>
        <p:nvSpPr>
          <p:cNvPr id="13" name="Shape 11">
            <a:extLst>
              <a:ext uri="{FF2B5EF4-FFF2-40B4-BE49-F238E27FC236}">
                <a16:creationId xmlns:a16="http://schemas.microsoft.com/office/drawing/2014/main" id="{5435FA89-93CB-429A-86F7-8E09D9602B8E}"/>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878933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E956FC2-6AD5-4CAE-8979-79C47032FA3C}"/>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İç test: birleşik veriyle fine-tuning büyük fark yarattı</a:t>
            </a:r>
            <a:endParaRPr sz="3100"/>
          </a:p>
        </p:txBody>
      </p:sp>
      <p:sp>
        <p:nvSpPr>
          <p:cNvPr id="3" name="Text 1">
            <a:extLst>
              <a:ext uri="{FF2B5EF4-FFF2-40B4-BE49-F238E27FC236}">
                <a16:creationId xmlns:a16="http://schemas.microsoft.com/office/drawing/2014/main" id="{7B16A5D8-F823-4229-8E14-160F4477A3FC}"/>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Train: 8.110 Twitter + 4.840 PhraseBank; validation ve test yalnız Twitter.</a:t>
            </a:r>
            <a:endParaRPr sz="1450"/>
          </a:p>
        </p:txBody>
      </p:sp>
      <p:sp>
        <p:nvSpPr>
          <p:cNvPr id="4" name="Text 2">
            <a:extLst>
              <a:ext uri="{FF2B5EF4-FFF2-40B4-BE49-F238E27FC236}">
                <a16:creationId xmlns:a16="http://schemas.microsoft.com/office/drawing/2014/main" id="{F3F027E8-4845-45E1-9F48-6748B69C26AC}"/>
              </a:ext>
            </a:extLst>
          </p:cNvPr>
          <p:cNvSpPr>
            <a:spLocks noGrp="1"/>
          </p:cNvSpPr>
          <p:nvPr/>
        </p:nvSpPr>
        <p:spPr>
          <a:xfrm>
            <a:off x="868680" y="1481328"/>
            <a:ext cx="2286000" cy="502920"/>
          </a:xfrm>
          <a:prstGeom prst="rect">
            <a:avLst/>
          </a:prstGeom>
          <a:noFill/>
        </p:spPr>
        <p:txBody>
          <a:bodyPr wrap="square" lIns="0" tIns="0" rIns="0" bIns="0" anchor="ctr">
            <a:normAutofit/>
          </a:bodyPr>
          <a:lstStyle/>
          <a:p>
            <a:pPr marL="0" indent="0">
              <a:buNone/>
            </a:pPr>
            <a:r>
              <a:rPr sz="1350">
                <a:solidFill>
                  <a:srgbClr val="1A1E2A"/>
                </a:solidFill>
              </a:rPr>
              <a:t>RoBERTa</a:t>
            </a:r>
            <a:endParaRPr sz="1350"/>
          </a:p>
        </p:txBody>
      </p:sp>
      <p:sp>
        <p:nvSpPr>
          <p:cNvPr id="5" name="Shape 3">
            <a:extLst>
              <a:ext uri="{FF2B5EF4-FFF2-40B4-BE49-F238E27FC236}">
                <a16:creationId xmlns:a16="http://schemas.microsoft.com/office/drawing/2014/main" id="{2F609E63-CD07-47E9-8861-7527AC8E4FB9}"/>
              </a:ext>
            </a:extLst>
          </p:cNvPr>
          <p:cNvSpPr>
            <a:spLocks noGrp="1"/>
          </p:cNvSpPr>
          <p:nvPr/>
        </p:nvSpPr>
        <p:spPr>
          <a:xfrm>
            <a:off x="3154680" y="1527048"/>
            <a:ext cx="2606040" cy="256032"/>
          </a:xfrm>
          <a:prstGeom prst="rect">
            <a:avLst/>
          </a:prstGeom>
          <a:solidFill>
            <a:srgbClr val="E8ECF5"/>
          </a:solidFill>
          <a:ln w="12700">
            <a:solidFill>
              <a:srgbClr val="E8ECF5"/>
            </a:solidFill>
            <a:prstDash val="solid"/>
          </a:ln>
        </p:spPr>
      </p:sp>
      <p:sp>
        <p:nvSpPr>
          <p:cNvPr id="6" name="Shape 4">
            <a:extLst>
              <a:ext uri="{FF2B5EF4-FFF2-40B4-BE49-F238E27FC236}">
                <a16:creationId xmlns:a16="http://schemas.microsoft.com/office/drawing/2014/main" id="{197D1D93-539A-42E3-88C4-7A7E7968071A}"/>
              </a:ext>
            </a:extLst>
          </p:cNvPr>
          <p:cNvSpPr>
            <a:spLocks noGrp="1"/>
          </p:cNvSpPr>
          <p:nvPr/>
        </p:nvSpPr>
        <p:spPr>
          <a:xfrm>
            <a:off x="3154680" y="1527048"/>
            <a:ext cx="2504984" cy="256032"/>
          </a:xfrm>
          <a:prstGeom prst="rect">
            <a:avLst/>
          </a:prstGeom>
          <a:solidFill>
            <a:srgbClr val="0F9D8F"/>
          </a:solidFill>
          <a:ln w="12700">
            <a:solidFill>
              <a:srgbClr val="0F9D8F"/>
            </a:solidFill>
            <a:prstDash val="solid"/>
          </a:ln>
        </p:spPr>
      </p:sp>
      <p:sp>
        <p:nvSpPr>
          <p:cNvPr id="7" name="Text 5">
            <a:extLst>
              <a:ext uri="{FF2B5EF4-FFF2-40B4-BE49-F238E27FC236}">
                <a16:creationId xmlns:a16="http://schemas.microsoft.com/office/drawing/2014/main" id="{B5ECE5F2-0378-4B18-9BEB-0AC143D216C5}"/>
              </a:ext>
            </a:extLst>
          </p:cNvPr>
          <p:cNvSpPr>
            <a:spLocks noGrp="1"/>
          </p:cNvSpPr>
          <p:nvPr/>
        </p:nvSpPr>
        <p:spPr>
          <a:xfrm>
            <a:off x="5897880" y="1481328"/>
            <a:ext cx="640080" cy="502920"/>
          </a:xfrm>
          <a:prstGeom prst="rect">
            <a:avLst/>
          </a:prstGeom>
          <a:noFill/>
        </p:spPr>
        <p:txBody>
          <a:bodyPr wrap="square" lIns="0" tIns="0" rIns="0" bIns="0" anchor="ctr"/>
          <a:lstStyle/>
          <a:p>
            <a:pPr marL="0" indent="0" algn="r">
              <a:buNone/>
            </a:pPr>
            <a:r>
              <a:rPr sz="1350" b="1">
                <a:solidFill>
                  <a:srgbClr val="1A1E2A"/>
                </a:solidFill>
              </a:rPr>
              <a:t>0.8651</a:t>
            </a:r>
            <a:endParaRPr sz="1350"/>
          </a:p>
        </p:txBody>
      </p:sp>
      <p:sp>
        <p:nvSpPr>
          <p:cNvPr id="8" name="Text 6">
            <a:extLst>
              <a:ext uri="{FF2B5EF4-FFF2-40B4-BE49-F238E27FC236}">
                <a16:creationId xmlns:a16="http://schemas.microsoft.com/office/drawing/2014/main" id="{CD483876-4B56-4778-B726-8BF6A7C07012}"/>
              </a:ext>
            </a:extLst>
          </p:cNvPr>
          <p:cNvSpPr>
            <a:spLocks noGrp="1"/>
          </p:cNvSpPr>
          <p:nvPr/>
        </p:nvSpPr>
        <p:spPr>
          <a:xfrm>
            <a:off x="868680" y="2029968"/>
            <a:ext cx="2286000" cy="502920"/>
          </a:xfrm>
          <a:prstGeom prst="rect">
            <a:avLst/>
          </a:prstGeom>
          <a:noFill/>
        </p:spPr>
        <p:txBody>
          <a:bodyPr wrap="square" lIns="0" tIns="0" rIns="0" bIns="0" anchor="ctr">
            <a:normAutofit/>
          </a:bodyPr>
          <a:lstStyle/>
          <a:p>
            <a:pPr marL="0" indent="0">
              <a:buNone/>
            </a:pPr>
            <a:r>
              <a:rPr sz="1350">
                <a:solidFill>
                  <a:srgbClr val="1A1E2A"/>
                </a:solidFill>
              </a:rPr>
              <a:t>Fine-tuned FinBERT</a:t>
            </a:r>
            <a:endParaRPr sz="1350"/>
          </a:p>
        </p:txBody>
      </p:sp>
      <p:sp>
        <p:nvSpPr>
          <p:cNvPr id="9" name="Shape 7">
            <a:extLst>
              <a:ext uri="{FF2B5EF4-FFF2-40B4-BE49-F238E27FC236}">
                <a16:creationId xmlns:a16="http://schemas.microsoft.com/office/drawing/2014/main" id="{AC17B1B0-B6A9-4C29-BCB8-6756525E9223}"/>
              </a:ext>
            </a:extLst>
          </p:cNvPr>
          <p:cNvSpPr>
            <a:spLocks noGrp="1"/>
          </p:cNvSpPr>
          <p:nvPr/>
        </p:nvSpPr>
        <p:spPr>
          <a:xfrm>
            <a:off x="3154680" y="2075688"/>
            <a:ext cx="2606040" cy="256032"/>
          </a:xfrm>
          <a:prstGeom prst="rect">
            <a:avLst/>
          </a:prstGeom>
          <a:solidFill>
            <a:srgbClr val="E8ECF5"/>
          </a:solidFill>
          <a:ln w="12700">
            <a:solidFill>
              <a:srgbClr val="E8ECF5"/>
            </a:solidFill>
            <a:prstDash val="solid"/>
          </a:ln>
        </p:spPr>
      </p:sp>
      <p:sp>
        <p:nvSpPr>
          <p:cNvPr id="10" name="Shape 8">
            <a:extLst>
              <a:ext uri="{FF2B5EF4-FFF2-40B4-BE49-F238E27FC236}">
                <a16:creationId xmlns:a16="http://schemas.microsoft.com/office/drawing/2014/main" id="{A8FE7FDB-0C9A-481D-A3AE-FDFA8205929C}"/>
              </a:ext>
            </a:extLst>
          </p:cNvPr>
          <p:cNvSpPr>
            <a:spLocks noGrp="1"/>
          </p:cNvSpPr>
          <p:nvPr/>
        </p:nvSpPr>
        <p:spPr>
          <a:xfrm>
            <a:off x="3154680" y="2075688"/>
            <a:ext cx="2464735" cy="256032"/>
          </a:xfrm>
          <a:prstGeom prst="rect">
            <a:avLst/>
          </a:prstGeom>
          <a:solidFill>
            <a:srgbClr val="3867D6"/>
          </a:solidFill>
          <a:ln w="12700">
            <a:solidFill>
              <a:srgbClr val="3867D6"/>
            </a:solidFill>
            <a:prstDash val="solid"/>
          </a:ln>
        </p:spPr>
      </p:sp>
      <p:sp>
        <p:nvSpPr>
          <p:cNvPr id="11" name="Text 9">
            <a:extLst>
              <a:ext uri="{FF2B5EF4-FFF2-40B4-BE49-F238E27FC236}">
                <a16:creationId xmlns:a16="http://schemas.microsoft.com/office/drawing/2014/main" id="{FE0E948B-AA43-406A-8352-C002D815CC09}"/>
              </a:ext>
            </a:extLst>
          </p:cNvPr>
          <p:cNvSpPr>
            <a:spLocks noGrp="1"/>
          </p:cNvSpPr>
          <p:nvPr/>
        </p:nvSpPr>
        <p:spPr>
          <a:xfrm>
            <a:off x="5897880" y="2029968"/>
            <a:ext cx="640080" cy="502920"/>
          </a:xfrm>
          <a:prstGeom prst="rect">
            <a:avLst/>
          </a:prstGeom>
          <a:noFill/>
        </p:spPr>
        <p:txBody>
          <a:bodyPr wrap="square" lIns="0" tIns="0" rIns="0" bIns="0" anchor="ctr"/>
          <a:lstStyle/>
          <a:p>
            <a:pPr marL="0" indent="0" algn="r">
              <a:buNone/>
            </a:pPr>
            <a:r>
              <a:rPr sz="1350" b="1">
                <a:solidFill>
                  <a:srgbClr val="1A1E2A"/>
                </a:solidFill>
              </a:rPr>
              <a:t>0.8512</a:t>
            </a:r>
            <a:endParaRPr sz="1350"/>
          </a:p>
        </p:txBody>
      </p:sp>
      <p:sp>
        <p:nvSpPr>
          <p:cNvPr id="12" name="Text 10">
            <a:extLst>
              <a:ext uri="{FF2B5EF4-FFF2-40B4-BE49-F238E27FC236}">
                <a16:creationId xmlns:a16="http://schemas.microsoft.com/office/drawing/2014/main" id="{3726E3B8-723A-497E-8D84-41C9693C7B67}"/>
              </a:ext>
            </a:extLst>
          </p:cNvPr>
          <p:cNvSpPr>
            <a:spLocks noGrp="1"/>
          </p:cNvSpPr>
          <p:nvPr/>
        </p:nvSpPr>
        <p:spPr>
          <a:xfrm>
            <a:off x="868680" y="2578608"/>
            <a:ext cx="2286000" cy="502920"/>
          </a:xfrm>
          <a:prstGeom prst="rect">
            <a:avLst/>
          </a:prstGeom>
          <a:noFill/>
        </p:spPr>
        <p:txBody>
          <a:bodyPr wrap="square" lIns="0" tIns="0" rIns="0" bIns="0" anchor="ctr">
            <a:normAutofit/>
          </a:bodyPr>
          <a:lstStyle/>
          <a:p>
            <a:pPr marL="0" indent="0">
              <a:buNone/>
            </a:pPr>
            <a:r>
              <a:rPr sz="1350">
                <a:solidFill>
                  <a:srgbClr val="1A1E2A"/>
                </a:solidFill>
              </a:rPr>
              <a:t>BERT</a:t>
            </a:r>
            <a:endParaRPr sz="1350"/>
          </a:p>
        </p:txBody>
      </p:sp>
      <p:sp>
        <p:nvSpPr>
          <p:cNvPr id="13" name="Shape 11">
            <a:extLst>
              <a:ext uri="{FF2B5EF4-FFF2-40B4-BE49-F238E27FC236}">
                <a16:creationId xmlns:a16="http://schemas.microsoft.com/office/drawing/2014/main" id="{7C9900B6-223E-4310-A6C6-59429D06DA38}"/>
              </a:ext>
            </a:extLst>
          </p:cNvPr>
          <p:cNvSpPr>
            <a:spLocks noGrp="1"/>
          </p:cNvSpPr>
          <p:nvPr/>
        </p:nvSpPr>
        <p:spPr>
          <a:xfrm>
            <a:off x="3154680" y="2624328"/>
            <a:ext cx="2606040" cy="256032"/>
          </a:xfrm>
          <a:prstGeom prst="rect">
            <a:avLst/>
          </a:prstGeom>
          <a:solidFill>
            <a:srgbClr val="E8ECF5"/>
          </a:solidFill>
          <a:ln w="12700">
            <a:solidFill>
              <a:srgbClr val="E8ECF5"/>
            </a:solidFill>
            <a:prstDash val="solid"/>
          </a:ln>
        </p:spPr>
      </p:sp>
      <p:sp>
        <p:nvSpPr>
          <p:cNvPr id="14" name="Shape 12">
            <a:extLst>
              <a:ext uri="{FF2B5EF4-FFF2-40B4-BE49-F238E27FC236}">
                <a16:creationId xmlns:a16="http://schemas.microsoft.com/office/drawing/2014/main" id="{4017CB1F-BDA4-48FF-8A02-64949BF93D1A}"/>
              </a:ext>
            </a:extLst>
          </p:cNvPr>
          <p:cNvSpPr>
            <a:spLocks noGrp="1"/>
          </p:cNvSpPr>
          <p:nvPr/>
        </p:nvSpPr>
        <p:spPr>
          <a:xfrm>
            <a:off x="3154680" y="2624328"/>
            <a:ext cx="2425934" cy="256032"/>
          </a:xfrm>
          <a:prstGeom prst="rect">
            <a:avLst/>
          </a:prstGeom>
          <a:solidFill>
            <a:srgbClr val="F4A62A"/>
          </a:solidFill>
          <a:ln w="12700">
            <a:solidFill>
              <a:srgbClr val="F4A62A"/>
            </a:solidFill>
            <a:prstDash val="solid"/>
          </a:ln>
        </p:spPr>
      </p:sp>
      <p:sp>
        <p:nvSpPr>
          <p:cNvPr id="15" name="Text 13">
            <a:extLst>
              <a:ext uri="{FF2B5EF4-FFF2-40B4-BE49-F238E27FC236}">
                <a16:creationId xmlns:a16="http://schemas.microsoft.com/office/drawing/2014/main" id="{01476A21-E627-4F86-BB44-7DB484CCAF36}"/>
              </a:ext>
            </a:extLst>
          </p:cNvPr>
          <p:cNvSpPr>
            <a:spLocks noGrp="1"/>
          </p:cNvSpPr>
          <p:nvPr/>
        </p:nvSpPr>
        <p:spPr>
          <a:xfrm>
            <a:off x="5897880" y="2578608"/>
            <a:ext cx="640080" cy="502920"/>
          </a:xfrm>
          <a:prstGeom prst="rect">
            <a:avLst/>
          </a:prstGeom>
          <a:noFill/>
        </p:spPr>
        <p:txBody>
          <a:bodyPr wrap="square" lIns="0" tIns="0" rIns="0" bIns="0" anchor="ctr"/>
          <a:lstStyle/>
          <a:p>
            <a:pPr marL="0" indent="0" algn="r">
              <a:buNone/>
            </a:pPr>
            <a:r>
              <a:rPr sz="1350">
                <a:solidFill>
                  <a:srgbClr val="1A1E2A"/>
                </a:solidFill>
              </a:rPr>
              <a:t>0.8378</a:t>
            </a:r>
            <a:endParaRPr sz="1350"/>
          </a:p>
        </p:txBody>
      </p:sp>
      <p:sp>
        <p:nvSpPr>
          <p:cNvPr id="16" name="Text 14">
            <a:extLst>
              <a:ext uri="{FF2B5EF4-FFF2-40B4-BE49-F238E27FC236}">
                <a16:creationId xmlns:a16="http://schemas.microsoft.com/office/drawing/2014/main" id="{CCB00E06-AEA9-4057-8DD3-70C0584E54CC}"/>
              </a:ext>
            </a:extLst>
          </p:cNvPr>
          <p:cNvSpPr>
            <a:spLocks noGrp="1"/>
          </p:cNvSpPr>
          <p:nvPr/>
        </p:nvSpPr>
        <p:spPr>
          <a:xfrm>
            <a:off x="868680" y="3127248"/>
            <a:ext cx="2286000" cy="502920"/>
          </a:xfrm>
          <a:prstGeom prst="rect">
            <a:avLst/>
          </a:prstGeom>
          <a:noFill/>
        </p:spPr>
        <p:txBody>
          <a:bodyPr wrap="square" lIns="0" tIns="0" rIns="0" bIns="0" anchor="ctr">
            <a:normAutofit/>
          </a:bodyPr>
          <a:lstStyle/>
          <a:p>
            <a:pPr marL="0" indent="0">
              <a:buNone/>
            </a:pPr>
            <a:r>
              <a:rPr sz="1350">
                <a:solidFill>
                  <a:srgbClr val="1A1E2A"/>
                </a:solidFill>
              </a:rPr>
              <a:t>DistilBERT</a:t>
            </a:r>
            <a:endParaRPr sz="1350"/>
          </a:p>
        </p:txBody>
      </p:sp>
      <p:sp>
        <p:nvSpPr>
          <p:cNvPr id="17" name="Shape 15">
            <a:extLst>
              <a:ext uri="{FF2B5EF4-FFF2-40B4-BE49-F238E27FC236}">
                <a16:creationId xmlns:a16="http://schemas.microsoft.com/office/drawing/2014/main" id="{0EFCD28C-95BC-4235-BE21-C29C1AB8FB22}"/>
              </a:ext>
            </a:extLst>
          </p:cNvPr>
          <p:cNvSpPr>
            <a:spLocks noGrp="1"/>
          </p:cNvSpPr>
          <p:nvPr/>
        </p:nvSpPr>
        <p:spPr>
          <a:xfrm>
            <a:off x="3154680" y="3172968"/>
            <a:ext cx="2606040" cy="256032"/>
          </a:xfrm>
          <a:prstGeom prst="rect">
            <a:avLst/>
          </a:prstGeom>
          <a:solidFill>
            <a:srgbClr val="E8ECF5"/>
          </a:solidFill>
          <a:ln w="12700">
            <a:solidFill>
              <a:srgbClr val="E8ECF5"/>
            </a:solidFill>
            <a:prstDash val="solid"/>
          </a:ln>
        </p:spPr>
      </p:sp>
      <p:sp>
        <p:nvSpPr>
          <p:cNvPr id="18" name="Shape 16">
            <a:extLst>
              <a:ext uri="{FF2B5EF4-FFF2-40B4-BE49-F238E27FC236}">
                <a16:creationId xmlns:a16="http://schemas.microsoft.com/office/drawing/2014/main" id="{B2875DC2-E8B0-441C-AB5C-CFEC1FAA2AB9}"/>
              </a:ext>
            </a:extLst>
          </p:cNvPr>
          <p:cNvSpPr>
            <a:spLocks noGrp="1"/>
          </p:cNvSpPr>
          <p:nvPr/>
        </p:nvSpPr>
        <p:spPr>
          <a:xfrm>
            <a:off x="3154680" y="3172968"/>
            <a:ext cx="2379604" cy="256032"/>
          </a:xfrm>
          <a:prstGeom prst="rect">
            <a:avLst/>
          </a:prstGeom>
          <a:solidFill>
            <a:srgbClr val="1C8B5A"/>
          </a:solidFill>
          <a:ln w="12700">
            <a:solidFill>
              <a:srgbClr val="1C8B5A"/>
            </a:solidFill>
            <a:prstDash val="solid"/>
          </a:ln>
        </p:spPr>
      </p:sp>
      <p:sp>
        <p:nvSpPr>
          <p:cNvPr id="19" name="Text 17">
            <a:extLst>
              <a:ext uri="{FF2B5EF4-FFF2-40B4-BE49-F238E27FC236}">
                <a16:creationId xmlns:a16="http://schemas.microsoft.com/office/drawing/2014/main" id="{40A111EA-EAD7-4A8F-A07E-F0104EBB26CE}"/>
              </a:ext>
            </a:extLst>
          </p:cNvPr>
          <p:cNvSpPr>
            <a:spLocks noGrp="1"/>
          </p:cNvSpPr>
          <p:nvPr/>
        </p:nvSpPr>
        <p:spPr>
          <a:xfrm>
            <a:off x="5897880" y="3127248"/>
            <a:ext cx="640080" cy="502920"/>
          </a:xfrm>
          <a:prstGeom prst="rect">
            <a:avLst/>
          </a:prstGeom>
          <a:noFill/>
        </p:spPr>
        <p:txBody>
          <a:bodyPr wrap="square" lIns="0" tIns="0" rIns="0" bIns="0" anchor="ctr"/>
          <a:lstStyle/>
          <a:p>
            <a:pPr marL="0" indent="0" algn="r">
              <a:buNone/>
            </a:pPr>
            <a:r>
              <a:rPr sz="1350">
                <a:solidFill>
                  <a:srgbClr val="1A1E2A"/>
                </a:solidFill>
              </a:rPr>
              <a:t>0.8218</a:t>
            </a:r>
            <a:endParaRPr sz="1350"/>
          </a:p>
        </p:txBody>
      </p:sp>
      <p:sp>
        <p:nvSpPr>
          <p:cNvPr id="20" name="Text 18">
            <a:extLst>
              <a:ext uri="{FF2B5EF4-FFF2-40B4-BE49-F238E27FC236}">
                <a16:creationId xmlns:a16="http://schemas.microsoft.com/office/drawing/2014/main" id="{18C14DB8-23C3-45D7-8FC4-CF08380D4357}"/>
              </a:ext>
            </a:extLst>
          </p:cNvPr>
          <p:cNvSpPr>
            <a:spLocks noGrp="1"/>
          </p:cNvSpPr>
          <p:nvPr/>
        </p:nvSpPr>
        <p:spPr>
          <a:xfrm>
            <a:off x="868680" y="3675888"/>
            <a:ext cx="2286000" cy="502920"/>
          </a:xfrm>
          <a:prstGeom prst="rect">
            <a:avLst/>
          </a:prstGeom>
          <a:noFill/>
        </p:spPr>
        <p:txBody>
          <a:bodyPr wrap="square" lIns="0" tIns="0" rIns="0" bIns="0" anchor="ctr">
            <a:normAutofit/>
          </a:bodyPr>
          <a:lstStyle/>
          <a:p>
            <a:pPr marL="0" indent="0">
              <a:buNone/>
            </a:pPr>
            <a:r>
              <a:rPr sz="1350">
                <a:solidFill>
                  <a:srgbClr val="1A1E2A"/>
                </a:solidFill>
              </a:rPr>
              <a:t>Original FinBERT</a:t>
            </a:r>
            <a:endParaRPr sz="1350"/>
          </a:p>
        </p:txBody>
      </p:sp>
      <p:sp>
        <p:nvSpPr>
          <p:cNvPr id="21" name="Shape 19">
            <a:extLst>
              <a:ext uri="{FF2B5EF4-FFF2-40B4-BE49-F238E27FC236}">
                <a16:creationId xmlns:a16="http://schemas.microsoft.com/office/drawing/2014/main" id="{F6B21AB6-017A-4DC8-AF21-7F90BD983C8F}"/>
              </a:ext>
            </a:extLst>
          </p:cNvPr>
          <p:cNvSpPr>
            <a:spLocks noGrp="1"/>
          </p:cNvSpPr>
          <p:nvPr/>
        </p:nvSpPr>
        <p:spPr>
          <a:xfrm>
            <a:off x="3154680" y="3721608"/>
            <a:ext cx="2606040" cy="256032"/>
          </a:xfrm>
          <a:prstGeom prst="rect">
            <a:avLst/>
          </a:prstGeom>
          <a:solidFill>
            <a:srgbClr val="E8ECF5"/>
          </a:solidFill>
          <a:ln w="12700">
            <a:solidFill>
              <a:srgbClr val="E8ECF5"/>
            </a:solidFill>
            <a:prstDash val="solid"/>
          </a:ln>
        </p:spPr>
      </p:sp>
      <p:sp>
        <p:nvSpPr>
          <p:cNvPr id="22" name="Shape 20">
            <a:extLst>
              <a:ext uri="{FF2B5EF4-FFF2-40B4-BE49-F238E27FC236}">
                <a16:creationId xmlns:a16="http://schemas.microsoft.com/office/drawing/2014/main" id="{C14B5160-996C-49E7-9269-C08789F4C340}"/>
              </a:ext>
            </a:extLst>
          </p:cNvPr>
          <p:cNvSpPr>
            <a:spLocks noGrp="1"/>
          </p:cNvSpPr>
          <p:nvPr/>
        </p:nvSpPr>
        <p:spPr>
          <a:xfrm>
            <a:off x="3154680" y="3721608"/>
            <a:ext cx="1967271" cy="256032"/>
          </a:xfrm>
          <a:prstGeom prst="rect">
            <a:avLst/>
          </a:prstGeom>
          <a:solidFill>
            <a:srgbClr val="5E6A7D"/>
          </a:solidFill>
          <a:ln w="12700">
            <a:solidFill>
              <a:srgbClr val="5E6A7D"/>
            </a:solidFill>
            <a:prstDash val="solid"/>
          </a:ln>
        </p:spPr>
      </p:sp>
      <p:sp>
        <p:nvSpPr>
          <p:cNvPr id="23" name="Text 21">
            <a:extLst>
              <a:ext uri="{FF2B5EF4-FFF2-40B4-BE49-F238E27FC236}">
                <a16:creationId xmlns:a16="http://schemas.microsoft.com/office/drawing/2014/main" id="{3B125D38-C3E7-4136-A447-7B1BD1AAC1FF}"/>
              </a:ext>
            </a:extLst>
          </p:cNvPr>
          <p:cNvSpPr>
            <a:spLocks noGrp="1"/>
          </p:cNvSpPr>
          <p:nvPr/>
        </p:nvSpPr>
        <p:spPr>
          <a:xfrm>
            <a:off x="5897880" y="3675888"/>
            <a:ext cx="640080" cy="502920"/>
          </a:xfrm>
          <a:prstGeom prst="rect">
            <a:avLst/>
          </a:prstGeom>
          <a:noFill/>
        </p:spPr>
        <p:txBody>
          <a:bodyPr wrap="square" lIns="0" tIns="0" rIns="0" bIns="0" anchor="ctr"/>
          <a:lstStyle/>
          <a:p>
            <a:pPr marL="0" indent="0" algn="r">
              <a:buNone/>
            </a:pPr>
            <a:r>
              <a:rPr sz="1350">
                <a:solidFill>
                  <a:srgbClr val="1A1E2A"/>
                </a:solidFill>
              </a:rPr>
              <a:t>0.6794</a:t>
            </a:r>
            <a:endParaRPr sz="1350"/>
          </a:p>
        </p:txBody>
      </p:sp>
      <p:sp>
        <p:nvSpPr>
          <p:cNvPr id="24" name="Text 22">
            <a:extLst>
              <a:ext uri="{FF2B5EF4-FFF2-40B4-BE49-F238E27FC236}">
                <a16:creationId xmlns:a16="http://schemas.microsoft.com/office/drawing/2014/main" id="{AE444751-AB43-49D4-9876-216510D91AB6}"/>
              </a:ext>
            </a:extLst>
          </p:cNvPr>
          <p:cNvSpPr>
            <a:spLocks noGrp="1"/>
          </p:cNvSpPr>
          <p:nvPr/>
        </p:nvSpPr>
        <p:spPr>
          <a:xfrm>
            <a:off x="7315200" y="1417320"/>
            <a:ext cx="2743200" cy="274320"/>
          </a:xfrm>
          <a:prstGeom prst="rect">
            <a:avLst/>
          </a:prstGeom>
          <a:noFill/>
        </p:spPr>
        <p:txBody>
          <a:bodyPr wrap="square" lIns="0" tIns="0" rIns="0" bIns="0" anchor="ctr"/>
          <a:lstStyle/>
          <a:p>
            <a:pPr marL="0" indent="0">
              <a:buNone/>
            </a:pPr>
            <a:r>
              <a:rPr sz="1800" b="1">
                <a:solidFill>
                  <a:srgbClr val="172033"/>
                </a:solidFill>
              </a:rPr>
              <a:t>Ana yorum</a:t>
            </a:r>
            <a:endParaRPr sz="1800"/>
          </a:p>
        </p:txBody>
      </p:sp>
      <p:sp>
        <p:nvSpPr>
          <p:cNvPr id="25" name="Text 23">
            <a:extLst>
              <a:ext uri="{FF2B5EF4-FFF2-40B4-BE49-F238E27FC236}">
                <a16:creationId xmlns:a16="http://schemas.microsoft.com/office/drawing/2014/main" id="{15A0B382-B907-4261-9824-C51D15327DBC}"/>
              </a:ext>
            </a:extLst>
          </p:cNvPr>
          <p:cNvSpPr>
            <a:spLocks noGrp="1"/>
          </p:cNvSpPr>
          <p:nvPr/>
        </p:nvSpPr>
        <p:spPr>
          <a:xfrm>
            <a:off x="7315200" y="1874520"/>
            <a:ext cx="4114800" cy="1874520"/>
          </a:xfrm>
          <a:prstGeom prst="rect">
            <a:avLst/>
          </a:prstGeom>
          <a:noFill/>
        </p:spPr>
        <p:txBody>
          <a:bodyPr wrap="square" lIns="635" tIns="635" rIns="635" bIns="635" anchor="ctr">
            <a:normAutofit/>
          </a:bodyPr>
          <a:lstStyle/>
          <a:p>
            <a:r>
              <a:rPr sz="1620">
                <a:solidFill>
                  <a:srgbClr val="1A1E2A"/>
                </a:solidFill>
              </a:rPr>
              <a:t>FinBERT: 0.6794 → 0.8512</a:t>
            </a:r>
            <a:endParaRPr sz="1620"/>
          </a:p>
          <a:p>
            <a:r>
              <a:rPr sz="1620">
                <a:solidFill>
                  <a:srgbClr val="1A1E2A"/>
                </a:solidFill>
              </a:rPr>
              <a:t>Train: Twitter + PhraseBank.</a:t>
            </a:r>
            <a:endParaRPr sz="1620"/>
          </a:p>
          <a:p>
            <a:r>
              <a:rPr sz="1620">
                <a:solidFill>
                  <a:srgbClr val="1A1E2A"/>
                </a:solidFill>
              </a:rPr>
              <a:t>PhraseBank, hazır model için tekrar veridir.</a:t>
            </a:r>
            <a:endParaRPr sz="1620"/>
          </a:p>
          <a:p>
            <a:r>
              <a:rPr sz="1620">
                <a:solidFill>
                  <a:srgbClr val="1A1E2A"/>
                </a:solidFill>
              </a:rPr>
              <a:t>RoBERTa 0.8651 ile yine birinci.</a:t>
            </a:r>
            <a:endParaRPr sz="1620"/>
          </a:p>
        </p:txBody>
      </p:sp>
      <p:sp>
        <p:nvSpPr>
          <p:cNvPr id="26" name="Shape 24">
            <a:extLst>
              <a:ext uri="{FF2B5EF4-FFF2-40B4-BE49-F238E27FC236}">
                <a16:creationId xmlns:a16="http://schemas.microsoft.com/office/drawing/2014/main" id="{E2920D4B-BC2D-4DA2-982E-E87C0EE8E688}"/>
              </a:ext>
            </a:extLst>
          </p:cNvPr>
          <p:cNvSpPr>
            <a:spLocks noGrp="1"/>
          </p:cNvSpPr>
          <p:nvPr/>
        </p:nvSpPr>
        <p:spPr>
          <a:xfrm>
            <a:off x="960120" y="4709160"/>
            <a:ext cx="10241280" cy="685800"/>
          </a:xfrm>
          <a:prstGeom prst="roundRect">
            <a:avLst>
              <a:gd name="adj" fmla="val 10667"/>
            </a:avLst>
          </a:prstGeom>
          <a:solidFill>
            <a:srgbClr val="F0FAF8"/>
          </a:solidFill>
          <a:ln w="15240">
            <a:solidFill>
              <a:srgbClr val="F4A62A"/>
            </a:solidFill>
            <a:prstDash val="solid"/>
          </a:ln>
        </p:spPr>
      </p:sp>
      <p:sp>
        <p:nvSpPr>
          <p:cNvPr id="27" name="Text 25">
            <a:extLst>
              <a:ext uri="{FF2B5EF4-FFF2-40B4-BE49-F238E27FC236}">
                <a16:creationId xmlns:a16="http://schemas.microsoft.com/office/drawing/2014/main" id="{1FAC7A24-130C-4226-BB54-593617700C12}"/>
              </a:ext>
            </a:extLst>
          </p:cNvPr>
          <p:cNvSpPr>
            <a:spLocks noGrp="1"/>
          </p:cNvSpPr>
          <p:nvPr/>
        </p:nvSpPr>
        <p:spPr>
          <a:xfrm>
            <a:off x="1124712" y="4855464"/>
            <a:ext cx="9912096" cy="457200"/>
          </a:xfrm>
          <a:prstGeom prst="rect">
            <a:avLst/>
          </a:prstGeom>
          <a:noFill/>
        </p:spPr>
        <p:txBody>
          <a:bodyPr wrap="square" lIns="254" tIns="254" rIns="254" bIns="254" anchor="ctr">
            <a:normAutofit/>
          </a:bodyPr>
          <a:lstStyle/>
          <a:p>
            <a:pPr marL="0" indent="0">
              <a:buNone/>
            </a:pPr>
            <a:r>
              <a:rPr sz="1500" b="1">
                <a:solidFill>
                  <a:srgbClr val="172033"/>
                </a:solidFill>
              </a:rPr>
              <a:t>Twitter-only FinBERT kolu yok: kazanımı yalnız hedef veriye bağlayamayız.</a:t>
            </a:r>
            <a:endParaRPr sz="1500"/>
          </a:p>
        </p:txBody>
      </p:sp>
      <p:sp>
        <p:nvSpPr>
          <p:cNvPr id="28" name="Text 26">
            <a:extLst>
              <a:ext uri="{FF2B5EF4-FFF2-40B4-BE49-F238E27FC236}">
                <a16:creationId xmlns:a16="http://schemas.microsoft.com/office/drawing/2014/main" id="{3CD42392-3360-4156-A1FE-5FE8BC4FE9C9}"/>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9" name="Text 27">
            <a:extLst>
              <a:ext uri="{FF2B5EF4-FFF2-40B4-BE49-F238E27FC236}">
                <a16:creationId xmlns:a16="http://schemas.microsoft.com/office/drawing/2014/main" id="{DAD81ABE-57B6-486F-B082-151A796BB2D6}"/>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16</a:t>
            </a:r>
            <a:endParaRPr sz="850"/>
          </a:p>
        </p:txBody>
      </p:sp>
      <p:sp>
        <p:nvSpPr>
          <p:cNvPr id="30" name="Shape 28">
            <a:extLst>
              <a:ext uri="{FF2B5EF4-FFF2-40B4-BE49-F238E27FC236}">
                <a16:creationId xmlns:a16="http://schemas.microsoft.com/office/drawing/2014/main" id="{C990B433-9E66-4F7E-B0B7-DF73BCA39F0D}"/>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671756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E2298BA-DF80-4DFA-855E-6631B5BF09CF}"/>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Üç seed sonucu: RoBERTa üstünlüğü korundu</a:t>
            </a:r>
            <a:endParaRPr sz="3100"/>
          </a:p>
        </p:txBody>
      </p:sp>
      <p:sp>
        <p:nvSpPr>
          <p:cNvPr id="3" name="Text 1">
            <a:extLst>
              <a:ext uri="{FF2B5EF4-FFF2-40B4-BE49-F238E27FC236}">
                <a16:creationId xmlns:a16="http://schemas.microsoft.com/office/drawing/2014/main" id="{07FD1ABC-FAC0-4D0F-B6B0-05D97F016B3B}"/>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Rastgele başlangıç ve veri sırası değişse de sıralama korundu.</a:t>
            </a:r>
            <a:endParaRPr sz="1450"/>
          </a:p>
        </p:txBody>
      </p:sp>
      <p:sp>
        <p:nvSpPr>
          <p:cNvPr id="4" name="Text 2">
            <a:extLst>
              <a:ext uri="{FF2B5EF4-FFF2-40B4-BE49-F238E27FC236}">
                <a16:creationId xmlns:a16="http://schemas.microsoft.com/office/drawing/2014/main" id="{A6D122D4-A2D0-45CE-99AC-0E4EFA5AF568}"/>
              </a:ext>
            </a:extLst>
          </p:cNvPr>
          <p:cNvSpPr>
            <a:spLocks noGrp="1"/>
          </p:cNvSpPr>
          <p:nvPr/>
        </p:nvSpPr>
        <p:spPr>
          <a:xfrm>
            <a:off x="868680" y="1481328"/>
            <a:ext cx="2286000" cy="560070"/>
          </a:xfrm>
          <a:prstGeom prst="rect">
            <a:avLst/>
          </a:prstGeom>
          <a:noFill/>
        </p:spPr>
        <p:txBody>
          <a:bodyPr wrap="square" lIns="0" tIns="0" rIns="0" bIns="0" anchor="ctr">
            <a:normAutofit/>
          </a:bodyPr>
          <a:lstStyle/>
          <a:p>
            <a:pPr marL="0" indent="0">
              <a:buNone/>
            </a:pPr>
            <a:r>
              <a:rPr sz="1350">
                <a:solidFill>
                  <a:srgbClr val="1A1E2A"/>
                </a:solidFill>
              </a:rPr>
              <a:t>RoBERTa</a:t>
            </a:r>
            <a:endParaRPr sz="1350"/>
          </a:p>
        </p:txBody>
      </p:sp>
      <p:sp>
        <p:nvSpPr>
          <p:cNvPr id="5" name="Shape 3">
            <a:extLst>
              <a:ext uri="{FF2B5EF4-FFF2-40B4-BE49-F238E27FC236}">
                <a16:creationId xmlns:a16="http://schemas.microsoft.com/office/drawing/2014/main" id="{BE993270-49CE-4F70-BC4E-8C5F8F1DF7CC}"/>
              </a:ext>
            </a:extLst>
          </p:cNvPr>
          <p:cNvSpPr>
            <a:spLocks noGrp="1"/>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a:extLst>
              <a:ext uri="{FF2B5EF4-FFF2-40B4-BE49-F238E27FC236}">
                <a16:creationId xmlns:a16="http://schemas.microsoft.com/office/drawing/2014/main" id="{3650B11B-229D-46E5-8FA6-DA1FFF58DCA4}"/>
              </a:ext>
            </a:extLst>
          </p:cNvPr>
          <p:cNvSpPr>
            <a:spLocks noGrp="1"/>
          </p:cNvSpPr>
          <p:nvPr/>
        </p:nvSpPr>
        <p:spPr>
          <a:xfrm>
            <a:off x="3154680" y="1527048"/>
            <a:ext cx="2704633" cy="256032"/>
          </a:xfrm>
          <a:prstGeom prst="rect">
            <a:avLst/>
          </a:prstGeom>
          <a:solidFill>
            <a:srgbClr val="0F9D8F"/>
          </a:solidFill>
          <a:ln w="12700">
            <a:solidFill>
              <a:srgbClr val="0F9D8F"/>
            </a:solidFill>
            <a:prstDash val="solid"/>
          </a:ln>
        </p:spPr>
      </p:sp>
      <p:sp>
        <p:nvSpPr>
          <p:cNvPr id="7" name="Text 5">
            <a:extLst>
              <a:ext uri="{FF2B5EF4-FFF2-40B4-BE49-F238E27FC236}">
                <a16:creationId xmlns:a16="http://schemas.microsoft.com/office/drawing/2014/main" id="{B0A9BC35-3CFC-4AEE-AF4E-A235187D2286}"/>
              </a:ext>
            </a:extLst>
          </p:cNvPr>
          <p:cNvSpPr>
            <a:spLocks noGrp="1"/>
          </p:cNvSpPr>
          <p:nvPr/>
        </p:nvSpPr>
        <p:spPr>
          <a:xfrm>
            <a:off x="6080760" y="1481328"/>
            <a:ext cx="640080" cy="560070"/>
          </a:xfrm>
          <a:prstGeom prst="rect">
            <a:avLst/>
          </a:prstGeom>
          <a:noFill/>
        </p:spPr>
        <p:txBody>
          <a:bodyPr wrap="square" lIns="0" tIns="0" rIns="0" bIns="0" anchor="ctr"/>
          <a:lstStyle/>
          <a:p>
            <a:pPr marL="0" indent="0" algn="r">
              <a:buNone/>
            </a:pPr>
            <a:r>
              <a:rPr sz="1350" b="1">
                <a:solidFill>
                  <a:srgbClr val="1A1E2A"/>
                </a:solidFill>
              </a:rPr>
              <a:t>0.8728</a:t>
            </a:r>
            <a:endParaRPr sz="1350"/>
          </a:p>
        </p:txBody>
      </p:sp>
      <p:sp>
        <p:nvSpPr>
          <p:cNvPr id="8" name="Text 6">
            <a:extLst>
              <a:ext uri="{FF2B5EF4-FFF2-40B4-BE49-F238E27FC236}">
                <a16:creationId xmlns:a16="http://schemas.microsoft.com/office/drawing/2014/main" id="{3A3C4D08-73CC-482F-A810-697004624A2B}"/>
              </a:ext>
            </a:extLst>
          </p:cNvPr>
          <p:cNvSpPr>
            <a:spLocks noGrp="1"/>
          </p:cNvSpPr>
          <p:nvPr/>
        </p:nvSpPr>
        <p:spPr>
          <a:xfrm>
            <a:off x="868680" y="2087118"/>
            <a:ext cx="2286000" cy="560070"/>
          </a:xfrm>
          <a:prstGeom prst="rect">
            <a:avLst/>
          </a:prstGeom>
          <a:noFill/>
        </p:spPr>
        <p:txBody>
          <a:bodyPr wrap="square" lIns="0" tIns="0" rIns="0" bIns="0" anchor="ctr">
            <a:normAutofit/>
          </a:bodyPr>
          <a:lstStyle/>
          <a:p>
            <a:pPr marL="0" indent="0">
              <a:buNone/>
            </a:pPr>
            <a:r>
              <a:rPr sz="1350">
                <a:solidFill>
                  <a:srgbClr val="1A1E2A"/>
                </a:solidFill>
              </a:rPr>
              <a:t>Fine-tuned FinBERT</a:t>
            </a:r>
            <a:endParaRPr sz="1350"/>
          </a:p>
        </p:txBody>
      </p:sp>
      <p:sp>
        <p:nvSpPr>
          <p:cNvPr id="9" name="Shape 7">
            <a:extLst>
              <a:ext uri="{FF2B5EF4-FFF2-40B4-BE49-F238E27FC236}">
                <a16:creationId xmlns:a16="http://schemas.microsoft.com/office/drawing/2014/main" id="{15582661-3DAF-4C14-969D-1BBB73F2840A}"/>
              </a:ext>
            </a:extLst>
          </p:cNvPr>
          <p:cNvSpPr>
            <a:spLocks noGrp="1"/>
          </p:cNvSpPr>
          <p:nvPr/>
        </p:nvSpPr>
        <p:spPr>
          <a:xfrm>
            <a:off x="3154680" y="2132838"/>
            <a:ext cx="2788920" cy="256032"/>
          </a:xfrm>
          <a:prstGeom prst="rect">
            <a:avLst/>
          </a:prstGeom>
          <a:solidFill>
            <a:srgbClr val="E8ECF5"/>
          </a:solidFill>
          <a:ln w="12700">
            <a:solidFill>
              <a:srgbClr val="E8ECF5"/>
            </a:solidFill>
            <a:prstDash val="solid"/>
          </a:ln>
        </p:spPr>
      </p:sp>
      <p:sp>
        <p:nvSpPr>
          <p:cNvPr id="10" name="Shape 8">
            <a:extLst>
              <a:ext uri="{FF2B5EF4-FFF2-40B4-BE49-F238E27FC236}">
                <a16:creationId xmlns:a16="http://schemas.microsoft.com/office/drawing/2014/main" id="{0811056D-3120-4DBA-86B6-774E06FC63E5}"/>
              </a:ext>
            </a:extLst>
          </p:cNvPr>
          <p:cNvSpPr>
            <a:spLocks noGrp="1"/>
          </p:cNvSpPr>
          <p:nvPr/>
        </p:nvSpPr>
        <p:spPr>
          <a:xfrm>
            <a:off x="3154680" y="2132838"/>
            <a:ext cx="2627782" cy="256032"/>
          </a:xfrm>
          <a:prstGeom prst="rect">
            <a:avLst/>
          </a:prstGeom>
          <a:solidFill>
            <a:srgbClr val="3867D6"/>
          </a:solidFill>
          <a:ln w="12700">
            <a:solidFill>
              <a:srgbClr val="3867D6"/>
            </a:solidFill>
            <a:prstDash val="solid"/>
          </a:ln>
        </p:spPr>
      </p:sp>
      <p:sp>
        <p:nvSpPr>
          <p:cNvPr id="11" name="Text 9">
            <a:extLst>
              <a:ext uri="{FF2B5EF4-FFF2-40B4-BE49-F238E27FC236}">
                <a16:creationId xmlns:a16="http://schemas.microsoft.com/office/drawing/2014/main" id="{8D2C8DF9-3A41-4BC3-865E-FC60B17492E9}"/>
              </a:ext>
            </a:extLst>
          </p:cNvPr>
          <p:cNvSpPr>
            <a:spLocks noGrp="1"/>
          </p:cNvSpPr>
          <p:nvPr/>
        </p:nvSpPr>
        <p:spPr>
          <a:xfrm>
            <a:off x="6080760" y="2087118"/>
            <a:ext cx="640080" cy="560070"/>
          </a:xfrm>
          <a:prstGeom prst="rect">
            <a:avLst/>
          </a:prstGeom>
          <a:noFill/>
        </p:spPr>
        <p:txBody>
          <a:bodyPr wrap="square" lIns="0" tIns="0" rIns="0" bIns="0" anchor="ctr"/>
          <a:lstStyle/>
          <a:p>
            <a:pPr marL="0" indent="0" algn="r">
              <a:buNone/>
            </a:pPr>
            <a:r>
              <a:rPr sz="1350" b="1">
                <a:solidFill>
                  <a:srgbClr val="1A1E2A"/>
                </a:solidFill>
              </a:rPr>
              <a:t>0.848</a:t>
            </a:r>
            <a:endParaRPr sz="1350"/>
          </a:p>
        </p:txBody>
      </p:sp>
      <p:sp>
        <p:nvSpPr>
          <p:cNvPr id="12" name="Text 10">
            <a:extLst>
              <a:ext uri="{FF2B5EF4-FFF2-40B4-BE49-F238E27FC236}">
                <a16:creationId xmlns:a16="http://schemas.microsoft.com/office/drawing/2014/main" id="{FC28AB2B-EB80-4EE6-A7F9-24CE29833727}"/>
              </a:ext>
            </a:extLst>
          </p:cNvPr>
          <p:cNvSpPr>
            <a:spLocks noGrp="1"/>
          </p:cNvSpPr>
          <p:nvPr/>
        </p:nvSpPr>
        <p:spPr>
          <a:xfrm>
            <a:off x="868680" y="2692908"/>
            <a:ext cx="2286000" cy="560070"/>
          </a:xfrm>
          <a:prstGeom prst="rect">
            <a:avLst/>
          </a:prstGeom>
          <a:noFill/>
        </p:spPr>
        <p:txBody>
          <a:bodyPr wrap="square" lIns="0" tIns="0" rIns="0" bIns="0" anchor="ctr">
            <a:normAutofit/>
          </a:bodyPr>
          <a:lstStyle/>
          <a:p>
            <a:pPr marL="0" indent="0">
              <a:buNone/>
            </a:pPr>
            <a:r>
              <a:rPr sz="1350">
                <a:solidFill>
                  <a:srgbClr val="1A1E2A"/>
                </a:solidFill>
              </a:rPr>
              <a:t>BERT</a:t>
            </a:r>
            <a:endParaRPr sz="1350"/>
          </a:p>
        </p:txBody>
      </p:sp>
      <p:sp>
        <p:nvSpPr>
          <p:cNvPr id="13" name="Shape 11">
            <a:extLst>
              <a:ext uri="{FF2B5EF4-FFF2-40B4-BE49-F238E27FC236}">
                <a16:creationId xmlns:a16="http://schemas.microsoft.com/office/drawing/2014/main" id="{57CC1C2F-2A50-476B-9B80-0058FD372261}"/>
              </a:ext>
            </a:extLst>
          </p:cNvPr>
          <p:cNvSpPr>
            <a:spLocks noGrp="1"/>
          </p:cNvSpPr>
          <p:nvPr/>
        </p:nvSpPr>
        <p:spPr>
          <a:xfrm>
            <a:off x="3154680" y="2738628"/>
            <a:ext cx="2788920" cy="256032"/>
          </a:xfrm>
          <a:prstGeom prst="rect">
            <a:avLst/>
          </a:prstGeom>
          <a:solidFill>
            <a:srgbClr val="E8ECF5"/>
          </a:solidFill>
          <a:ln w="12700">
            <a:solidFill>
              <a:srgbClr val="E8ECF5"/>
            </a:solidFill>
            <a:prstDash val="solid"/>
          </a:ln>
        </p:spPr>
      </p:sp>
      <p:sp>
        <p:nvSpPr>
          <p:cNvPr id="14" name="Shape 12">
            <a:extLst>
              <a:ext uri="{FF2B5EF4-FFF2-40B4-BE49-F238E27FC236}">
                <a16:creationId xmlns:a16="http://schemas.microsoft.com/office/drawing/2014/main" id="{6B5AF5C8-04EE-4877-8C70-EED4B205F61E}"/>
              </a:ext>
            </a:extLst>
          </p:cNvPr>
          <p:cNvSpPr>
            <a:spLocks noGrp="1"/>
          </p:cNvSpPr>
          <p:nvPr/>
        </p:nvSpPr>
        <p:spPr>
          <a:xfrm>
            <a:off x="3154680" y="2738628"/>
            <a:ext cx="2601752" cy="256032"/>
          </a:xfrm>
          <a:prstGeom prst="rect">
            <a:avLst/>
          </a:prstGeom>
          <a:solidFill>
            <a:srgbClr val="F4A62A"/>
          </a:solidFill>
          <a:ln w="12700">
            <a:solidFill>
              <a:srgbClr val="F4A62A"/>
            </a:solidFill>
            <a:prstDash val="solid"/>
          </a:ln>
        </p:spPr>
      </p:sp>
      <p:sp>
        <p:nvSpPr>
          <p:cNvPr id="15" name="Text 13">
            <a:extLst>
              <a:ext uri="{FF2B5EF4-FFF2-40B4-BE49-F238E27FC236}">
                <a16:creationId xmlns:a16="http://schemas.microsoft.com/office/drawing/2014/main" id="{B67EC8D3-FD28-4D18-821E-B0795BE2D512}"/>
              </a:ext>
            </a:extLst>
          </p:cNvPr>
          <p:cNvSpPr>
            <a:spLocks noGrp="1"/>
          </p:cNvSpPr>
          <p:nvPr/>
        </p:nvSpPr>
        <p:spPr>
          <a:xfrm>
            <a:off x="6080760" y="2692908"/>
            <a:ext cx="640080" cy="560070"/>
          </a:xfrm>
          <a:prstGeom prst="rect">
            <a:avLst/>
          </a:prstGeom>
          <a:noFill/>
        </p:spPr>
        <p:txBody>
          <a:bodyPr wrap="square" lIns="0" tIns="0" rIns="0" bIns="0" anchor="ctr"/>
          <a:lstStyle/>
          <a:p>
            <a:pPr marL="0" indent="0" algn="r">
              <a:buNone/>
            </a:pPr>
            <a:r>
              <a:rPr sz="1350">
                <a:solidFill>
                  <a:srgbClr val="1A1E2A"/>
                </a:solidFill>
              </a:rPr>
              <a:t>0.8396</a:t>
            </a:r>
            <a:endParaRPr sz="1350"/>
          </a:p>
        </p:txBody>
      </p:sp>
      <p:sp>
        <p:nvSpPr>
          <p:cNvPr id="16" name="Text 14">
            <a:extLst>
              <a:ext uri="{FF2B5EF4-FFF2-40B4-BE49-F238E27FC236}">
                <a16:creationId xmlns:a16="http://schemas.microsoft.com/office/drawing/2014/main" id="{1C81BCEA-64D0-443E-8E88-38C65A1B7128}"/>
              </a:ext>
            </a:extLst>
          </p:cNvPr>
          <p:cNvSpPr>
            <a:spLocks noGrp="1"/>
          </p:cNvSpPr>
          <p:nvPr/>
        </p:nvSpPr>
        <p:spPr>
          <a:xfrm>
            <a:off x="868680" y="3298698"/>
            <a:ext cx="2286000" cy="560070"/>
          </a:xfrm>
          <a:prstGeom prst="rect">
            <a:avLst/>
          </a:prstGeom>
          <a:noFill/>
        </p:spPr>
        <p:txBody>
          <a:bodyPr wrap="square" lIns="0" tIns="0" rIns="0" bIns="0" anchor="ctr">
            <a:normAutofit/>
          </a:bodyPr>
          <a:lstStyle/>
          <a:p>
            <a:pPr marL="0" indent="0">
              <a:buNone/>
            </a:pPr>
            <a:r>
              <a:rPr sz="1350">
                <a:solidFill>
                  <a:srgbClr val="1A1E2A"/>
                </a:solidFill>
              </a:rPr>
              <a:t>DistilBERT</a:t>
            </a:r>
            <a:endParaRPr sz="1350"/>
          </a:p>
        </p:txBody>
      </p:sp>
      <p:sp>
        <p:nvSpPr>
          <p:cNvPr id="17" name="Shape 15">
            <a:extLst>
              <a:ext uri="{FF2B5EF4-FFF2-40B4-BE49-F238E27FC236}">
                <a16:creationId xmlns:a16="http://schemas.microsoft.com/office/drawing/2014/main" id="{C8A6081E-A6C8-42FA-9884-77A8646326C0}"/>
              </a:ext>
            </a:extLst>
          </p:cNvPr>
          <p:cNvSpPr>
            <a:spLocks noGrp="1"/>
          </p:cNvSpPr>
          <p:nvPr/>
        </p:nvSpPr>
        <p:spPr>
          <a:xfrm>
            <a:off x="3154680" y="3344418"/>
            <a:ext cx="2788920" cy="256032"/>
          </a:xfrm>
          <a:prstGeom prst="rect">
            <a:avLst/>
          </a:prstGeom>
          <a:solidFill>
            <a:srgbClr val="E8ECF5"/>
          </a:solidFill>
          <a:ln w="12700">
            <a:solidFill>
              <a:srgbClr val="E8ECF5"/>
            </a:solidFill>
            <a:prstDash val="solid"/>
          </a:ln>
        </p:spPr>
      </p:sp>
      <p:sp>
        <p:nvSpPr>
          <p:cNvPr id="18" name="Shape 16">
            <a:extLst>
              <a:ext uri="{FF2B5EF4-FFF2-40B4-BE49-F238E27FC236}">
                <a16:creationId xmlns:a16="http://schemas.microsoft.com/office/drawing/2014/main" id="{5831E6F6-9F41-4542-8437-EF8C997D2C0B}"/>
              </a:ext>
            </a:extLst>
          </p:cNvPr>
          <p:cNvSpPr>
            <a:spLocks noGrp="1"/>
          </p:cNvSpPr>
          <p:nvPr/>
        </p:nvSpPr>
        <p:spPr>
          <a:xfrm>
            <a:off x="3154680" y="3344418"/>
            <a:ext cx="2550622" cy="256032"/>
          </a:xfrm>
          <a:prstGeom prst="rect">
            <a:avLst/>
          </a:prstGeom>
          <a:solidFill>
            <a:srgbClr val="1C8B5A"/>
          </a:solidFill>
          <a:ln w="12700">
            <a:solidFill>
              <a:srgbClr val="1C8B5A"/>
            </a:solidFill>
            <a:prstDash val="solid"/>
          </a:ln>
        </p:spPr>
      </p:sp>
      <p:sp>
        <p:nvSpPr>
          <p:cNvPr id="19" name="Text 17">
            <a:extLst>
              <a:ext uri="{FF2B5EF4-FFF2-40B4-BE49-F238E27FC236}">
                <a16:creationId xmlns:a16="http://schemas.microsoft.com/office/drawing/2014/main" id="{7BAE2DBA-E158-41D1-809D-7A1853A39031}"/>
              </a:ext>
            </a:extLst>
          </p:cNvPr>
          <p:cNvSpPr>
            <a:spLocks noGrp="1"/>
          </p:cNvSpPr>
          <p:nvPr/>
        </p:nvSpPr>
        <p:spPr>
          <a:xfrm>
            <a:off x="6080760" y="3298698"/>
            <a:ext cx="640080" cy="560070"/>
          </a:xfrm>
          <a:prstGeom prst="rect">
            <a:avLst/>
          </a:prstGeom>
          <a:noFill/>
        </p:spPr>
        <p:txBody>
          <a:bodyPr wrap="square" lIns="0" tIns="0" rIns="0" bIns="0" anchor="ctr"/>
          <a:lstStyle/>
          <a:p>
            <a:pPr marL="0" indent="0" algn="r">
              <a:buNone/>
            </a:pPr>
            <a:r>
              <a:rPr sz="1350">
                <a:solidFill>
                  <a:srgbClr val="1A1E2A"/>
                </a:solidFill>
              </a:rPr>
              <a:t>0.8231</a:t>
            </a:r>
            <a:endParaRPr sz="1350"/>
          </a:p>
        </p:txBody>
      </p:sp>
      <p:sp>
        <p:nvSpPr>
          <p:cNvPr id="20" name="Shape 18">
            <a:extLst>
              <a:ext uri="{FF2B5EF4-FFF2-40B4-BE49-F238E27FC236}">
                <a16:creationId xmlns:a16="http://schemas.microsoft.com/office/drawing/2014/main" id="{45B9CFB7-C4A9-48BE-9CC8-D2A41D6A2684}"/>
              </a:ext>
            </a:extLst>
          </p:cNvPr>
          <p:cNvSpPr>
            <a:spLocks noGrp="1"/>
          </p:cNvSpPr>
          <p:nvPr/>
        </p:nvSpPr>
        <p:spPr>
          <a:xfrm>
            <a:off x="7315200" y="1325880"/>
            <a:ext cx="1997050" cy="475488"/>
          </a:xfrm>
          <a:prstGeom prst="rect">
            <a:avLst/>
          </a:prstGeom>
          <a:solidFill>
            <a:srgbClr val="1D2B46"/>
          </a:solidFill>
          <a:ln w="6350">
            <a:solidFill>
              <a:srgbClr val="DDE3EF"/>
            </a:solidFill>
            <a:prstDash val="solid"/>
          </a:ln>
        </p:spPr>
      </p:sp>
      <p:sp>
        <p:nvSpPr>
          <p:cNvPr id="21" name="Text 19">
            <a:extLst>
              <a:ext uri="{FF2B5EF4-FFF2-40B4-BE49-F238E27FC236}">
                <a16:creationId xmlns:a16="http://schemas.microsoft.com/office/drawing/2014/main" id="{59A46FBE-3B91-47DA-A43A-82E8472E16CD}"/>
              </a:ext>
            </a:extLst>
          </p:cNvPr>
          <p:cNvSpPr>
            <a:spLocks noGrp="1"/>
          </p:cNvSpPr>
          <p:nvPr/>
        </p:nvSpPr>
        <p:spPr>
          <a:xfrm>
            <a:off x="7388352" y="1399032"/>
            <a:ext cx="1850746" cy="384048"/>
          </a:xfrm>
          <a:prstGeom prst="rect">
            <a:avLst/>
          </a:prstGeom>
          <a:noFill/>
        </p:spPr>
        <p:txBody>
          <a:bodyPr wrap="square" lIns="0" tIns="0" rIns="0" bIns="0" anchor="ctr">
            <a:normAutofit/>
          </a:bodyPr>
          <a:lstStyle/>
          <a:p>
            <a:pPr marL="0" indent="0">
              <a:buNone/>
            </a:pPr>
            <a:r>
              <a:rPr sz="1150" b="1">
                <a:solidFill>
                  <a:srgbClr val="FFFFFF"/>
                </a:solidFill>
              </a:rPr>
              <a:t>Model</a:t>
            </a:r>
            <a:endParaRPr sz="1150"/>
          </a:p>
        </p:txBody>
      </p:sp>
      <p:sp>
        <p:nvSpPr>
          <p:cNvPr id="22" name="Shape 20">
            <a:extLst>
              <a:ext uri="{FF2B5EF4-FFF2-40B4-BE49-F238E27FC236}">
                <a16:creationId xmlns:a16="http://schemas.microsoft.com/office/drawing/2014/main" id="{1B9222DE-8D44-4E22-BCB1-7D743CA4C82C}"/>
              </a:ext>
            </a:extLst>
          </p:cNvPr>
          <p:cNvSpPr>
            <a:spLocks noGrp="1"/>
          </p:cNvSpPr>
          <p:nvPr/>
        </p:nvSpPr>
        <p:spPr>
          <a:xfrm>
            <a:off x="9312250" y="1325880"/>
            <a:ext cx="1843430" cy="475488"/>
          </a:xfrm>
          <a:prstGeom prst="rect">
            <a:avLst/>
          </a:prstGeom>
          <a:solidFill>
            <a:srgbClr val="1D2B46"/>
          </a:solidFill>
          <a:ln w="6350">
            <a:solidFill>
              <a:srgbClr val="DDE3EF"/>
            </a:solidFill>
            <a:prstDash val="solid"/>
          </a:ln>
        </p:spPr>
      </p:sp>
      <p:sp>
        <p:nvSpPr>
          <p:cNvPr id="23" name="Text 21">
            <a:extLst>
              <a:ext uri="{FF2B5EF4-FFF2-40B4-BE49-F238E27FC236}">
                <a16:creationId xmlns:a16="http://schemas.microsoft.com/office/drawing/2014/main" id="{388F720D-3225-4274-ABD2-692E32596C61}"/>
              </a:ext>
            </a:extLst>
          </p:cNvPr>
          <p:cNvSpPr>
            <a:spLocks noGrp="1"/>
          </p:cNvSpPr>
          <p:nvPr/>
        </p:nvSpPr>
        <p:spPr>
          <a:xfrm>
            <a:off x="9385402" y="1399032"/>
            <a:ext cx="1697126" cy="384048"/>
          </a:xfrm>
          <a:prstGeom prst="rect">
            <a:avLst/>
          </a:prstGeom>
          <a:noFill/>
        </p:spPr>
        <p:txBody>
          <a:bodyPr wrap="square" lIns="0" tIns="0" rIns="0" bIns="0" anchor="ctr">
            <a:normAutofit/>
          </a:bodyPr>
          <a:lstStyle/>
          <a:p>
            <a:pPr marL="0" indent="0">
              <a:buNone/>
            </a:pPr>
            <a:r>
              <a:rPr sz="1150" b="1">
                <a:solidFill>
                  <a:srgbClr val="FFFFFF"/>
                </a:solidFill>
              </a:rPr>
              <a:t>Ortalama Macro-F1</a:t>
            </a:r>
            <a:endParaRPr sz="1150"/>
          </a:p>
        </p:txBody>
      </p:sp>
      <p:sp>
        <p:nvSpPr>
          <p:cNvPr id="24" name="Shape 22">
            <a:extLst>
              <a:ext uri="{FF2B5EF4-FFF2-40B4-BE49-F238E27FC236}">
                <a16:creationId xmlns:a16="http://schemas.microsoft.com/office/drawing/2014/main" id="{4C23D57F-B43A-410B-A722-505B89532051}"/>
              </a:ext>
            </a:extLst>
          </p:cNvPr>
          <p:cNvSpPr>
            <a:spLocks noGrp="1"/>
          </p:cNvSpPr>
          <p:nvPr/>
        </p:nvSpPr>
        <p:spPr>
          <a:xfrm>
            <a:off x="7315200" y="1801368"/>
            <a:ext cx="1997050" cy="475488"/>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DDF0F145-7577-4743-95A8-9B3A48CD2B3A}"/>
              </a:ext>
            </a:extLst>
          </p:cNvPr>
          <p:cNvSpPr>
            <a:spLocks noGrp="1"/>
          </p:cNvSpPr>
          <p:nvPr/>
        </p:nvSpPr>
        <p:spPr>
          <a:xfrm>
            <a:off x="7388352" y="1874520"/>
            <a:ext cx="1850746" cy="384048"/>
          </a:xfrm>
          <a:prstGeom prst="rect">
            <a:avLst/>
          </a:prstGeom>
          <a:noFill/>
        </p:spPr>
        <p:txBody>
          <a:bodyPr wrap="square" lIns="0" tIns="0" rIns="0" bIns="0" anchor="ctr">
            <a:normAutofit/>
          </a:bodyPr>
          <a:lstStyle/>
          <a:p>
            <a:pPr marL="0" indent="0">
              <a:buNone/>
            </a:pPr>
            <a:r>
              <a:rPr sz="1280">
                <a:solidFill>
                  <a:srgbClr val="1A1E2A"/>
                </a:solidFill>
              </a:rPr>
              <a:t>RoBERTa</a:t>
            </a:r>
            <a:endParaRPr sz="1280"/>
          </a:p>
        </p:txBody>
      </p:sp>
      <p:sp>
        <p:nvSpPr>
          <p:cNvPr id="26" name="Shape 24">
            <a:extLst>
              <a:ext uri="{FF2B5EF4-FFF2-40B4-BE49-F238E27FC236}">
                <a16:creationId xmlns:a16="http://schemas.microsoft.com/office/drawing/2014/main" id="{301AC555-3219-4CB3-AC83-A8BED49AF37C}"/>
              </a:ext>
            </a:extLst>
          </p:cNvPr>
          <p:cNvSpPr>
            <a:spLocks noGrp="1"/>
          </p:cNvSpPr>
          <p:nvPr/>
        </p:nvSpPr>
        <p:spPr>
          <a:xfrm>
            <a:off x="9312250" y="1801368"/>
            <a:ext cx="1843430" cy="475488"/>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37C6AE1B-9A93-486F-8C57-7ECCE5C03ACC}"/>
              </a:ext>
            </a:extLst>
          </p:cNvPr>
          <p:cNvSpPr>
            <a:spLocks noGrp="1"/>
          </p:cNvSpPr>
          <p:nvPr/>
        </p:nvSpPr>
        <p:spPr>
          <a:xfrm>
            <a:off x="9385402" y="1874520"/>
            <a:ext cx="1697126" cy="384048"/>
          </a:xfrm>
          <a:prstGeom prst="rect">
            <a:avLst/>
          </a:prstGeom>
          <a:noFill/>
        </p:spPr>
        <p:txBody>
          <a:bodyPr wrap="square" lIns="0" tIns="0" rIns="0" bIns="0" anchor="ctr">
            <a:normAutofit/>
          </a:bodyPr>
          <a:lstStyle/>
          <a:p>
            <a:pPr marL="0" indent="0">
              <a:buNone/>
            </a:pPr>
            <a:r>
              <a:rPr sz="1280">
                <a:solidFill>
                  <a:srgbClr val="1A1E2A"/>
                </a:solidFill>
              </a:rPr>
              <a:t>0.8728 ± 0.0068</a:t>
            </a:r>
            <a:endParaRPr sz="1280"/>
          </a:p>
        </p:txBody>
      </p:sp>
      <p:sp>
        <p:nvSpPr>
          <p:cNvPr id="28" name="Shape 26">
            <a:extLst>
              <a:ext uri="{FF2B5EF4-FFF2-40B4-BE49-F238E27FC236}">
                <a16:creationId xmlns:a16="http://schemas.microsoft.com/office/drawing/2014/main" id="{B00AA17F-326B-4D23-AD93-D1EE182EEC3B}"/>
              </a:ext>
            </a:extLst>
          </p:cNvPr>
          <p:cNvSpPr>
            <a:spLocks noGrp="1"/>
          </p:cNvSpPr>
          <p:nvPr/>
        </p:nvSpPr>
        <p:spPr>
          <a:xfrm>
            <a:off x="7315200" y="2276856"/>
            <a:ext cx="1997050" cy="475488"/>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AC1E6C27-2D3B-4341-860E-19CFBBC1A935}"/>
              </a:ext>
            </a:extLst>
          </p:cNvPr>
          <p:cNvSpPr>
            <a:spLocks noGrp="1"/>
          </p:cNvSpPr>
          <p:nvPr/>
        </p:nvSpPr>
        <p:spPr>
          <a:xfrm>
            <a:off x="7388352" y="2350008"/>
            <a:ext cx="1850746" cy="384048"/>
          </a:xfrm>
          <a:prstGeom prst="rect">
            <a:avLst/>
          </a:prstGeom>
          <a:noFill/>
        </p:spPr>
        <p:txBody>
          <a:bodyPr wrap="square" lIns="0" tIns="0" rIns="0" bIns="0" anchor="ctr">
            <a:normAutofit/>
          </a:bodyPr>
          <a:lstStyle/>
          <a:p>
            <a:pPr marL="0" indent="0">
              <a:buNone/>
            </a:pPr>
            <a:r>
              <a:rPr sz="1280">
                <a:solidFill>
                  <a:srgbClr val="1A1E2A"/>
                </a:solidFill>
              </a:rPr>
              <a:t>FinBERT</a:t>
            </a:r>
            <a:endParaRPr sz="1280"/>
          </a:p>
        </p:txBody>
      </p:sp>
      <p:sp>
        <p:nvSpPr>
          <p:cNvPr id="30" name="Shape 28">
            <a:extLst>
              <a:ext uri="{FF2B5EF4-FFF2-40B4-BE49-F238E27FC236}">
                <a16:creationId xmlns:a16="http://schemas.microsoft.com/office/drawing/2014/main" id="{C4517C35-795E-4066-A4B3-EA2FC54818D2}"/>
              </a:ext>
            </a:extLst>
          </p:cNvPr>
          <p:cNvSpPr>
            <a:spLocks noGrp="1"/>
          </p:cNvSpPr>
          <p:nvPr/>
        </p:nvSpPr>
        <p:spPr>
          <a:xfrm>
            <a:off x="9312250" y="2276856"/>
            <a:ext cx="1843430" cy="475488"/>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F41C1ED9-6B9E-4D57-9F2E-F1F136FE1B83}"/>
              </a:ext>
            </a:extLst>
          </p:cNvPr>
          <p:cNvSpPr>
            <a:spLocks noGrp="1"/>
          </p:cNvSpPr>
          <p:nvPr/>
        </p:nvSpPr>
        <p:spPr>
          <a:xfrm>
            <a:off x="9385402" y="2350008"/>
            <a:ext cx="1697126" cy="384048"/>
          </a:xfrm>
          <a:prstGeom prst="rect">
            <a:avLst/>
          </a:prstGeom>
          <a:noFill/>
        </p:spPr>
        <p:txBody>
          <a:bodyPr wrap="square" lIns="0" tIns="0" rIns="0" bIns="0" anchor="ctr">
            <a:normAutofit/>
          </a:bodyPr>
          <a:lstStyle/>
          <a:p>
            <a:pPr marL="0" indent="0">
              <a:buNone/>
            </a:pPr>
            <a:r>
              <a:rPr sz="1280">
                <a:solidFill>
                  <a:srgbClr val="1A1E2A"/>
                </a:solidFill>
              </a:rPr>
              <a:t>0.8480 ± 0.0028</a:t>
            </a:r>
            <a:endParaRPr sz="1280"/>
          </a:p>
        </p:txBody>
      </p:sp>
      <p:sp>
        <p:nvSpPr>
          <p:cNvPr id="32" name="Shape 30">
            <a:extLst>
              <a:ext uri="{FF2B5EF4-FFF2-40B4-BE49-F238E27FC236}">
                <a16:creationId xmlns:a16="http://schemas.microsoft.com/office/drawing/2014/main" id="{67E19EBE-EEE6-4FBA-ADC1-5457945B4C10}"/>
              </a:ext>
            </a:extLst>
          </p:cNvPr>
          <p:cNvSpPr>
            <a:spLocks noGrp="1"/>
          </p:cNvSpPr>
          <p:nvPr/>
        </p:nvSpPr>
        <p:spPr>
          <a:xfrm>
            <a:off x="7315200" y="2752344"/>
            <a:ext cx="1997050" cy="475488"/>
          </a:xfrm>
          <a:prstGeom prst="rect">
            <a:avLst/>
          </a:prstGeom>
          <a:solidFill>
            <a:srgbClr val="FFFFFF"/>
          </a:solidFill>
          <a:ln w="6350">
            <a:solidFill>
              <a:srgbClr val="DDE3EF"/>
            </a:solidFill>
            <a:prstDash val="solid"/>
          </a:ln>
        </p:spPr>
      </p:sp>
      <p:sp>
        <p:nvSpPr>
          <p:cNvPr id="33" name="Text 31">
            <a:extLst>
              <a:ext uri="{FF2B5EF4-FFF2-40B4-BE49-F238E27FC236}">
                <a16:creationId xmlns:a16="http://schemas.microsoft.com/office/drawing/2014/main" id="{DA2463A3-8D2A-48E6-9147-45B99E11DF63}"/>
              </a:ext>
            </a:extLst>
          </p:cNvPr>
          <p:cNvSpPr>
            <a:spLocks noGrp="1"/>
          </p:cNvSpPr>
          <p:nvPr/>
        </p:nvSpPr>
        <p:spPr>
          <a:xfrm>
            <a:off x="7388352" y="2825496"/>
            <a:ext cx="1850746" cy="384048"/>
          </a:xfrm>
          <a:prstGeom prst="rect">
            <a:avLst/>
          </a:prstGeom>
          <a:noFill/>
        </p:spPr>
        <p:txBody>
          <a:bodyPr wrap="square" lIns="0" tIns="0" rIns="0" bIns="0" anchor="ctr">
            <a:normAutofit/>
          </a:bodyPr>
          <a:lstStyle/>
          <a:p>
            <a:pPr marL="0" indent="0">
              <a:buNone/>
            </a:pPr>
            <a:r>
              <a:rPr sz="1280">
                <a:solidFill>
                  <a:srgbClr val="1A1E2A"/>
                </a:solidFill>
              </a:rPr>
              <a:t>BERT</a:t>
            </a:r>
            <a:endParaRPr sz="1280"/>
          </a:p>
        </p:txBody>
      </p:sp>
      <p:sp>
        <p:nvSpPr>
          <p:cNvPr id="34" name="Shape 32">
            <a:extLst>
              <a:ext uri="{FF2B5EF4-FFF2-40B4-BE49-F238E27FC236}">
                <a16:creationId xmlns:a16="http://schemas.microsoft.com/office/drawing/2014/main" id="{59EE02FA-1D7D-4ECB-BE04-A9DECC243D71}"/>
              </a:ext>
            </a:extLst>
          </p:cNvPr>
          <p:cNvSpPr>
            <a:spLocks noGrp="1"/>
          </p:cNvSpPr>
          <p:nvPr/>
        </p:nvSpPr>
        <p:spPr>
          <a:xfrm>
            <a:off x="9312250" y="2752344"/>
            <a:ext cx="1843430" cy="475488"/>
          </a:xfrm>
          <a:prstGeom prst="rect">
            <a:avLst/>
          </a:prstGeom>
          <a:solidFill>
            <a:srgbClr val="FFFFFF"/>
          </a:solidFill>
          <a:ln w="6350">
            <a:solidFill>
              <a:srgbClr val="DDE3EF"/>
            </a:solidFill>
            <a:prstDash val="solid"/>
          </a:ln>
        </p:spPr>
      </p:sp>
      <p:sp>
        <p:nvSpPr>
          <p:cNvPr id="35" name="Text 33">
            <a:extLst>
              <a:ext uri="{FF2B5EF4-FFF2-40B4-BE49-F238E27FC236}">
                <a16:creationId xmlns:a16="http://schemas.microsoft.com/office/drawing/2014/main" id="{1977ADAC-3D1F-4200-8A84-1E2605263FDD}"/>
              </a:ext>
            </a:extLst>
          </p:cNvPr>
          <p:cNvSpPr>
            <a:spLocks noGrp="1"/>
          </p:cNvSpPr>
          <p:nvPr/>
        </p:nvSpPr>
        <p:spPr>
          <a:xfrm>
            <a:off x="9385402" y="2825496"/>
            <a:ext cx="1697126" cy="384048"/>
          </a:xfrm>
          <a:prstGeom prst="rect">
            <a:avLst/>
          </a:prstGeom>
          <a:noFill/>
        </p:spPr>
        <p:txBody>
          <a:bodyPr wrap="square" lIns="0" tIns="0" rIns="0" bIns="0" anchor="ctr">
            <a:normAutofit/>
          </a:bodyPr>
          <a:lstStyle/>
          <a:p>
            <a:pPr marL="0" indent="0">
              <a:buNone/>
            </a:pPr>
            <a:r>
              <a:rPr sz="1280">
                <a:solidFill>
                  <a:srgbClr val="1A1E2A"/>
                </a:solidFill>
              </a:rPr>
              <a:t>0.8396 ± 0.0023</a:t>
            </a:r>
            <a:endParaRPr sz="1280"/>
          </a:p>
        </p:txBody>
      </p:sp>
      <p:sp>
        <p:nvSpPr>
          <p:cNvPr id="36" name="Shape 34">
            <a:extLst>
              <a:ext uri="{FF2B5EF4-FFF2-40B4-BE49-F238E27FC236}">
                <a16:creationId xmlns:a16="http://schemas.microsoft.com/office/drawing/2014/main" id="{E3D51B00-55D1-4424-A464-A79BFE3730D4}"/>
              </a:ext>
            </a:extLst>
          </p:cNvPr>
          <p:cNvSpPr>
            <a:spLocks noGrp="1"/>
          </p:cNvSpPr>
          <p:nvPr/>
        </p:nvSpPr>
        <p:spPr>
          <a:xfrm>
            <a:off x="7315200" y="3227832"/>
            <a:ext cx="1997050" cy="475488"/>
          </a:xfrm>
          <a:prstGeom prst="rect">
            <a:avLst/>
          </a:prstGeom>
          <a:solidFill>
            <a:srgbClr val="F4F6FB"/>
          </a:solidFill>
          <a:ln w="6350">
            <a:solidFill>
              <a:srgbClr val="DDE3EF"/>
            </a:solidFill>
            <a:prstDash val="solid"/>
          </a:ln>
        </p:spPr>
      </p:sp>
      <p:sp>
        <p:nvSpPr>
          <p:cNvPr id="37" name="Text 35">
            <a:extLst>
              <a:ext uri="{FF2B5EF4-FFF2-40B4-BE49-F238E27FC236}">
                <a16:creationId xmlns:a16="http://schemas.microsoft.com/office/drawing/2014/main" id="{4B13C09E-F960-4C8E-B87C-B76436ACA912}"/>
              </a:ext>
            </a:extLst>
          </p:cNvPr>
          <p:cNvSpPr>
            <a:spLocks noGrp="1"/>
          </p:cNvSpPr>
          <p:nvPr/>
        </p:nvSpPr>
        <p:spPr>
          <a:xfrm>
            <a:off x="7388352" y="3300984"/>
            <a:ext cx="1850746" cy="384048"/>
          </a:xfrm>
          <a:prstGeom prst="rect">
            <a:avLst/>
          </a:prstGeom>
          <a:noFill/>
        </p:spPr>
        <p:txBody>
          <a:bodyPr wrap="square" lIns="0" tIns="0" rIns="0" bIns="0" anchor="ctr">
            <a:normAutofit/>
          </a:bodyPr>
          <a:lstStyle/>
          <a:p>
            <a:pPr marL="0" indent="0">
              <a:buNone/>
            </a:pPr>
            <a:r>
              <a:rPr sz="1280">
                <a:solidFill>
                  <a:srgbClr val="1A1E2A"/>
                </a:solidFill>
              </a:rPr>
              <a:t>DistilBERT</a:t>
            </a:r>
            <a:endParaRPr sz="1280"/>
          </a:p>
        </p:txBody>
      </p:sp>
      <p:sp>
        <p:nvSpPr>
          <p:cNvPr id="38" name="Shape 36">
            <a:extLst>
              <a:ext uri="{FF2B5EF4-FFF2-40B4-BE49-F238E27FC236}">
                <a16:creationId xmlns:a16="http://schemas.microsoft.com/office/drawing/2014/main" id="{56FC4379-38AA-4D28-BF08-3648C91FC56E}"/>
              </a:ext>
            </a:extLst>
          </p:cNvPr>
          <p:cNvSpPr>
            <a:spLocks noGrp="1"/>
          </p:cNvSpPr>
          <p:nvPr/>
        </p:nvSpPr>
        <p:spPr>
          <a:xfrm>
            <a:off x="9312250" y="3227832"/>
            <a:ext cx="1843430" cy="475488"/>
          </a:xfrm>
          <a:prstGeom prst="rect">
            <a:avLst/>
          </a:prstGeom>
          <a:solidFill>
            <a:srgbClr val="F4F6FB"/>
          </a:solidFill>
          <a:ln w="6350">
            <a:solidFill>
              <a:srgbClr val="DDE3EF"/>
            </a:solidFill>
            <a:prstDash val="solid"/>
          </a:ln>
        </p:spPr>
      </p:sp>
      <p:sp>
        <p:nvSpPr>
          <p:cNvPr id="39" name="Text 37">
            <a:extLst>
              <a:ext uri="{FF2B5EF4-FFF2-40B4-BE49-F238E27FC236}">
                <a16:creationId xmlns:a16="http://schemas.microsoft.com/office/drawing/2014/main" id="{7294118D-CDF2-43D8-9EB2-B3925906CC88}"/>
              </a:ext>
            </a:extLst>
          </p:cNvPr>
          <p:cNvSpPr>
            <a:spLocks noGrp="1"/>
          </p:cNvSpPr>
          <p:nvPr/>
        </p:nvSpPr>
        <p:spPr>
          <a:xfrm>
            <a:off x="9385402" y="3300984"/>
            <a:ext cx="1697126" cy="384048"/>
          </a:xfrm>
          <a:prstGeom prst="rect">
            <a:avLst/>
          </a:prstGeom>
          <a:noFill/>
        </p:spPr>
        <p:txBody>
          <a:bodyPr wrap="square" lIns="0" tIns="0" rIns="0" bIns="0" anchor="ctr">
            <a:normAutofit/>
          </a:bodyPr>
          <a:lstStyle/>
          <a:p>
            <a:pPr marL="0" indent="0">
              <a:buNone/>
            </a:pPr>
            <a:r>
              <a:rPr sz="1280">
                <a:solidFill>
                  <a:srgbClr val="1A1E2A"/>
                </a:solidFill>
              </a:rPr>
              <a:t>0.8231 ± 0.0028</a:t>
            </a:r>
            <a:endParaRPr sz="1280"/>
          </a:p>
        </p:txBody>
      </p:sp>
      <p:sp>
        <p:nvSpPr>
          <p:cNvPr id="40" name="Shape 38">
            <a:extLst>
              <a:ext uri="{FF2B5EF4-FFF2-40B4-BE49-F238E27FC236}">
                <a16:creationId xmlns:a16="http://schemas.microsoft.com/office/drawing/2014/main" id="{2A362108-C251-4F8D-919C-E6E515793BBC}"/>
              </a:ext>
            </a:extLst>
          </p:cNvPr>
          <p:cNvSpPr>
            <a:spLocks noGrp="1"/>
          </p:cNvSpPr>
          <p:nvPr/>
        </p:nvSpPr>
        <p:spPr>
          <a:xfrm>
            <a:off x="914400" y="4617720"/>
            <a:ext cx="10241280" cy="685800"/>
          </a:xfrm>
          <a:prstGeom prst="roundRect">
            <a:avLst>
              <a:gd name="adj" fmla="val 10667"/>
            </a:avLst>
          </a:prstGeom>
          <a:solidFill>
            <a:srgbClr val="F0FAF8"/>
          </a:solidFill>
          <a:ln w="15240">
            <a:solidFill>
              <a:srgbClr val="0F9D8F"/>
            </a:solidFill>
            <a:prstDash val="solid"/>
          </a:ln>
        </p:spPr>
      </p:sp>
      <p:sp>
        <p:nvSpPr>
          <p:cNvPr id="41" name="Text 39">
            <a:extLst>
              <a:ext uri="{FF2B5EF4-FFF2-40B4-BE49-F238E27FC236}">
                <a16:creationId xmlns:a16="http://schemas.microsoft.com/office/drawing/2014/main" id="{2CE5B357-4D1E-4E97-B165-79C274200415}"/>
              </a:ext>
            </a:extLst>
          </p:cNvPr>
          <p:cNvSpPr>
            <a:spLocks noGrp="1"/>
          </p:cNvSpPr>
          <p:nvPr/>
        </p:nvSpPr>
        <p:spPr>
          <a:xfrm>
            <a:off x="1078992" y="4764024"/>
            <a:ext cx="9912096" cy="457200"/>
          </a:xfrm>
          <a:prstGeom prst="rect">
            <a:avLst/>
          </a:prstGeom>
          <a:noFill/>
        </p:spPr>
        <p:txBody>
          <a:bodyPr wrap="square" lIns="254" tIns="254" rIns="254" bIns="254" anchor="ctr">
            <a:normAutofit/>
          </a:bodyPr>
          <a:lstStyle/>
          <a:p>
            <a:pPr marL="0" indent="0">
              <a:buNone/>
            </a:pPr>
            <a:r>
              <a:rPr sz="1500" b="1">
                <a:solidFill>
                  <a:srgbClr val="172033"/>
                </a:solidFill>
              </a:rPr>
              <a:t>Düşük standart sapmalar: RoBERTa üstünlüğü tek koşuluk şans etkisi değil.</a:t>
            </a:r>
            <a:endParaRPr sz="1500"/>
          </a:p>
        </p:txBody>
      </p:sp>
      <p:sp>
        <p:nvSpPr>
          <p:cNvPr id="42" name="Text 40">
            <a:extLst>
              <a:ext uri="{FF2B5EF4-FFF2-40B4-BE49-F238E27FC236}">
                <a16:creationId xmlns:a16="http://schemas.microsoft.com/office/drawing/2014/main" id="{EB6B58F9-6FB8-4E9D-A4BE-BF636A50BE4E}"/>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43" name="Text 41">
            <a:extLst>
              <a:ext uri="{FF2B5EF4-FFF2-40B4-BE49-F238E27FC236}">
                <a16:creationId xmlns:a16="http://schemas.microsoft.com/office/drawing/2014/main" id="{C3A0A7E4-373D-47C0-A955-E22F2DDFD18C}"/>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17</a:t>
            </a:r>
            <a:endParaRPr sz="850"/>
          </a:p>
        </p:txBody>
      </p:sp>
      <p:sp>
        <p:nvSpPr>
          <p:cNvPr id="44" name="Shape 42">
            <a:extLst>
              <a:ext uri="{FF2B5EF4-FFF2-40B4-BE49-F238E27FC236}">
                <a16:creationId xmlns:a16="http://schemas.microsoft.com/office/drawing/2014/main" id="{61363378-BE36-4891-A402-2DA588F14E28}"/>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765253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6C22EAD-6684-4453-BF72-1A18381527ED}"/>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McNemar ve Holm: hangi fark gerçekten anlamlı?</a:t>
            </a:r>
            <a:endParaRPr sz="3100"/>
          </a:p>
        </p:txBody>
      </p:sp>
      <p:sp>
        <p:nvSpPr>
          <p:cNvPr id="3" name="Text 1">
            <a:extLst>
              <a:ext uri="{FF2B5EF4-FFF2-40B4-BE49-F238E27FC236}">
                <a16:creationId xmlns:a16="http://schemas.microsoft.com/office/drawing/2014/main" id="{C2F69BA4-5320-43A8-8D74-9E002A1D5B54}"/>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RoBERTa iç testte; hazır FinBERT Reuters’ta anlamlı üstünlük gösterdi.</a:t>
            </a:r>
            <a:endParaRPr sz="1450"/>
          </a:p>
        </p:txBody>
      </p:sp>
      <p:sp>
        <p:nvSpPr>
          <p:cNvPr id="4" name="Text 2">
            <a:extLst>
              <a:ext uri="{FF2B5EF4-FFF2-40B4-BE49-F238E27FC236}">
                <a16:creationId xmlns:a16="http://schemas.microsoft.com/office/drawing/2014/main" id="{BBE006F0-9967-492D-8743-5AEF9DC38CCB}"/>
              </a:ext>
            </a:extLst>
          </p:cNvPr>
          <p:cNvSpPr>
            <a:spLocks noGrp="1"/>
          </p:cNvSpPr>
          <p:nvPr/>
        </p:nvSpPr>
        <p:spPr>
          <a:xfrm>
            <a:off x="777240" y="1417320"/>
            <a:ext cx="6217920" cy="2468880"/>
          </a:xfrm>
          <a:prstGeom prst="rect">
            <a:avLst/>
          </a:prstGeom>
          <a:noFill/>
        </p:spPr>
        <p:txBody>
          <a:bodyPr wrap="square" lIns="635" tIns="635" rIns="635" bIns="635" anchor="ctr">
            <a:normAutofit/>
          </a:bodyPr>
          <a:lstStyle/>
          <a:p>
            <a:r>
              <a:rPr sz="1800">
                <a:solidFill>
                  <a:srgbClr val="1A1E2A"/>
                </a:solidFill>
              </a:rPr>
              <a:t>McNemar: Aynı örneklerde iki modelin hata uyuşmazlığını sınar.</a:t>
            </a:r>
            <a:endParaRPr sz="1800"/>
          </a:p>
          <a:p>
            <a:r>
              <a:t>Holm: Çoklu karşılaştırmada p-değerlerini düzeltir.</a:t>
            </a:r>
            <a:endParaRPr sz="1800"/>
          </a:p>
          <a:p>
            <a:r>
              <a:rPr sz="1800">
                <a:solidFill>
                  <a:srgbClr val="1A1E2A"/>
                </a:solidFill>
              </a:rPr>
              <a:t>Bootstrap: ΔF1 için %95 GA.</a:t>
            </a:r>
            <a:endParaRPr sz="1800"/>
          </a:p>
          <a:p>
            <a:endParaRPr sz="1800"/>
          </a:p>
          <a:p>
            <a:r>
              <a:rPr sz="1800">
                <a:solidFill>
                  <a:srgbClr val="1A1E2A"/>
                </a:solidFill>
              </a:rPr>
              <a:t>RoBERTa − ince ayarlı FinBERT</a:t>
            </a:r>
            <a:endParaRPr sz="1800"/>
          </a:p>
          <a:p>
            <a:r>
              <a:rPr sz="1800">
                <a:solidFill>
                  <a:srgbClr val="1A1E2A"/>
                </a:solidFill>
              </a:rPr>
              <a:t>• Seed 123: ΔF1=+0.0294; p=0.000617</a:t>
            </a:r>
            <a:endParaRPr sz="1800"/>
          </a:p>
          <a:p>
            <a:r>
              <a:rPr sz="1800">
                <a:solidFill>
                  <a:srgbClr val="1A1E2A"/>
                </a:solidFill>
              </a:rPr>
              <a:t>• Seed 2024: ΔF1=+0.0312; p=0.001410</a:t>
            </a:r>
            <a:endParaRPr sz="1800"/>
          </a:p>
        </p:txBody>
      </p:sp>
      <p:sp>
        <p:nvSpPr>
          <p:cNvPr id="5" name="Shape 3">
            <a:extLst>
              <a:ext uri="{FF2B5EF4-FFF2-40B4-BE49-F238E27FC236}">
                <a16:creationId xmlns:a16="http://schemas.microsoft.com/office/drawing/2014/main" id="{99F7EB2D-F027-4696-A58C-350BF5EE84BE}"/>
              </a:ext>
            </a:extLst>
          </p:cNvPr>
          <p:cNvSpPr>
            <a:spLocks noGrp="1"/>
          </p:cNvSpPr>
          <p:nvPr/>
        </p:nvSpPr>
        <p:spPr>
          <a:xfrm>
            <a:off x="822960" y="4434840"/>
            <a:ext cx="6080760" cy="777240"/>
          </a:xfrm>
          <a:prstGeom prst="roundRect">
            <a:avLst>
              <a:gd name="adj" fmla="val 9412"/>
            </a:avLst>
          </a:prstGeom>
          <a:solidFill>
            <a:srgbClr val="F0FAF8"/>
          </a:solidFill>
          <a:ln w="15240">
            <a:solidFill>
              <a:srgbClr val="3867D6"/>
            </a:solidFill>
            <a:prstDash val="solid"/>
          </a:ln>
        </p:spPr>
      </p:sp>
      <p:sp>
        <p:nvSpPr>
          <p:cNvPr id="6" name="Text 4">
            <a:extLst>
              <a:ext uri="{FF2B5EF4-FFF2-40B4-BE49-F238E27FC236}">
                <a16:creationId xmlns:a16="http://schemas.microsoft.com/office/drawing/2014/main" id="{CA5544DB-70A3-48F2-8311-1656A1B42BB8}"/>
              </a:ext>
            </a:extLst>
          </p:cNvPr>
          <p:cNvSpPr>
            <a:spLocks noGrp="1"/>
          </p:cNvSpPr>
          <p:nvPr/>
        </p:nvSpPr>
        <p:spPr>
          <a:xfrm>
            <a:off x="987552" y="4581144"/>
            <a:ext cx="5751576" cy="548640"/>
          </a:xfrm>
          <a:prstGeom prst="rect">
            <a:avLst/>
          </a:prstGeom>
          <a:noFill/>
        </p:spPr>
        <p:txBody>
          <a:bodyPr wrap="square" lIns="254" tIns="254" rIns="254" bIns="254" anchor="ctr">
            <a:normAutofit/>
          </a:bodyPr>
          <a:lstStyle/>
          <a:p>
            <a:pPr marL="0" indent="0">
              <a:buNone/>
            </a:pPr>
            <a:r>
              <a:rPr sz="1500" b="1">
                <a:solidFill>
                  <a:srgbClr val="172033"/>
                </a:solidFill>
              </a:rPr>
              <a:t>İç testte RoBERTa üstünlüğü iki seed’de de anlamlı.</a:t>
            </a:r>
            <a:endParaRPr sz="1500"/>
          </a:p>
        </p:txBody>
      </p:sp>
      <p:sp>
        <p:nvSpPr>
          <p:cNvPr id="7" name="Text 5">
            <a:extLst>
              <a:ext uri="{FF2B5EF4-FFF2-40B4-BE49-F238E27FC236}">
                <a16:creationId xmlns:a16="http://schemas.microsoft.com/office/drawing/2014/main" id="{606A9529-B024-4224-9DF9-750941C7B105}"/>
              </a:ext>
            </a:extLst>
          </p:cNvPr>
          <p:cNvSpPr>
            <a:spLocks noGrp="1"/>
          </p:cNvSpPr>
          <p:nvPr/>
        </p:nvSpPr>
        <p:spPr>
          <a:xfrm>
            <a:off x="7498080" y="1417320"/>
            <a:ext cx="3200400" cy="274320"/>
          </a:xfrm>
          <a:prstGeom prst="rect">
            <a:avLst/>
          </a:prstGeom>
          <a:noFill/>
        </p:spPr>
        <p:txBody>
          <a:bodyPr wrap="square" lIns="0" tIns="0" rIns="0" bIns="0" anchor="ctr"/>
          <a:lstStyle/>
          <a:p>
            <a:pPr marL="0" indent="0">
              <a:buNone/>
            </a:pPr>
            <a:r>
              <a:rPr sz="1800" b="1">
                <a:solidFill>
                  <a:srgbClr val="172033"/>
                </a:solidFill>
              </a:rPr>
              <a:t>Dış test sonucu</a:t>
            </a:r>
            <a:endParaRPr sz="1800"/>
          </a:p>
        </p:txBody>
      </p:sp>
      <p:sp>
        <p:nvSpPr>
          <p:cNvPr id="8" name="Text 6">
            <a:extLst>
              <a:ext uri="{FF2B5EF4-FFF2-40B4-BE49-F238E27FC236}">
                <a16:creationId xmlns:a16="http://schemas.microsoft.com/office/drawing/2014/main" id="{346A4EC5-9471-4BB7-9017-75753252B134}"/>
              </a:ext>
            </a:extLst>
          </p:cNvPr>
          <p:cNvSpPr>
            <a:spLocks noGrp="1"/>
          </p:cNvSpPr>
          <p:nvPr/>
        </p:nvSpPr>
        <p:spPr>
          <a:xfrm>
            <a:off x="7498080" y="1874520"/>
            <a:ext cx="3566160" cy="1737360"/>
          </a:xfrm>
          <a:prstGeom prst="rect">
            <a:avLst/>
          </a:prstGeom>
          <a:noFill/>
        </p:spPr>
        <p:txBody>
          <a:bodyPr wrap="square" lIns="508" tIns="508" rIns="508" bIns="508" anchor="ctr">
            <a:normAutofit fontScale="99382" lnSpcReduction="10000"/>
          </a:bodyPr>
          <a:lstStyle/>
          <a:p>
            <a:pPr marL="0" indent="0">
              <a:buNone/>
            </a:pPr>
            <a:r>
              <a:rPr sz="1550">
                <a:solidFill>
                  <a:srgbClr val="1A1E2A"/>
                </a:solidFill>
              </a:rPr>
              <a:t>S&amp;P 500</a:t>
            </a:r>
            <a:endParaRPr sz="1550"/>
          </a:p>
          <a:p>
            <a:pPr marL="0" indent="0">
              <a:buNone/>
            </a:pPr>
            <a:r>
              <a:rPr sz="1550">
                <a:solidFill>
                  <a:srgbClr val="1A1E2A"/>
                </a:solidFill>
              </a:rPr>
              <a:t>Hazır − ince ayarlı FinBERT: ΔF1=−0.0201; p=0.1678; GA sıfırı içeriyor → anlamlı fark yok.</a:t>
            </a:r>
            <a:endParaRPr sz="1550"/>
          </a:p>
          <a:p>
            <a:pPr marL="0" indent="0">
              <a:buNone/>
            </a:pPr>
            <a:endParaRPr sz="1550"/>
          </a:p>
          <a:p>
            <a:pPr marL="0" indent="0">
              <a:buNone/>
            </a:pPr>
            <a:r>
              <a:rPr sz="1550">
                <a:solidFill>
                  <a:srgbClr val="1A1E2A"/>
                </a:solidFill>
              </a:rPr>
              <a:t>Reuters</a:t>
            </a:r>
            <a:endParaRPr sz="1550"/>
          </a:p>
          <a:p>
            <a:pPr marL="0" indent="0">
              <a:buNone/>
            </a:pPr>
            <a:r>
              <a:rPr sz="1550">
                <a:solidFill>
                  <a:srgbClr val="1A1E2A"/>
                </a:solidFill>
              </a:rPr>
              <a:t>ΔF1=+0.0765; p≈1.37×10⁻³²; GA [0.0610, 0.0923] → hazır FinBERT lehine güçlü fark.</a:t>
            </a:r>
            <a:endParaRPr sz="1550"/>
          </a:p>
        </p:txBody>
      </p:sp>
      <p:sp>
        <p:nvSpPr>
          <p:cNvPr id="9" name="Text 7">
            <a:extLst>
              <a:ext uri="{FF2B5EF4-FFF2-40B4-BE49-F238E27FC236}">
                <a16:creationId xmlns:a16="http://schemas.microsoft.com/office/drawing/2014/main" id="{9B7F6CD2-FB32-4A5C-87A0-0CFBF0336B8A}"/>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0" name="Text 8">
            <a:extLst>
              <a:ext uri="{FF2B5EF4-FFF2-40B4-BE49-F238E27FC236}">
                <a16:creationId xmlns:a16="http://schemas.microsoft.com/office/drawing/2014/main" id="{4F7C0C81-65B9-461A-A6E6-489D0DD3DD64}"/>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18</a:t>
            </a:r>
            <a:endParaRPr sz="850"/>
          </a:p>
        </p:txBody>
      </p:sp>
      <p:sp>
        <p:nvSpPr>
          <p:cNvPr id="11" name="Shape 9">
            <a:extLst>
              <a:ext uri="{FF2B5EF4-FFF2-40B4-BE49-F238E27FC236}">
                <a16:creationId xmlns:a16="http://schemas.microsoft.com/office/drawing/2014/main" id="{D7A02BAE-3627-4839-A2CD-792B435C6EBF}"/>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136027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FC7B78-EFAD-439E-A7C9-D25FDF291400}"/>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S&amp;P 500 sonucu: RoBERTa dış veride de güçlü</a:t>
            </a:r>
            <a:endParaRPr sz="3100"/>
          </a:p>
        </p:txBody>
      </p:sp>
      <p:sp>
        <p:nvSpPr>
          <p:cNvPr id="3" name="Text 1">
            <a:extLst>
              <a:ext uri="{FF2B5EF4-FFF2-40B4-BE49-F238E27FC236}">
                <a16:creationId xmlns:a16="http://schemas.microsoft.com/office/drawing/2014/main" id="{48EFA3B0-AA5C-4DF4-9579-EA8ED4C44207}"/>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İç test sıralaması büyük ölçüde korundu; ancak performans düştü.</a:t>
            </a:r>
            <a:endParaRPr sz="1450"/>
          </a:p>
        </p:txBody>
      </p:sp>
      <p:sp>
        <p:nvSpPr>
          <p:cNvPr id="4" name="Text 2">
            <a:extLst>
              <a:ext uri="{FF2B5EF4-FFF2-40B4-BE49-F238E27FC236}">
                <a16:creationId xmlns:a16="http://schemas.microsoft.com/office/drawing/2014/main" id="{A913C022-9361-4C17-AEC0-F89EA037B561}"/>
              </a:ext>
            </a:extLst>
          </p:cNvPr>
          <p:cNvSpPr>
            <a:spLocks noGrp="1"/>
          </p:cNvSpPr>
          <p:nvPr/>
        </p:nvSpPr>
        <p:spPr>
          <a:xfrm>
            <a:off x="868680" y="1481328"/>
            <a:ext cx="2286000" cy="512064"/>
          </a:xfrm>
          <a:prstGeom prst="rect">
            <a:avLst/>
          </a:prstGeom>
          <a:noFill/>
        </p:spPr>
        <p:txBody>
          <a:bodyPr wrap="square" lIns="0" tIns="0" rIns="0" bIns="0" anchor="ctr">
            <a:normAutofit/>
          </a:bodyPr>
          <a:lstStyle/>
          <a:p>
            <a:pPr marL="0" indent="0">
              <a:buNone/>
            </a:pPr>
            <a:r>
              <a:rPr sz="1350">
                <a:solidFill>
                  <a:srgbClr val="1A1E2A"/>
                </a:solidFill>
              </a:rPr>
              <a:t>RoBERTa</a:t>
            </a:r>
            <a:endParaRPr sz="1350"/>
          </a:p>
        </p:txBody>
      </p:sp>
      <p:sp>
        <p:nvSpPr>
          <p:cNvPr id="5" name="Shape 3">
            <a:extLst>
              <a:ext uri="{FF2B5EF4-FFF2-40B4-BE49-F238E27FC236}">
                <a16:creationId xmlns:a16="http://schemas.microsoft.com/office/drawing/2014/main" id="{BC857DBC-603A-4857-AB7C-85430FAD6375}"/>
              </a:ext>
            </a:extLst>
          </p:cNvPr>
          <p:cNvSpPr>
            <a:spLocks noGrp="1"/>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a:extLst>
              <a:ext uri="{FF2B5EF4-FFF2-40B4-BE49-F238E27FC236}">
                <a16:creationId xmlns:a16="http://schemas.microsoft.com/office/drawing/2014/main" id="{7A6B8EAD-6E79-42C8-A123-C3BDA0F87AA5}"/>
              </a:ext>
            </a:extLst>
          </p:cNvPr>
          <p:cNvSpPr>
            <a:spLocks noGrp="1"/>
          </p:cNvSpPr>
          <p:nvPr/>
        </p:nvSpPr>
        <p:spPr>
          <a:xfrm>
            <a:off x="3154680" y="1527048"/>
            <a:ext cx="2672442" cy="256032"/>
          </a:xfrm>
          <a:prstGeom prst="rect">
            <a:avLst/>
          </a:prstGeom>
          <a:solidFill>
            <a:srgbClr val="0F9D8F"/>
          </a:solidFill>
          <a:ln w="12700">
            <a:solidFill>
              <a:srgbClr val="0F9D8F"/>
            </a:solidFill>
            <a:prstDash val="solid"/>
          </a:ln>
        </p:spPr>
      </p:sp>
      <p:sp>
        <p:nvSpPr>
          <p:cNvPr id="7" name="Text 5">
            <a:extLst>
              <a:ext uri="{FF2B5EF4-FFF2-40B4-BE49-F238E27FC236}">
                <a16:creationId xmlns:a16="http://schemas.microsoft.com/office/drawing/2014/main" id="{8C78DD2D-739A-437C-81AA-35AC169553AF}"/>
              </a:ext>
            </a:extLst>
          </p:cNvPr>
          <p:cNvSpPr>
            <a:spLocks noGrp="1"/>
          </p:cNvSpPr>
          <p:nvPr/>
        </p:nvSpPr>
        <p:spPr>
          <a:xfrm>
            <a:off x="6080760" y="1481328"/>
            <a:ext cx="640080" cy="512064"/>
          </a:xfrm>
          <a:prstGeom prst="rect">
            <a:avLst/>
          </a:prstGeom>
          <a:noFill/>
        </p:spPr>
        <p:txBody>
          <a:bodyPr wrap="square" lIns="0" tIns="0" rIns="0" bIns="0" anchor="ctr"/>
          <a:lstStyle/>
          <a:p>
            <a:pPr marL="0" indent="0" algn="r">
              <a:buNone/>
            </a:pPr>
            <a:r>
              <a:rPr sz="1350" b="1">
                <a:solidFill>
                  <a:srgbClr val="1A1E2A"/>
                </a:solidFill>
              </a:rPr>
              <a:t>0.8145</a:t>
            </a:r>
            <a:endParaRPr sz="1350"/>
          </a:p>
        </p:txBody>
      </p:sp>
      <p:sp>
        <p:nvSpPr>
          <p:cNvPr id="8" name="Text 6">
            <a:extLst>
              <a:ext uri="{FF2B5EF4-FFF2-40B4-BE49-F238E27FC236}">
                <a16:creationId xmlns:a16="http://schemas.microsoft.com/office/drawing/2014/main" id="{16D587C5-F512-4EAC-B31A-B4789C0F15B0}"/>
              </a:ext>
            </a:extLst>
          </p:cNvPr>
          <p:cNvSpPr>
            <a:spLocks noGrp="1"/>
          </p:cNvSpPr>
          <p:nvPr/>
        </p:nvSpPr>
        <p:spPr>
          <a:xfrm>
            <a:off x="868680" y="2039112"/>
            <a:ext cx="2286000" cy="512064"/>
          </a:xfrm>
          <a:prstGeom prst="rect">
            <a:avLst/>
          </a:prstGeom>
          <a:noFill/>
        </p:spPr>
        <p:txBody>
          <a:bodyPr wrap="square" lIns="0" tIns="0" rIns="0" bIns="0" anchor="ctr">
            <a:normAutofit/>
          </a:bodyPr>
          <a:lstStyle/>
          <a:p>
            <a:pPr marL="0" indent="0">
              <a:buNone/>
            </a:pPr>
            <a:r>
              <a:rPr sz="1350">
                <a:solidFill>
                  <a:srgbClr val="1A1E2A"/>
                </a:solidFill>
              </a:rPr>
              <a:t>Fine-tuned FinBERT</a:t>
            </a:r>
            <a:endParaRPr sz="1350"/>
          </a:p>
        </p:txBody>
      </p:sp>
      <p:sp>
        <p:nvSpPr>
          <p:cNvPr id="9" name="Shape 7">
            <a:extLst>
              <a:ext uri="{FF2B5EF4-FFF2-40B4-BE49-F238E27FC236}">
                <a16:creationId xmlns:a16="http://schemas.microsoft.com/office/drawing/2014/main" id="{21C262A8-1F28-4D1C-B58F-AEF834563803}"/>
              </a:ext>
            </a:extLst>
          </p:cNvPr>
          <p:cNvSpPr>
            <a:spLocks noGrp="1"/>
          </p:cNvSpPr>
          <p:nvPr/>
        </p:nvSpPr>
        <p:spPr>
          <a:xfrm>
            <a:off x="3154680" y="2084832"/>
            <a:ext cx="2788920" cy="256032"/>
          </a:xfrm>
          <a:prstGeom prst="rect">
            <a:avLst/>
          </a:prstGeom>
          <a:solidFill>
            <a:srgbClr val="E8ECF5"/>
          </a:solidFill>
          <a:ln w="12700">
            <a:solidFill>
              <a:srgbClr val="E8ECF5"/>
            </a:solidFill>
            <a:prstDash val="solid"/>
          </a:ln>
        </p:spPr>
      </p:sp>
      <p:sp>
        <p:nvSpPr>
          <p:cNvPr id="10" name="Shape 8">
            <a:extLst>
              <a:ext uri="{FF2B5EF4-FFF2-40B4-BE49-F238E27FC236}">
                <a16:creationId xmlns:a16="http://schemas.microsoft.com/office/drawing/2014/main" id="{594874B0-7EF1-48BC-B9AE-1D93DD1A7DAB}"/>
              </a:ext>
            </a:extLst>
          </p:cNvPr>
          <p:cNvSpPr>
            <a:spLocks noGrp="1"/>
          </p:cNvSpPr>
          <p:nvPr/>
        </p:nvSpPr>
        <p:spPr>
          <a:xfrm>
            <a:off x="3154680" y="2084832"/>
            <a:ext cx="2533980" cy="256032"/>
          </a:xfrm>
          <a:prstGeom prst="rect">
            <a:avLst/>
          </a:prstGeom>
          <a:solidFill>
            <a:srgbClr val="3867D6"/>
          </a:solidFill>
          <a:ln w="12700">
            <a:solidFill>
              <a:srgbClr val="3867D6"/>
            </a:solidFill>
            <a:prstDash val="solid"/>
          </a:ln>
        </p:spPr>
      </p:sp>
      <p:sp>
        <p:nvSpPr>
          <p:cNvPr id="11" name="Text 9">
            <a:extLst>
              <a:ext uri="{FF2B5EF4-FFF2-40B4-BE49-F238E27FC236}">
                <a16:creationId xmlns:a16="http://schemas.microsoft.com/office/drawing/2014/main" id="{867913B7-09B7-4702-B4CB-11207F985CF9}"/>
              </a:ext>
            </a:extLst>
          </p:cNvPr>
          <p:cNvSpPr>
            <a:spLocks noGrp="1"/>
          </p:cNvSpPr>
          <p:nvPr/>
        </p:nvSpPr>
        <p:spPr>
          <a:xfrm>
            <a:off x="6080760" y="2039112"/>
            <a:ext cx="640080" cy="512064"/>
          </a:xfrm>
          <a:prstGeom prst="rect">
            <a:avLst/>
          </a:prstGeom>
          <a:noFill/>
        </p:spPr>
        <p:txBody>
          <a:bodyPr wrap="square" lIns="0" tIns="0" rIns="0" bIns="0" anchor="ctr"/>
          <a:lstStyle/>
          <a:p>
            <a:pPr marL="0" indent="0" algn="r">
              <a:buNone/>
            </a:pPr>
            <a:r>
              <a:rPr sz="1350" b="1">
                <a:solidFill>
                  <a:srgbClr val="1A1E2A"/>
                </a:solidFill>
              </a:rPr>
              <a:t>0.7723</a:t>
            </a:r>
            <a:endParaRPr sz="1350"/>
          </a:p>
        </p:txBody>
      </p:sp>
      <p:sp>
        <p:nvSpPr>
          <p:cNvPr id="12" name="Text 10">
            <a:extLst>
              <a:ext uri="{FF2B5EF4-FFF2-40B4-BE49-F238E27FC236}">
                <a16:creationId xmlns:a16="http://schemas.microsoft.com/office/drawing/2014/main" id="{4525AB85-289C-49DC-BBDA-5082A197408A}"/>
              </a:ext>
            </a:extLst>
          </p:cNvPr>
          <p:cNvSpPr>
            <a:spLocks noGrp="1"/>
          </p:cNvSpPr>
          <p:nvPr/>
        </p:nvSpPr>
        <p:spPr>
          <a:xfrm>
            <a:off x="868680" y="2596896"/>
            <a:ext cx="2286000" cy="512064"/>
          </a:xfrm>
          <a:prstGeom prst="rect">
            <a:avLst/>
          </a:prstGeom>
          <a:noFill/>
        </p:spPr>
        <p:txBody>
          <a:bodyPr wrap="square" lIns="0" tIns="0" rIns="0" bIns="0" anchor="ctr">
            <a:normAutofit/>
          </a:bodyPr>
          <a:lstStyle/>
          <a:p>
            <a:pPr marL="0" indent="0">
              <a:buNone/>
            </a:pPr>
            <a:r>
              <a:rPr sz="1350">
                <a:solidFill>
                  <a:srgbClr val="1A1E2A"/>
                </a:solidFill>
              </a:rPr>
              <a:t>BERT</a:t>
            </a:r>
            <a:endParaRPr sz="1350"/>
          </a:p>
        </p:txBody>
      </p:sp>
      <p:sp>
        <p:nvSpPr>
          <p:cNvPr id="13" name="Shape 11">
            <a:extLst>
              <a:ext uri="{FF2B5EF4-FFF2-40B4-BE49-F238E27FC236}">
                <a16:creationId xmlns:a16="http://schemas.microsoft.com/office/drawing/2014/main" id="{5D53E022-07B3-44A6-8D91-61AF863AAD08}"/>
              </a:ext>
            </a:extLst>
          </p:cNvPr>
          <p:cNvSpPr>
            <a:spLocks noGrp="1"/>
          </p:cNvSpPr>
          <p:nvPr/>
        </p:nvSpPr>
        <p:spPr>
          <a:xfrm>
            <a:off x="3154680" y="2642616"/>
            <a:ext cx="2788920" cy="256032"/>
          </a:xfrm>
          <a:prstGeom prst="rect">
            <a:avLst/>
          </a:prstGeom>
          <a:solidFill>
            <a:srgbClr val="E8ECF5"/>
          </a:solidFill>
          <a:ln w="12700">
            <a:solidFill>
              <a:srgbClr val="E8ECF5"/>
            </a:solidFill>
            <a:prstDash val="solid"/>
          </a:ln>
        </p:spPr>
      </p:sp>
      <p:sp>
        <p:nvSpPr>
          <p:cNvPr id="14" name="Shape 12">
            <a:extLst>
              <a:ext uri="{FF2B5EF4-FFF2-40B4-BE49-F238E27FC236}">
                <a16:creationId xmlns:a16="http://schemas.microsoft.com/office/drawing/2014/main" id="{D88A6D29-2BDF-4B7D-A8BA-5CD8E661CD3B}"/>
              </a:ext>
            </a:extLst>
          </p:cNvPr>
          <p:cNvSpPr>
            <a:spLocks noGrp="1"/>
          </p:cNvSpPr>
          <p:nvPr/>
        </p:nvSpPr>
        <p:spPr>
          <a:xfrm>
            <a:off x="3154680" y="2642616"/>
            <a:ext cx="2476889" cy="256032"/>
          </a:xfrm>
          <a:prstGeom prst="rect">
            <a:avLst/>
          </a:prstGeom>
          <a:solidFill>
            <a:srgbClr val="F4A62A"/>
          </a:solidFill>
          <a:ln w="12700">
            <a:solidFill>
              <a:srgbClr val="F4A62A"/>
            </a:solidFill>
            <a:prstDash val="solid"/>
          </a:ln>
        </p:spPr>
      </p:sp>
      <p:sp>
        <p:nvSpPr>
          <p:cNvPr id="15" name="Text 13">
            <a:extLst>
              <a:ext uri="{FF2B5EF4-FFF2-40B4-BE49-F238E27FC236}">
                <a16:creationId xmlns:a16="http://schemas.microsoft.com/office/drawing/2014/main" id="{C0ED25FC-BADC-4CB7-AC59-C2E678DF67EE}"/>
              </a:ext>
            </a:extLst>
          </p:cNvPr>
          <p:cNvSpPr>
            <a:spLocks noGrp="1"/>
          </p:cNvSpPr>
          <p:nvPr/>
        </p:nvSpPr>
        <p:spPr>
          <a:xfrm>
            <a:off x="6080760" y="2596896"/>
            <a:ext cx="640080" cy="512064"/>
          </a:xfrm>
          <a:prstGeom prst="rect">
            <a:avLst/>
          </a:prstGeom>
          <a:noFill/>
        </p:spPr>
        <p:txBody>
          <a:bodyPr wrap="square" lIns="0" tIns="0" rIns="0" bIns="0" anchor="ctr"/>
          <a:lstStyle/>
          <a:p>
            <a:pPr marL="0" indent="0" algn="r">
              <a:buNone/>
            </a:pPr>
            <a:r>
              <a:rPr sz="1350">
                <a:solidFill>
                  <a:srgbClr val="1A1E2A"/>
                </a:solidFill>
              </a:rPr>
              <a:t>0.7549</a:t>
            </a:r>
            <a:endParaRPr sz="1350"/>
          </a:p>
        </p:txBody>
      </p:sp>
      <p:sp>
        <p:nvSpPr>
          <p:cNvPr id="16" name="Text 14">
            <a:extLst>
              <a:ext uri="{FF2B5EF4-FFF2-40B4-BE49-F238E27FC236}">
                <a16:creationId xmlns:a16="http://schemas.microsoft.com/office/drawing/2014/main" id="{4A5A274C-1E44-43CA-ABCC-7D30D8C9A999}"/>
              </a:ext>
            </a:extLst>
          </p:cNvPr>
          <p:cNvSpPr>
            <a:spLocks noGrp="1"/>
          </p:cNvSpPr>
          <p:nvPr/>
        </p:nvSpPr>
        <p:spPr>
          <a:xfrm>
            <a:off x="868680" y="3154680"/>
            <a:ext cx="2286000" cy="512064"/>
          </a:xfrm>
          <a:prstGeom prst="rect">
            <a:avLst/>
          </a:prstGeom>
          <a:noFill/>
        </p:spPr>
        <p:txBody>
          <a:bodyPr wrap="square" lIns="0" tIns="0" rIns="0" bIns="0" anchor="ctr">
            <a:normAutofit/>
          </a:bodyPr>
          <a:lstStyle/>
          <a:p>
            <a:pPr marL="0" indent="0">
              <a:buNone/>
            </a:pPr>
            <a:r>
              <a:rPr sz="1350">
                <a:solidFill>
                  <a:srgbClr val="1A1E2A"/>
                </a:solidFill>
              </a:rPr>
              <a:t>Original FinBERT</a:t>
            </a:r>
            <a:endParaRPr sz="1350"/>
          </a:p>
        </p:txBody>
      </p:sp>
      <p:sp>
        <p:nvSpPr>
          <p:cNvPr id="17" name="Shape 15">
            <a:extLst>
              <a:ext uri="{FF2B5EF4-FFF2-40B4-BE49-F238E27FC236}">
                <a16:creationId xmlns:a16="http://schemas.microsoft.com/office/drawing/2014/main" id="{A71FAB80-9CCE-4C52-8786-A15947EB7230}"/>
              </a:ext>
            </a:extLst>
          </p:cNvPr>
          <p:cNvSpPr>
            <a:spLocks noGrp="1"/>
          </p:cNvSpPr>
          <p:nvPr/>
        </p:nvSpPr>
        <p:spPr>
          <a:xfrm>
            <a:off x="3154680" y="3200400"/>
            <a:ext cx="2788920" cy="256032"/>
          </a:xfrm>
          <a:prstGeom prst="rect">
            <a:avLst/>
          </a:prstGeom>
          <a:solidFill>
            <a:srgbClr val="E8ECF5"/>
          </a:solidFill>
          <a:ln w="12700">
            <a:solidFill>
              <a:srgbClr val="E8ECF5"/>
            </a:solidFill>
            <a:prstDash val="solid"/>
          </a:ln>
        </p:spPr>
      </p:sp>
      <p:sp>
        <p:nvSpPr>
          <p:cNvPr id="18" name="Shape 16">
            <a:extLst>
              <a:ext uri="{FF2B5EF4-FFF2-40B4-BE49-F238E27FC236}">
                <a16:creationId xmlns:a16="http://schemas.microsoft.com/office/drawing/2014/main" id="{8DC6C006-8C32-4D41-B33F-8D1E82F88562}"/>
              </a:ext>
            </a:extLst>
          </p:cNvPr>
          <p:cNvSpPr>
            <a:spLocks noGrp="1"/>
          </p:cNvSpPr>
          <p:nvPr/>
        </p:nvSpPr>
        <p:spPr>
          <a:xfrm>
            <a:off x="3154680" y="3200400"/>
            <a:ext cx="2467702" cy="256032"/>
          </a:xfrm>
          <a:prstGeom prst="rect">
            <a:avLst/>
          </a:prstGeom>
          <a:solidFill>
            <a:srgbClr val="5E6A7D"/>
          </a:solidFill>
          <a:ln w="12700">
            <a:solidFill>
              <a:srgbClr val="5E6A7D"/>
            </a:solidFill>
            <a:prstDash val="solid"/>
          </a:ln>
        </p:spPr>
      </p:sp>
      <p:sp>
        <p:nvSpPr>
          <p:cNvPr id="19" name="Text 17">
            <a:extLst>
              <a:ext uri="{FF2B5EF4-FFF2-40B4-BE49-F238E27FC236}">
                <a16:creationId xmlns:a16="http://schemas.microsoft.com/office/drawing/2014/main" id="{63DFBCF7-F111-49E3-84C3-90B8130A6797}"/>
              </a:ext>
            </a:extLst>
          </p:cNvPr>
          <p:cNvSpPr>
            <a:spLocks noGrp="1"/>
          </p:cNvSpPr>
          <p:nvPr/>
        </p:nvSpPr>
        <p:spPr>
          <a:xfrm>
            <a:off x="6080760" y="3154680"/>
            <a:ext cx="640080" cy="512064"/>
          </a:xfrm>
          <a:prstGeom prst="rect">
            <a:avLst/>
          </a:prstGeom>
          <a:noFill/>
        </p:spPr>
        <p:txBody>
          <a:bodyPr wrap="square" lIns="0" tIns="0" rIns="0" bIns="0" anchor="ctr"/>
          <a:lstStyle/>
          <a:p>
            <a:pPr marL="0" indent="0" algn="r">
              <a:buNone/>
            </a:pPr>
            <a:r>
              <a:rPr sz="1350">
                <a:solidFill>
                  <a:srgbClr val="1A1E2A"/>
                </a:solidFill>
              </a:rPr>
              <a:t>0.7521</a:t>
            </a:r>
            <a:endParaRPr sz="1350"/>
          </a:p>
        </p:txBody>
      </p:sp>
      <p:sp>
        <p:nvSpPr>
          <p:cNvPr id="20" name="Text 18">
            <a:extLst>
              <a:ext uri="{FF2B5EF4-FFF2-40B4-BE49-F238E27FC236}">
                <a16:creationId xmlns:a16="http://schemas.microsoft.com/office/drawing/2014/main" id="{73920CA9-F30D-4C3E-A390-A02DCC9C4C9A}"/>
              </a:ext>
            </a:extLst>
          </p:cNvPr>
          <p:cNvSpPr>
            <a:spLocks noGrp="1"/>
          </p:cNvSpPr>
          <p:nvPr/>
        </p:nvSpPr>
        <p:spPr>
          <a:xfrm>
            <a:off x="868680" y="3712464"/>
            <a:ext cx="2286000" cy="512064"/>
          </a:xfrm>
          <a:prstGeom prst="rect">
            <a:avLst/>
          </a:prstGeom>
          <a:noFill/>
        </p:spPr>
        <p:txBody>
          <a:bodyPr wrap="square" lIns="0" tIns="0" rIns="0" bIns="0" anchor="ctr">
            <a:normAutofit/>
          </a:bodyPr>
          <a:lstStyle/>
          <a:p>
            <a:pPr marL="0" indent="0">
              <a:buNone/>
            </a:pPr>
            <a:r>
              <a:rPr sz="1350">
                <a:solidFill>
                  <a:srgbClr val="1A1E2A"/>
                </a:solidFill>
              </a:rPr>
              <a:t>DistilBERT</a:t>
            </a:r>
            <a:endParaRPr sz="1350"/>
          </a:p>
        </p:txBody>
      </p:sp>
      <p:sp>
        <p:nvSpPr>
          <p:cNvPr id="21" name="Shape 19">
            <a:extLst>
              <a:ext uri="{FF2B5EF4-FFF2-40B4-BE49-F238E27FC236}">
                <a16:creationId xmlns:a16="http://schemas.microsoft.com/office/drawing/2014/main" id="{E1430317-B524-43CE-BB73-49338780C1CD}"/>
              </a:ext>
            </a:extLst>
          </p:cNvPr>
          <p:cNvSpPr>
            <a:spLocks noGrp="1"/>
          </p:cNvSpPr>
          <p:nvPr/>
        </p:nvSpPr>
        <p:spPr>
          <a:xfrm>
            <a:off x="3154680" y="3758184"/>
            <a:ext cx="2788920" cy="256032"/>
          </a:xfrm>
          <a:prstGeom prst="rect">
            <a:avLst/>
          </a:prstGeom>
          <a:solidFill>
            <a:srgbClr val="E8ECF5"/>
          </a:solidFill>
          <a:ln w="12700">
            <a:solidFill>
              <a:srgbClr val="E8ECF5"/>
            </a:solidFill>
            <a:prstDash val="solid"/>
          </a:ln>
        </p:spPr>
      </p:sp>
      <p:sp>
        <p:nvSpPr>
          <p:cNvPr id="22" name="Shape 20">
            <a:extLst>
              <a:ext uri="{FF2B5EF4-FFF2-40B4-BE49-F238E27FC236}">
                <a16:creationId xmlns:a16="http://schemas.microsoft.com/office/drawing/2014/main" id="{0A4F1CE2-73C7-4BAF-AB3F-8B04A639023D}"/>
              </a:ext>
            </a:extLst>
          </p:cNvPr>
          <p:cNvSpPr>
            <a:spLocks noGrp="1"/>
          </p:cNvSpPr>
          <p:nvPr/>
        </p:nvSpPr>
        <p:spPr>
          <a:xfrm>
            <a:off x="3154680" y="3758184"/>
            <a:ext cx="2464093" cy="256032"/>
          </a:xfrm>
          <a:prstGeom prst="rect">
            <a:avLst/>
          </a:prstGeom>
          <a:solidFill>
            <a:srgbClr val="1C8B5A"/>
          </a:solidFill>
          <a:ln w="12700">
            <a:solidFill>
              <a:srgbClr val="1C8B5A"/>
            </a:solidFill>
            <a:prstDash val="solid"/>
          </a:ln>
        </p:spPr>
      </p:sp>
      <p:sp>
        <p:nvSpPr>
          <p:cNvPr id="23" name="Text 21">
            <a:extLst>
              <a:ext uri="{FF2B5EF4-FFF2-40B4-BE49-F238E27FC236}">
                <a16:creationId xmlns:a16="http://schemas.microsoft.com/office/drawing/2014/main" id="{23E01D69-6376-42A5-9067-0598A381435F}"/>
              </a:ext>
            </a:extLst>
          </p:cNvPr>
          <p:cNvSpPr>
            <a:spLocks noGrp="1"/>
          </p:cNvSpPr>
          <p:nvPr/>
        </p:nvSpPr>
        <p:spPr>
          <a:xfrm>
            <a:off x="6080760" y="3712464"/>
            <a:ext cx="640080" cy="512064"/>
          </a:xfrm>
          <a:prstGeom prst="rect">
            <a:avLst/>
          </a:prstGeom>
          <a:noFill/>
        </p:spPr>
        <p:txBody>
          <a:bodyPr wrap="square" lIns="0" tIns="0" rIns="0" bIns="0" anchor="ctr"/>
          <a:lstStyle/>
          <a:p>
            <a:pPr marL="0" indent="0" algn="r">
              <a:buNone/>
            </a:pPr>
            <a:r>
              <a:rPr sz="1350">
                <a:solidFill>
                  <a:srgbClr val="1A1E2A"/>
                </a:solidFill>
              </a:rPr>
              <a:t>0.751</a:t>
            </a:r>
            <a:endParaRPr sz="1350"/>
          </a:p>
        </p:txBody>
      </p:sp>
      <p:sp>
        <p:nvSpPr>
          <p:cNvPr id="24" name="Text 22">
            <a:extLst>
              <a:ext uri="{FF2B5EF4-FFF2-40B4-BE49-F238E27FC236}">
                <a16:creationId xmlns:a16="http://schemas.microsoft.com/office/drawing/2014/main" id="{67B72716-AC8C-4920-AC26-B109F6261E1A}"/>
              </a:ext>
            </a:extLst>
          </p:cNvPr>
          <p:cNvSpPr>
            <a:spLocks noGrp="1"/>
          </p:cNvSpPr>
          <p:nvPr/>
        </p:nvSpPr>
        <p:spPr>
          <a:xfrm>
            <a:off x="7315200" y="1508760"/>
            <a:ext cx="3977640" cy="1920240"/>
          </a:xfrm>
          <a:prstGeom prst="rect">
            <a:avLst/>
          </a:prstGeom>
          <a:noFill/>
        </p:spPr>
        <p:txBody>
          <a:bodyPr wrap="square" lIns="635" tIns="635" rIns="635" bIns="635" anchor="ctr">
            <a:normAutofit/>
          </a:bodyPr>
          <a:lstStyle/>
          <a:p>
            <a:r>
              <a:rPr sz="1600">
                <a:solidFill>
                  <a:srgbClr val="1A1E2A"/>
                </a:solidFill>
              </a:rPr>
              <a:t>RoBERTa S&amp;P setinde de birinci oldu.</a:t>
            </a:r>
            <a:endParaRPr sz="1600"/>
          </a:p>
          <a:p>
            <a:r>
              <a:rPr sz="1600">
                <a:solidFill>
                  <a:srgbClr val="1A1E2A"/>
                </a:solidFill>
              </a:rPr>
              <a:t>Ancak iç testteki ~0.87 düzeyinden ~0.81’e düşüş var.</a:t>
            </a:r>
            <a:endParaRPr sz="1600"/>
          </a:p>
          <a:p>
            <a:r>
              <a:rPr sz="1600">
                <a:solidFill>
                  <a:srgbClr val="1A1E2A"/>
                </a:solidFill>
              </a:rPr>
              <a:t>Bu düşüş veri kaynağı değiştiğinde performansın etkilenebildiğini gösteriyor.</a:t>
            </a:r>
            <a:endParaRPr sz="1600"/>
          </a:p>
        </p:txBody>
      </p:sp>
      <p:sp>
        <p:nvSpPr>
          <p:cNvPr id="25" name="Shape 23">
            <a:extLst>
              <a:ext uri="{FF2B5EF4-FFF2-40B4-BE49-F238E27FC236}">
                <a16:creationId xmlns:a16="http://schemas.microsoft.com/office/drawing/2014/main" id="{A852ECD7-6029-4616-98BD-B6F522A1661A}"/>
              </a:ext>
            </a:extLst>
          </p:cNvPr>
          <p:cNvSpPr>
            <a:spLocks noGrp="1"/>
          </p:cNvSpPr>
          <p:nvPr/>
        </p:nvSpPr>
        <p:spPr>
          <a:xfrm>
            <a:off x="914400" y="4709160"/>
            <a:ext cx="10149840" cy="685800"/>
          </a:xfrm>
          <a:prstGeom prst="roundRect">
            <a:avLst>
              <a:gd name="adj" fmla="val 10667"/>
            </a:avLst>
          </a:prstGeom>
          <a:solidFill>
            <a:srgbClr val="F0FAF8"/>
          </a:solidFill>
          <a:ln w="15240">
            <a:solidFill>
              <a:srgbClr val="F4A62A"/>
            </a:solidFill>
            <a:prstDash val="solid"/>
          </a:ln>
        </p:spPr>
      </p:sp>
      <p:sp>
        <p:nvSpPr>
          <p:cNvPr id="26" name="Text 24">
            <a:extLst>
              <a:ext uri="{FF2B5EF4-FFF2-40B4-BE49-F238E27FC236}">
                <a16:creationId xmlns:a16="http://schemas.microsoft.com/office/drawing/2014/main" id="{18AA25BE-4A5A-4130-86BE-0F51A152B1EB}"/>
              </a:ext>
            </a:extLst>
          </p:cNvPr>
          <p:cNvSpPr>
            <a:spLocks noGrp="1"/>
          </p:cNvSpPr>
          <p:nvPr/>
        </p:nvSpPr>
        <p:spPr>
          <a:xfrm>
            <a:off x="1078992" y="4855464"/>
            <a:ext cx="9820656" cy="457200"/>
          </a:xfrm>
          <a:prstGeom prst="rect">
            <a:avLst/>
          </a:prstGeom>
          <a:noFill/>
        </p:spPr>
        <p:txBody>
          <a:bodyPr wrap="square" lIns="254" tIns="254" rIns="254" bIns="254" anchor="ctr">
            <a:normAutofit/>
          </a:bodyPr>
          <a:lstStyle/>
          <a:p>
            <a:pPr marL="0" indent="0">
              <a:buNone/>
            </a:pPr>
            <a:r>
              <a:rPr sz="1500" b="1">
                <a:solidFill>
                  <a:srgbClr val="172033"/>
                </a:solidFill>
              </a:rPr>
              <a:t>S&amp;P sonucu: RoBERTa güçlü kaldı; fakat dış kaynağa çıkınca skor kaybı başladı.</a:t>
            </a:r>
            <a:endParaRPr sz="1500"/>
          </a:p>
        </p:txBody>
      </p:sp>
      <p:sp>
        <p:nvSpPr>
          <p:cNvPr id="27" name="Text 25">
            <a:extLst>
              <a:ext uri="{FF2B5EF4-FFF2-40B4-BE49-F238E27FC236}">
                <a16:creationId xmlns:a16="http://schemas.microsoft.com/office/drawing/2014/main" id="{AF453364-4C7B-4602-8B6A-40EE90BEA349}"/>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8" name="Text 26">
            <a:extLst>
              <a:ext uri="{FF2B5EF4-FFF2-40B4-BE49-F238E27FC236}">
                <a16:creationId xmlns:a16="http://schemas.microsoft.com/office/drawing/2014/main" id="{F4F132A5-E28F-448B-B979-013A970E75B3}"/>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19</a:t>
            </a:r>
            <a:endParaRPr sz="850"/>
          </a:p>
        </p:txBody>
      </p:sp>
      <p:sp>
        <p:nvSpPr>
          <p:cNvPr id="29" name="Shape 27">
            <a:extLst>
              <a:ext uri="{FF2B5EF4-FFF2-40B4-BE49-F238E27FC236}">
                <a16:creationId xmlns:a16="http://schemas.microsoft.com/office/drawing/2014/main" id="{DD6DD306-34A9-43E3-9139-3AF8BD1904A2}"/>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581001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5FC728B-66A9-4216-8367-89F6A7BEAB18}"/>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Reuters sonucu: ana kırılma noktası</a:t>
            </a:r>
            <a:endParaRPr sz="3100"/>
          </a:p>
        </p:txBody>
      </p:sp>
      <p:sp>
        <p:nvSpPr>
          <p:cNvPr id="3" name="Text 1">
            <a:extLst>
              <a:ext uri="{FF2B5EF4-FFF2-40B4-BE49-F238E27FC236}">
                <a16:creationId xmlns:a16="http://schemas.microsoft.com/office/drawing/2014/main" id="{CEAAD00E-B23E-42E3-AC7C-F76414C55C00}"/>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Fine-tuning iç testte kazandırdı; Reuters’ta avantaj tersine döndü.</a:t>
            </a:r>
            <a:endParaRPr sz="1450"/>
          </a:p>
        </p:txBody>
      </p:sp>
      <p:sp>
        <p:nvSpPr>
          <p:cNvPr id="4" name="Text 2">
            <a:extLst>
              <a:ext uri="{FF2B5EF4-FFF2-40B4-BE49-F238E27FC236}">
                <a16:creationId xmlns:a16="http://schemas.microsoft.com/office/drawing/2014/main" id="{02EB66ED-4F86-4F2F-AA6F-E4673D3F9040}"/>
              </a:ext>
            </a:extLst>
          </p:cNvPr>
          <p:cNvSpPr>
            <a:spLocks noGrp="1"/>
          </p:cNvSpPr>
          <p:nvPr/>
        </p:nvSpPr>
        <p:spPr>
          <a:xfrm>
            <a:off x="868680" y="1481328"/>
            <a:ext cx="2286000" cy="512064"/>
          </a:xfrm>
          <a:prstGeom prst="rect">
            <a:avLst/>
          </a:prstGeom>
          <a:noFill/>
        </p:spPr>
        <p:txBody>
          <a:bodyPr wrap="square" lIns="0" tIns="0" rIns="0" bIns="0" anchor="ctr">
            <a:normAutofit/>
          </a:bodyPr>
          <a:lstStyle/>
          <a:p>
            <a:pPr marL="0" indent="0">
              <a:buNone/>
            </a:pPr>
            <a:r>
              <a:rPr sz="1350">
                <a:solidFill>
                  <a:srgbClr val="1A1E2A"/>
                </a:solidFill>
              </a:rPr>
              <a:t>Original FinBERT</a:t>
            </a:r>
            <a:endParaRPr sz="1350"/>
          </a:p>
        </p:txBody>
      </p:sp>
      <p:sp>
        <p:nvSpPr>
          <p:cNvPr id="5" name="Shape 3">
            <a:extLst>
              <a:ext uri="{FF2B5EF4-FFF2-40B4-BE49-F238E27FC236}">
                <a16:creationId xmlns:a16="http://schemas.microsoft.com/office/drawing/2014/main" id="{0CFF4D4A-785A-4428-B494-C626127A011A}"/>
              </a:ext>
            </a:extLst>
          </p:cNvPr>
          <p:cNvSpPr>
            <a:spLocks noGrp="1"/>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a:extLst>
              <a:ext uri="{FF2B5EF4-FFF2-40B4-BE49-F238E27FC236}">
                <a16:creationId xmlns:a16="http://schemas.microsoft.com/office/drawing/2014/main" id="{1765300C-2DF8-46C0-9491-44B8522A6E13}"/>
              </a:ext>
            </a:extLst>
          </p:cNvPr>
          <p:cNvSpPr>
            <a:spLocks noGrp="1"/>
          </p:cNvSpPr>
          <p:nvPr/>
        </p:nvSpPr>
        <p:spPr>
          <a:xfrm>
            <a:off x="3154680" y="1527048"/>
            <a:ext cx="2659545" cy="256032"/>
          </a:xfrm>
          <a:prstGeom prst="rect">
            <a:avLst/>
          </a:prstGeom>
          <a:solidFill>
            <a:srgbClr val="5E6A7D"/>
          </a:solidFill>
          <a:ln w="12700">
            <a:solidFill>
              <a:srgbClr val="5E6A7D"/>
            </a:solidFill>
            <a:prstDash val="solid"/>
          </a:ln>
        </p:spPr>
      </p:sp>
      <p:sp>
        <p:nvSpPr>
          <p:cNvPr id="7" name="Text 5">
            <a:extLst>
              <a:ext uri="{FF2B5EF4-FFF2-40B4-BE49-F238E27FC236}">
                <a16:creationId xmlns:a16="http://schemas.microsoft.com/office/drawing/2014/main" id="{08E4FD98-2288-44BC-8FDB-B2EDB2326217}"/>
              </a:ext>
            </a:extLst>
          </p:cNvPr>
          <p:cNvSpPr>
            <a:spLocks noGrp="1"/>
          </p:cNvSpPr>
          <p:nvPr/>
        </p:nvSpPr>
        <p:spPr>
          <a:xfrm>
            <a:off x="6080760" y="1481328"/>
            <a:ext cx="640080" cy="512064"/>
          </a:xfrm>
          <a:prstGeom prst="rect">
            <a:avLst/>
          </a:prstGeom>
          <a:noFill/>
        </p:spPr>
        <p:txBody>
          <a:bodyPr wrap="square" lIns="0" tIns="0" rIns="0" bIns="0" anchor="ctr"/>
          <a:lstStyle/>
          <a:p>
            <a:pPr marL="0" indent="0" algn="r">
              <a:buNone/>
            </a:pPr>
            <a:r>
              <a:rPr sz="1350" b="1">
                <a:solidFill>
                  <a:srgbClr val="1A1E2A"/>
                </a:solidFill>
              </a:rPr>
              <a:t>0.6866</a:t>
            </a:r>
            <a:endParaRPr sz="1350"/>
          </a:p>
        </p:txBody>
      </p:sp>
      <p:sp>
        <p:nvSpPr>
          <p:cNvPr id="8" name="Text 6">
            <a:extLst>
              <a:ext uri="{FF2B5EF4-FFF2-40B4-BE49-F238E27FC236}">
                <a16:creationId xmlns:a16="http://schemas.microsoft.com/office/drawing/2014/main" id="{C4D57DC4-E3AC-4438-8C88-79C93DFB2EC4}"/>
              </a:ext>
            </a:extLst>
          </p:cNvPr>
          <p:cNvSpPr>
            <a:spLocks noGrp="1"/>
          </p:cNvSpPr>
          <p:nvPr/>
        </p:nvSpPr>
        <p:spPr>
          <a:xfrm>
            <a:off x="868680" y="2039112"/>
            <a:ext cx="2286000" cy="512064"/>
          </a:xfrm>
          <a:prstGeom prst="rect">
            <a:avLst/>
          </a:prstGeom>
          <a:noFill/>
        </p:spPr>
        <p:txBody>
          <a:bodyPr wrap="square" lIns="0" tIns="0" rIns="0" bIns="0" anchor="ctr">
            <a:normAutofit/>
          </a:bodyPr>
          <a:lstStyle/>
          <a:p>
            <a:pPr marL="0" indent="0">
              <a:buNone/>
            </a:pPr>
            <a:r>
              <a:rPr sz="1350">
                <a:solidFill>
                  <a:srgbClr val="1A1E2A"/>
                </a:solidFill>
              </a:rPr>
              <a:t>RoBERTa</a:t>
            </a:r>
            <a:endParaRPr sz="1350"/>
          </a:p>
        </p:txBody>
      </p:sp>
      <p:sp>
        <p:nvSpPr>
          <p:cNvPr id="9" name="Shape 7">
            <a:extLst>
              <a:ext uri="{FF2B5EF4-FFF2-40B4-BE49-F238E27FC236}">
                <a16:creationId xmlns:a16="http://schemas.microsoft.com/office/drawing/2014/main" id="{011D83AF-CC79-4D32-A08A-E3582F594F22}"/>
              </a:ext>
            </a:extLst>
          </p:cNvPr>
          <p:cNvSpPr>
            <a:spLocks noGrp="1"/>
          </p:cNvSpPr>
          <p:nvPr/>
        </p:nvSpPr>
        <p:spPr>
          <a:xfrm>
            <a:off x="3154680" y="2084832"/>
            <a:ext cx="2788920" cy="256032"/>
          </a:xfrm>
          <a:prstGeom prst="rect">
            <a:avLst/>
          </a:prstGeom>
          <a:solidFill>
            <a:srgbClr val="E8ECF5"/>
          </a:solidFill>
          <a:ln w="12700">
            <a:solidFill>
              <a:srgbClr val="E8ECF5"/>
            </a:solidFill>
            <a:prstDash val="solid"/>
          </a:ln>
        </p:spPr>
      </p:sp>
      <p:sp>
        <p:nvSpPr>
          <p:cNvPr id="10" name="Shape 8">
            <a:extLst>
              <a:ext uri="{FF2B5EF4-FFF2-40B4-BE49-F238E27FC236}">
                <a16:creationId xmlns:a16="http://schemas.microsoft.com/office/drawing/2014/main" id="{BCE49E3C-02A4-4A3D-9D3D-6A5AFE9258E9}"/>
              </a:ext>
            </a:extLst>
          </p:cNvPr>
          <p:cNvSpPr>
            <a:spLocks noGrp="1"/>
          </p:cNvSpPr>
          <p:nvPr/>
        </p:nvSpPr>
        <p:spPr>
          <a:xfrm>
            <a:off x="3154680" y="2084832"/>
            <a:ext cx="2474392" cy="256032"/>
          </a:xfrm>
          <a:prstGeom prst="rect">
            <a:avLst/>
          </a:prstGeom>
          <a:solidFill>
            <a:srgbClr val="0F9D8F"/>
          </a:solidFill>
          <a:ln w="12700">
            <a:solidFill>
              <a:srgbClr val="0F9D8F"/>
            </a:solidFill>
            <a:prstDash val="solid"/>
          </a:ln>
        </p:spPr>
      </p:sp>
      <p:sp>
        <p:nvSpPr>
          <p:cNvPr id="11" name="Text 9">
            <a:extLst>
              <a:ext uri="{FF2B5EF4-FFF2-40B4-BE49-F238E27FC236}">
                <a16:creationId xmlns:a16="http://schemas.microsoft.com/office/drawing/2014/main" id="{3EC620E3-BD17-4630-84A3-59A50EDEAA3B}"/>
              </a:ext>
            </a:extLst>
          </p:cNvPr>
          <p:cNvSpPr>
            <a:spLocks noGrp="1"/>
          </p:cNvSpPr>
          <p:nvPr/>
        </p:nvSpPr>
        <p:spPr>
          <a:xfrm>
            <a:off x="6080760" y="2039112"/>
            <a:ext cx="640080" cy="512064"/>
          </a:xfrm>
          <a:prstGeom prst="rect">
            <a:avLst/>
          </a:prstGeom>
          <a:noFill/>
        </p:spPr>
        <p:txBody>
          <a:bodyPr wrap="square" lIns="0" tIns="0" rIns="0" bIns="0" anchor="ctr"/>
          <a:lstStyle/>
          <a:p>
            <a:pPr marL="0" indent="0" algn="r">
              <a:buNone/>
            </a:pPr>
            <a:r>
              <a:rPr sz="1350" b="1">
                <a:solidFill>
                  <a:srgbClr val="1A1E2A"/>
                </a:solidFill>
              </a:rPr>
              <a:t>0.6388</a:t>
            </a:r>
            <a:endParaRPr sz="1350"/>
          </a:p>
        </p:txBody>
      </p:sp>
      <p:sp>
        <p:nvSpPr>
          <p:cNvPr id="12" name="Text 10">
            <a:extLst>
              <a:ext uri="{FF2B5EF4-FFF2-40B4-BE49-F238E27FC236}">
                <a16:creationId xmlns:a16="http://schemas.microsoft.com/office/drawing/2014/main" id="{E0B28F1B-B445-4180-8E20-35A891656A03}"/>
              </a:ext>
            </a:extLst>
          </p:cNvPr>
          <p:cNvSpPr>
            <a:spLocks noGrp="1"/>
          </p:cNvSpPr>
          <p:nvPr/>
        </p:nvSpPr>
        <p:spPr>
          <a:xfrm>
            <a:off x="868680" y="2596896"/>
            <a:ext cx="2286000" cy="512064"/>
          </a:xfrm>
          <a:prstGeom prst="rect">
            <a:avLst/>
          </a:prstGeom>
          <a:noFill/>
        </p:spPr>
        <p:txBody>
          <a:bodyPr wrap="square" lIns="0" tIns="0" rIns="0" bIns="0" anchor="ctr">
            <a:normAutofit/>
          </a:bodyPr>
          <a:lstStyle/>
          <a:p>
            <a:pPr marL="0" indent="0">
              <a:buNone/>
            </a:pPr>
            <a:r>
              <a:rPr sz="1350">
                <a:solidFill>
                  <a:srgbClr val="1A1E2A"/>
                </a:solidFill>
              </a:rPr>
              <a:t>BERT</a:t>
            </a:r>
            <a:endParaRPr sz="1350"/>
          </a:p>
        </p:txBody>
      </p:sp>
      <p:sp>
        <p:nvSpPr>
          <p:cNvPr id="13" name="Shape 11">
            <a:extLst>
              <a:ext uri="{FF2B5EF4-FFF2-40B4-BE49-F238E27FC236}">
                <a16:creationId xmlns:a16="http://schemas.microsoft.com/office/drawing/2014/main" id="{017D27D0-BFBB-45B0-B8BA-4653C2E9DE62}"/>
              </a:ext>
            </a:extLst>
          </p:cNvPr>
          <p:cNvSpPr>
            <a:spLocks noGrp="1"/>
          </p:cNvSpPr>
          <p:nvPr/>
        </p:nvSpPr>
        <p:spPr>
          <a:xfrm>
            <a:off x="3154680" y="2642616"/>
            <a:ext cx="2788920" cy="256032"/>
          </a:xfrm>
          <a:prstGeom prst="rect">
            <a:avLst/>
          </a:prstGeom>
          <a:solidFill>
            <a:srgbClr val="E8ECF5"/>
          </a:solidFill>
          <a:ln w="12700">
            <a:solidFill>
              <a:srgbClr val="E8ECF5"/>
            </a:solidFill>
            <a:prstDash val="solid"/>
          </a:ln>
        </p:spPr>
      </p:sp>
      <p:sp>
        <p:nvSpPr>
          <p:cNvPr id="14" name="Shape 12">
            <a:extLst>
              <a:ext uri="{FF2B5EF4-FFF2-40B4-BE49-F238E27FC236}">
                <a16:creationId xmlns:a16="http://schemas.microsoft.com/office/drawing/2014/main" id="{991192A0-117E-4B9C-9AFC-222D2DFDE28C}"/>
              </a:ext>
            </a:extLst>
          </p:cNvPr>
          <p:cNvSpPr>
            <a:spLocks noGrp="1"/>
          </p:cNvSpPr>
          <p:nvPr/>
        </p:nvSpPr>
        <p:spPr>
          <a:xfrm>
            <a:off x="3154680" y="2642616"/>
            <a:ext cx="2374843" cy="256032"/>
          </a:xfrm>
          <a:prstGeom prst="rect">
            <a:avLst/>
          </a:prstGeom>
          <a:solidFill>
            <a:srgbClr val="F4A62A"/>
          </a:solidFill>
          <a:ln w="12700">
            <a:solidFill>
              <a:srgbClr val="F4A62A"/>
            </a:solidFill>
            <a:prstDash val="solid"/>
          </a:ln>
        </p:spPr>
      </p:sp>
      <p:sp>
        <p:nvSpPr>
          <p:cNvPr id="15" name="Text 13">
            <a:extLst>
              <a:ext uri="{FF2B5EF4-FFF2-40B4-BE49-F238E27FC236}">
                <a16:creationId xmlns:a16="http://schemas.microsoft.com/office/drawing/2014/main" id="{CF978DAC-309D-4C25-87E6-67951B4284F1}"/>
              </a:ext>
            </a:extLst>
          </p:cNvPr>
          <p:cNvSpPr>
            <a:spLocks noGrp="1"/>
          </p:cNvSpPr>
          <p:nvPr/>
        </p:nvSpPr>
        <p:spPr>
          <a:xfrm>
            <a:off x="6080760" y="2596896"/>
            <a:ext cx="640080" cy="512064"/>
          </a:xfrm>
          <a:prstGeom prst="rect">
            <a:avLst/>
          </a:prstGeom>
          <a:noFill/>
        </p:spPr>
        <p:txBody>
          <a:bodyPr wrap="square" lIns="0" tIns="0" rIns="0" bIns="0" anchor="ctr"/>
          <a:lstStyle/>
          <a:p>
            <a:pPr marL="0" indent="0" algn="r">
              <a:buNone/>
            </a:pPr>
            <a:r>
              <a:rPr sz="1350">
                <a:solidFill>
                  <a:srgbClr val="1A1E2A"/>
                </a:solidFill>
              </a:rPr>
              <a:t>0.6131</a:t>
            </a:r>
            <a:endParaRPr sz="1350"/>
          </a:p>
        </p:txBody>
      </p:sp>
      <p:sp>
        <p:nvSpPr>
          <p:cNvPr id="16" name="Text 14">
            <a:extLst>
              <a:ext uri="{FF2B5EF4-FFF2-40B4-BE49-F238E27FC236}">
                <a16:creationId xmlns:a16="http://schemas.microsoft.com/office/drawing/2014/main" id="{2C621321-04C7-48F8-9AB7-A3F1BC388BA7}"/>
              </a:ext>
            </a:extLst>
          </p:cNvPr>
          <p:cNvSpPr>
            <a:spLocks noGrp="1"/>
          </p:cNvSpPr>
          <p:nvPr/>
        </p:nvSpPr>
        <p:spPr>
          <a:xfrm>
            <a:off x="868680" y="3154680"/>
            <a:ext cx="2286000" cy="512064"/>
          </a:xfrm>
          <a:prstGeom prst="rect">
            <a:avLst/>
          </a:prstGeom>
          <a:noFill/>
        </p:spPr>
        <p:txBody>
          <a:bodyPr wrap="square" lIns="0" tIns="0" rIns="0" bIns="0" anchor="ctr">
            <a:normAutofit/>
          </a:bodyPr>
          <a:lstStyle/>
          <a:p>
            <a:pPr marL="0" indent="0">
              <a:buNone/>
            </a:pPr>
            <a:r>
              <a:rPr sz="1350">
                <a:solidFill>
                  <a:srgbClr val="1A1E2A"/>
                </a:solidFill>
              </a:rPr>
              <a:t>Fine-tuned FinBERT</a:t>
            </a:r>
            <a:endParaRPr sz="1350"/>
          </a:p>
        </p:txBody>
      </p:sp>
      <p:sp>
        <p:nvSpPr>
          <p:cNvPr id="17" name="Shape 15">
            <a:extLst>
              <a:ext uri="{FF2B5EF4-FFF2-40B4-BE49-F238E27FC236}">
                <a16:creationId xmlns:a16="http://schemas.microsoft.com/office/drawing/2014/main" id="{B8F470B1-E084-410B-9AC3-1BB3F0BC6978}"/>
              </a:ext>
            </a:extLst>
          </p:cNvPr>
          <p:cNvSpPr>
            <a:spLocks noGrp="1"/>
          </p:cNvSpPr>
          <p:nvPr/>
        </p:nvSpPr>
        <p:spPr>
          <a:xfrm>
            <a:off x="3154680" y="3200400"/>
            <a:ext cx="2788920" cy="256032"/>
          </a:xfrm>
          <a:prstGeom prst="rect">
            <a:avLst/>
          </a:prstGeom>
          <a:solidFill>
            <a:srgbClr val="E8ECF5"/>
          </a:solidFill>
          <a:ln w="12700">
            <a:solidFill>
              <a:srgbClr val="E8ECF5"/>
            </a:solidFill>
            <a:prstDash val="solid"/>
          </a:ln>
        </p:spPr>
      </p:sp>
      <p:sp>
        <p:nvSpPr>
          <p:cNvPr id="18" name="Shape 16">
            <a:extLst>
              <a:ext uri="{FF2B5EF4-FFF2-40B4-BE49-F238E27FC236}">
                <a16:creationId xmlns:a16="http://schemas.microsoft.com/office/drawing/2014/main" id="{51CEA481-573E-4AEB-80B1-5F2BC207FE54}"/>
              </a:ext>
            </a:extLst>
          </p:cNvPr>
          <p:cNvSpPr>
            <a:spLocks noGrp="1"/>
          </p:cNvSpPr>
          <p:nvPr/>
        </p:nvSpPr>
        <p:spPr>
          <a:xfrm>
            <a:off x="3154680" y="3200400"/>
            <a:ext cx="2363222" cy="256032"/>
          </a:xfrm>
          <a:prstGeom prst="rect">
            <a:avLst/>
          </a:prstGeom>
          <a:solidFill>
            <a:srgbClr val="3867D6"/>
          </a:solidFill>
          <a:ln w="12700">
            <a:solidFill>
              <a:srgbClr val="3867D6"/>
            </a:solidFill>
            <a:prstDash val="solid"/>
          </a:ln>
        </p:spPr>
      </p:sp>
      <p:sp>
        <p:nvSpPr>
          <p:cNvPr id="19" name="Text 17">
            <a:extLst>
              <a:ext uri="{FF2B5EF4-FFF2-40B4-BE49-F238E27FC236}">
                <a16:creationId xmlns:a16="http://schemas.microsoft.com/office/drawing/2014/main" id="{AD4ACE01-1677-47D2-91A6-702671EFBDDD}"/>
              </a:ext>
            </a:extLst>
          </p:cNvPr>
          <p:cNvSpPr>
            <a:spLocks noGrp="1"/>
          </p:cNvSpPr>
          <p:nvPr/>
        </p:nvSpPr>
        <p:spPr>
          <a:xfrm>
            <a:off x="6080760" y="3154680"/>
            <a:ext cx="640080" cy="512064"/>
          </a:xfrm>
          <a:prstGeom prst="rect">
            <a:avLst/>
          </a:prstGeom>
          <a:noFill/>
        </p:spPr>
        <p:txBody>
          <a:bodyPr wrap="square" lIns="0" tIns="0" rIns="0" bIns="0" anchor="ctr"/>
          <a:lstStyle/>
          <a:p>
            <a:pPr marL="0" indent="0" algn="r">
              <a:buNone/>
            </a:pPr>
            <a:r>
              <a:rPr sz="1350">
                <a:solidFill>
                  <a:srgbClr val="1A1E2A"/>
                </a:solidFill>
              </a:rPr>
              <a:t>0.6101</a:t>
            </a:r>
            <a:endParaRPr sz="1350"/>
          </a:p>
        </p:txBody>
      </p:sp>
      <p:sp>
        <p:nvSpPr>
          <p:cNvPr id="20" name="Text 18">
            <a:extLst>
              <a:ext uri="{FF2B5EF4-FFF2-40B4-BE49-F238E27FC236}">
                <a16:creationId xmlns:a16="http://schemas.microsoft.com/office/drawing/2014/main" id="{CBA62BFB-572C-403D-BFB9-20A13D131D8D}"/>
              </a:ext>
            </a:extLst>
          </p:cNvPr>
          <p:cNvSpPr>
            <a:spLocks noGrp="1"/>
          </p:cNvSpPr>
          <p:nvPr/>
        </p:nvSpPr>
        <p:spPr>
          <a:xfrm>
            <a:off x="868680" y="3712464"/>
            <a:ext cx="2286000" cy="512064"/>
          </a:xfrm>
          <a:prstGeom prst="rect">
            <a:avLst/>
          </a:prstGeom>
          <a:noFill/>
        </p:spPr>
        <p:txBody>
          <a:bodyPr wrap="square" lIns="0" tIns="0" rIns="0" bIns="0" anchor="ctr">
            <a:normAutofit/>
          </a:bodyPr>
          <a:lstStyle/>
          <a:p>
            <a:pPr marL="0" indent="0">
              <a:buNone/>
            </a:pPr>
            <a:r>
              <a:rPr sz="1350">
                <a:solidFill>
                  <a:srgbClr val="1A1E2A"/>
                </a:solidFill>
              </a:rPr>
              <a:t>DistilBERT</a:t>
            </a:r>
            <a:endParaRPr sz="1350"/>
          </a:p>
        </p:txBody>
      </p:sp>
      <p:sp>
        <p:nvSpPr>
          <p:cNvPr id="21" name="Shape 19">
            <a:extLst>
              <a:ext uri="{FF2B5EF4-FFF2-40B4-BE49-F238E27FC236}">
                <a16:creationId xmlns:a16="http://schemas.microsoft.com/office/drawing/2014/main" id="{E762F66F-A72F-45E0-93FC-414EAB3BD06A}"/>
              </a:ext>
            </a:extLst>
          </p:cNvPr>
          <p:cNvSpPr>
            <a:spLocks noGrp="1"/>
          </p:cNvSpPr>
          <p:nvPr/>
        </p:nvSpPr>
        <p:spPr>
          <a:xfrm>
            <a:off x="3154680" y="3758184"/>
            <a:ext cx="2788920" cy="256032"/>
          </a:xfrm>
          <a:prstGeom prst="rect">
            <a:avLst/>
          </a:prstGeom>
          <a:solidFill>
            <a:srgbClr val="E8ECF5"/>
          </a:solidFill>
          <a:ln w="12700">
            <a:solidFill>
              <a:srgbClr val="E8ECF5"/>
            </a:solidFill>
            <a:prstDash val="solid"/>
          </a:ln>
        </p:spPr>
      </p:sp>
      <p:sp>
        <p:nvSpPr>
          <p:cNvPr id="22" name="Shape 20">
            <a:extLst>
              <a:ext uri="{FF2B5EF4-FFF2-40B4-BE49-F238E27FC236}">
                <a16:creationId xmlns:a16="http://schemas.microsoft.com/office/drawing/2014/main" id="{42C1CAA1-C3B9-4064-A634-E0DCE6715597}"/>
              </a:ext>
            </a:extLst>
          </p:cNvPr>
          <p:cNvSpPr>
            <a:spLocks noGrp="1"/>
          </p:cNvSpPr>
          <p:nvPr/>
        </p:nvSpPr>
        <p:spPr>
          <a:xfrm>
            <a:off x="3154680" y="3758184"/>
            <a:ext cx="2273357" cy="256032"/>
          </a:xfrm>
          <a:prstGeom prst="rect">
            <a:avLst/>
          </a:prstGeom>
          <a:solidFill>
            <a:srgbClr val="1C8B5A"/>
          </a:solidFill>
          <a:ln w="12700">
            <a:solidFill>
              <a:srgbClr val="1C8B5A"/>
            </a:solidFill>
            <a:prstDash val="solid"/>
          </a:ln>
        </p:spPr>
      </p:sp>
      <p:sp>
        <p:nvSpPr>
          <p:cNvPr id="23" name="Text 21">
            <a:extLst>
              <a:ext uri="{FF2B5EF4-FFF2-40B4-BE49-F238E27FC236}">
                <a16:creationId xmlns:a16="http://schemas.microsoft.com/office/drawing/2014/main" id="{828827F6-0814-43CD-B1EB-C07434B6F3C2}"/>
              </a:ext>
            </a:extLst>
          </p:cNvPr>
          <p:cNvSpPr>
            <a:spLocks noGrp="1"/>
          </p:cNvSpPr>
          <p:nvPr/>
        </p:nvSpPr>
        <p:spPr>
          <a:xfrm>
            <a:off x="6080760" y="3712464"/>
            <a:ext cx="640080" cy="512064"/>
          </a:xfrm>
          <a:prstGeom prst="rect">
            <a:avLst/>
          </a:prstGeom>
          <a:noFill/>
        </p:spPr>
        <p:txBody>
          <a:bodyPr wrap="square" lIns="0" tIns="0" rIns="0" bIns="0" anchor="ctr"/>
          <a:lstStyle/>
          <a:p>
            <a:pPr marL="0" indent="0" algn="r">
              <a:buNone/>
            </a:pPr>
            <a:r>
              <a:rPr sz="1350">
                <a:solidFill>
                  <a:srgbClr val="1A1E2A"/>
                </a:solidFill>
              </a:rPr>
              <a:t>0.5869</a:t>
            </a:r>
            <a:endParaRPr sz="1350"/>
          </a:p>
        </p:txBody>
      </p:sp>
      <p:sp>
        <p:nvSpPr>
          <p:cNvPr id="24" name="Text 22">
            <a:extLst>
              <a:ext uri="{FF2B5EF4-FFF2-40B4-BE49-F238E27FC236}">
                <a16:creationId xmlns:a16="http://schemas.microsoft.com/office/drawing/2014/main" id="{B046A5A0-5716-45EF-9DC2-8F6EDE27F495}"/>
              </a:ext>
            </a:extLst>
          </p:cNvPr>
          <p:cNvSpPr>
            <a:spLocks noGrp="1"/>
          </p:cNvSpPr>
          <p:nvPr/>
        </p:nvSpPr>
        <p:spPr>
          <a:xfrm>
            <a:off x="7315200" y="1417320"/>
            <a:ext cx="3474720" cy="274320"/>
          </a:xfrm>
          <a:prstGeom prst="rect">
            <a:avLst/>
          </a:prstGeom>
          <a:noFill/>
        </p:spPr>
        <p:txBody>
          <a:bodyPr wrap="square" lIns="0" tIns="0" rIns="0" bIns="0" anchor="ctr"/>
          <a:lstStyle/>
          <a:p>
            <a:pPr marL="0" indent="0">
              <a:buNone/>
            </a:pPr>
            <a:r>
              <a:rPr sz="1800" b="1">
                <a:solidFill>
                  <a:srgbClr val="172033"/>
                </a:solidFill>
              </a:rPr>
              <a:t>En önemli bulgu</a:t>
            </a:r>
            <a:endParaRPr sz="1800"/>
          </a:p>
        </p:txBody>
      </p:sp>
      <p:sp>
        <p:nvSpPr>
          <p:cNvPr id="25" name="Text 23">
            <a:extLst>
              <a:ext uri="{FF2B5EF4-FFF2-40B4-BE49-F238E27FC236}">
                <a16:creationId xmlns:a16="http://schemas.microsoft.com/office/drawing/2014/main" id="{7CC57472-0AFA-45BC-ACA1-7086B97EDDF5}"/>
              </a:ext>
            </a:extLst>
          </p:cNvPr>
          <p:cNvSpPr>
            <a:spLocks noGrp="1"/>
          </p:cNvSpPr>
          <p:nvPr/>
        </p:nvSpPr>
        <p:spPr>
          <a:xfrm>
            <a:off x="7315200" y="1874520"/>
            <a:ext cx="3840480" cy="502920"/>
          </a:xfrm>
          <a:prstGeom prst="rect">
            <a:avLst/>
          </a:prstGeom>
          <a:noFill/>
        </p:spPr>
        <p:txBody>
          <a:bodyPr wrap="square" lIns="0" tIns="0" rIns="0" bIns="0" anchor="ctr">
            <a:normAutofit fontScale="92500" lnSpcReduction="20000"/>
          </a:bodyPr>
          <a:lstStyle/>
          <a:p>
            <a:pPr marL="0" indent="0">
              <a:buNone/>
            </a:pPr>
            <a:r>
              <a:rPr sz="2000" b="1">
                <a:solidFill>
                  <a:srgbClr val="D64545"/>
                </a:solidFill>
              </a:rPr>
              <a:t>Original FinBERT, Reuters’ta fine-tuned FinBERT’i geçti.</a:t>
            </a:r>
            <a:endParaRPr sz="2000"/>
          </a:p>
        </p:txBody>
      </p:sp>
      <p:sp>
        <p:nvSpPr>
          <p:cNvPr id="26" name="Text 24">
            <a:extLst>
              <a:ext uri="{FF2B5EF4-FFF2-40B4-BE49-F238E27FC236}">
                <a16:creationId xmlns:a16="http://schemas.microsoft.com/office/drawing/2014/main" id="{7F257797-8786-40DF-A1C1-1F9D21EDE33D}"/>
              </a:ext>
            </a:extLst>
          </p:cNvPr>
          <p:cNvSpPr>
            <a:spLocks noGrp="1"/>
          </p:cNvSpPr>
          <p:nvPr/>
        </p:nvSpPr>
        <p:spPr>
          <a:xfrm>
            <a:off x="7315200" y="2743200"/>
            <a:ext cx="3840480" cy="1097280"/>
          </a:xfrm>
          <a:prstGeom prst="rect">
            <a:avLst/>
          </a:prstGeom>
          <a:noFill/>
        </p:spPr>
        <p:txBody>
          <a:bodyPr wrap="square" lIns="381" tIns="381" rIns="381" bIns="381" anchor="ctr">
            <a:normAutofit/>
          </a:bodyPr>
          <a:lstStyle/>
          <a:p>
            <a:pPr marL="0" indent="0">
              <a:buNone/>
            </a:pPr>
            <a:r>
              <a:rPr sz="1550">
                <a:solidFill>
                  <a:srgbClr val="1A1E2A"/>
                </a:solidFill>
              </a:rPr>
              <a:t>Bu sonuç fine-tuning’in yalnızca iç dağılım başarısını artırmadığını; bazen dış dağılım genellemesini azaltabileceğini düşündürdü.</a:t>
            </a:r>
            <a:endParaRPr sz="1550"/>
          </a:p>
        </p:txBody>
      </p:sp>
      <p:sp>
        <p:nvSpPr>
          <p:cNvPr id="27" name="Shape 25">
            <a:extLst>
              <a:ext uri="{FF2B5EF4-FFF2-40B4-BE49-F238E27FC236}">
                <a16:creationId xmlns:a16="http://schemas.microsoft.com/office/drawing/2014/main" id="{91ACF938-2127-465E-9A0A-4291DABBC24D}"/>
              </a:ext>
            </a:extLst>
          </p:cNvPr>
          <p:cNvSpPr>
            <a:spLocks noGrp="1"/>
          </p:cNvSpPr>
          <p:nvPr/>
        </p:nvSpPr>
        <p:spPr>
          <a:xfrm>
            <a:off x="914400" y="4709160"/>
            <a:ext cx="10149840" cy="685800"/>
          </a:xfrm>
          <a:prstGeom prst="roundRect">
            <a:avLst>
              <a:gd name="adj" fmla="val 10667"/>
            </a:avLst>
          </a:prstGeom>
          <a:solidFill>
            <a:srgbClr val="F0FAF8"/>
          </a:solidFill>
          <a:ln w="15240">
            <a:solidFill>
              <a:srgbClr val="D64545"/>
            </a:solidFill>
            <a:prstDash val="solid"/>
          </a:ln>
        </p:spPr>
      </p:sp>
      <p:sp>
        <p:nvSpPr>
          <p:cNvPr id="28" name="Text 26">
            <a:extLst>
              <a:ext uri="{FF2B5EF4-FFF2-40B4-BE49-F238E27FC236}">
                <a16:creationId xmlns:a16="http://schemas.microsoft.com/office/drawing/2014/main" id="{91B7DA3D-C09E-4695-9F44-9D728E373B93}"/>
              </a:ext>
            </a:extLst>
          </p:cNvPr>
          <p:cNvSpPr>
            <a:spLocks noGrp="1"/>
          </p:cNvSpPr>
          <p:nvPr/>
        </p:nvSpPr>
        <p:spPr>
          <a:xfrm>
            <a:off x="1078992" y="4855464"/>
            <a:ext cx="9820656" cy="457200"/>
          </a:xfrm>
          <a:prstGeom prst="rect">
            <a:avLst/>
          </a:prstGeom>
          <a:noFill/>
        </p:spPr>
        <p:txBody>
          <a:bodyPr wrap="square" lIns="254" tIns="254" rIns="254" bIns="254" anchor="ctr">
            <a:normAutofit/>
          </a:bodyPr>
          <a:lstStyle/>
          <a:p>
            <a:pPr marL="0" indent="0">
              <a:buNone/>
            </a:pPr>
            <a:r>
              <a:rPr sz="1500" b="1">
                <a:solidFill>
                  <a:srgbClr val="172033"/>
                </a:solidFill>
              </a:rPr>
              <a:t>Reuters sonucu tezin ana mesajını oluşturdu: iç test başarısı ≠ dış genelleme.</a:t>
            </a:r>
            <a:endParaRPr sz="1500"/>
          </a:p>
        </p:txBody>
      </p:sp>
      <p:sp>
        <p:nvSpPr>
          <p:cNvPr id="29" name="Text 27">
            <a:extLst>
              <a:ext uri="{FF2B5EF4-FFF2-40B4-BE49-F238E27FC236}">
                <a16:creationId xmlns:a16="http://schemas.microsoft.com/office/drawing/2014/main" id="{A03ABF83-1E03-4019-A390-B4318F635DEE}"/>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0" name="Text 28">
            <a:extLst>
              <a:ext uri="{FF2B5EF4-FFF2-40B4-BE49-F238E27FC236}">
                <a16:creationId xmlns:a16="http://schemas.microsoft.com/office/drawing/2014/main" id="{F0E7CDC1-AACB-4D48-99B5-28CCE68C1D7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20</a:t>
            </a:r>
            <a:endParaRPr sz="850"/>
          </a:p>
        </p:txBody>
      </p:sp>
      <p:sp>
        <p:nvSpPr>
          <p:cNvPr id="31" name="Shape 29">
            <a:extLst>
              <a:ext uri="{FF2B5EF4-FFF2-40B4-BE49-F238E27FC236}">
                <a16:creationId xmlns:a16="http://schemas.microsoft.com/office/drawing/2014/main" id="{DFD09450-F192-4603-93D3-0E3775677698}"/>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2056092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212B55-9DF2-4A2D-A0F8-3A124BDB05A0}"/>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HATA ve TANISAL ANALİZLER »</a:t>
            </a:r>
            <a:endParaRPr sz="3600"/>
          </a:p>
        </p:txBody>
      </p:sp>
      <p:sp>
        <p:nvSpPr>
          <p:cNvPr id="3" name="Text 1">
            <a:extLst>
              <a:ext uri="{FF2B5EF4-FFF2-40B4-BE49-F238E27FC236}">
                <a16:creationId xmlns:a16="http://schemas.microsoft.com/office/drawing/2014/main" id="{E5F97751-2B2A-41BF-889B-477C4B3D0799}"/>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Model neden düşüyor? Neutral, label semantics ve veri etkisi</a:t>
            </a:r>
            <a:endParaRPr sz="1800"/>
          </a:p>
        </p:txBody>
      </p:sp>
      <p:sp>
        <p:nvSpPr>
          <p:cNvPr id="4" name="Text 2">
            <a:extLst>
              <a:ext uri="{FF2B5EF4-FFF2-40B4-BE49-F238E27FC236}">
                <a16:creationId xmlns:a16="http://schemas.microsoft.com/office/drawing/2014/main" id="{AD56741E-0505-45AD-A56A-7C72788CB6F3}"/>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E367E77B-FE34-42D4-A2A2-AB3102CF2EF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21</a:t>
            </a:r>
            <a:endParaRPr sz="850"/>
          </a:p>
        </p:txBody>
      </p:sp>
      <p:sp>
        <p:nvSpPr>
          <p:cNvPr id="6" name="Shape 4">
            <a:extLst>
              <a:ext uri="{FF2B5EF4-FFF2-40B4-BE49-F238E27FC236}">
                <a16:creationId xmlns:a16="http://schemas.microsoft.com/office/drawing/2014/main" id="{BA3EDDB8-CC59-4861-8D25-FBE5EAA140B9}"/>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943483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74F6A28-8147-42E5-8C30-64FB9FF5D1E8}"/>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Neutral sınıfı: performans düşüşünün merkezi</a:t>
            </a:r>
            <a:endParaRPr sz="3100"/>
          </a:p>
        </p:txBody>
      </p:sp>
      <p:sp>
        <p:nvSpPr>
          <p:cNvPr id="3" name="Text 1">
            <a:extLst>
              <a:ext uri="{FF2B5EF4-FFF2-40B4-BE49-F238E27FC236}">
                <a16:creationId xmlns:a16="http://schemas.microsoft.com/office/drawing/2014/main" id="{AAFC451D-53E8-4C91-9A3C-3928E53F4FB4}"/>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Fine-tuned FinBERT farklı kaynaklarda Neutral sınıfını koruyamadı.</a:t>
            </a:r>
            <a:endParaRPr sz="1450"/>
          </a:p>
        </p:txBody>
      </p:sp>
      <p:sp>
        <p:nvSpPr>
          <p:cNvPr id="4" name="Text 2">
            <a:extLst>
              <a:ext uri="{FF2B5EF4-FFF2-40B4-BE49-F238E27FC236}">
                <a16:creationId xmlns:a16="http://schemas.microsoft.com/office/drawing/2014/main" id="{D28F451D-9423-408B-B32C-7F25E3AB9703}"/>
              </a:ext>
            </a:extLst>
          </p:cNvPr>
          <p:cNvSpPr>
            <a:spLocks noGrp="1"/>
          </p:cNvSpPr>
          <p:nvPr/>
        </p:nvSpPr>
        <p:spPr>
          <a:xfrm>
            <a:off x="868680" y="1481328"/>
            <a:ext cx="2743200" cy="582930"/>
          </a:xfrm>
          <a:prstGeom prst="rect">
            <a:avLst/>
          </a:prstGeom>
          <a:noFill/>
        </p:spPr>
        <p:txBody>
          <a:bodyPr wrap="square" lIns="0" tIns="0" rIns="0" bIns="0" anchor="ctr">
            <a:normAutofit/>
          </a:bodyPr>
          <a:lstStyle/>
          <a:p>
            <a:pPr marL="0" indent="0">
              <a:buNone/>
            </a:pPr>
            <a:r>
              <a:rPr sz="1350">
                <a:solidFill>
                  <a:srgbClr val="1A1E2A"/>
                </a:solidFill>
              </a:rPr>
              <a:t>Synthetic Neutral F1</a:t>
            </a:r>
            <a:endParaRPr sz="1350"/>
          </a:p>
        </p:txBody>
      </p:sp>
      <p:sp>
        <p:nvSpPr>
          <p:cNvPr id="5" name="Shape 3">
            <a:extLst>
              <a:ext uri="{FF2B5EF4-FFF2-40B4-BE49-F238E27FC236}">
                <a16:creationId xmlns:a16="http://schemas.microsoft.com/office/drawing/2014/main" id="{B746D9B7-0B78-45B6-BE4C-DF704355D9E9}"/>
              </a:ext>
            </a:extLst>
          </p:cNvPr>
          <p:cNvSpPr>
            <a:spLocks noGrp="1"/>
          </p:cNvSpPr>
          <p:nvPr/>
        </p:nvSpPr>
        <p:spPr>
          <a:xfrm>
            <a:off x="3611880" y="1527048"/>
            <a:ext cx="2331720" cy="256032"/>
          </a:xfrm>
          <a:prstGeom prst="rect">
            <a:avLst/>
          </a:prstGeom>
          <a:solidFill>
            <a:srgbClr val="E8ECF5"/>
          </a:solidFill>
          <a:ln w="12700">
            <a:solidFill>
              <a:srgbClr val="E8ECF5"/>
            </a:solidFill>
            <a:prstDash val="solid"/>
          </a:ln>
        </p:spPr>
      </p:sp>
      <p:sp>
        <p:nvSpPr>
          <p:cNvPr id="6" name="Shape 4">
            <a:extLst>
              <a:ext uri="{FF2B5EF4-FFF2-40B4-BE49-F238E27FC236}">
                <a16:creationId xmlns:a16="http://schemas.microsoft.com/office/drawing/2014/main" id="{A2D38A29-AE54-4999-869A-B1770A026872}"/>
              </a:ext>
            </a:extLst>
          </p:cNvPr>
          <p:cNvSpPr>
            <a:spLocks noGrp="1"/>
          </p:cNvSpPr>
          <p:nvPr/>
        </p:nvSpPr>
        <p:spPr>
          <a:xfrm>
            <a:off x="3611880" y="1527048"/>
            <a:ext cx="2302807" cy="256032"/>
          </a:xfrm>
          <a:prstGeom prst="rect">
            <a:avLst/>
          </a:prstGeom>
          <a:solidFill>
            <a:srgbClr val="1C8B5A"/>
          </a:solidFill>
          <a:ln w="12700">
            <a:solidFill>
              <a:srgbClr val="1C8B5A"/>
            </a:solidFill>
            <a:prstDash val="solid"/>
          </a:ln>
        </p:spPr>
      </p:sp>
      <p:sp>
        <p:nvSpPr>
          <p:cNvPr id="7" name="Text 5">
            <a:extLst>
              <a:ext uri="{FF2B5EF4-FFF2-40B4-BE49-F238E27FC236}">
                <a16:creationId xmlns:a16="http://schemas.microsoft.com/office/drawing/2014/main" id="{2A94D725-885C-4BFA-8CAD-9D6C310D1505}"/>
              </a:ext>
            </a:extLst>
          </p:cNvPr>
          <p:cNvSpPr>
            <a:spLocks noGrp="1"/>
          </p:cNvSpPr>
          <p:nvPr/>
        </p:nvSpPr>
        <p:spPr>
          <a:xfrm>
            <a:off x="6080760" y="1481328"/>
            <a:ext cx="640080" cy="582930"/>
          </a:xfrm>
          <a:prstGeom prst="rect">
            <a:avLst/>
          </a:prstGeom>
          <a:noFill/>
        </p:spPr>
        <p:txBody>
          <a:bodyPr wrap="square" lIns="0" tIns="0" rIns="0" bIns="0" anchor="ctr"/>
          <a:lstStyle/>
          <a:p>
            <a:pPr marL="0" indent="0" algn="r">
              <a:buNone/>
            </a:pPr>
            <a:r>
              <a:rPr sz="1350">
                <a:solidFill>
                  <a:srgbClr val="1A1E2A"/>
                </a:solidFill>
              </a:rPr>
              <a:t>0.9876</a:t>
            </a:r>
            <a:endParaRPr sz="1350"/>
          </a:p>
        </p:txBody>
      </p:sp>
      <p:sp>
        <p:nvSpPr>
          <p:cNvPr id="8" name="Text 6">
            <a:extLst>
              <a:ext uri="{FF2B5EF4-FFF2-40B4-BE49-F238E27FC236}">
                <a16:creationId xmlns:a16="http://schemas.microsoft.com/office/drawing/2014/main" id="{50F9BF78-C216-44FC-94E3-173C54E69589}"/>
              </a:ext>
            </a:extLst>
          </p:cNvPr>
          <p:cNvSpPr>
            <a:spLocks noGrp="1"/>
          </p:cNvSpPr>
          <p:nvPr/>
        </p:nvSpPr>
        <p:spPr>
          <a:xfrm>
            <a:off x="868680" y="2109978"/>
            <a:ext cx="2743200" cy="582930"/>
          </a:xfrm>
          <a:prstGeom prst="rect">
            <a:avLst/>
          </a:prstGeom>
          <a:noFill/>
        </p:spPr>
        <p:txBody>
          <a:bodyPr wrap="square" lIns="0" tIns="0" rIns="0" bIns="0" anchor="ctr">
            <a:normAutofit/>
          </a:bodyPr>
          <a:lstStyle/>
          <a:p>
            <a:pPr marL="0" indent="0">
              <a:buNone/>
            </a:pPr>
            <a:r>
              <a:rPr sz="1350">
                <a:solidFill>
                  <a:srgbClr val="1A1E2A"/>
                </a:solidFill>
              </a:rPr>
              <a:t>Internal Neutral F1</a:t>
            </a:r>
            <a:endParaRPr sz="1350"/>
          </a:p>
        </p:txBody>
      </p:sp>
      <p:sp>
        <p:nvSpPr>
          <p:cNvPr id="9" name="Shape 7">
            <a:extLst>
              <a:ext uri="{FF2B5EF4-FFF2-40B4-BE49-F238E27FC236}">
                <a16:creationId xmlns:a16="http://schemas.microsoft.com/office/drawing/2014/main" id="{1415BBCE-5F57-414D-B77B-98D606BCAB0F}"/>
              </a:ext>
            </a:extLst>
          </p:cNvPr>
          <p:cNvSpPr>
            <a:spLocks noGrp="1"/>
          </p:cNvSpPr>
          <p:nvPr/>
        </p:nvSpPr>
        <p:spPr>
          <a:xfrm>
            <a:off x="3611880" y="2155698"/>
            <a:ext cx="2331720" cy="256032"/>
          </a:xfrm>
          <a:prstGeom prst="rect">
            <a:avLst/>
          </a:prstGeom>
          <a:solidFill>
            <a:srgbClr val="E8ECF5"/>
          </a:solidFill>
          <a:ln w="12700">
            <a:solidFill>
              <a:srgbClr val="E8ECF5"/>
            </a:solidFill>
            <a:prstDash val="solid"/>
          </a:ln>
        </p:spPr>
      </p:sp>
      <p:sp>
        <p:nvSpPr>
          <p:cNvPr id="10" name="Shape 8">
            <a:extLst>
              <a:ext uri="{FF2B5EF4-FFF2-40B4-BE49-F238E27FC236}">
                <a16:creationId xmlns:a16="http://schemas.microsoft.com/office/drawing/2014/main" id="{3399D58C-B88D-4AD2-A448-058123B73FC0}"/>
              </a:ext>
            </a:extLst>
          </p:cNvPr>
          <p:cNvSpPr>
            <a:spLocks noGrp="1"/>
          </p:cNvSpPr>
          <p:nvPr/>
        </p:nvSpPr>
        <p:spPr>
          <a:xfrm>
            <a:off x="3611880" y="2155698"/>
            <a:ext cx="2135156" cy="256032"/>
          </a:xfrm>
          <a:prstGeom prst="rect">
            <a:avLst/>
          </a:prstGeom>
          <a:solidFill>
            <a:srgbClr val="3867D6"/>
          </a:solidFill>
          <a:ln w="12700">
            <a:solidFill>
              <a:srgbClr val="3867D6"/>
            </a:solidFill>
            <a:prstDash val="solid"/>
          </a:ln>
        </p:spPr>
      </p:sp>
      <p:sp>
        <p:nvSpPr>
          <p:cNvPr id="11" name="Text 9">
            <a:extLst>
              <a:ext uri="{FF2B5EF4-FFF2-40B4-BE49-F238E27FC236}">
                <a16:creationId xmlns:a16="http://schemas.microsoft.com/office/drawing/2014/main" id="{0B5D4802-8927-4741-B8B4-498742B4CAE9}"/>
              </a:ext>
            </a:extLst>
          </p:cNvPr>
          <p:cNvSpPr>
            <a:spLocks noGrp="1"/>
          </p:cNvSpPr>
          <p:nvPr/>
        </p:nvSpPr>
        <p:spPr>
          <a:xfrm>
            <a:off x="6080760" y="2109978"/>
            <a:ext cx="640080" cy="582930"/>
          </a:xfrm>
          <a:prstGeom prst="rect">
            <a:avLst/>
          </a:prstGeom>
          <a:noFill/>
        </p:spPr>
        <p:txBody>
          <a:bodyPr wrap="square" lIns="0" tIns="0" rIns="0" bIns="0" anchor="ctr"/>
          <a:lstStyle/>
          <a:p>
            <a:pPr marL="0" indent="0" algn="r">
              <a:buNone/>
            </a:pPr>
            <a:r>
              <a:rPr sz="1350" b="1">
                <a:solidFill>
                  <a:srgbClr val="1A1E2A"/>
                </a:solidFill>
              </a:rPr>
              <a:t>0.9157</a:t>
            </a:r>
            <a:endParaRPr sz="1350"/>
          </a:p>
        </p:txBody>
      </p:sp>
      <p:sp>
        <p:nvSpPr>
          <p:cNvPr id="12" name="Text 10">
            <a:extLst>
              <a:ext uri="{FF2B5EF4-FFF2-40B4-BE49-F238E27FC236}">
                <a16:creationId xmlns:a16="http://schemas.microsoft.com/office/drawing/2014/main" id="{B526676B-B2D7-4051-8EA7-6C0BF6A5CD6D}"/>
              </a:ext>
            </a:extLst>
          </p:cNvPr>
          <p:cNvSpPr>
            <a:spLocks noGrp="1"/>
          </p:cNvSpPr>
          <p:nvPr/>
        </p:nvSpPr>
        <p:spPr>
          <a:xfrm>
            <a:off x="868680" y="2738628"/>
            <a:ext cx="2743200" cy="582930"/>
          </a:xfrm>
          <a:prstGeom prst="rect">
            <a:avLst/>
          </a:prstGeom>
          <a:noFill/>
        </p:spPr>
        <p:txBody>
          <a:bodyPr wrap="square" lIns="0" tIns="0" rIns="0" bIns="0" anchor="ctr">
            <a:normAutofit/>
          </a:bodyPr>
          <a:lstStyle/>
          <a:p>
            <a:pPr marL="0" indent="0">
              <a:buNone/>
            </a:pPr>
            <a:r>
              <a:rPr sz="1350">
                <a:solidFill>
                  <a:srgbClr val="1A1E2A"/>
                </a:solidFill>
              </a:rPr>
              <a:t>S&amp;P Neutral F1</a:t>
            </a:r>
            <a:endParaRPr sz="1350"/>
          </a:p>
        </p:txBody>
      </p:sp>
      <p:sp>
        <p:nvSpPr>
          <p:cNvPr id="13" name="Shape 11">
            <a:extLst>
              <a:ext uri="{FF2B5EF4-FFF2-40B4-BE49-F238E27FC236}">
                <a16:creationId xmlns:a16="http://schemas.microsoft.com/office/drawing/2014/main" id="{EAD49DE5-2429-4855-98F3-232B913CA124}"/>
              </a:ext>
            </a:extLst>
          </p:cNvPr>
          <p:cNvSpPr>
            <a:spLocks noGrp="1"/>
          </p:cNvSpPr>
          <p:nvPr/>
        </p:nvSpPr>
        <p:spPr>
          <a:xfrm>
            <a:off x="3611880" y="2784348"/>
            <a:ext cx="2331720" cy="256032"/>
          </a:xfrm>
          <a:prstGeom prst="rect">
            <a:avLst/>
          </a:prstGeom>
          <a:solidFill>
            <a:srgbClr val="E8ECF5"/>
          </a:solidFill>
          <a:ln w="12700">
            <a:solidFill>
              <a:srgbClr val="E8ECF5"/>
            </a:solidFill>
            <a:prstDash val="solid"/>
          </a:ln>
        </p:spPr>
      </p:sp>
      <p:sp>
        <p:nvSpPr>
          <p:cNvPr id="14" name="Shape 12">
            <a:extLst>
              <a:ext uri="{FF2B5EF4-FFF2-40B4-BE49-F238E27FC236}">
                <a16:creationId xmlns:a16="http://schemas.microsoft.com/office/drawing/2014/main" id="{014785D9-4DBB-44EC-92D6-11F241ED549F}"/>
              </a:ext>
            </a:extLst>
          </p:cNvPr>
          <p:cNvSpPr>
            <a:spLocks noGrp="1"/>
          </p:cNvSpPr>
          <p:nvPr/>
        </p:nvSpPr>
        <p:spPr>
          <a:xfrm>
            <a:off x="3611880" y="2784348"/>
            <a:ext cx="1757651" cy="256032"/>
          </a:xfrm>
          <a:prstGeom prst="rect">
            <a:avLst/>
          </a:prstGeom>
          <a:solidFill>
            <a:srgbClr val="F4A62A"/>
          </a:solidFill>
          <a:ln w="12700">
            <a:solidFill>
              <a:srgbClr val="F4A62A"/>
            </a:solidFill>
            <a:prstDash val="solid"/>
          </a:ln>
        </p:spPr>
      </p:sp>
      <p:sp>
        <p:nvSpPr>
          <p:cNvPr id="15" name="Text 13">
            <a:extLst>
              <a:ext uri="{FF2B5EF4-FFF2-40B4-BE49-F238E27FC236}">
                <a16:creationId xmlns:a16="http://schemas.microsoft.com/office/drawing/2014/main" id="{825F275B-06C5-4CF8-890E-7D9588208CF0}"/>
              </a:ext>
            </a:extLst>
          </p:cNvPr>
          <p:cNvSpPr>
            <a:spLocks noGrp="1"/>
          </p:cNvSpPr>
          <p:nvPr/>
        </p:nvSpPr>
        <p:spPr>
          <a:xfrm>
            <a:off x="6080760" y="2738628"/>
            <a:ext cx="640080" cy="582930"/>
          </a:xfrm>
          <a:prstGeom prst="rect">
            <a:avLst/>
          </a:prstGeom>
          <a:noFill/>
        </p:spPr>
        <p:txBody>
          <a:bodyPr wrap="square" lIns="0" tIns="0" rIns="0" bIns="0" anchor="ctr"/>
          <a:lstStyle/>
          <a:p>
            <a:pPr marL="0" indent="0" algn="r">
              <a:buNone/>
            </a:pPr>
            <a:r>
              <a:rPr sz="1350">
                <a:solidFill>
                  <a:srgbClr val="1A1E2A"/>
                </a:solidFill>
              </a:rPr>
              <a:t>0.7538</a:t>
            </a:r>
            <a:endParaRPr sz="1350"/>
          </a:p>
        </p:txBody>
      </p:sp>
      <p:sp>
        <p:nvSpPr>
          <p:cNvPr id="16" name="Text 14">
            <a:extLst>
              <a:ext uri="{FF2B5EF4-FFF2-40B4-BE49-F238E27FC236}">
                <a16:creationId xmlns:a16="http://schemas.microsoft.com/office/drawing/2014/main" id="{1F130042-BE1B-4D70-8977-F9965D9AD9B0}"/>
              </a:ext>
            </a:extLst>
          </p:cNvPr>
          <p:cNvSpPr>
            <a:spLocks noGrp="1"/>
          </p:cNvSpPr>
          <p:nvPr/>
        </p:nvSpPr>
        <p:spPr>
          <a:xfrm>
            <a:off x="868680" y="3367278"/>
            <a:ext cx="2743200" cy="582930"/>
          </a:xfrm>
          <a:prstGeom prst="rect">
            <a:avLst/>
          </a:prstGeom>
          <a:noFill/>
        </p:spPr>
        <p:txBody>
          <a:bodyPr wrap="square" lIns="0" tIns="0" rIns="0" bIns="0" anchor="ctr">
            <a:normAutofit/>
          </a:bodyPr>
          <a:lstStyle/>
          <a:p>
            <a:pPr marL="0" indent="0">
              <a:buNone/>
            </a:pPr>
            <a:r>
              <a:rPr sz="1350">
                <a:solidFill>
                  <a:srgbClr val="1A1E2A"/>
                </a:solidFill>
              </a:rPr>
              <a:t>Reuters Neutral F1</a:t>
            </a:r>
            <a:endParaRPr sz="1350"/>
          </a:p>
        </p:txBody>
      </p:sp>
      <p:sp>
        <p:nvSpPr>
          <p:cNvPr id="17" name="Shape 15">
            <a:extLst>
              <a:ext uri="{FF2B5EF4-FFF2-40B4-BE49-F238E27FC236}">
                <a16:creationId xmlns:a16="http://schemas.microsoft.com/office/drawing/2014/main" id="{DF3B898A-D984-48DB-B148-4F2B9ECF20D9}"/>
              </a:ext>
            </a:extLst>
          </p:cNvPr>
          <p:cNvSpPr>
            <a:spLocks noGrp="1"/>
          </p:cNvSpPr>
          <p:nvPr/>
        </p:nvSpPr>
        <p:spPr>
          <a:xfrm>
            <a:off x="3611880" y="3412998"/>
            <a:ext cx="2331720" cy="256032"/>
          </a:xfrm>
          <a:prstGeom prst="rect">
            <a:avLst/>
          </a:prstGeom>
          <a:solidFill>
            <a:srgbClr val="E8ECF5"/>
          </a:solidFill>
          <a:ln w="12700">
            <a:solidFill>
              <a:srgbClr val="E8ECF5"/>
            </a:solidFill>
            <a:prstDash val="solid"/>
          </a:ln>
        </p:spPr>
      </p:sp>
      <p:sp>
        <p:nvSpPr>
          <p:cNvPr id="18" name="Shape 16">
            <a:extLst>
              <a:ext uri="{FF2B5EF4-FFF2-40B4-BE49-F238E27FC236}">
                <a16:creationId xmlns:a16="http://schemas.microsoft.com/office/drawing/2014/main" id="{08B176C6-5663-43E0-841C-B27A75B64EDA}"/>
              </a:ext>
            </a:extLst>
          </p:cNvPr>
          <p:cNvSpPr>
            <a:spLocks noGrp="1"/>
          </p:cNvSpPr>
          <p:nvPr/>
        </p:nvSpPr>
        <p:spPr>
          <a:xfrm>
            <a:off x="3611880" y="3412998"/>
            <a:ext cx="1230449" cy="256032"/>
          </a:xfrm>
          <a:prstGeom prst="rect">
            <a:avLst/>
          </a:prstGeom>
          <a:solidFill>
            <a:srgbClr val="D64545"/>
          </a:solidFill>
          <a:ln w="12700">
            <a:solidFill>
              <a:srgbClr val="D64545"/>
            </a:solidFill>
            <a:prstDash val="solid"/>
          </a:ln>
        </p:spPr>
      </p:sp>
      <p:sp>
        <p:nvSpPr>
          <p:cNvPr id="19" name="Text 17">
            <a:extLst>
              <a:ext uri="{FF2B5EF4-FFF2-40B4-BE49-F238E27FC236}">
                <a16:creationId xmlns:a16="http://schemas.microsoft.com/office/drawing/2014/main" id="{0BEE265A-D71C-45FE-9938-28B15421039A}"/>
              </a:ext>
            </a:extLst>
          </p:cNvPr>
          <p:cNvSpPr>
            <a:spLocks noGrp="1"/>
          </p:cNvSpPr>
          <p:nvPr/>
        </p:nvSpPr>
        <p:spPr>
          <a:xfrm>
            <a:off x="6080760" y="3367278"/>
            <a:ext cx="640080" cy="582930"/>
          </a:xfrm>
          <a:prstGeom prst="rect">
            <a:avLst/>
          </a:prstGeom>
          <a:noFill/>
        </p:spPr>
        <p:txBody>
          <a:bodyPr wrap="square" lIns="0" tIns="0" rIns="0" bIns="0" anchor="ctr"/>
          <a:lstStyle/>
          <a:p>
            <a:pPr marL="0" indent="0" algn="r">
              <a:buNone/>
            </a:pPr>
            <a:r>
              <a:rPr sz="1350" b="1">
                <a:solidFill>
                  <a:srgbClr val="1A1E2A"/>
                </a:solidFill>
              </a:rPr>
              <a:t>0.5277</a:t>
            </a:r>
            <a:endParaRPr sz="1350"/>
          </a:p>
        </p:txBody>
      </p:sp>
      <p:sp>
        <p:nvSpPr>
          <p:cNvPr id="20" name="Text 18">
            <a:extLst>
              <a:ext uri="{FF2B5EF4-FFF2-40B4-BE49-F238E27FC236}">
                <a16:creationId xmlns:a16="http://schemas.microsoft.com/office/drawing/2014/main" id="{9B458446-8E1A-4819-956E-C73A01C6FCEC}"/>
              </a:ext>
            </a:extLst>
          </p:cNvPr>
          <p:cNvSpPr>
            <a:spLocks noGrp="1"/>
          </p:cNvSpPr>
          <p:nvPr/>
        </p:nvSpPr>
        <p:spPr>
          <a:xfrm>
            <a:off x="7315200" y="1417320"/>
            <a:ext cx="3840480" cy="2011680"/>
          </a:xfrm>
          <a:prstGeom prst="rect">
            <a:avLst/>
          </a:prstGeom>
          <a:noFill/>
        </p:spPr>
        <p:txBody>
          <a:bodyPr wrap="square" lIns="635" tIns="635" rIns="635" bIns="635" anchor="ctr">
            <a:normAutofit/>
          </a:bodyPr>
          <a:lstStyle/>
          <a:p>
            <a:r>
              <a:rPr sz="1600">
                <a:solidFill>
                  <a:srgbClr val="1A1E2A"/>
                </a:solidFill>
              </a:rPr>
              <a:t>İç testte Neutral oldukça güçlü ayrılıyor.</a:t>
            </a:r>
            <a:endParaRPr sz="1600"/>
          </a:p>
          <a:p>
            <a:r>
              <a:rPr sz="1600">
                <a:solidFill>
                  <a:srgbClr val="1A1E2A"/>
                </a:solidFill>
              </a:rPr>
              <a:t>Reuters’ta Neutral F1 yaklaşık 0.53’e düşüyor.</a:t>
            </a:r>
            <a:endParaRPr sz="1600"/>
          </a:p>
          <a:p>
            <a:r>
              <a:rPr sz="1600">
                <a:solidFill>
                  <a:srgbClr val="1A1E2A"/>
                </a:solidFill>
              </a:rPr>
              <a:t>Bu düşüş, yalnızca model değil veri kaynağı ve etiket tanımı farklılığını da düşündürüyor.</a:t>
            </a:r>
            <a:endParaRPr sz="1600"/>
          </a:p>
        </p:txBody>
      </p:sp>
      <p:sp>
        <p:nvSpPr>
          <p:cNvPr id="21" name="Shape 19">
            <a:extLst>
              <a:ext uri="{FF2B5EF4-FFF2-40B4-BE49-F238E27FC236}">
                <a16:creationId xmlns:a16="http://schemas.microsoft.com/office/drawing/2014/main" id="{F02452E0-FDDF-464A-9F07-2F3368A4A3B1}"/>
              </a:ext>
            </a:extLst>
          </p:cNvPr>
          <p:cNvSpPr>
            <a:spLocks noGrp="1"/>
          </p:cNvSpPr>
          <p:nvPr/>
        </p:nvSpPr>
        <p:spPr>
          <a:xfrm>
            <a:off x="914400" y="4663440"/>
            <a:ext cx="10149840" cy="713232"/>
          </a:xfrm>
          <a:prstGeom prst="roundRect">
            <a:avLst>
              <a:gd name="adj" fmla="val 10256"/>
            </a:avLst>
          </a:prstGeom>
          <a:solidFill>
            <a:srgbClr val="F0FAF8"/>
          </a:solidFill>
          <a:ln w="15240">
            <a:solidFill>
              <a:srgbClr val="0F9D8F"/>
            </a:solidFill>
            <a:prstDash val="solid"/>
          </a:ln>
        </p:spPr>
      </p:sp>
      <p:sp>
        <p:nvSpPr>
          <p:cNvPr id="22" name="Text 20">
            <a:extLst>
              <a:ext uri="{FF2B5EF4-FFF2-40B4-BE49-F238E27FC236}">
                <a16:creationId xmlns:a16="http://schemas.microsoft.com/office/drawing/2014/main" id="{D0298190-1A2A-4A6C-8506-2806EB40A1AC}"/>
              </a:ext>
            </a:extLst>
          </p:cNvPr>
          <p:cNvSpPr>
            <a:spLocks noGrp="1"/>
          </p:cNvSpPr>
          <p:nvPr/>
        </p:nvSpPr>
        <p:spPr>
          <a:xfrm>
            <a:off x="1078992" y="4809744"/>
            <a:ext cx="9820656" cy="484632"/>
          </a:xfrm>
          <a:prstGeom prst="rect">
            <a:avLst/>
          </a:prstGeom>
          <a:noFill/>
        </p:spPr>
        <p:txBody>
          <a:bodyPr wrap="square" lIns="254" tIns="254" rIns="254" bIns="254" anchor="ctr">
            <a:normAutofit/>
          </a:bodyPr>
          <a:lstStyle/>
          <a:p>
            <a:pPr marL="0" indent="0">
              <a:buNone/>
            </a:pPr>
            <a:r>
              <a:rPr sz="1500" b="1">
                <a:solidFill>
                  <a:srgbClr val="172033"/>
                </a:solidFill>
              </a:rPr>
              <a:t>Neutral sınıfındaki düşüş bizi domain shift ve label semantics tartışmasına götürdü.</a:t>
            </a:r>
            <a:endParaRPr sz="1500"/>
          </a:p>
        </p:txBody>
      </p:sp>
      <p:sp>
        <p:nvSpPr>
          <p:cNvPr id="23" name="Text 21">
            <a:extLst>
              <a:ext uri="{FF2B5EF4-FFF2-40B4-BE49-F238E27FC236}">
                <a16:creationId xmlns:a16="http://schemas.microsoft.com/office/drawing/2014/main" id="{FE99E8FA-DF1A-4A2C-9DAC-CA08D966B22A}"/>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4" name="Text 22">
            <a:extLst>
              <a:ext uri="{FF2B5EF4-FFF2-40B4-BE49-F238E27FC236}">
                <a16:creationId xmlns:a16="http://schemas.microsoft.com/office/drawing/2014/main" id="{098A8AC9-6788-40B2-84FB-567E6D5C17D4}"/>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22</a:t>
            </a:r>
            <a:endParaRPr sz="850"/>
          </a:p>
        </p:txBody>
      </p:sp>
      <p:sp>
        <p:nvSpPr>
          <p:cNvPr id="25" name="Shape 23">
            <a:extLst>
              <a:ext uri="{FF2B5EF4-FFF2-40B4-BE49-F238E27FC236}">
                <a16:creationId xmlns:a16="http://schemas.microsoft.com/office/drawing/2014/main" id="{4CAFD74D-F4DF-4638-9F6D-B930F65F5E6C}"/>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907858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D9EA70D-D191-442A-929E-407471D6C2AF}"/>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Domain shift ve label semantics ne demek?</a:t>
            </a:r>
            <a:endParaRPr sz="3100"/>
          </a:p>
        </p:txBody>
      </p:sp>
      <p:sp>
        <p:nvSpPr>
          <p:cNvPr id="3" name="Text 1">
            <a:extLst>
              <a:ext uri="{FF2B5EF4-FFF2-40B4-BE49-F238E27FC236}">
                <a16:creationId xmlns:a16="http://schemas.microsoft.com/office/drawing/2014/main" id="{2C80C1E0-70BF-4B81-B3B8-476F52777FC7}"/>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Reuters düşüşü iki olası açıklama doğurdu.</a:t>
            </a:r>
            <a:endParaRPr sz="1450"/>
          </a:p>
        </p:txBody>
      </p:sp>
      <p:sp>
        <p:nvSpPr>
          <p:cNvPr id="4" name="Text 2">
            <a:extLst>
              <a:ext uri="{FF2B5EF4-FFF2-40B4-BE49-F238E27FC236}">
                <a16:creationId xmlns:a16="http://schemas.microsoft.com/office/drawing/2014/main" id="{CE5E1FF3-C5D9-48E7-85D9-DE4171830ED8}"/>
              </a:ext>
            </a:extLst>
          </p:cNvPr>
          <p:cNvSpPr>
            <a:spLocks noGrp="1"/>
          </p:cNvSpPr>
          <p:nvPr/>
        </p:nvSpPr>
        <p:spPr>
          <a:xfrm>
            <a:off x="777240" y="1325880"/>
            <a:ext cx="3291840" cy="274320"/>
          </a:xfrm>
          <a:prstGeom prst="rect">
            <a:avLst/>
          </a:prstGeom>
          <a:noFill/>
        </p:spPr>
        <p:txBody>
          <a:bodyPr wrap="square" lIns="0" tIns="0" rIns="0" bIns="0" anchor="ctr"/>
          <a:lstStyle/>
          <a:p>
            <a:pPr marL="0" indent="0">
              <a:buNone/>
            </a:pPr>
            <a:r>
              <a:rPr sz="1900" b="1">
                <a:solidFill>
                  <a:srgbClr val="3867D6"/>
                </a:solidFill>
              </a:rPr>
              <a:t>Domain shift</a:t>
            </a:r>
            <a:endParaRPr sz="1900"/>
          </a:p>
        </p:txBody>
      </p:sp>
      <p:sp>
        <p:nvSpPr>
          <p:cNvPr id="5" name="Text 3">
            <a:extLst>
              <a:ext uri="{FF2B5EF4-FFF2-40B4-BE49-F238E27FC236}">
                <a16:creationId xmlns:a16="http://schemas.microsoft.com/office/drawing/2014/main" id="{6819FDB4-697C-40E7-BB19-5B4454050020}"/>
              </a:ext>
            </a:extLst>
          </p:cNvPr>
          <p:cNvSpPr>
            <a:spLocks noGrp="1"/>
          </p:cNvSpPr>
          <p:nvPr/>
        </p:nvSpPr>
        <p:spPr>
          <a:xfrm>
            <a:off x="77724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Eğitimde görülen veri ile testte karşılaşılan veri aynı dağılımdan gelmez. Twitter tarzı kısa metin ile Reuters tarzı profesyonel haber dili farklı olabilir.</a:t>
            </a:r>
            <a:endParaRPr sz="1650"/>
          </a:p>
        </p:txBody>
      </p:sp>
      <p:sp>
        <p:nvSpPr>
          <p:cNvPr id="6" name="Text 4">
            <a:extLst>
              <a:ext uri="{FF2B5EF4-FFF2-40B4-BE49-F238E27FC236}">
                <a16:creationId xmlns:a16="http://schemas.microsoft.com/office/drawing/2014/main" id="{57FEF3C3-760B-4D5E-B380-8E456EC34C72}"/>
              </a:ext>
            </a:extLst>
          </p:cNvPr>
          <p:cNvSpPr>
            <a:spLocks noGrp="1"/>
          </p:cNvSpPr>
          <p:nvPr/>
        </p:nvSpPr>
        <p:spPr>
          <a:xfrm>
            <a:off x="6400800" y="1325880"/>
            <a:ext cx="3291840" cy="274320"/>
          </a:xfrm>
          <a:prstGeom prst="rect">
            <a:avLst/>
          </a:prstGeom>
          <a:noFill/>
        </p:spPr>
        <p:txBody>
          <a:bodyPr wrap="square" lIns="0" tIns="0" rIns="0" bIns="0" anchor="ctr"/>
          <a:lstStyle/>
          <a:p>
            <a:pPr marL="0" indent="0">
              <a:buNone/>
            </a:pPr>
            <a:r>
              <a:rPr sz="1900" b="1">
                <a:solidFill>
                  <a:srgbClr val="0F9D8F"/>
                </a:solidFill>
              </a:rPr>
              <a:t>Label semantics</a:t>
            </a:r>
            <a:endParaRPr sz="1900"/>
          </a:p>
        </p:txBody>
      </p:sp>
      <p:sp>
        <p:nvSpPr>
          <p:cNvPr id="7" name="Text 5">
            <a:extLst>
              <a:ext uri="{FF2B5EF4-FFF2-40B4-BE49-F238E27FC236}">
                <a16:creationId xmlns:a16="http://schemas.microsoft.com/office/drawing/2014/main" id="{BAC815FF-DF4D-472D-9114-5473FA5EA8C3}"/>
              </a:ext>
            </a:extLst>
          </p:cNvPr>
          <p:cNvSpPr>
            <a:spLocks noGrp="1"/>
          </p:cNvSpPr>
          <p:nvPr/>
        </p:nvSpPr>
        <p:spPr>
          <a:xfrm>
            <a:off x="6400800" y="1783080"/>
            <a:ext cx="4846320" cy="1234440"/>
          </a:xfrm>
          <a:prstGeom prst="rect">
            <a:avLst/>
          </a:prstGeom>
          <a:noFill/>
        </p:spPr>
        <p:txBody>
          <a:bodyPr wrap="square" lIns="381" tIns="381" rIns="381" bIns="381" anchor="ctr">
            <a:normAutofit/>
          </a:bodyPr>
          <a:lstStyle/>
          <a:p>
            <a:pPr marL="0" indent="0">
              <a:buNone/>
            </a:pPr>
            <a:r>
              <a:rPr sz="1650">
                <a:solidFill>
                  <a:srgbClr val="1A1E2A"/>
                </a:solidFill>
              </a:rPr>
              <a:t>Positive / Neutral / Negative etiket adları aynı olsa da hangi durumda hangi etiketin verileceği veri setinden veri setine değişebilir.</a:t>
            </a:r>
            <a:endParaRPr sz="1650"/>
          </a:p>
        </p:txBody>
      </p:sp>
      <p:sp>
        <p:nvSpPr>
          <p:cNvPr id="8" name="Shape 6">
            <a:extLst>
              <a:ext uri="{FF2B5EF4-FFF2-40B4-BE49-F238E27FC236}">
                <a16:creationId xmlns:a16="http://schemas.microsoft.com/office/drawing/2014/main" id="{4BEF18BD-0039-4813-998E-8A0E4056A7C6}"/>
              </a:ext>
            </a:extLst>
          </p:cNvPr>
          <p:cNvSpPr>
            <a:spLocks noGrp="1"/>
          </p:cNvSpPr>
          <p:nvPr/>
        </p:nvSpPr>
        <p:spPr>
          <a:xfrm>
            <a:off x="5989320" y="1234440"/>
            <a:ext cx="0" cy="2011680"/>
          </a:xfrm>
          <a:prstGeom prst="line">
            <a:avLst/>
          </a:prstGeom>
          <a:noFill/>
          <a:ln w="25400">
            <a:solidFill>
              <a:srgbClr val="DDE3EF"/>
            </a:solidFill>
            <a:prstDash val="solid"/>
          </a:ln>
        </p:spPr>
      </p:sp>
      <p:sp>
        <p:nvSpPr>
          <p:cNvPr id="9" name="Text 7">
            <a:extLst>
              <a:ext uri="{FF2B5EF4-FFF2-40B4-BE49-F238E27FC236}">
                <a16:creationId xmlns:a16="http://schemas.microsoft.com/office/drawing/2014/main" id="{3F8DC7EF-CDF0-4448-940A-8246AB162BC5}"/>
              </a:ext>
            </a:extLst>
          </p:cNvPr>
          <p:cNvSpPr>
            <a:spLocks noGrp="1"/>
          </p:cNvSpPr>
          <p:nvPr/>
        </p:nvSpPr>
        <p:spPr>
          <a:xfrm>
            <a:off x="914400" y="3840480"/>
            <a:ext cx="4114800" cy="274320"/>
          </a:xfrm>
          <a:prstGeom prst="rect">
            <a:avLst/>
          </a:prstGeom>
          <a:noFill/>
        </p:spPr>
        <p:txBody>
          <a:bodyPr wrap="square" lIns="0" tIns="0" rIns="0" bIns="0" anchor="ctr"/>
          <a:lstStyle/>
          <a:p>
            <a:pPr marL="0" indent="0">
              <a:buNone/>
            </a:pPr>
            <a:r>
              <a:rPr sz="1700" b="1">
                <a:solidFill>
                  <a:srgbClr val="172033"/>
                </a:solidFill>
              </a:rPr>
              <a:t>Örnek label semantics farkı</a:t>
            </a:r>
            <a:endParaRPr sz="1700"/>
          </a:p>
        </p:txBody>
      </p:sp>
      <p:sp>
        <p:nvSpPr>
          <p:cNvPr id="10" name="Text 8">
            <a:extLst>
              <a:ext uri="{FF2B5EF4-FFF2-40B4-BE49-F238E27FC236}">
                <a16:creationId xmlns:a16="http://schemas.microsoft.com/office/drawing/2014/main" id="{F9B32FB0-E227-4E64-9EEA-5E81C2B4D8B4}"/>
              </a:ext>
            </a:extLst>
          </p:cNvPr>
          <p:cNvSpPr>
            <a:spLocks noGrp="1"/>
          </p:cNvSpPr>
          <p:nvPr/>
        </p:nvSpPr>
        <p:spPr>
          <a:xfrm>
            <a:off x="914400" y="4297680"/>
            <a:ext cx="9875520" cy="640080"/>
          </a:xfrm>
          <a:prstGeom prst="rect">
            <a:avLst/>
          </a:prstGeom>
          <a:noFill/>
        </p:spPr>
        <p:txBody>
          <a:bodyPr wrap="square" lIns="381" tIns="381" rIns="381" bIns="381" anchor="ctr">
            <a:normAutofit/>
          </a:bodyPr>
          <a:lstStyle/>
          <a:p>
            <a:pPr marL="0" indent="0">
              <a:buNone/>
            </a:pPr>
            <a:r>
              <a:rPr sz="1700" b="1">
                <a:solidFill>
                  <a:srgbClr val="D64545"/>
                </a:solidFill>
              </a:rPr>
              <a:t>“Revenue increased 10%, below expectations.”</a:t>
            </a:r>
            <a:endParaRPr sz="1700"/>
          </a:p>
          <a:p>
            <a:pPr marL="0" indent="0">
              <a:buNone/>
            </a:pPr>
            <a:r>
              <a:rPr sz="1700" b="1">
                <a:solidFill>
                  <a:srgbClr val="D64545"/>
                </a:solidFill>
              </a:rPr>
              <a:t>Aynı cümle bir yerde Positive, başka bir yerde Negative veya Neutral sayılabilir.</a:t>
            </a:r>
            <a:endParaRPr sz="1700"/>
          </a:p>
        </p:txBody>
      </p:sp>
      <p:sp>
        <p:nvSpPr>
          <p:cNvPr id="11" name="Text 9">
            <a:extLst>
              <a:ext uri="{FF2B5EF4-FFF2-40B4-BE49-F238E27FC236}">
                <a16:creationId xmlns:a16="http://schemas.microsoft.com/office/drawing/2014/main" id="{A1AAA1EC-C786-419C-BEBD-4689C9B64F6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2" name="Text 10">
            <a:extLst>
              <a:ext uri="{FF2B5EF4-FFF2-40B4-BE49-F238E27FC236}">
                <a16:creationId xmlns:a16="http://schemas.microsoft.com/office/drawing/2014/main" id="{46D7951B-9AE4-448C-BEA1-21C6B881EB80}"/>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23</a:t>
            </a:r>
            <a:endParaRPr sz="850"/>
          </a:p>
        </p:txBody>
      </p:sp>
      <p:sp>
        <p:nvSpPr>
          <p:cNvPr id="13" name="Shape 11">
            <a:extLst>
              <a:ext uri="{FF2B5EF4-FFF2-40B4-BE49-F238E27FC236}">
                <a16:creationId xmlns:a16="http://schemas.microsoft.com/office/drawing/2014/main" id="{5435FA89-93CB-429A-86F7-8E09D9602B8E}"/>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878933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25CAEC-D9D4-4594-A09F-2FDE2813BD05}"/>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Hata analizi: model nerede yanılıyor?</a:t>
            </a:r>
            <a:endParaRPr sz="3100"/>
          </a:p>
        </p:txBody>
      </p:sp>
      <p:sp>
        <p:nvSpPr>
          <p:cNvPr id="3" name="Text 1">
            <a:extLst>
              <a:ext uri="{FF2B5EF4-FFF2-40B4-BE49-F238E27FC236}">
                <a16:creationId xmlns:a16="http://schemas.microsoft.com/office/drawing/2014/main" id="{2DE492F9-6A75-401F-B5E6-1DAB5526618B}"/>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Hatalar özellikle Neutral sınırlarında ve yüksek confidence ile yoğunlaştı.</a:t>
            </a:r>
            <a:endParaRPr sz="1450"/>
          </a:p>
        </p:txBody>
      </p:sp>
      <p:sp>
        <p:nvSpPr>
          <p:cNvPr id="4" name="Text 2">
            <a:extLst>
              <a:ext uri="{FF2B5EF4-FFF2-40B4-BE49-F238E27FC236}">
                <a16:creationId xmlns:a16="http://schemas.microsoft.com/office/drawing/2014/main" id="{0DCA01E2-3ABE-4CFA-A24C-3E059544ECEA}"/>
              </a:ext>
            </a:extLst>
          </p:cNvPr>
          <p:cNvSpPr>
            <a:spLocks noGrp="1"/>
          </p:cNvSpPr>
          <p:nvPr/>
        </p:nvSpPr>
        <p:spPr>
          <a:xfrm>
            <a:off x="822960" y="1417320"/>
            <a:ext cx="2926080" cy="274320"/>
          </a:xfrm>
          <a:prstGeom prst="rect">
            <a:avLst/>
          </a:prstGeom>
          <a:noFill/>
        </p:spPr>
        <p:txBody>
          <a:bodyPr wrap="square" lIns="0" tIns="0" rIns="0" bIns="0" anchor="ctr"/>
          <a:lstStyle/>
          <a:p>
            <a:pPr marL="0" indent="0">
              <a:buNone/>
            </a:pPr>
            <a:r>
              <a:rPr sz="1800" b="1">
                <a:solidFill>
                  <a:srgbClr val="172033"/>
                </a:solidFill>
              </a:rPr>
              <a:t>İç test hataları</a:t>
            </a:r>
            <a:endParaRPr sz="1800"/>
          </a:p>
        </p:txBody>
      </p:sp>
      <p:sp>
        <p:nvSpPr>
          <p:cNvPr id="5" name="Text 3">
            <a:extLst>
              <a:ext uri="{FF2B5EF4-FFF2-40B4-BE49-F238E27FC236}">
                <a16:creationId xmlns:a16="http://schemas.microsoft.com/office/drawing/2014/main" id="{0CFF6556-D191-4F4A-A72B-E315E7E0AB53}"/>
              </a:ext>
            </a:extLst>
          </p:cNvPr>
          <p:cNvSpPr>
            <a:spLocks noGrp="1"/>
          </p:cNvSpPr>
          <p:nvPr/>
        </p:nvSpPr>
        <p:spPr>
          <a:xfrm>
            <a:off x="822960" y="1874520"/>
            <a:ext cx="1371600" cy="548640"/>
          </a:xfrm>
          <a:prstGeom prst="rect">
            <a:avLst/>
          </a:prstGeom>
          <a:noFill/>
        </p:spPr>
        <p:txBody>
          <a:bodyPr wrap="square" lIns="0" tIns="0" rIns="0" bIns="0" anchor="ctr"/>
          <a:lstStyle/>
          <a:p>
            <a:pPr marL="0" indent="0">
              <a:buNone/>
            </a:pPr>
            <a:r>
              <a:rPr sz="3800" b="1">
                <a:solidFill>
                  <a:srgbClr val="D64545"/>
                </a:solidFill>
              </a:rPr>
              <a:t>282</a:t>
            </a:r>
            <a:endParaRPr sz="3800"/>
          </a:p>
        </p:txBody>
      </p:sp>
      <p:sp>
        <p:nvSpPr>
          <p:cNvPr id="6" name="Text 4">
            <a:extLst>
              <a:ext uri="{FF2B5EF4-FFF2-40B4-BE49-F238E27FC236}">
                <a16:creationId xmlns:a16="http://schemas.microsoft.com/office/drawing/2014/main" id="{59C52B45-CCB2-4889-B7A9-19C0327BBD3F}"/>
              </a:ext>
            </a:extLst>
          </p:cNvPr>
          <p:cNvSpPr>
            <a:spLocks noGrp="1"/>
          </p:cNvSpPr>
          <p:nvPr/>
        </p:nvSpPr>
        <p:spPr>
          <a:xfrm>
            <a:off x="2514600" y="2029968"/>
            <a:ext cx="1828800" cy="228600"/>
          </a:xfrm>
          <a:prstGeom prst="rect">
            <a:avLst/>
          </a:prstGeom>
          <a:noFill/>
        </p:spPr>
        <p:txBody>
          <a:bodyPr wrap="square" lIns="0" tIns="0" rIns="0" bIns="0" anchor="ctr"/>
          <a:lstStyle/>
          <a:p>
            <a:pPr marL="0" indent="0">
              <a:buNone/>
            </a:pPr>
            <a:r>
              <a:rPr sz="1500">
                <a:solidFill>
                  <a:srgbClr val="5E6A7D"/>
                </a:solidFill>
              </a:rPr>
              <a:t>toplam hata</a:t>
            </a:r>
            <a:endParaRPr sz="1500"/>
          </a:p>
        </p:txBody>
      </p:sp>
      <p:sp>
        <p:nvSpPr>
          <p:cNvPr id="7" name="Text 5">
            <a:extLst>
              <a:ext uri="{FF2B5EF4-FFF2-40B4-BE49-F238E27FC236}">
                <a16:creationId xmlns:a16="http://schemas.microsoft.com/office/drawing/2014/main" id="{5BA22157-2790-4B65-B270-B156E808CEFF}"/>
              </a:ext>
            </a:extLst>
          </p:cNvPr>
          <p:cNvSpPr>
            <a:spLocks noGrp="1"/>
          </p:cNvSpPr>
          <p:nvPr/>
        </p:nvSpPr>
        <p:spPr>
          <a:xfrm>
            <a:off x="822960" y="2743200"/>
            <a:ext cx="4389120" cy="1325880"/>
          </a:xfrm>
          <a:prstGeom prst="rect">
            <a:avLst/>
          </a:prstGeom>
          <a:noFill/>
        </p:spPr>
        <p:txBody>
          <a:bodyPr wrap="square" lIns="635" tIns="635" rIns="635" bIns="635" anchor="ctr">
            <a:normAutofit/>
          </a:bodyPr>
          <a:lstStyle/>
          <a:p>
            <a:r>
              <a:rPr sz="1580">
                <a:solidFill>
                  <a:srgbClr val="1A1E2A"/>
                </a:solidFill>
              </a:rPr>
              <a:t>Neutral → Positive: 78</a:t>
            </a:r>
            <a:endParaRPr sz="1580"/>
          </a:p>
          <a:p>
            <a:r>
              <a:rPr sz="1580">
                <a:solidFill>
                  <a:srgbClr val="1A1E2A"/>
                </a:solidFill>
              </a:rPr>
              <a:t>Neutral → Negative: 75</a:t>
            </a:r>
            <a:endParaRPr sz="1580"/>
          </a:p>
          <a:p>
            <a:r>
              <a:rPr sz="1580">
                <a:solidFill>
                  <a:srgbClr val="1A1E2A"/>
                </a:solidFill>
              </a:rPr>
              <a:t>Neutral kaynaklı hatalar toplam hatanın önemli kısmını oluşturdu.</a:t>
            </a:r>
            <a:endParaRPr sz="1580"/>
          </a:p>
        </p:txBody>
      </p:sp>
      <p:sp>
        <p:nvSpPr>
          <p:cNvPr id="8" name="Text 6">
            <a:extLst>
              <a:ext uri="{FF2B5EF4-FFF2-40B4-BE49-F238E27FC236}">
                <a16:creationId xmlns:a16="http://schemas.microsoft.com/office/drawing/2014/main" id="{95FD7159-09FD-4F60-8CB6-9B39F2968D1B}"/>
              </a:ext>
            </a:extLst>
          </p:cNvPr>
          <p:cNvSpPr>
            <a:spLocks noGrp="1"/>
          </p:cNvSpPr>
          <p:nvPr/>
        </p:nvSpPr>
        <p:spPr>
          <a:xfrm>
            <a:off x="6583680" y="1417320"/>
            <a:ext cx="2926080" cy="274320"/>
          </a:xfrm>
          <a:prstGeom prst="rect">
            <a:avLst/>
          </a:prstGeom>
          <a:noFill/>
        </p:spPr>
        <p:txBody>
          <a:bodyPr wrap="square" lIns="0" tIns="0" rIns="0" bIns="0" anchor="ctr"/>
          <a:lstStyle/>
          <a:p>
            <a:pPr marL="0" indent="0">
              <a:buNone/>
            </a:pPr>
            <a:r>
              <a:rPr sz="1800" b="1">
                <a:solidFill>
                  <a:srgbClr val="172033"/>
                </a:solidFill>
              </a:rPr>
              <a:t>Confidence bulgusu</a:t>
            </a:r>
            <a:endParaRPr sz="1800"/>
          </a:p>
        </p:txBody>
      </p:sp>
      <p:sp>
        <p:nvSpPr>
          <p:cNvPr id="9" name="Text 7">
            <a:extLst>
              <a:ext uri="{FF2B5EF4-FFF2-40B4-BE49-F238E27FC236}">
                <a16:creationId xmlns:a16="http://schemas.microsoft.com/office/drawing/2014/main" id="{9A0C8E02-9C21-4C11-962F-341D73FC2CA7}"/>
              </a:ext>
            </a:extLst>
          </p:cNvPr>
          <p:cNvSpPr>
            <a:spLocks noGrp="1"/>
          </p:cNvSpPr>
          <p:nvPr/>
        </p:nvSpPr>
        <p:spPr>
          <a:xfrm>
            <a:off x="6583680" y="1874520"/>
            <a:ext cx="1920240" cy="548640"/>
          </a:xfrm>
          <a:prstGeom prst="rect">
            <a:avLst/>
          </a:prstGeom>
          <a:noFill/>
        </p:spPr>
        <p:txBody>
          <a:bodyPr wrap="square" lIns="0" tIns="0" rIns="0" bIns="0" anchor="ctr"/>
          <a:lstStyle/>
          <a:p>
            <a:pPr marL="0" indent="0">
              <a:buNone/>
            </a:pPr>
            <a:r>
              <a:rPr sz="3800" b="1">
                <a:solidFill>
                  <a:srgbClr val="F4A62A"/>
                </a:solidFill>
              </a:rPr>
              <a:t>~%77</a:t>
            </a:r>
            <a:endParaRPr sz="3800"/>
          </a:p>
        </p:txBody>
      </p:sp>
      <p:sp>
        <p:nvSpPr>
          <p:cNvPr id="10" name="Text 8">
            <a:extLst>
              <a:ext uri="{FF2B5EF4-FFF2-40B4-BE49-F238E27FC236}">
                <a16:creationId xmlns:a16="http://schemas.microsoft.com/office/drawing/2014/main" id="{A797080B-E090-4BAE-9CB5-2F23FE282B91}"/>
              </a:ext>
            </a:extLst>
          </p:cNvPr>
          <p:cNvSpPr>
            <a:spLocks noGrp="1"/>
          </p:cNvSpPr>
          <p:nvPr/>
        </p:nvSpPr>
        <p:spPr>
          <a:xfrm>
            <a:off x="8823960" y="1938528"/>
            <a:ext cx="1920240" cy="411480"/>
          </a:xfrm>
          <a:prstGeom prst="rect">
            <a:avLst/>
          </a:prstGeom>
          <a:noFill/>
        </p:spPr>
        <p:txBody>
          <a:bodyPr wrap="square" lIns="0" tIns="0" rIns="0" bIns="0" anchor="ctr">
            <a:normAutofit/>
          </a:bodyPr>
          <a:lstStyle/>
          <a:p>
            <a:pPr marL="0" indent="0">
              <a:buNone/>
            </a:pPr>
            <a:r>
              <a:rPr sz="1300">
                <a:solidFill>
                  <a:srgbClr val="5E6A7D"/>
                </a:solidFill>
              </a:rPr>
              <a:t>yanlış tahminlerde</a:t>
            </a:r>
            <a:endParaRPr sz="1300"/>
          </a:p>
          <a:p>
            <a:pPr marL="0" indent="0">
              <a:buNone/>
            </a:pPr>
            <a:r>
              <a:rPr sz="1300">
                <a:solidFill>
                  <a:srgbClr val="5E6A7D"/>
                </a:solidFill>
              </a:rPr>
              <a:t>confidence ≥ 0.90</a:t>
            </a:r>
            <a:endParaRPr sz="1300"/>
          </a:p>
        </p:txBody>
      </p:sp>
      <p:sp>
        <p:nvSpPr>
          <p:cNvPr id="11" name="Text 9">
            <a:extLst>
              <a:ext uri="{FF2B5EF4-FFF2-40B4-BE49-F238E27FC236}">
                <a16:creationId xmlns:a16="http://schemas.microsoft.com/office/drawing/2014/main" id="{F3856632-5C0F-49DF-B76C-152FA98027C1}"/>
              </a:ext>
            </a:extLst>
          </p:cNvPr>
          <p:cNvSpPr>
            <a:spLocks noGrp="1"/>
          </p:cNvSpPr>
          <p:nvPr/>
        </p:nvSpPr>
        <p:spPr>
          <a:xfrm>
            <a:off x="6583680" y="2926080"/>
            <a:ext cx="4023360" cy="914400"/>
          </a:xfrm>
          <a:prstGeom prst="rect">
            <a:avLst/>
          </a:prstGeom>
          <a:noFill/>
        </p:spPr>
        <p:txBody>
          <a:bodyPr wrap="square" lIns="381" tIns="381" rIns="381" bIns="381" anchor="ctr">
            <a:normAutofit/>
          </a:bodyPr>
          <a:lstStyle/>
          <a:p>
            <a:pPr marL="0" indent="0">
              <a:buNone/>
            </a:pPr>
            <a:r>
              <a:rPr sz="1600" b="1">
                <a:solidFill>
                  <a:srgbClr val="1A1E2A"/>
                </a:solidFill>
              </a:rPr>
              <a:t>Model bazen emin olmadığı için değil, yanlış öğrendiği karar sınırından emin olduğu için hata yapıyor olabilir.</a:t>
            </a:r>
            <a:endParaRPr sz="1600"/>
          </a:p>
        </p:txBody>
      </p:sp>
      <p:sp>
        <p:nvSpPr>
          <p:cNvPr id="12" name="Shape 10">
            <a:extLst>
              <a:ext uri="{FF2B5EF4-FFF2-40B4-BE49-F238E27FC236}">
                <a16:creationId xmlns:a16="http://schemas.microsoft.com/office/drawing/2014/main" id="{D20FD8C2-6AD6-4D9A-A2CA-75698E61327F}"/>
              </a:ext>
            </a:extLst>
          </p:cNvPr>
          <p:cNvSpPr>
            <a:spLocks noGrp="1"/>
          </p:cNvSpPr>
          <p:nvPr/>
        </p:nvSpPr>
        <p:spPr>
          <a:xfrm>
            <a:off x="914400" y="4800600"/>
            <a:ext cx="10058400" cy="640080"/>
          </a:xfrm>
          <a:prstGeom prst="roundRect">
            <a:avLst>
              <a:gd name="adj" fmla="val 11429"/>
            </a:avLst>
          </a:prstGeom>
          <a:solidFill>
            <a:srgbClr val="F0FAF8"/>
          </a:solidFill>
          <a:ln w="15240">
            <a:solidFill>
              <a:srgbClr val="3867D6"/>
            </a:solidFill>
            <a:prstDash val="solid"/>
          </a:ln>
        </p:spPr>
      </p:sp>
      <p:sp>
        <p:nvSpPr>
          <p:cNvPr id="13" name="Text 11">
            <a:extLst>
              <a:ext uri="{FF2B5EF4-FFF2-40B4-BE49-F238E27FC236}">
                <a16:creationId xmlns:a16="http://schemas.microsoft.com/office/drawing/2014/main" id="{F02DB087-3111-42CE-8FD9-5C7A10C9BB10}"/>
              </a:ext>
            </a:extLst>
          </p:cNvPr>
          <p:cNvSpPr>
            <a:spLocks noGrp="1"/>
          </p:cNvSpPr>
          <p:nvPr/>
        </p:nvSpPr>
        <p:spPr>
          <a:xfrm>
            <a:off x="1078992" y="4946904"/>
            <a:ext cx="9729216" cy="411480"/>
          </a:xfrm>
          <a:prstGeom prst="rect">
            <a:avLst/>
          </a:prstGeom>
          <a:noFill/>
        </p:spPr>
        <p:txBody>
          <a:bodyPr wrap="square" lIns="254" tIns="254" rIns="254" bIns="254" anchor="ctr">
            <a:normAutofit/>
          </a:bodyPr>
          <a:lstStyle/>
          <a:p>
            <a:pPr marL="0" indent="0">
              <a:buNone/>
            </a:pPr>
            <a:r>
              <a:rPr sz="1500" b="1">
                <a:solidFill>
                  <a:srgbClr val="172033"/>
                </a:solidFill>
              </a:rPr>
              <a:t>Bu bulgu ileride calibration analizi yapılmasını anlamlı kılıyor.</a:t>
            </a:r>
            <a:endParaRPr sz="1500"/>
          </a:p>
        </p:txBody>
      </p:sp>
      <p:sp>
        <p:nvSpPr>
          <p:cNvPr id="14" name="Text 12">
            <a:extLst>
              <a:ext uri="{FF2B5EF4-FFF2-40B4-BE49-F238E27FC236}">
                <a16:creationId xmlns:a16="http://schemas.microsoft.com/office/drawing/2014/main" id="{003ED320-32A0-4153-ACCD-799BB852EF9E}"/>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5" name="Text 13">
            <a:extLst>
              <a:ext uri="{FF2B5EF4-FFF2-40B4-BE49-F238E27FC236}">
                <a16:creationId xmlns:a16="http://schemas.microsoft.com/office/drawing/2014/main" id="{26F02C1D-DB21-4201-BC19-2B17F574493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24</a:t>
            </a:r>
            <a:endParaRPr sz="850"/>
          </a:p>
        </p:txBody>
      </p:sp>
      <p:sp>
        <p:nvSpPr>
          <p:cNvPr id="16" name="Shape 14">
            <a:extLst>
              <a:ext uri="{FF2B5EF4-FFF2-40B4-BE49-F238E27FC236}">
                <a16:creationId xmlns:a16="http://schemas.microsoft.com/office/drawing/2014/main" id="{62C1E554-058A-4E09-8608-3E08364686AA}"/>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938471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E25B54-B8AE-47AE-8EF8-B6CF1440F561}"/>
              </a:ext>
            </a:extLst>
          </p:cNvPr>
          <p:cNvSpPr>
            <a:spLocks noGrp="1"/>
          </p:cNvSpPr>
          <p:nvPr/>
        </p:nvSpPr>
        <p:spPr>
          <a:xfrm>
            <a:off x="502920" y="329184"/>
            <a:ext cx="10881360" cy="502920"/>
          </a:xfrm>
          <a:prstGeom prst="rect">
            <a:avLst/>
          </a:prstGeom>
          <a:noFill/>
        </p:spPr>
        <p:txBody>
          <a:bodyPr wrap="square" lIns="0" tIns="0" rIns="0" bIns="0" anchor="ctr">
            <a:normAutofit fontScale="98527"/>
          </a:bodyPr>
          <a:lstStyle/>
          <a:p>
            <a:pPr marL="0" indent="0">
              <a:buNone/>
            </a:pPr>
            <a:r>
              <a:rPr sz="3100" b="1">
                <a:solidFill>
                  <a:srgbClr val="172033"/>
                </a:solidFill>
                <a:latin typeface="Aptos Display"/>
                <a:ea typeface="Aptos Display"/>
                <a:cs typeface="Aptos Display"/>
              </a:rPr>
              <a:t>PhraseBank ablasyonu: daha fazla veri her zaman daha iyi değil</a:t>
            </a:r>
            <a:endParaRPr sz="3100"/>
          </a:p>
        </p:txBody>
      </p:sp>
      <p:sp>
        <p:nvSpPr>
          <p:cNvPr id="3" name="Text 1">
            <a:extLst>
              <a:ext uri="{FF2B5EF4-FFF2-40B4-BE49-F238E27FC236}">
                <a16:creationId xmlns:a16="http://schemas.microsoft.com/office/drawing/2014/main" id="{F17F0410-4648-4711-8A3B-6ABE01A1E781}"/>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Sorun insan etiketi değil; kaynak, uzlaşı ve etiket semantiği farkı.</a:t>
            </a:r>
            <a:endParaRPr sz="1450"/>
          </a:p>
        </p:txBody>
      </p:sp>
      <p:sp>
        <p:nvSpPr>
          <p:cNvPr id="4" name="Shape 2">
            <a:extLst>
              <a:ext uri="{FF2B5EF4-FFF2-40B4-BE49-F238E27FC236}">
                <a16:creationId xmlns:a16="http://schemas.microsoft.com/office/drawing/2014/main" id="{0722123F-291E-42FE-A3E5-30BD087614C5}"/>
              </a:ext>
            </a:extLst>
          </p:cNvPr>
          <p:cNvSpPr>
            <a:spLocks noGrp="1"/>
          </p:cNvSpPr>
          <p:nvPr/>
        </p:nvSpPr>
        <p:spPr>
          <a:xfrm>
            <a:off x="914400" y="1417320"/>
            <a:ext cx="4059936" cy="563880"/>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164710F3-ADB8-436F-B825-0EAEC62F3B6A}"/>
              </a:ext>
            </a:extLst>
          </p:cNvPr>
          <p:cNvSpPr>
            <a:spLocks noGrp="1"/>
          </p:cNvSpPr>
          <p:nvPr/>
        </p:nvSpPr>
        <p:spPr>
          <a:xfrm>
            <a:off x="987552" y="1490472"/>
            <a:ext cx="3913632" cy="472440"/>
          </a:xfrm>
          <a:prstGeom prst="rect">
            <a:avLst/>
          </a:prstGeom>
          <a:noFill/>
        </p:spPr>
        <p:txBody>
          <a:bodyPr wrap="square" lIns="0" tIns="0" rIns="0" bIns="0" anchor="ctr">
            <a:normAutofit/>
          </a:bodyPr>
          <a:lstStyle/>
          <a:p>
            <a:pPr marL="0" indent="0">
              <a:buNone/>
            </a:pPr>
            <a:r>
              <a:rPr sz="1150" b="1">
                <a:solidFill>
                  <a:srgbClr val="FFFFFF"/>
                </a:solidFill>
              </a:rPr>
              <a:t>Eğitim konfigürasyonu</a:t>
            </a:r>
            <a:endParaRPr sz="1150"/>
          </a:p>
        </p:txBody>
      </p:sp>
      <p:sp>
        <p:nvSpPr>
          <p:cNvPr id="6" name="Shape 4">
            <a:extLst>
              <a:ext uri="{FF2B5EF4-FFF2-40B4-BE49-F238E27FC236}">
                <a16:creationId xmlns:a16="http://schemas.microsoft.com/office/drawing/2014/main" id="{89BC384C-2AA8-434F-BF92-B565B402A2F5}"/>
              </a:ext>
            </a:extLst>
          </p:cNvPr>
          <p:cNvSpPr>
            <a:spLocks noGrp="1"/>
          </p:cNvSpPr>
          <p:nvPr/>
        </p:nvSpPr>
        <p:spPr>
          <a:xfrm>
            <a:off x="4974336" y="1417320"/>
            <a:ext cx="1826971" cy="563880"/>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0FCFDEAC-BB16-4A6E-B7FD-89AF68158554}"/>
              </a:ext>
            </a:extLst>
          </p:cNvPr>
          <p:cNvSpPr>
            <a:spLocks noGrp="1"/>
          </p:cNvSpPr>
          <p:nvPr/>
        </p:nvSpPr>
        <p:spPr>
          <a:xfrm>
            <a:off x="5047488" y="1490472"/>
            <a:ext cx="1680667" cy="472440"/>
          </a:xfrm>
          <a:prstGeom prst="rect">
            <a:avLst/>
          </a:prstGeom>
          <a:noFill/>
        </p:spPr>
        <p:txBody>
          <a:bodyPr wrap="square" lIns="0" tIns="0" rIns="0" bIns="0" anchor="ctr">
            <a:normAutofit/>
          </a:bodyPr>
          <a:lstStyle/>
          <a:p>
            <a:pPr marL="0" indent="0">
              <a:buNone/>
            </a:pPr>
            <a:r>
              <a:rPr sz="1150" b="1">
                <a:solidFill>
                  <a:srgbClr val="FFFFFF"/>
                </a:solidFill>
              </a:rPr>
              <a:t>Internal</a:t>
            </a:r>
            <a:endParaRPr sz="1150"/>
          </a:p>
        </p:txBody>
      </p:sp>
      <p:sp>
        <p:nvSpPr>
          <p:cNvPr id="8" name="Shape 6">
            <a:extLst>
              <a:ext uri="{FF2B5EF4-FFF2-40B4-BE49-F238E27FC236}">
                <a16:creationId xmlns:a16="http://schemas.microsoft.com/office/drawing/2014/main" id="{82C0DA95-E929-4208-A98B-BC6B853594E4}"/>
              </a:ext>
            </a:extLst>
          </p:cNvPr>
          <p:cNvSpPr>
            <a:spLocks noGrp="1"/>
          </p:cNvSpPr>
          <p:nvPr/>
        </p:nvSpPr>
        <p:spPr>
          <a:xfrm>
            <a:off x="6801307" y="1417320"/>
            <a:ext cx="1826971" cy="56388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27EEEA9A-65E7-4C95-886D-DFF4E49CFA3D}"/>
              </a:ext>
            </a:extLst>
          </p:cNvPr>
          <p:cNvSpPr>
            <a:spLocks noGrp="1"/>
          </p:cNvSpPr>
          <p:nvPr/>
        </p:nvSpPr>
        <p:spPr>
          <a:xfrm>
            <a:off x="6874459" y="1490472"/>
            <a:ext cx="1680667" cy="472440"/>
          </a:xfrm>
          <a:prstGeom prst="rect">
            <a:avLst/>
          </a:prstGeom>
          <a:noFill/>
        </p:spPr>
        <p:txBody>
          <a:bodyPr wrap="square" lIns="0" tIns="0" rIns="0" bIns="0" anchor="ctr">
            <a:normAutofit/>
          </a:bodyPr>
          <a:lstStyle/>
          <a:p>
            <a:pPr marL="0" indent="0">
              <a:buNone/>
            </a:pPr>
            <a:r>
              <a:rPr sz="1150" b="1">
                <a:solidFill>
                  <a:srgbClr val="FFFFFF"/>
                </a:solidFill>
              </a:rPr>
              <a:t>Reuters</a:t>
            </a:r>
            <a:endParaRPr sz="1150"/>
          </a:p>
        </p:txBody>
      </p:sp>
      <p:sp>
        <p:nvSpPr>
          <p:cNvPr id="10" name="Shape 8">
            <a:extLst>
              <a:ext uri="{FF2B5EF4-FFF2-40B4-BE49-F238E27FC236}">
                <a16:creationId xmlns:a16="http://schemas.microsoft.com/office/drawing/2014/main" id="{E444BA8D-2875-4194-8A2F-257D87837ADB}"/>
              </a:ext>
            </a:extLst>
          </p:cNvPr>
          <p:cNvSpPr>
            <a:spLocks noGrp="1"/>
          </p:cNvSpPr>
          <p:nvPr/>
        </p:nvSpPr>
        <p:spPr>
          <a:xfrm>
            <a:off x="8628278" y="1417320"/>
            <a:ext cx="2435962" cy="563880"/>
          </a:xfrm>
          <a:prstGeom prst="rect">
            <a:avLst/>
          </a:prstGeom>
          <a:solidFill>
            <a:srgbClr val="1D2B46"/>
          </a:solidFill>
          <a:ln w="6350">
            <a:solidFill>
              <a:srgbClr val="DDE3EF"/>
            </a:solidFill>
            <a:prstDash val="solid"/>
          </a:ln>
        </p:spPr>
      </p:sp>
      <p:sp>
        <p:nvSpPr>
          <p:cNvPr id="11" name="Text 9">
            <a:extLst>
              <a:ext uri="{FF2B5EF4-FFF2-40B4-BE49-F238E27FC236}">
                <a16:creationId xmlns:a16="http://schemas.microsoft.com/office/drawing/2014/main" id="{10DB0D3E-A9A6-43E8-96AD-4B24EDDB0F72}"/>
              </a:ext>
            </a:extLst>
          </p:cNvPr>
          <p:cNvSpPr>
            <a:spLocks noGrp="1"/>
          </p:cNvSpPr>
          <p:nvPr/>
        </p:nvSpPr>
        <p:spPr>
          <a:xfrm>
            <a:off x="8701430" y="1490472"/>
            <a:ext cx="2289658" cy="472440"/>
          </a:xfrm>
          <a:prstGeom prst="rect">
            <a:avLst/>
          </a:prstGeom>
          <a:noFill/>
        </p:spPr>
        <p:txBody>
          <a:bodyPr wrap="square" lIns="0" tIns="0" rIns="0" bIns="0" anchor="ctr">
            <a:normAutofit/>
          </a:bodyPr>
          <a:lstStyle/>
          <a:p>
            <a:pPr marL="0" indent="0">
              <a:buNone/>
            </a:pPr>
            <a:r>
              <a:rPr sz="1150" b="1">
                <a:solidFill>
                  <a:srgbClr val="FFFFFF"/>
                </a:solidFill>
              </a:rPr>
              <a:t>Yorum</a:t>
            </a:r>
            <a:endParaRPr sz="1150"/>
          </a:p>
        </p:txBody>
      </p:sp>
      <p:sp>
        <p:nvSpPr>
          <p:cNvPr id="12" name="Shape 10">
            <a:extLst>
              <a:ext uri="{FF2B5EF4-FFF2-40B4-BE49-F238E27FC236}">
                <a16:creationId xmlns:a16="http://schemas.microsoft.com/office/drawing/2014/main" id="{872E2558-E21B-4925-B3E5-FC4649DD46E0}"/>
              </a:ext>
            </a:extLst>
          </p:cNvPr>
          <p:cNvSpPr>
            <a:spLocks noGrp="1"/>
          </p:cNvSpPr>
          <p:nvPr/>
        </p:nvSpPr>
        <p:spPr>
          <a:xfrm>
            <a:off x="914400" y="1981200"/>
            <a:ext cx="4059936" cy="563880"/>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20608D0D-527A-4362-85E5-3E04AC29A621}"/>
              </a:ext>
            </a:extLst>
          </p:cNvPr>
          <p:cNvSpPr>
            <a:spLocks noGrp="1"/>
          </p:cNvSpPr>
          <p:nvPr/>
        </p:nvSpPr>
        <p:spPr>
          <a:xfrm>
            <a:off x="987552" y="2054352"/>
            <a:ext cx="3913632" cy="472440"/>
          </a:xfrm>
          <a:prstGeom prst="rect">
            <a:avLst/>
          </a:prstGeom>
          <a:noFill/>
        </p:spPr>
        <p:txBody>
          <a:bodyPr wrap="square" lIns="0" tIns="0" rIns="0" bIns="0" anchor="ctr">
            <a:normAutofit/>
          </a:bodyPr>
          <a:lstStyle/>
          <a:p>
            <a:pPr marL="0" indent="0">
              <a:buNone/>
            </a:pPr>
            <a:r>
              <a:rPr sz="1400">
                <a:solidFill>
                  <a:srgbClr val="1A1E2A"/>
                </a:solidFill>
              </a:rPr>
              <a:t>Twitter-only</a:t>
            </a:r>
            <a:endParaRPr sz="1400"/>
          </a:p>
        </p:txBody>
      </p:sp>
      <p:sp>
        <p:nvSpPr>
          <p:cNvPr id="14" name="Shape 12">
            <a:extLst>
              <a:ext uri="{FF2B5EF4-FFF2-40B4-BE49-F238E27FC236}">
                <a16:creationId xmlns:a16="http://schemas.microsoft.com/office/drawing/2014/main" id="{B253316A-7524-4AAB-B5C7-51CFA34D1A43}"/>
              </a:ext>
            </a:extLst>
          </p:cNvPr>
          <p:cNvSpPr>
            <a:spLocks noGrp="1"/>
          </p:cNvSpPr>
          <p:nvPr/>
        </p:nvSpPr>
        <p:spPr>
          <a:xfrm>
            <a:off x="4974336" y="1981200"/>
            <a:ext cx="1826971" cy="56388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513682C0-1936-4FDF-BFB2-6905A042A130}"/>
              </a:ext>
            </a:extLst>
          </p:cNvPr>
          <p:cNvSpPr>
            <a:spLocks noGrp="1"/>
          </p:cNvSpPr>
          <p:nvPr/>
        </p:nvSpPr>
        <p:spPr>
          <a:xfrm>
            <a:off x="5047488" y="2054352"/>
            <a:ext cx="1680667" cy="472440"/>
          </a:xfrm>
          <a:prstGeom prst="rect">
            <a:avLst/>
          </a:prstGeom>
          <a:noFill/>
        </p:spPr>
        <p:txBody>
          <a:bodyPr wrap="square" lIns="0" tIns="0" rIns="0" bIns="0" anchor="ctr">
            <a:normAutofit/>
          </a:bodyPr>
          <a:lstStyle/>
          <a:p>
            <a:pPr marL="0" indent="0">
              <a:buNone/>
            </a:pPr>
            <a:r>
              <a:rPr sz="1400">
                <a:solidFill>
                  <a:srgbClr val="1A1E2A"/>
                </a:solidFill>
              </a:rPr>
              <a:t>0.8810</a:t>
            </a:r>
            <a:endParaRPr sz="1400"/>
          </a:p>
        </p:txBody>
      </p:sp>
      <p:sp>
        <p:nvSpPr>
          <p:cNvPr id="16" name="Shape 14">
            <a:extLst>
              <a:ext uri="{FF2B5EF4-FFF2-40B4-BE49-F238E27FC236}">
                <a16:creationId xmlns:a16="http://schemas.microsoft.com/office/drawing/2014/main" id="{8CF534AF-0E19-49CA-978A-090456DCFD82}"/>
              </a:ext>
            </a:extLst>
          </p:cNvPr>
          <p:cNvSpPr>
            <a:spLocks noGrp="1"/>
          </p:cNvSpPr>
          <p:nvPr/>
        </p:nvSpPr>
        <p:spPr>
          <a:xfrm>
            <a:off x="6801307" y="1981200"/>
            <a:ext cx="1826971" cy="563880"/>
          </a:xfrm>
          <a:prstGeom prst="rect">
            <a:avLst/>
          </a:prstGeom>
          <a:solidFill>
            <a:srgbClr val="FFFFFF"/>
          </a:solidFill>
          <a:ln w="6350">
            <a:solidFill>
              <a:srgbClr val="DDE3EF"/>
            </a:solidFill>
            <a:prstDash val="solid"/>
          </a:ln>
        </p:spPr>
      </p:sp>
      <p:sp>
        <p:nvSpPr>
          <p:cNvPr id="17" name="Text 15">
            <a:extLst>
              <a:ext uri="{FF2B5EF4-FFF2-40B4-BE49-F238E27FC236}">
                <a16:creationId xmlns:a16="http://schemas.microsoft.com/office/drawing/2014/main" id="{75542544-542F-4995-9108-BF0046FD5749}"/>
              </a:ext>
            </a:extLst>
          </p:cNvPr>
          <p:cNvSpPr>
            <a:spLocks noGrp="1"/>
          </p:cNvSpPr>
          <p:nvPr/>
        </p:nvSpPr>
        <p:spPr>
          <a:xfrm>
            <a:off x="6874459" y="2054352"/>
            <a:ext cx="1680667" cy="472440"/>
          </a:xfrm>
          <a:prstGeom prst="rect">
            <a:avLst/>
          </a:prstGeom>
          <a:noFill/>
        </p:spPr>
        <p:txBody>
          <a:bodyPr wrap="square" lIns="0" tIns="0" rIns="0" bIns="0" anchor="ctr">
            <a:normAutofit/>
          </a:bodyPr>
          <a:lstStyle/>
          <a:p>
            <a:pPr marL="0" indent="0">
              <a:buNone/>
            </a:pPr>
            <a:r>
              <a:rPr sz="1400">
                <a:solidFill>
                  <a:srgbClr val="1A1E2A"/>
                </a:solidFill>
              </a:rPr>
              <a:t>0.6465</a:t>
            </a:r>
            <a:endParaRPr sz="1400"/>
          </a:p>
        </p:txBody>
      </p:sp>
      <p:sp>
        <p:nvSpPr>
          <p:cNvPr id="18" name="Shape 16">
            <a:extLst>
              <a:ext uri="{FF2B5EF4-FFF2-40B4-BE49-F238E27FC236}">
                <a16:creationId xmlns:a16="http://schemas.microsoft.com/office/drawing/2014/main" id="{3C541583-B797-438F-9D94-073EBCD74253}"/>
              </a:ext>
            </a:extLst>
          </p:cNvPr>
          <p:cNvSpPr>
            <a:spLocks noGrp="1"/>
          </p:cNvSpPr>
          <p:nvPr/>
        </p:nvSpPr>
        <p:spPr>
          <a:xfrm>
            <a:off x="8628278" y="1981200"/>
            <a:ext cx="2435962" cy="563880"/>
          </a:xfrm>
          <a:prstGeom prst="rect">
            <a:avLst/>
          </a:prstGeom>
          <a:solidFill>
            <a:srgbClr val="FFFFFF"/>
          </a:solidFill>
          <a:ln w="6350">
            <a:solidFill>
              <a:srgbClr val="DDE3EF"/>
            </a:solidFill>
            <a:prstDash val="solid"/>
          </a:ln>
        </p:spPr>
      </p:sp>
      <p:sp>
        <p:nvSpPr>
          <p:cNvPr id="19" name="Text 17">
            <a:extLst>
              <a:ext uri="{FF2B5EF4-FFF2-40B4-BE49-F238E27FC236}">
                <a16:creationId xmlns:a16="http://schemas.microsoft.com/office/drawing/2014/main" id="{C46F6222-A35F-4408-85DB-CACB8239F9A6}"/>
              </a:ext>
            </a:extLst>
          </p:cNvPr>
          <p:cNvSpPr>
            <a:spLocks noGrp="1"/>
          </p:cNvSpPr>
          <p:nvPr/>
        </p:nvSpPr>
        <p:spPr>
          <a:xfrm>
            <a:off x="8701430" y="2054352"/>
            <a:ext cx="2289658" cy="472440"/>
          </a:xfrm>
          <a:prstGeom prst="rect">
            <a:avLst/>
          </a:prstGeom>
          <a:noFill/>
        </p:spPr>
        <p:txBody>
          <a:bodyPr wrap="square" lIns="0" tIns="0" rIns="0" bIns="0" anchor="ctr">
            <a:normAutofit/>
          </a:bodyPr>
          <a:lstStyle/>
          <a:p>
            <a:pPr marL="0" indent="0">
              <a:buNone/>
            </a:pPr>
            <a:r>
              <a:rPr sz="1400">
                <a:solidFill>
                  <a:srgbClr val="1A1E2A"/>
                </a:solidFill>
              </a:rPr>
              <a:t>Daha yüksek</a:t>
            </a:r>
            <a:endParaRPr sz="1400"/>
          </a:p>
        </p:txBody>
      </p:sp>
      <p:sp>
        <p:nvSpPr>
          <p:cNvPr id="20" name="Shape 18">
            <a:extLst>
              <a:ext uri="{FF2B5EF4-FFF2-40B4-BE49-F238E27FC236}">
                <a16:creationId xmlns:a16="http://schemas.microsoft.com/office/drawing/2014/main" id="{95FBA16A-8852-418B-A6DE-BC653D1586E0}"/>
              </a:ext>
            </a:extLst>
          </p:cNvPr>
          <p:cNvSpPr>
            <a:spLocks noGrp="1"/>
          </p:cNvSpPr>
          <p:nvPr/>
        </p:nvSpPr>
        <p:spPr>
          <a:xfrm>
            <a:off x="914400" y="2545080"/>
            <a:ext cx="4059936" cy="563880"/>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1E0F73B4-9A6F-48CA-8B9E-FFAF373AADAA}"/>
              </a:ext>
            </a:extLst>
          </p:cNvPr>
          <p:cNvSpPr>
            <a:spLocks noGrp="1"/>
          </p:cNvSpPr>
          <p:nvPr/>
        </p:nvSpPr>
        <p:spPr>
          <a:xfrm>
            <a:off x="987552" y="2618232"/>
            <a:ext cx="3913632" cy="472440"/>
          </a:xfrm>
          <a:prstGeom prst="rect">
            <a:avLst/>
          </a:prstGeom>
          <a:noFill/>
        </p:spPr>
        <p:txBody>
          <a:bodyPr wrap="square" lIns="0" tIns="0" rIns="0" bIns="0" anchor="ctr">
            <a:normAutofit/>
          </a:bodyPr>
          <a:lstStyle/>
          <a:p>
            <a:pPr marL="0" indent="0">
              <a:buNone/>
            </a:pPr>
            <a:r>
              <a:rPr sz="1400">
                <a:solidFill>
                  <a:srgbClr val="1A1E2A"/>
                </a:solidFill>
              </a:rPr>
              <a:t>Twitter + PhraseBank</a:t>
            </a:r>
            <a:endParaRPr sz="1400"/>
          </a:p>
        </p:txBody>
      </p:sp>
      <p:sp>
        <p:nvSpPr>
          <p:cNvPr id="22" name="Shape 20">
            <a:extLst>
              <a:ext uri="{FF2B5EF4-FFF2-40B4-BE49-F238E27FC236}">
                <a16:creationId xmlns:a16="http://schemas.microsoft.com/office/drawing/2014/main" id="{9C50FFF9-1A5C-4B62-B49C-E6BFD66145D1}"/>
              </a:ext>
            </a:extLst>
          </p:cNvPr>
          <p:cNvSpPr>
            <a:spLocks noGrp="1"/>
          </p:cNvSpPr>
          <p:nvPr/>
        </p:nvSpPr>
        <p:spPr>
          <a:xfrm>
            <a:off x="4974336" y="2545080"/>
            <a:ext cx="1826971" cy="563880"/>
          </a:xfrm>
          <a:prstGeom prst="rect">
            <a:avLst/>
          </a:prstGeom>
          <a:solidFill>
            <a:srgbClr val="F4F6FB"/>
          </a:solidFill>
          <a:ln w="6350">
            <a:solidFill>
              <a:srgbClr val="DDE3EF"/>
            </a:solidFill>
            <a:prstDash val="solid"/>
          </a:ln>
        </p:spPr>
      </p:sp>
      <p:sp>
        <p:nvSpPr>
          <p:cNvPr id="23" name="Text 21">
            <a:extLst>
              <a:ext uri="{FF2B5EF4-FFF2-40B4-BE49-F238E27FC236}">
                <a16:creationId xmlns:a16="http://schemas.microsoft.com/office/drawing/2014/main" id="{B7444CA4-3EF6-481D-B2F3-249B605F22C5}"/>
              </a:ext>
            </a:extLst>
          </p:cNvPr>
          <p:cNvSpPr>
            <a:spLocks noGrp="1"/>
          </p:cNvSpPr>
          <p:nvPr/>
        </p:nvSpPr>
        <p:spPr>
          <a:xfrm>
            <a:off x="5047488" y="2618232"/>
            <a:ext cx="1680667" cy="472440"/>
          </a:xfrm>
          <a:prstGeom prst="rect">
            <a:avLst/>
          </a:prstGeom>
          <a:noFill/>
        </p:spPr>
        <p:txBody>
          <a:bodyPr wrap="square" lIns="0" tIns="0" rIns="0" bIns="0" anchor="ctr">
            <a:normAutofit/>
          </a:bodyPr>
          <a:lstStyle/>
          <a:p>
            <a:pPr marL="0" indent="0">
              <a:buNone/>
            </a:pPr>
            <a:r>
              <a:rPr sz="1400">
                <a:solidFill>
                  <a:srgbClr val="1A1E2A"/>
                </a:solidFill>
              </a:rPr>
              <a:t>0.8679</a:t>
            </a:r>
            <a:endParaRPr sz="1400"/>
          </a:p>
        </p:txBody>
      </p:sp>
      <p:sp>
        <p:nvSpPr>
          <p:cNvPr id="24" name="Shape 22">
            <a:extLst>
              <a:ext uri="{FF2B5EF4-FFF2-40B4-BE49-F238E27FC236}">
                <a16:creationId xmlns:a16="http://schemas.microsoft.com/office/drawing/2014/main" id="{5B7D091F-37E8-482F-BDE4-5CA92BDEEDC4}"/>
              </a:ext>
            </a:extLst>
          </p:cNvPr>
          <p:cNvSpPr>
            <a:spLocks noGrp="1"/>
          </p:cNvSpPr>
          <p:nvPr/>
        </p:nvSpPr>
        <p:spPr>
          <a:xfrm>
            <a:off x="6801307" y="2545080"/>
            <a:ext cx="1826971" cy="563880"/>
          </a:xfrm>
          <a:prstGeom prst="rect">
            <a:avLst/>
          </a:prstGeom>
          <a:solidFill>
            <a:srgbClr val="F4F6FB"/>
          </a:solidFill>
          <a:ln w="6350">
            <a:solidFill>
              <a:srgbClr val="DDE3EF"/>
            </a:solidFill>
            <a:prstDash val="solid"/>
          </a:ln>
        </p:spPr>
      </p:sp>
      <p:sp>
        <p:nvSpPr>
          <p:cNvPr id="25" name="Text 23">
            <a:extLst>
              <a:ext uri="{FF2B5EF4-FFF2-40B4-BE49-F238E27FC236}">
                <a16:creationId xmlns:a16="http://schemas.microsoft.com/office/drawing/2014/main" id="{12184A83-230F-4156-8B8E-33CBED7FE044}"/>
              </a:ext>
            </a:extLst>
          </p:cNvPr>
          <p:cNvSpPr>
            <a:spLocks noGrp="1"/>
          </p:cNvSpPr>
          <p:nvPr/>
        </p:nvSpPr>
        <p:spPr>
          <a:xfrm>
            <a:off x="6874459" y="2618232"/>
            <a:ext cx="1680667" cy="472440"/>
          </a:xfrm>
          <a:prstGeom prst="rect">
            <a:avLst/>
          </a:prstGeom>
          <a:noFill/>
        </p:spPr>
        <p:txBody>
          <a:bodyPr wrap="square" lIns="0" tIns="0" rIns="0" bIns="0" anchor="ctr">
            <a:normAutofit/>
          </a:bodyPr>
          <a:lstStyle/>
          <a:p>
            <a:pPr marL="0" indent="0">
              <a:buNone/>
            </a:pPr>
            <a:r>
              <a:rPr sz="1400">
                <a:solidFill>
                  <a:srgbClr val="1A1E2A"/>
                </a:solidFill>
              </a:rPr>
              <a:t>0.6305</a:t>
            </a:r>
            <a:endParaRPr sz="1400"/>
          </a:p>
        </p:txBody>
      </p:sp>
      <p:sp>
        <p:nvSpPr>
          <p:cNvPr id="26" name="Shape 24">
            <a:extLst>
              <a:ext uri="{FF2B5EF4-FFF2-40B4-BE49-F238E27FC236}">
                <a16:creationId xmlns:a16="http://schemas.microsoft.com/office/drawing/2014/main" id="{30E41DE4-D1EA-49D4-9CF5-C3E24E76BF29}"/>
              </a:ext>
            </a:extLst>
          </p:cNvPr>
          <p:cNvSpPr>
            <a:spLocks noGrp="1"/>
          </p:cNvSpPr>
          <p:nvPr/>
        </p:nvSpPr>
        <p:spPr>
          <a:xfrm>
            <a:off x="8628278" y="2545080"/>
            <a:ext cx="2435962" cy="563880"/>
          </a:xfrm>
          <a:prstGeom prst="rect">
            <a:avLst/>
          </a:prstGeom>
          <a:solidFill>
            <a:srgbClr val="F4F6FB"/>
          </a:solidFill>
          <a:ln w="6350">
            <a:solidFill>
              <a:srgbClr val="DDE3EF"/>
            </a:solidFill>
            <a:prstDash val="solid"/>
          </a:ln>
        </p:spPr>
      </p:sp>
      <p:sp>
        <p:nvSpPr>
          <p:cNvPr id="27" name="Text 25">
            <a:extLst>
              <a:ext uri="{FF2B5EF4-FFF2-40B4-BE49-F238E27FC236}">
                <a16:creationId xmlns:a16="http://schemas.microsoft.com/office/drawing/2014/main" id="{7381958A-4DE6-4AF1-80BA-14D3A8EC5866}"/>
              </a:ext>
            </a:extLst>
          </p:cNvPr>
          <p:cNvSpPr>
            <a:spLocks noGrp="1"/>
          </p:cNvSpPr>
          <p:nvPr/>
        </p:nvSpPr>
        <p:spPr>
          <a:xfrm>
            <a:off x="8701430" y="2618232"/>
            <a:ext cx="2289658" cy="472440"/>
          </a:xfrm>
          <a:prstGeom prst="rect">
            <a:avLst/>
          </a:prstGeom>
          <a:noFill/>
        </p:spPr>
        <p:txBody>
          <a:bodyPr wrap="square" lIns="0" tIns="0" rIns="0" bIns="0" anchor="ctr">
            <a:normAutofit/>
          </a:bodyPr>
          <a:lstStyle/>
          <a:p>
            <a:pPr marL="0" indent="0">
              <a:buNone/>
            </a:pPr>
            <a:r>
              <a:rPr sz="1400">
                <a:solidFill>
                  <a:srgbClr val="1A1E2A"/>
                </a:solidFill>
              </a:rPr>
              <a:t>Düşüş</a:t>
            </a:r>
            <a:endParaRPr sz="1400"/>
          </a:p>
        </p:txBody>
      </p:sp>
      <p:sp>
        <p:nvSpPr>
          <p:cNvPr id="28" name="Text 26">
            <a:extLst>
              <a:ext uri="{FF2B5EF4-FFF2-40B4-BE49-F238E27FC236}">
                <a16:creationId xmlns:a16="http://schemas.microsoft.com/office/drawing/2014/main" id="{CCA85246-3079-4E47-A1D8-CB4B77D6AA82}"/>
              </a:ext>
            </a:extLst>
          </p:cNvPr>
          <p:cNvSpPr>
            <a:spLocks noGrp="1"/>
          </p:cNvSpPr>
          <p:nvPr/>
        </p:nvSpPr>
        <p:spPr>
          <a:xfrm>
            <a:off x="960120" y="3703320"/>
            <a:ext cx="9784080" cy="1234440"/>
          </a:xfrm>
          <a:prstGeom prst="rect">
            <a:avLst/>
          </a:prstGeom>
          <a:noFill/>
        </p:spPr>
        <p:txBody>
          <a:bodyPr wrap="square" lIns="635" tIns="635" rIns="635" bIns="635" anchor="ctr">
            <a:normAutofit/>
          </a:bodyPr>
          <a:lstStyle/>
          <a:p>
            <a:r>
              <a:rPr sz="1600">
                <a:solidFill>
                  <a:srgbClr val="1A1E2A"/>
                </a:solidFill>
              </a:rPr>
              <a:t>PhraseBank: 16 finans altyapılı etiketleyici; her cümle için 5–8 oy.</a:t>
            </a:r>
            <a:endParaRPr sz="1600"/>
          </a:p>
          <a:p>
            <a:r>
              <a:rPr sz="1600">
                <a:solidFill>
                  <a:srgbClr val="1A1E2A"/>
                </a:solidFill>
              </a:rPr>
              <a:t>Uzlaşı düzeyi, kaynak ve etiket sınırları Twitter'dan farklı olabilir.</a:t>
            </a:r>
            <a:endParaRPr sz="1600"/>
          </a:p>
          <a:p>
            <a:r>
              <a:rPr sz="1600">
                <a:solidFill>
                  <a:srgbClr val="1A1E2A"/>
                </a:solidFill>
              </a:rPr>
              <a:t>Tek-seed RoBERTa ablasyonunda Twitter-only iki testte de daha yüksekti.</a:t>
            </a:r>
            <a:endParaRPr sz="1600"/>
          </a:p>
        </p:txBody>
      </p:sp>
      <p:sp>
        <p:nvSpPr>
          <p:cNvPr id="29" name="Shape 27">
            <a:extLst>
              <a:ext uri="{FF2B5EF4-FFF2-40B4-BE49-F238E27FC236}">
                <a16:creationId xmlns:a16="http://schemas.microsoft.com/office/drawing/2014/main" id="{54C1FA7A-B106-49A2-AE6E-E0111B0E3DDF}"/>
              </a:ext>
            </a:extLst>
          </p:cNvPr>
          <p:cNvSpPr>
            <a:spLocks noGrp="1"/>
          </p:cNvSpPr>
          <p:nvPr/>
        </p:nvSpPr>
        <p:spPr>
          <a:xfrm>
            <a:off x="960120" y="5440680"/>
            <a:ext cx="9966960" cy="502920"/>
          </a:xfrm>
          <a:prstGeom prst="roundRect">
            <a:avLst>
              <a:gd name="adj" fmla="val 14545"/>
            </a:avLst>
          </a:prstGeom>
          <a:solidFill>
            <a:srgbClr val="F0FAF8"/>
          </a:solidFill>
          <a:ln w="15240">
            <a:solidFill>
              <a:srgbClr val="0F9D8F"/>
            </a:solidFill>
            <a:prstDash val="solid"/>
          </a:ln>
        </p:spPr>
      </p:sp>
      <p:sp>
        <p:nvSpPr>
          <p:cNvPr id="30" name="Text 28">
            <a:extLst>
              <a:ext uri="{FF2B5EF4-FFF2-40B4-BE49-F238E27FC236}">
                <a16:creationId xmlns:a16="http://schemas.microsoft.com/office/drawing/2014/main" id="{E711F794-8B08-4E3B-92E9-D728247DE7B6}"/>
              </a:ext>
            </a:extLst>
          </p:cNvPr>
          <p:cNvSpPr>
            <a:spLocks noGrp="1"/>
          </p:cNvSpPr>
          <p:nvPr/>
        </p:nvSpPr>
        <p:spPr>
          <a:xfrm>
            <a:off x="1124712" y="5586984"/>
            <a:ext cx="9637776" cy="274320"/>
          </a:xfrm>
          <a:prstGeom prst="rect">
            <a:avLst/>
          </a:prstGeom>
          <a:noFill/>
        </p:spPr>
        <p:txBody>
          <a:bodyPr wrap="square" lIns="254" tIns="254" rIns="254" bIns="254" anchor="ctr">
            <a:normAutofit/>
          </a:bodyPr>
          <a:lstStyle/>
          <a:p>
            <a:pPr marL="0" indent="0">
              <a:buNone/>
            </a:pPr>
            <a:r>
              <a:rPr sz="1500" b="1">
                <a:solidFill>
                  <a:srgbClr val="172033"/>
                </a:solidFill>
              </a:rPr>
              <a:t>Yorum: veri miktarından önce veri uyumu, etiket semantiği ve uzlaşı kontrol edilmelidir.</a:t>
            </a:r>
            <a:endParaRPr sz="1500"/>
          </a:p>
        </p:txBody>
      </p:sp>
      <p:sp>
        <p:nvSpPr>
          <p:cNvPr id="31" name="Text 29">
            <a:extLst>
              <a:ext uri="{FF2B5EF4-FFF2-40B4-BE49-F238E27FC236}">
                <a16:creationId xmlns:a16="http://schemas.microsoft.com/office/drawing/2014/main" id="{62F5FDA0-60B0-4C9C-A474-C41084C6BA85}"/>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2" name="Text 30">
            <a:extLst>
              <a:ext uri="{FF2B5EF4-FFF2-40B4-BE49-F238E27FC236}">
                <a16:creationId xmlns:a16="http://schemas.microsoft.com/office/drawing/2014/main" id="{5A8B4EC3-2092-4A22-A3DA-11ABE16A7B6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25</a:t>
            </a:r>
            <a:endParaRPr sz="850"/>
          </a:p>
        </p:txBody>
      </p:sp>
      <p:sp>
        <p:nvSpPr>
          <p:cNvPr id="33" name="Shape 31">
            <a:extLst>
              <a:ext uri="{FF2B5EF4-FFF2-40B4-BE49-F238E27FC236}">
                <a16:creationId xmlns:a16="http://schemas.microsoft.com/office/drawing/2014/main" id="{7BAD39A9-8965-4220-9EC7-751A467C3F79}"/>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595757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175127B-E672-49D6-B1BC-E2AC50473CE5}"/>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Sentetik veri ve zero-shot bulguları</a:t>
            </a:r>
            <a:endParaRPr sz="3100"/>
          </a:p>
        </p:txBody>
      </p:sp>
      <p:sp>
        <p:nvSpPr>
          <p:cNvPr id="3" name="Text 1">
            <a:extLst>
              <a:ext uri="{FF2B5EF4-FFF2-40B4-BE49-F238E27FC236}">
                <a16:creationId xmlns:a16="http://schemas.microsoft.com/office/drawing/2014/main" id="{F1F3FA89-EA47-491F-B742-A8091C5649D6}"/>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Kolay benchmark ve genel NLI yaklaşımı dikkatle yorumlanmalı.</a:t>
            </a:r>
            <a:endParaRPr sz="1450"/>
          </a:p>
        </p:txBody>
      </p:sp>
      <p:sp>
        <p:nvSpPr>
          <p:cNvPr id="4" name="Text 2">
            <a:extLst>
              <a:ext uri="{FF2B5EF4-FFF2-40B4-BE49-F238E27FC236}">
                <a16:creationId xmlns:a16="http://schemas.microsoft.com/office/drawing/2014/main" id="{10D2D981-134B-463B-B2D2-5CC003712AF1}"/>
              </a:ext>
            </a:extLst>
          </p:cNvPr>
          <p:cNvSpPr>
            <a:spLocks noGrp="1"/>
          </p:cNvSpPr>
          <p:nvPr/>
        </p:nvSpPr>
        <p:spPr>
          <a:xfrm>
            <a:off x="822960" y="1417320"/>
            <a:ext cx="3108960" cy="274320"/>
          </a:xfrm>
          <a:prstGeom prst="rect">
            <a:avLst/>
          </a:prstGeom>
          <a:noFill/>
        </p:spPr>
        <p:txBody>
          <a:bodyPr wrap="square" lIns="0" tIns="0" rIns="0" bIns="0" anchor="ctr"/>
          <a:lstStyle/>
          <a:p>
            <a:pPr marL="0" indent="0">
              <a:buNone/>
            </a:pPr>
            <a:r>
              <a:rPr sz="1900" b="1">
                <a:solidFill>
                  <a:srgbClr val="172033"/>
                </a:solidFill>
              </a:rPr>
              <a:t>Sentetik test</a:t>
            </a:r>
            <a:endParaRPr sz="1900"/>
          </a:p>
        </p:txBody>
      </p:sp>
      <p:sp>
        <p:nvSpPr>
          <p:cNvPr id="5" name="Text 3">
            <a:extLst>
              <a:ext uri="{FF2B5EF4-FFF2-40B4-BE49-F238E27FC236}">
                <a16:creationId xmlns:a16="http://schemas.microsoft.com/office/drawing/2014/main" id="{0C85AA90-38D1-4B3D-93F9-CAFA5049EC71}"/>
              </a:ext>
            </a:extLst>
          </p:cNvPr>
          <p:cNvSpPr>
            <a:spLocks noGrp="1"/>
          </p:cNvSpPr>
          <p:nvPr/>
        </p:nvSpPr>
        <p:spPr>
          <a:xfrm>
            <a:off x="822960" y="1874520"/>
            <a:ext cx="3108960" cy="411480"/>
          </a:xfrm>
          <a:prstGeom prst="rect">
            <a:avLst/>
          </a:prstGeom>
          <a:noFill/>
        </p:spPr>
        <p:txBody>
          <a:bodyPr wrap="square" lIns="0" tIns="0" rIns="0" bIns="0" anchor="ctr"/>
          <a:lstStyle/>
          <a:p>
            <a:pPr marL="0" indent="0">
              <a:buNone/>
            </a:pPr>
            <a:r>
              <a:rPr sz="2600" b="1">
                <a:solidFill>
                  <a:srgbClr val="1C8B5A"/>
                </a:solidFill>
              </a:rPr>
              <a:t>RoBERTa ≈ 0.9957</a:t>
            </a:r>
            <a:endParaRPr sz="2600"/>
          </a:p>
        </p:txBody>
      </p:sp>
      <p:sp>
        <p:nvSpPr>
          <p:cNvPr id="6" name="Text 4">
            <a:extLst>
              <a:ext uri="{FF2B5EF4-FFF2-40B4-BE49-F238E27FC236}">
                <a16:creationId xmlns:a16="http://schemas.microsoft.com/office/drawing/2014/main" id="{893F73FC-EA33-4500-A424-9FB4B3BC027B}"/>
              </a:ext>
            </a:extLst>
          </p:cNvPr>
          <p:cNvSpPr>
            <a:spLocks noGrp="1"/>
          </p:cNvSpPr>
          <p:nvPr/>
        </p:nvSpPr>
        <p:spPr>
          <a:xfrm>
            <a:off x="822960" y="2560320"/>
            <a:ext cx="4572000" cy="822960"/>
          </a:xfrm>
          <a:prstGeom prst="rect">
            <a:avLst/>
          </a:prstGeom>
          <a:noFill/>
        </p:spPr>
        <p:txBody>
          <a:bodyPr wrap="square" lIns="381" tIns="381" rIns="381" bIns="381" anchor="ctr">
            <a:normAutofit/>
          </a:bodyPr>
          <a:lstStyle/>
          <a:p>
            <a:pPr marL="0" indent="0">
              <a:buNone/>
            </a:pPr>
            <a:r>
              <a:rPr sz="1630">
                <a:solidFill>
                  <a:srgbClr val="1A1E2A"/>
                </a:solidFill>
              </a:rPr>
              <a:t>3.000 sentetik örnekte skor çok yüksek çıktı; fakat Reuters sonucu çok daha düşük kaldı.</a:t>
            </a:r>
            <a:endParaRPr sz="1630"/>
          </a:p>
        </p:txBody>
      </p:sp>
      <p:sp>
        <p:nvSpPr>
          <p:cNvPr id="7" name="Text 5">
            <a:extLst>
              <a:ext uri="{FF2B5EF4-FFF2-40B4-BE49-F238E27FC236}">
                <a16:creationId xmlns:a16="http://schemas.microsoft.com/office/drawing/2014/main" id="{2FA323FD-2C7D-4E28-8725-EF023286DD61}"/>
              </a:ext>
            </a:extLst>
          </p:cNvPr>
          <p:cNvSpPr>
            <a:spLocks noGrp="1"/>
          </p:cNvSpPr>
          <p:nvPr/>
        </p:nvSpPr>
        <p:spPr>
          <a:xfrm>
            <a:off x="6492240" y="1417320"/>
            <a:ext cx="3108960" cy="274320"/>
          </a:xfrm>
          <a:prstGeom prst="rect">
            <a:avLst/>
          </a:prstGeom>
          <a:noFill/>
        </p:spPr>
        <p:txBody>
          <a:bodyPr wrap="square" lIns="0" tIns="0" rIns="0" bIns="0" anchor="ctr"/>
          <a:lstStyle/>
          <a:p>
            <a:pPr marL="0" indent="0">
              <a:buNone/>
            </a:pPr>
            <a:r>
              <a:rPr sz="1900" b="1">
                <a:solidFill>
                  <a:srgbClr val="172033"/>
                </a:solidFill>
              </a:rPr>
              <a:t>Zero-shot NLI</a:t>
            </a:r>
            <a:endParaRPr sz="1900"/>
          </a:p>
        </p:txBody>
      </p:sp>
      <p:sp>
        <p:nvSpPr>
          <p:cNvPr id="8" name="Text 6">
            <a:extLst>
              <a:ext uri="{FF2B5EF4-FFF2-40B4-BE49-F238E27FC236}">
                <a16:creationId xmlns:a16="http://schemas.microsoft.com/office/drawing/2014/main" id="{236C6AE7-3C42-400F-B817-E83B1DF7F96A}"/>
              </a:ext>
            </a:extLst>
          </p:cNvPr>
          <p:cNvSpPr>
            <a:spLocks noGrp="1"/>
          </p:cNvSpPr>
          <p:nvPr/>
        </p:nvSpPr>
        <p:spPr>
          <a:xfrm>
            <a:off x="6492240" y="1874520"/>
            <a:ext cx="3474720" cy="411480"/>
          </a:xfrm>
          <a:prstGeom prst="rect">
            <a:avLst/>
          </a:prstGeom>
          <a:noFill/>
        </p:spPr>
        <p:txBody>
          <a:bodyPr wrap="square" lIns="0" tIns="0" rIns="0" bIns="0" anchor="ctr"/>
          <a:lstStyle/>
          <a:p>
            <a:pPr marL="0" indent="0">
              <a:buNone/>
            </a:pPr>
            <a:r>
              <a:rPr sz="2600" b="1">
                <a:solidFill>
                  <a:srgbClr val="F4A62A"/>
                </a:solidFill>
              </a:rPr>
              <a:t>BART-MNLI ≈ 0.558</a:t>
            </a:r>
            <a:endParaRPr sz="2600"/>
          </a:p>
        </p:txBody>
      </p:sp>
      <p:sp>
        <p:nvSpPr>
          <p:cNvPr id="9" name="Text 7">
            <a:extLst>
              <a:ext uri="{FF2B5EF4-FFF2-40B4-BE49-F238E27FC236}">
                <a16:creationId xmlns:a16="http://schemas.microsoft.com/office/drawing/2014/main" id="{8E7193F2-75A1-4C40-8BEB-96720EBFC5A5}"/>
              </a:ext>
            </a:extLst>
          </p:cNvPr>
          <p:cNvSpPr>
            <a:spLocks noGrp="1"/>
          </p:cNvSpPr>
          <p:nvPr/>
        </p:nvSpPr>
        <p:spPr>
          <a:xfrm>
            <a:off x="6492240" y="2560320"/>
            <a:ext cx="4206240" cy="822960"/>
          </a:xfrm>
          <a:prstGeom prst="rect">
            <a:avLst/>
          </a:prstGeom>
          <a:noFill/>
        </p:spPr>
        <p:txBody>
          <a:bodyPr wrap="square" lIns="381" tIns="381" rIns="381" bIns="381" anchor="ctr">
            <a:normAutofit/>
          </a:bodyPr>
          <a:lstStyle/>
          <a:p>
            <a:pPr marL="0" indent="0">
              <a:buNone/>
            </a:pPr>
            <a:r>
              <a:rPr sz="1630">
                <a:solidFill>
                  <a:srgbClr val="1A1E2A"/>
                </a:solidFill>
              </a:rPr>
              <a:t>S&amp;P’de zero-shot NLI modelleri fine-tuned modellerin belirgin biçimde gerisinde kaldı.</a:t>
            </a:r>
            <a:endParaRPr sz="1630"/>
          </a:p>
        </p:txBody>
      </p:sp>
      <p:sp>
        <p:nvSpPr>
          <p:cNvPr id="10" name="Shape 8">
            <a:extLst>
              <a:ext uri="{FF2B5EF4-FFF2-40B4-BE49-F238E27FC236}">
                <a16:creationId xmlns:a16="http://schemas.microsoft.com/office/drawing/2014/main" id="{969C18AF-51F3-4818-A8A2-AB403D525684}"/>
              </a:ext>
            </a:extLst>
          </p:cNvPr>
          <p:cNvSpPr>
            <a:spLocks noGrp="1"/>
          </p:cNvSpPr>
          <p:nvPr/>
        </p:nvSpPr>
        <p:spPr>
          <a:xfrm>
            <a:off x="914400" y="4800600"/>
            <a:ext cx="10149840" cy="685800"/>
          </a:xfrm>
          <a:prstGeom prst="roundRect">
            <a:avLst>
              <a:gd name="adj" fmla="val 10667"/>
            </a:avLst>
          </a:prstGeom>
          <a:solidFill>
            <a:srgbClr val="F0FAF8"/>
          </a:solidFill>
          <a:ln w="15240">
            <a:solidFill>
              <a:srgbClr val="D64545"/>
            </a:solidFill>
            <a:prstDash val="solid"/>
          </a:ln>
        </p:spPr>
      </p:sp>
      <p:sp>
        <p:nvSpPr>
          <p:cNvPr id="11" name="Text 9">
            <a:extLst>
              <a:ext uri="{FF2B5EF4-FFF2-40B4-BE49-F238E27FC236}">
                <a16:creationId xmlns:a16="http://schemas.microsoft.com/office/drawing/2014/main" id="{205A8FDC-3232-4919-A6D6-EA3B6A447528}"/>
              </a:ext>
            </a:extLst>
          </p:cNvPr>
          <p:cNvSpPr>
            <a:spLocks noGrp="1"/>
          </p:cNvSpPr>
          <p:nvPr/>
        </p:nvSpPr>
        <p:spPr>
          <a:xfrm>
            <a:off x="1078992" y="4946904"/>
            <a:ext cx="9820656" cy="457200"/>
          </a:xfrm>
          <a:prstGeom prst="rect">
            <a:avLst/>
          </a:prstGeom>
          <a:noFill/>
        </p:spPr>
        <p:txBody>
          <a:bodyPr wrap="square" lIns="254" tIns="254" rIns="254" bIns="254" anchor="ctr">
            <a:normAutofit/>
          </a:bodyPr>
          <a:lstStyle/>
          <a:p>
            <a:pPr marL="0" indent="0">
              <a:buNone/>
            </a:pPr>
            <a:r>
              <a:rPr sz="1500" b="1">
                <a:solidFill>
                  <a:srgbClr val="172033"/>
                </a:solidFill>
              </a:rPr>
              <a:t>Sentetik veri yüksek skor verdi; gerçek dünya genellemesi için Reuters/S&amp;P gibi dış testler daha belirleyici oldu.</a:t>
            </a:r>
            <a:endParaRPr sz="1500"/>
          </a:p>
        </p:txBody>
      </p:sp>
      <p:sp>
        <p:nvSpPr>
          <p:cNvPr id="12" name="Text 10">
            <a:extLst>
              <a:ext uri="{FF2B5EF4-FFF2-40B4-BE49-F238E27FC236}">
                <a16:creationId xmlns:a16="http://schemas.microsoft.com/office/drawing/2014/main" id="{C864D9C4-22CE-4F9E-8600-AA5A40240636}"/>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3" name="Text 11">
            <a:extLst>
              <a:ext uri="{FF2B5EF4-FFF2-40B4-BE49-F238E27FC236}">
                <a16:creationId xmlns:a16="http://schemas.microsoft.com/office/drawing/2014/main" id="{53991D0A-7A7D-4D36-8297-4BEE1FAD9D1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26</a:t>
            </a:r>
            <a:endParaRPr sz="850"/>
          </a:p>
        </p:txBody>
      </p:sp>
      <p:sp>
        <p:nvSpPr>
          <p:cNvPr id="14" name="Shape 12">
            <a:extLst>
              <a:ext uri="{FF2B5EF4-FFF2-40B4-BE49-F238E27FC236}">
                <a16:creationId xmlns:a16="http://schemas.microsoft.com/office/drawing/2014/main" id="{12551F0E-BC46-41BA-A099-5389CC41A8A1}"/>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235447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33414C-5EA8-4916-A67A-CCEDD388E75C}"/>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Verimlilik: doğruluk-maliyet dengesi</a:t>
            </a:r>
            <a:endParaRPr sz="3100"/>
          </a:p>
        </p:txBody>
      </p:sp>
      <p:sp>
        <p:nvSpPr>
          <p:cNvPr id="3" name="Text 1">
            <a:extLst>
              <a:ext uri="{FF2B5EF4-FFF2-40B4-BE49-F238E27FC236}">
                <a16:creationId xmlns:a16="http://schemas.microsoft.com/office/drawing/2014/main" id="{A2E53FCD-E604-49C5-A82E-9FEECA7617B4}"/>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En yüksek F1 ile en hızlı model aynı olmak zorunda değil.</a:t>
            </a:r>
            <a:endParaRPr sz="1450"/>
          </a:p>
        </p:txBody>
      </p:sp>
      <p:sp>
        <p:nvSpPr>
          <p:cNvPr id="4" name="Text 2">
            <a:extLst>
              <a:ext uri="{FF2B5EF4-FFF2-40B4-BE49-F238E27FC236}">
                <a16:creationId xmlns:a16="http://schemas.microsoft.com/office/drawing/2014/main" id="{C450FC1B-02F4-4981-B0DC-FA1E336B488C}"/>
              </a:ext>
            </a:extLst>
          </p:cNvPr>
          <p:cNvSpPr>
            <a:spLocks noGrp="1"/>
          </p:cNvSpPr>
          <p:nvPr/>
        </p:nvSpPr>
        <p:spPr>
          <a:xfrm>
            <a:off x="914400" y="1600200"/>
            <a:ext cx="2286000" cy="274320"/>
          </a:xfrm>
          <a:prstGeom prst="rect">
            <a:avLst/>
          </a:prstGeom>
          <a:noFill/>
        </p:spPr>
        <p:txBody>
          <a:bodyPr wrap="square" lIns="0" tIns="0" rIns="0" bIns="0" anchor="ctr"/>
          <a:lstStyle/>
          <a:p>
            <a:pPr marL="0" indent="0">
              <a:buNone/>
            </a:pPr>
            <a:r>
              <a:rPr sz="2000" b="1">
                <a:solidFill>
                  <a:srgbClr val="172033"/>
                </a:solidFill>
              </a:rPr>
              <a:t>BERT</a:t>
            </a:r>
            <a:endParaRPr sz="2000"/>
          </a:p>
        </p:txBody>
      </p:sp>
      <p:sp>
        <p:nvSpPr>
          <p:cNvPr id="5" name="Text 3">
            <a:extLst>
              <a:ext uri="{FF2B5EF4-FFF2-40B4-BE49-F238E27FC236}">
                <a16:creationId xmlns:a16="http://schemas.microsoft.com/office/drawing/2014/main" id="{CB199ED7-47D6-4763-92FD-D8795E39F1E0}"/>
              </a:ext>
            </a:extLst>
          </p:cNvPr>
          <p:cNvSpPr>
            <a:spLocks noGrp="1"/>
          </p:cNvSpPr>
          <p:nvPr/>
        </p:nvSpPr>
        <p:spPr>
          <a:xfrm>
            <a:off x="914400" y="2057400"/>
            <a:ext cx="1920240" cy="548640"/>
          </a:xfrm>
          <a:prstGeom prst="rect">
            <a:avLst/>
          </a:prstGeom>
          <a:noFill/>
        </p:spPr>
        <p:txBody>
          <a:bodyPr wrap="square" lIns="0" tIns="0" rIns="0" bIns="0" anchor="ctr"/>
          <a:lstStyle/>
          <a:p>
            <a:pPr marL="0" indent="0">
              <a:buNone/>
            </a:pPr>
            <a:r>
              <a:rPr sz="3800" b="1">
                <a:solidFill>
                  <a:srgbClr val="3867D6"/>
                </a:solidFill>
              </a:rPr>
              <a:t>31.4</a:t>
            </a:r>
            <a:endParaRPr sz="3800"/>
          </a:p>
        </p:txBody>
      </p:sp>
      <p:sp>
        <p:nvSpPr>
          <p:cNvPr id="6" name="Text 4">
            <a:extLst>
              <a:ext uri="{FF2B5EF4-FFF2-40B4-BE49-F238E27FC236}">
                <a16:creationId xmlns:a16="http://schemas.microsoft.com/office/drawing/2014/main" id="{166F939B-C733-4571-AA62-FE9E87494AB2}"/>
              </a:ext>
            </a:extLst>
          </p:cNvPr>
          <p:cNvSpPr>
            <a:spLocks noGrp="1"/>
          </p:cNvSpPr>
          <p:nvPr/>
        </p:nvSpPr>
        <p:spPr>
          <a:xfrm>
            <a:off x="3063240" y="2240280"/>
            <a:ext cx="1005840" cy="182880"/>
          </a:xfrm>
          <a:prstGeom prst="rect">
            <a:avLst/>
          </a:prstGeom>
          <a:noFill/>
        </p:spPr>
        <p:txBody>
          <a:bodyPr wrap="square" lIns="0" tIns="0" rIns="0" bIns="0" anchor="ctr"/>
          <a:lstStyle/>
          <a:p>
            <a:pPr marL="0" indent="0">
              <a:buNone/>
            </a:pPr>
            <a:r>
              <a:rPr sz="1400">
                <a:solidFill>
                  <a:srgbClr val="5E6A7D"/>
                </a:solidFill>
              </a:rPr>
              <a:t>örnek/s</a:t>
            </a:r>
            <a:endParaRPr sz="1400"/>
          </a:p>
        </p:txBody>
      </p:sp>
      <p:sp>
        <p:nvSpPr>
          <p:cNvPr id="7" name="Text 5">
            <a:extLst>
              <a:ext uri="{FF2B5EF4-FFF2-40B4-BE49-F238E27FC236}">
                <a16:creationId xmlns:a16="http://schemas.microsoft.com/office/drawing/2014/main" id="{9DE9D34B-AC4B-45E4-ABF5-586369F07446}"/>
              </a:ext>
            </a:extLst>
          </p:cNvPr>
          <p:cNvSpPr>
            <a:spLocks noGrp="1"/>
          </p:cNvSpPr>
          <p:nvPr/>
        </p:nvSpPr>
        <p:spPr>
          <a:xfrm>
            <a:off x="6400800" y="1600200"/>
            <a:ext cx="2286000" cy="274320"/>
          </a:xfrm>
          <a:prstGeom prst="rect">
            <a:avLst/>
          </a:prstGeom>
          <a:noFill/>
        </p:spPr>
        <p:txBody>
          <a:bodyPr wrap="square" lIns="0" tIns="0" rIns="0" bIns="0" anchor="ctr"/>
          <a:lstStyle/>
          <a:p>
            <a:pPr marL="0" indent="0">
              <a:buNone/>
            </a:pPr>
            <a:r>
              <a:rPr sz="2000" b="1">
                <a:solidFill>
                  <a:srgbClr val="172033"/>
                </a:solidFill>
              </a:rPr>
              <a:t>DistilBERT</a:t>
            </a:r>
            <a:endParaRPr sz="2000"/>
          </a:p>
        </p:txBody>
      </p:sp>
      <p:sp>
        <p:nvSpPr>
          <p:cNvPr id="8" name="Text 6">
            <a:extLst>
              <a:ext uri="{FF2B5EF4-FFF2-40B4-BE49-F238E27FC236}">
                <a16:creationId xmlns:a16="http://schemas.microsoft.com/office/drawing/2014/main" id="{E783C5FA-E901-4196-96C2-7ACE32009641}"/>
              </a:ext>
            </a:extLst>
          </p:cNvPr>
          <p:cNvSpPr>
            <a:spLocks noGrp="1"/>
          </p:cNvSpPr>
          <p:nvPr/>
        </p:nvSpPr>
        <p:spPr>
          <a:xfrm>
            <a:off x="6400800" y="2057400"/>
            <a:ext cx="1920240" cy="548640"/>
          </a:xfrm>
          <a:prstGeom prst="rect">
            <a:avLst/>
          </a:prstGeom>
          <a:noFill/>
        </p:spPr>
        <p:txBody>
          <a:bodyPr wrap="square" lIns="0" tIns="0" rIns="0" bIns="0" anchor="ctr"/>
          <a:lstStyle/>
          <a:p>
            <a:pPr marL="0" indent="0">
              <a:buNone/>
            </a:pPr>
            <a:r>
              <a:rPr sz="3800" b="1">
                <a:solidFill>
                  <a:srgbClr val="1C8B5A"/>
                </a:solidFill>
              </a:rPr>
              <a:t>70.3</a:t>
            </a:r>
            <a:endParaRPr sz="3800"/>
          </a:p>
        </p:txBody>
      </p:sp>
      <p:sp>
        <p:nvSpPr>
          <p:cNvPr id="9" name="Text 7">
            <a:extLst>
              <a:ext uri="{FF2B5EF4-FFF2-40B4-BE49-F238E27FC236}">
                <a16:creationId xmlns:a16="http://schemas.microsoft.com/office/drawing/2014/main" id="{8631A75C-062A-46D8-B886-5E6C7F5AE8B3}"/>
              </a:ext>
            </a:extLst>
          </p:cNvPr>
          <p:cNvSpPr>
            <a:spLocks noGrp="1"/>
          </p:cNvSpPr>
          <p:nvPr/>
        </p:nvSpPr>
        <p:spPr>
          <a:xfrm>
            <a:off x="8549640" y="2240280"/>
            <a:ext cx="1005840" cy="182880"/>
          </a:xfrm>
          <a:prstGeom prst="rect">
            <a:avLst/>
          </a:prstGeom>
          <a:noFill/>
        </p:spPr>
        <p:txBody>
          <a:bodyPr wrap="square" lIns="0" tIns="0" rIns="0" bIns="0" anchor="ctr"/>
          <a:lstStyle/>
          <a:p>
            <a:pPr marL="0" indent="0">
              <a:buNone/>
            </a:pPr>
            <a:r>
              <a:rPr sz="1400">
                <a:solidFill>
                  <a:srgbClr val="5E6A7D"/>
                </a:solidFill>
              </a:rPr>
              <a:t>örnek/s</a:t>
            </a:r>
            <a:endParaRPr sz="1400"/>
          </a:p>
        </p:txBody>
      </p:sp>
      <p:sp>
        <p:nvSpPr>
          <p:cNvPr id="10" name="Shape 8">
            <a:extLst>
              <a:ext uri="{FF2B5EF4-FFF2-40B4-BE49-F238E27FC236}">
                <a16:creationId xmlns:a16="http://schemas.microsoft.com/office/drawing/2014/main" id="{F972AD44-D0FC-4CB8-B9ED-724A1BC910B3}"/>
              </a:ext>
            </a:extLst>
          </p:cNvPr>
          <p:cNvSpPr>
            <a:spLocks noGrp="1"/>
          </p:cNvSpPr>
          <p:nvPr/>
        </p:nvSpPr>
        <p:spPr>
          <a:xfrm>
            <a:off x="914400" y="3749040"/>
            <a:ext cx="10058400" cy="731520"/>
          </a:xfrm>
          <a:prstGeom prst="roundRect">
            <a:avLst>
              <a:gd name="adj" fmla="val 10000"/>
            </a:avLst>
          </a:prstGeom>
          <a:solidFill>
            <a:srgbClr val="F0FAF8"/>
          </a:solidFill>
          <a:ln w="15240">
            <a:solidFill>
              <a:srgbClr val="0F9D8F"/>
            </a:solidFill>
            <a:prstDash val="solid"/>
          </a:ln>
        </p:spPr>
      </p:sp>
      <p:sp>
        <p:nvSpPr>
          <p:cNvPr id="11" name="Text 9">
            <a:extLst>
              <a:ext uri="{FF2B5EF4-FFF2-40B4-BE49-F238E27FC236}">
                <a16:creationId xmlns:a16="http://schemas.microsoft.com/office/drawing/2014/main" id="{ED58DFDA-D3B5-4E4A-A412-327C974CE11B}"/>
              </a:ext>
            </a:extLst>
          </p:cNvPr>
          <p:cNvSpPr>
            <a:spLocks noGrp="1"/>
          </p:cNvSpPr>
          <p:nvPr/>
        </p:nvSpPr>
        <p:spPr>
          <a:xfrm>
            <a:off x="1078992" y="3895344"/>
            <a:ext cx="9729216" cy="502920"/>
          </a:xfrm>
          <a:prstGeom prst="rect">
            <a:avLst/>
          </a:prstGeom>
          <a:noFill/>
        </p:spPr>
        <p:txBody>
          <a:bodyPr wrap="square" lIns="254" tIns="254" rIns="254" bIns="254" anchor="ctr">
            <a:normAutofit/>
          </a:bodyPr>
          <a:lstStyle/>
          <a:p>
            <a:pPr marL="0" indent="0">
              <a:buNone/>
            </a:pPr>
            <a:r>
              <a:rPr sz="1500" b="1">
                <a:solidFill>
                  <a:srgbClr val="172033"/>
                </a:solidFill>
              </a:rPr>
              <a:t>DistilBERT yaklaşık 2.24× daha hızlı; RoBERTa ise doğruluk tarafında öne çıktı.</a:t>
            </a:r>
            <a:endParaRPr sz="1500"/>
          </a:p>
        </p:txBody>
      </p:sp>
      <p:sp>
        <p:nvSpPr>
          <p:cNvPr id="12" name="Text 10">
            <a:extLst>
              <a:ext uri="{FF2B5EF4-FFF2-40B4-BE49-F238E27FC236}">
                <a16:creationId xmlns:a16="http://schemas.microsoft.com/office/drawing/2014/main" id="{DE39AFCF-839F-4925-BF24-5830CD876B13}"/>
              </a:ext>
            </a:extLst>
          </p:cNvPr>
          <p:cNvSpPr>
            <a:spLocks noGrp="1"/>
          </p:cNvSpPr>
          <p:nvPr/>
        </p:nvSpPr>
        <p:spPr>
          <a:xfrm>
            <a:off x="914400" y="4892040"/>
            <a:ext cx="9601200" cy="868680"/>
          </a:xfrm>
          <a:prstGeom prst="rect">
            <a:avLst/>
          </a:prstGeom>
          <a:noFill/>
        </p:spPr>
        <p:txBody>
          <a:bodyPr wrap="square" lIns="635" tIns="635" rIns="635" bIns="635" anchor="ctr">
            <a:normAutofit/>
          </a:bodyPr>
          <a:lstStyle/>
          <a:p>
            <a:r>
              <a:rPr sz="1550">
                <a:solidFill>
                  <a:srgbClr val="1A1E2A"/>
                </a:solidFill>
              </a:rPr>
              <a:t>Araştırma sonucunda tek seçim kriteri F1 olmamalı.</a:t>
            </a:r>
            <a:endParaRPr sz="1550"/>
          </a:p>
          <a:p>
            <a:r>
              <a:rPr sz="1550">
                <a:solidFill>
                  <a:srgbClr val="1A1E2A"/>
                </a:solidFill>
              </a:rPr>
              <a:t>Canlı sistemlerde latency, throughput ve kaynak maliyeti de önemlidir.</a:t>
            </a:r>
            <a:endParaRPr sz="1550"/>
          </a:p>
          <a:p>
            <a:r>
              <a:rPr sz="1550">
                <a:solidFill>
                  <a:srgbClr val="1A1E2A"/>
                </a:solidFill>
              </a:rPr>
              <a:t>Bu nedenle doğruluk-verimlilik dengesi ayrıca raporlandı.</a:t>
            </a:r>
            <a:endParaRPr sz="1550"/>
          </a:p>
        </p:txBody>
      </p:sp>
      <p:sp>
        <p:nvSpPr>
          <p:cNvPr id="13" name="Text 11">
            <a:extLst>
              <a:ext uri="{FF2B5EF4-FFF2-40B4-BE49-F238E27FC236}">
                <a16:creationId xmlns:a16="http://schemas.microsoft.com/office/drawing/2014/main" id="{A09633AF-8AF7-4B49-A9C1-533D15298DDD}"/>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14" name="Text 12">
            <a:extLst>
              <a:ext uri="{FF2B5EF4-FFF2-40B4-BE49-F238E27FC236}">
                <a16:creationId xmlns:a16="http://schemas.microsoft.com/office/drawing/2014/main" id="{4184D116-0C8F-4017-8751-279AAC8FD08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27</a:t>
            </a:r>
            <a:endParaRPr sz="850"/>
          </a:p>
        </p:txBody>
      </p:sp>
      <p:sp>
        <p:nvSpPr>
          <p:cNvPr id="15" name="Shape 13">
            <a:extLst>
              <a:ext uri="{FF2B5EF4-FFF2-40B4-BE49-F238E27FC236}">
                <a16:creationId xmlns:a16="http://schemas.microsoft.com/office/drawing/2014/main" id="{3A9508F3-9473-4962-8C13-77C4B13FBA27}"/>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772733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554C113-C0B9-4C40-946E-9592C480C7C5}"/>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SONUÇ ve GELECEK ÇALIŞMA »</a:t>
            </a:r>
            <a:endParaRPr sz="3600"/>
          </a:p>
        </p:txBody>
      </p:sp>
      <p:sp>
        <p:nvSpPr>
          <p:cNvPr id="3" name="Text 1">
            <a:extLst>
              <a:ext uri="{FF2B5EF4-FFF2-40B4-BE49-F238E27FC236}">
                <a16:creationId xmlns:a16="http://schemas.microsoft.com/office/drawing/2014/main" id="{E3ED7DED-2BB6-44F4-A9A0-8E5EF12E4794}"/>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Ana mesaj, sınırlılıklar ve gelecek çalışma adımları</a:t>
            </a:r>
            <a:endParaRPr sz="1800"/>
          </a:p>
        </p:txBody>
      </p:sp>
      <p:sp>
        <p:nvSpPr>
          <p:cNvPr id="4" name="Text 2">
            <a:extLst>
              <a:ext uri="{FF2B5EF4-FFF2-40B4-BE49-F238E27FC236}">
                <a16:creationId xmlns:a16="http://schemas.microsoft.com/office/drawing/2014/main" id="{BF763ACD-D12F-4082-8F13-5D6E701C200D}"/>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B680A605-A869-41CB-BF36-FB746823903B}"/>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28</a:t>
            </a:r>
            <a:endParaRPr sz="850"/>
          </a:p>
        </p:txBody>
      </p:sp>
      <p:sp>
        <p:nvSpPr>
          <p:cNvPr id="6" name="Shape 4">
            <a:extLst>
              <a:ext uri="{FF2B5EF4-FFF2-40B4-BE49-F238E27FC236}">
                <a16:creationId xmlns:a16="http://schemas.microsoft.com/office/drawing/2014/main" id="{FC0CEA2E-6FB4-4551-BCDF-358BDFDA2974}"/>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499056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5FD0007-A92F-49A8-B91E-C75F5B3BEEE5}"/>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Ana sonuçlar</a:t>
            </a:r>
            <a:endParaRPr sz="3100"/>
          </a:p>
        </p:txBody>
      </p:sp>
      <p:sp>
        <p:nvSpPr>
          <p:cNvPr id="3" name="Text 1">
            <a:extLst>
              <a:ext uri="{FF2B5EF4-FFF2-40B4-BE49-F238E27FC236}">
                <a16:creationId xmlns:a16="http://schemas.microsoft.com/office/drawing/2014/main" id="{00617CEB-B8AF-44F1-A63F-F44ECAA4D54E}"/>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Çalışmanın tek parça halinde yorumu.</a:t>
            </a:r>
            <a:endParaRPr sz="1450"/>
          </a:p>
        </p:txBody>
      </p:sp>
      <p:sp>
        <p:nvSpPr>
          <p:cNvPr id="4" name="Shape 2">
            <a:extLst>
              <a:ext uri="{FF2B5EF4-FFF2-40B4-BE49-F238E27FC236}">
                <a16:creationId xmlns:a16="http://schemas.microsoft.com/office/drawing/2014/main" id="{C62B415E-5F81-43FD-8104-3468C8B5173F}"/>
              </a:ext>
            </a:extLst>
          </p:cNvPr>
          <p:cNvSpPr>
            <a:spLocks noGrp="1"/>
          </p:cNvSpPr>
          <p:nvPr/>
        </p:nvSpPr>
        <p:spPr>
          <a:xfrm>
            <a:off x="777240" y="1307592"/>
            <a:ext cx="457200" cy="329184"/>
          </a:xfrm>
          <a:prstGeom prst="roundRect">
            <a:avLst>
              <a:gd name="adj" fmla="val 22222"/>
            </a:avLst>
          </a:prstGeom>
          <a:solidFill>
            <a:srgbClr val="3867D6"/>
          </a:solidFill>
          <a:ln w="12700">
            <a:solidFill>
              <a:srgbClr val="3867D6"/>
            </a:solidFill>
            <a:prstDash val="solid"/>
          </a:ln>
        </p:spPr>
      </p:sp>
      <p:sp>
        <p:nvSpPr>
          <p:cNvPr id="5" name="Text 3">
            <a:extLst>
              <a:ext uri="{FF2B5EF4-FFF2-40B4-BE49-F238E27FC236}">
                <a16:creationId xmlns:a16="http://schemas.microsoft.com/office/drawing/2014/main" id="{71B67E1C-F097-4D34-BA5A-F37BE1D1E9BA}"/>
              </a:ext>
            </a:extLst>
          </p:cNvPr>
          <p:cNvSpPr>
            <a:spLocks noGrp="1"/>
          </p:cNvSpPr>
          <p:nvPr/>
        </p:nvSpPr>
        <p:spPr>
          <a:xfrm>
            <a:off x="850392" y="1371600"/>
            <a:ext cx="310896" cy="164592"/>
          </a:xfrm>
          <a:prstGeom prst="rect">
            <a:avLst/>
          </a:prstGeom>
          <a:noFill/>
        </p:spPr>
        <p:txBody>
          <a:bodyPr wrap="square" lIns="0" tIns="0" rIns="0" bIns="0" anchor="ctr"/>
          <a:lstStyle/>
          <a:p>
            <a:pPr marL="0" indent="0" algn="ctr">
              <a:buNone/>
            </a:pPr>
            <a:r>
              <a:rPr sz="1050" b="1">
                <a:solidFill>
                  <a:srgbClr val="FFFFFF"/>
                </a:solidFill>
              </a:rPr>
              <a:t>1</a:t>
            </a:r>
            <a:endParaRPr sz="1050"/>
          </a:p>
        </p:txBody>
      </p:sp>
      <p:sp>
        <p:nvSpPr>
          <p:cNvPr id="6" name="Text 4">
            <a:extLst>
              <a:ext uri="{FF2B5EF4-FFF2-40B4-BE49-F238E27FC236}">
                <a16:creationId xmlns:a16="http://schemas.microsoft.com/office/drawing/2014/main" id="{5E0BCBC9-2C98-49B0-A6F7-DF3635376230}"/>
              </a:ext>
            </a:extLst>
          </p:cNvPr>
          <p:cNvSpPr>
            <a:spLocks noGrp="1"/>
          </p:cNvSpPr>
          <p:nvPr/>
        </p:nvSpPr>
        <p:spPr>
          <a:xfrm>
            <a:off x="1463040" y="1234440"/>
            <a:ext cx="7955280" cy="256032"/>
          </a:xfrm>
          <a:prstGeom prst="rect">
            <a:avLst/>
          </a:prstGeom>
          <a:noFill/>
        </p:spPr>
        <p:txBody>
          <a:bodyPr wrap="square" lIns="0" tIns="0" rIns="0" bIns="0" anchor="ctr">
            <a:normAutofit lnSpcReduction="10000"/>
          </a:bodyPr>
          <a:lstStyle/>
          <a:p>
            <a:pPr marL="0" indent="0">
              <a:buNone/>
            </a:pPr>
            <a:r>
              <a:rPr sz="1750" b="1">
                <a:solidFill>
                  <a:srgbClr val="172033"/>
                </a:solidFill>
              </a:rPr>
              <a:t>Finans alanına özel pretrained model olmak tek başına yeterli değildir.</a:t>
            </a:r>
            <a:endParaRPr sz="1750"/>
          </a:p>
        </p:txBody>
      </p:sp>
      <p:sp>
        <p:nvSpPr>
          <p:cNvPr id="7" name="Text 5">
            <a:extLst>
              <a:ext uri="{FF2B5EF4-FFF2-40B4-BE49-F238E27FC236}">
                <a16:creationId xmlns:a16="http://schemas.microsoft.com/office/drawing/2014/main" id="{1F75DDFA-5499-49BB-8F6B-BB1DA2A4207A}"/>
              </a:ext>
            </a:extLst>
          </p:cNvPr>
          <p:cNvSpPr>
            <a:spLocks noGrp="1"/>
          </p:cNvSpPr>
          <p:nvPr/>
        </p:nvSpPr>
        <p:spPr>
          <a:xfrm>
            <a:off x="1463040" y="1618488"/>
            <a:ext cx="9052560" cy="228600"/>
          </a:xfrm>
          <a:prstGeom prst="rect">
            <a:avLst/>
          </a:prstGeom>
          <a:noFill/>
        </p:spPr>
        <p:txBody>
          <a:bodyPr wrap="square" lIns="0" tIns="0" rIns="0" bIns="0" anchor="ctr">
            <a:normAutofit/>
          </a:bodyPr>
          <a:lstStyle/>
          <a:p>
            <a:r>
              <a:rPr sz="1450" dirty="0">
                <a:solidFill>
                  <a:srgbClr val="5E6A7D"/>
                </a:solidFill>
              </a:rPr>
              <a:t>Original </a:t>
            </a:r>
            <a:r>
              <a:rPr sz="1450" dirty="0" err="1">
                <a:solidFill>
                  <a:srgbClr val="5E6A7D"/>
                </a:solidFill>
              </a:rPr>
              <a:t>FinBERT</a:t>
            </a:r>
            <a:r>
              <a:rPr sz="1450" dirty="0">
                <a:solidFill>
                  <a:srgbClr val="5E6A7D"/>
                </a:solidFill>
              </a:rPr>
              <a:t> baseline </a:t>
            </a:r>
            <a:r>
              <a:rPr sz="1450" dirty="0" err="1">
                <a:solidFill>
                  <a:srgbClr val="5E6A7D"/>
                </a:solidFill>
              </a:rPr>
              <a:t>sonucu</a:t>
            </a:r>
            <a:r>
              <a:rPr sz="1450" dirty="0">
                <a:solidFill>
                  <a:srgbClr val="5E6A7D"/>
                </a:solidFill>
              </a:rPr>
              <a:t> </a:t>
            </a:r>
            <a:r>
              <a:rPr sz="1450" dirty="0" err="1">
                <a:solidFill>
                  <a:srgbClr val="5E6A7D"/>
                </a:solidFill>
              </a:rPr>
              <a:t>bunu</a:t>
            </a:r>
            <a:r>
              <a:rPr sz="1450" dirty="0">
                <a:solidFill>
                  <a:srgbClr val="5E6A7D"/>
                </a:solidFill>
              </a:rPr>
              <a:t>.</a:t>
            </a:r>
            <a:r>
              <a:rPr lang="en-US" sz="1450" dirty="0">
                <a:solidFill>
                  <a:srgbClr val="5E6A7D"/>
                </a:solidFill>
              </a:rPr>
              <a:t> </a:t>
            </a:r>
            <a:r>
              <a:rPr lang="en-US" sz="1450" dirty="0" err="1">
                <a:solidFill>
                  <a:srgbClr val="5E6A7D"/>
                </a:solidFill>
              </a:rPr>
              <a:t>Gösterdi</a:t>
            </a:r>
            <a:r>
              <a:rPr lang="en-US" sz="1450" dirty="0">
                <a:solidFill>
                  <a:srgbClr val="5E6A7D"/>
                </a:solidFill>
              </a:rPr>
              <a:t>?????</a:t>
            </a:r>
            <a:endParaRPr sz="1450" dirty="0"/>
          </a:p>
        </p:txBody>
      </p:sp>
      <p:sp>
        <p:nvSpPr>
          <p:cNvPr id="8" name="Shape 6">
            <a:extLst>
              <a:ext uri="{FF2B5EF4-FFF2-40B4-BE49-F238E27FC236}">
                <a16:creationId xmlns:a16="http://schemas.microsoft.com/office/drawing/2014/main" id="{391C8E35-0D20-43B6-84EE-A304E62D72DF}"/>
              </a:ext>
            </a:extLst>
          </p:cNvPr>
          <p:cNvSpPr>
            <a:spLocks noGrp="1"/>
          </p:cNvSpPr>
          <p:nvPr/>
        </p:nvSpPr>
        <p:spPr>
          <a:xfrm>
            <a:off x="777240" y="2267712"/>
            <a:ext cx="457200" cy="329184"/>
          </a:xfrm>
          <a:prstGeom prst="roundRect">
            <a:avLst>
              <a:gd name="adj" fmla="val 22222"/>
            </a:avLst>
          </a:prstGeom>
          <a:solidFill>
            <a:srgbClr val="0F9D8F"/>
          </a:solidFill>
          <a:ln w="12700">
            <a:solidFill>
              <a:srgbClr val="0F9D8F"/>
            </a:solidFill>
            <a:prstDash val="solid"/>
          </a:ln>
        </p:spPr>
      </p:sp>
      <p:sp>
        <p:nvSpPr>
          <p:cNvPr id="9" name="Text 7">
            <a:extLst>
              <a:ext uri="{FF2B5EF4-FFF2-40B4-BE49-F238E27FC236}">
                <a16:creationId xmlns:a16="http://schemas.microsoft.com/office/drawing/2014/main" id="{DB996269-8E04-4972-ACDF-5E84B1615629}"/>
              </a:ext>
            </a:extLst>
          </p:cNvPr>
          <p:cNvSpPr>
            <a:spLocks noGrp="1"/>
          </p:cNvSpPr>
          <p:nvPr/>
        </p:nvSpPr>
        <p:spPr>
          <a:xfrm>
            <a:off x="850392" y="2331720"/>
            <a:ext cx="310896" cy="164592"/>
          </a:xfrm>
          <a:prstGeom prst="rect">
            <a:avLst/>
          </a:prstGeom>
          <a:noFill/>
        </p:spPr>
        <p:txBody>
          <a:bodyPr wrap="square" lIns="0" tIns="0" rIns="0" bIns="0" anchor="ctr"/>
          <a:lstStyle/>
          <a:p>
            <a:pPr marL="0" indent="0" algn="ctr">
              <a:buNone/>
            </a:pPr>
            <a:r>
              <a:rPr sz="1050" b="1">
                <a:solidFill>
                  <a:srgbClr val="FFFFFF"/>
                </a:solidFill>
              </a:rPr>
              <a:t>2</a:t>
            </a:r>
            <a:endParaRPr sz="1050"/>
          </a:p>
        </p:txBody>
      </p:sp>
      <p:sp>
        <p:nvSpPr>
          <p:cNvPr id="10" name="Text 8">
            <a:extLst>
              <a:ext uri="{FF2B5EF4-FFF2-40B4-BE49-F238E27FC236}">
                <a16:creationId xmlns:a16="http://schemas.microsoft.com/office/drawing/2014/main" id="{B02FC23C-EF34-49A6-B026-A11EBE994B93}"/>
              </a:ext>
            </a:extLst>
          </p:cNvPr>
          <p:cNvSpPr>
            <a:spLocks noGrp="1"/>
          </p:cNvSpPr>
          <p:nvPr/>
        </p:nvSpPr>
        <p:spPr>
          <a:xfrm>
            <a:off x="1463040" y="2194560"/>
            <a:ext cx="7955280" cy="256032"/>
          </a:xfrm>
          <a:prstGeom prst="rect">
            <a:avLst/>
          </a:prstGeom>
          <a:noFill/>
        </p:spPr>
        <p:txBody>
          <a:bodyPr wrap="square" lIns="0" tIns="0" rIns="0" bIns="0" anchor="ctr">
            <a:normAutofit lnSpcReduction="10000"/>
          </a:bodyPr>
          <a:lstStyle/>
          <a:p>
            <a:pPr marL="0" indent="0">
              <a:buNone/>
            </a:pPr>
            <a:r>
              <a:rPr sz="1750" b="1">
                <a:solidFill>
                  <a:srgbClr val="172033"/>
                </a:solidFill>
              </a:rPr>
              <a:t>Task-specific fine-tuning iç dağılımda performansı ciddi biçimde artırır.</a:t>
            </a:r>
            <a:endParaRPr sz="1750"/>
          </a:p>
        </p:txBody>
      </p:sp>
      <p:sp>
        <p:nvSpPr>
          <p:cNvPr id="11" name="Text 9">
            <a:extLst>
              <a:ext uri="{FF2B5EF4-FFF2-40B4-BE49-F238E27FC236}">
                <a16:creationId xmlns:a16="http://schemas.microsoft.com/office/drawing/2014/main" id="{5AE4E01D-3FDB-4CB3-AC82-AAE22B6BCA03}"/>
              </a:ext>
            </a:extLst>
          </p:cNvPr>
          <p:cNvSpPr>
            <a:spLocks noGrp="1"/>
          </p:cNvSpPr>
          <p:nvPr/>
        </p:nvSpPr>
        <p:spPr>
          <a:xfrm>
            <a:off x="1463040" y="2578608"/>
            <a:ext cx="9052560" cy="228600"/>
          </a:xfrm>
          <a:prstGeom prst="rect">
            <a:avLst/>
          </a:prstGeom>
          <a:noFill/>
        </p:spPr>
        <p:txBody>
          <a:bodyPr wrap="square" lIns="0" tIns="0" rIns="0" bIns="0" anchor="ctr">
            <a:normAutofit/>
          </a:bodyPr>
          <a:lstStyle/>
          <a:p>
            <a:pPr marL="0" indent="0">
              <a:buNone/>
            </a:pPr>
            <a:r>
              <a:rPr sz="1450">
                <a:solidFill>
                  <a:srgbClr val="5E6A7D"/>
                </a:solidFill>
              </a:rPr>
              <a:t>FinBERT 0.6794’ten 0.8512’ye çıktı.</a:t>
            </a:r>
            <a:endParaRPr sz="1450"/>
          </a:p>
        </p:txBody>
      </p:sp>
      <p:sp>
        <p:nvSpPr>
          <p:cNvPr id="12" name="Shape 10">
            <a:extLst>
              <a:ext uri="{FF2B5EF4-FFF2-40B4-BE49-F238E27FC236}">
                <a16:creationId xmlns:a16="http://schemas.microsoft.com/office/drawing/2014/main" id="{C1719AA1-8925-4BFE-8C47-73ACA38788B2}"/>
              </a:ext>
            </a:extLst>
          </p:cNvPr>
          <p:cNvSpPr>
            <a:spLocks noGrp="1"/>
          </p:cNvSpPr>
          <p:nvPr/>
        </p:nvSpPr>
        <p:spPr>
          <a:xfrm>
            <a:off x="777240" y="3227832"/>
            <a:ext cx="457200" cy="329184"/>
          </a:xfrm>
          <a:prstGeom prst="roundRect">
            <a:avLst>
              <a:gd name="adj" fmla="val 22222"/>
            </a:avLst>
          </a:prstGeom>
          <a:solidFill>
            <a:srgbClr val="D64545"/>
          </a:solidFill>
          <a:ln w="12700">
            <a:solidFill>
              <a:srgbClr val="D64545"/>
            </a:solidFill>
            <a:prstDash val="solid"/>
          </a:ln>
        </p:spPr>
      </p:sp>
      <p:sp>
        <p:nvSpPr>
          <p:cNvPr id="13" name="Text 11">
            <a:extLst>
              <a:ext uri="{FF2B5EF4-FFF2-40B4-BE49-F238E27FC236}">
                <a16:creationId xmlns:a16="http://schemas.microsoft.com/office/drawing/2014/main" id="{9BDA1EE9-0E5A-48ED-A5F8-98A46A0D17DB}"/>
              </a:ext>
            </a:extLst>
          </p:cNvPr>
          <p:cNvSpPr>
            <a:spLocks noGrp="1"/>
          </p:cNvSpPr>
          <p:nvPr/>
        </p:nvSpPr>
        <p:spPr>
          <a:xfrm>
            <a:off x="850392" y="3291840"/>
            <a:ext cx="310896" cy="164592"/>
          </a:xfrm>
          <a:prstGeom prst="rect">
            <a:avLst/>
          </a:prstGeom>
          <a:noFill/>
        </p:spPr>
        <p:txBody>
          <a:bodyPr wrap="square" lIns="0" tIns="0" rIns="0" bIns="0" anchor="ctr"/>
          <a:lstStyle/>
          <a:p>
            <a:pPr marL="0" indent="0" algn="ctr">
              <a:buNone/>
            </a:pPr>
            <a:r>
              <a:rPr sz="1050" b="1">
                <a:solidFill>
                  <a:srgbClr val="FFFFFF"/>
                </a:solidFill>
              </a:rPr>
              <a:t>3</a:t>
            </a:r>
            <a:endParaRPr sz="1050"/>
          </a:p>
        </p:txBody>
      </p:sp>
      <p:sp>
        <p:nvSpPr>
          <p:cNvPr id="14" name="Text 12">
            <a:extLst>
              <a:ext uri="{FF2B5EF4-FFF2-40B4-BE49-F238E27FC236}">
                <a16:creationId xmlns:a16="http://schemas.microsoft.com/office/drawing/2014/main" id="{73201DCE-956A-402B-814C-3AD8296019AB}"/>
              </a:ext>
            </a:extLst>
          </p:cNvPr>
          <p:cNvSpPr>
            <a:spLocks noGrp="1"/>
          </p:cNvSpPr>
          <p:nvPr/>
        </p:nvSpPr>
        <p:spPr>
          <a:xfrm>
            <a:off x="1463040" y="3154680"/>
            <a:ext cx="7955280" cy="256032"/>
          </a:xfrm>
          <a:prstGeom prst="rect">
            <a:avLst/>
          </a:prstGeom>
          <a:noFill/>
        </p:spPr>
        <p:txBody>
          <a:bodyPr wrap="square" lIns="0" tIns="0" rIns="0" bIns="0" anchor="ctr">
            <a:normAutofit lnSpcReduction="10000"/>
          </a:bodyPr>
          <a:lstStyle/>
          <a:p>
            <a:pPr marL="0" indent="0">
              <a:buNone/>
            </a:pPr>
            <a:r>
              <a:rPr sz="1750" b="1">
                <a:solidFill>
                  <a:srgbClr val="172033"/>
                </a:solidFill>
              </a:rPr>
              <a:t>Ancak iç test başarısı dış genellemeyi garanti etmez.</a:t>
            </a:r>
            <a:endParaRPr sz="1750"/>
          </a:p>
        </p:txBody>
      </p:sp>
      <p:sp>
        <p:nvSpPr>
          <p:cNvPr id="15" name="Text 13">
            <a:extLst>
              <a:ext uri="{FF2B5EF4-FFF2-40B4-BE49-F238E27FC236}">
                <a16:creationId xmlns:a16="http://schemas.microsoft.com/office/drawing/2014/main" id="{7EA078FB-1453-4FB5-A408-DE175D5CF54D}"/>
              </a:ext>
            </a:extLst>
          </p:cNvPr>
          <p:cNvSpPr>
            <a:spLocks noGrp="1"/>
          </p:cNvSpPr>
          <p:nvPr/>
        </p:nvSpPr>
        <p:spPr>
          <a:xfrm>
            <a:off x="1463040" y="3538728"/>
            <a:ext cx="9052560" cy="228600"/>
          </a:xfrm>
          <a:prstGeom prst="rect">
            <a:avLst/>
          </a:prstGeom>
          <a:noFill/>
        </p:spPr>
        <p:txBody>
          <a:bodyPr wrap="square" lIns="0" tIns="0" rIns="0" bIns="0" anchor="ctr">
            <a:normAutofit/>
          </a:bodyPr>
          <a:lstStyle/>
          <a:p>
            <a:pPr marL="0" indent="0">
              <a:buNone/>
            </a:pPr>
            <a:r>
              <a:rPr sz="1450">
                <a:solidFill>
                  <a:srgbClr val="5E6A7D"/>
                </a:solidFill>
              </a:rPr>
              <a:t>Reuters’ta Original FinBERT, fine-tuned FinBERT’i geçti.</a:t>
            </a:r>
            <a:endParaRPr sz="1450"/>
          </a:p>
        </p:txBody>
      </p:sp>
      <p:sp>
        <p:nvSpPr>
          <p:cNvPr id="16" name="Shape 14">
            <a:extLst>
              <a:ext uri="{FF2B5EF4-FFF2-40B4-BE49-F238E27FC236}">
                <a16:creationId xmlns:a16="http://schemas.microsoft.com/office/drawing/2014/main" id="{22122D39-318C-4AB9-85B1-E37F29FCF69F}"/>
              </a:ext>
            </a:extLst>
          </p:cNvPr>
          <p:cNvSpPr>
            <a:spLocks noGrp="1"/>
          </p:cNvSpPr>
          <p:nvPr/>
        </p:nvSpPr>
        <p:spPr>
          <a:xfrm>
            <a:off x="777240" y="4187952"/>
            <a:ext cx="457200" cy="329184"/>
          </a:xfrm>
          <a:prstGeom prst="roundRect">
            <a:avLst>
              <a:gd name="adj" fmla="val 22222"/>
            </a:avLst>
          </a:prstGeom>
          <a:solidFill>
            <a:srgbClr val="F4A62A"/>
          </a:solidFill>
          <a:ln w="12700">
            <a:solidFill>
              <a:srgbClr val="F4A62A"/>
            </a:solidFill>
            <a:prstDash val="solid"/>
          </a:ln>
        </p:spPr>
      </p:sp>
      <p:sp>
        <p:nvSpPr>
          <p:cNvPr id="17" name="Text 15">
            <a:extLst>
              <a:ext uri="{FF2B5EF4-FFF2-40B4-BE49-F238E27FC236}">
                <a16:creationId xmlns:a16="http://schemas.microsoft.com/office/drawing/2014/main" id="{9BAD8F5B-45E7-470E-98AA-CCAFE7E542FC}"/>
              </a:ext>
            </a:extLst>
          </p:cNvPr>
          <p:cNvSpPr>
            <a:spLocks noGrp="1"/>
          </p:cNvSpPr>
          <p:nvPr/>
        </p:nvSpPr>
        <p:spPr>
          <a:xfrm>
            <a:off x="850392" y="4251960"/>
            <a:ext cx="310896" cy="164592"/>
          </a:xfrm>
          <a:prstGeom prst="rect">
            <a:avLst/>
          </a:prstGeom>
          <a:noFill/>
        </p:spPr>
        <p:txBody>
          <a:bodyPr wrap="square" lIns="0" tIns="0" rIns="0" bIns="0" anchor="ctr"/>
          <a:lstStyle/>
          <a:p>
            <a:pPr marL="0" indent="0" algn="ctr">
              <a:buNone/>
            </a:pPr>
            <a:r>
              <a:rPr sz="1050" b="1">
                <a:solidFill>
                  <a:srgbClr val="FFFFFF"/>
                </a:solidFill>
              </a:rPr>
              <a:t>4</a:t>
            </a:r>
            <a:endParaRPr sz="1050"/>
          </a:p>
        </p:txBody>
      </p:sp>
      <p:sp>
        <p:nvSpPr>
          <p:cNvPr id="18" name="Text 16">
            <a:extLst>
              <a:ext uri="{FF2B5EF4-FFF2-40B4-BE49-F238E27FC236}">
                <a16:creationId xmlns:a16="http://schemas.microsoft.com/office/drawing/2014/main" id="{2A6587C6-A6FA-4282-BBBB-0A5C0A74AB23}"/>
              </a:ext>
            </a:extLst>
          </p:cNvPr>
          <p:cNvSpPr>
            <a:spLocks noGrp="1"/>
          </p:cNvSpPr>
          <p:nvPr/>
        </p:nvSpPr>
        <p:spPr>
          <a:xfrm>
            <a:off x="1463040" y="4114800"/>
            <a:ext cx="7955280" cy="256032"/>
          </a:xfrm>
          <a:prstGeom prst="rect">
            <a:avLst/>
          </a:prstGeom>
          <a:noFill/>
        </p:spPr>
        <p:txBody>
          <a:bodyPr wrap="square" lIns="0" tIns="0" rIns="0" bIns="0" anchor="ctr">
            <a:normAutofit lnSpcReduction="10000"/>
          </a:bodyPr>
          <a:lstStyle/>
          <a:p>
            <a:pPr marL="0" indent="0">
              <a:buNone/>
            </a:pPr>
            <a:r>
              <a:rPr sz="1750" b="1">
                <a:solidFill>
                  <a:srgbClr val="172033"/>
                </a:solidFill>
              </a:rPr>
              <a:t>Veri kaynağı ve label semantics performansı doğrudan etkiler.</a:t>
            </a:r>
            <a:endParaRPr sz="1750"/>
          </a:p>
        </p:txBody>
      </p:sp>
      <p:sp>
        <p:nvSpPr>
          <p:cNvPr id="19" name="Text 17">
            <a:extLst>
              <a:ext uri="{FF2B5EF4-FFF2-40B4-BE49-F238E27FC236}">
                <a16:creationId xmlns:a16="http://schemas.microsoft.com/office/drawing/2014/main" id="{C975508F-D700-4546-A51E-739823B0F3E0}"/>
              </a:ext>
            </a:extLst>
          </p:cNvPr>
          <p:cNvSpPr>
            <a:spLocks noGrp="1"/>
          </p:cNvSpPr>
          <p:nvPr/>
        </p:nvSpPr>
        <p:spPr>
          <a:xfrm>
            <a:off x="1463040" y="4498848"/>
            <a:ext cx="9052560" cy="228600"/>
          </a:xfrm>
          <a:prstGeom prst="rect">
            <a:avLst/>
          </a:prstGeom>
          <a:noFill/>
        </p:spPr>
        <p:txBody>
          <a:bodyPr wrap="square" lIns="0" tIns="0" rIns="0" bIns="0" anchor="ctr">
            <a:normAutofit/>
          </a:bodyPr>
          <a:lstStyle/>
          <a:p>
            <a:pPr marL="0" indent="0">
              <a:buNone/>
            </a:pPr>
            <a:r>
              <a:rPr sz="1450">
                <a:solidFill>
                  <a:srgbClr val="5E6A7D"/>
                </a:solidFill>
              </a:rPr>
              <a:t>Neutral sınıfı ve PhraseBank ablasyonu bu tartışmayı destekledi.</a:t>
            </a:r>
            <a:endParaRPr sz="1450"/>
          </a:p>
        </p:txBody>
      </p:sp>
      <p:sp>
        <p:nvSpPr>
          <p:cNvPr id="20" name="Shape 18">
            <a:extLst>
              <a:ext uri="{FF2B5EF4-FFF2-40B4-BE49-F238E27FC236}">
                <a16:creationId xmlns:a16="http://schemas.microsoft.com/office/drawing/2014/main" id="{AEE6664A-B1AE-482D-8F7B-61D71E78F491}"/>
              </a:ext>
            </a:extLst>
          </p:cNvPr>
          <p:cNvSpPr>
            <a:spLocks noGrp="1"/>
          </p:cNvSpPr>
          <p:nvPr/>
        </p:nvSpPr>
        <p:spPr>
          <a:xfrm>
            <a:off x="914400" y="5532120"/>
            <a:ext cx="10058400" cy="502920"/>
          </a:xfrm>
          <a:prstGeom prst="roundRect">
            <a:avLst>
              <a:gd name="adj" fmla="val 14545"/>
            </a:avLst>
          </a:prstGeom>
          <a:solidFill>
            <a:srgbClr val="F0FAF8"/>
          </a:solidFill>
          <a:ln w="15240">
            <a:solidFill>
              <a:srgbClr val="D64545"/>
            </a:solidFill>
            <a:prstDash val="solid"/>
          </a:ln>
        </p:spPr>
      </p:sp>
      <p:sp>
        <p:nvSpPr>
          <p:cNvPr id="21" name="Text 19">
            <a:extLst>
              <a:ext uri="{FF2B5EF4-FFF2-40B4-BE49-F238E27FC236}">
                <a16:creationId xmlns:a16="http://schemas.microsoft.com/office/drawing/2014/main" id="{0A726A04-F548-4123-93DC-7453B45840F5}"/>
              </a:ext>
            </a:extLst>
          </p:cNvPr>
          <p:cNvSpPr>
            <a:spLocks noGrp="1"/>
          </p:cNvSpPr>
          <p:nvPr/>
        </p:nvSpPr>
        <p:spPr>
          <a:xfrm>
            <a:off x="1078992" y="5678424"/>
            <a:ext cx="9729216" cy="274320"/>
          </a:xfrm>
          <a:prstGeom prst="rect">
            <a:avLst/>
          </a:prstGeom>
          <a:noFill/>
        </p:spPr>
        <p:txBody>
          <a:bodyPr wrap="square" lIns="254" tIns="254" rIns="254" bIns="254" anchor="ctr">
            <a:normAutofit/>
          </a:bodyPr>
          <a:lstStyle/>
          <a:p>
            <a:pPr marL="0" indent="0">
              <a:buNone/>
            </a:pPr>
            <a:r>
              <a:rPr sz="1500" b="1">
                <a:solidFill>
                  <a:srgbClr val="172033"/>
                </a:solidFill>
              </a:rPr>
              <a:t>Savunma mesajı: iyi iç test skoru, gerçek dünya genellemesini garanti etmez.</a:t>
            </a:r>
            <a:endParaRPr sz="1500"/>
          </a:p>
        </p:txBody>
      </p:sp>
      <p:sp>
        <p:nvSpPr>
          <p:cNvPr id="22" name="Text 20">
            <a:extLst>
              <a:ext uri="{FF2B5EF4-FFF2-40B4-BE49-F238E27FC236}">
                <a16:creationId xmlns:a16="http://schemas.microsoft.com/office/drawing/2014/main" id="{72F9955F-DE3D-4EA8-9ACA-A432C856119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3" name="Text 21">
            <a:extLst>
              <a:ext uri="{FF2B5EF4-FFF2-40B4-BE49-F238E27FC236}">
                <a16:creationId xmlns:a16="http://schemas.microsoft.com/office/drawing/2014/main" id="{E03FC84E-871B-461F-84E6-3D0894F837E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29</a:t>
            </a:r>
            <a:endParaRPr sz="850"/>
          </a:p>
        </p:txBody>
      </p:sp>
      <p:sp>
        <p:nvSpPr>
          <p:cNvPr id="24" name="Shape 22">
            <a:extLst>
              <a:ext uri="{FF2B5EF4-FFF2-40B4-BE49-F238E27FC236}">
                <a16:creationId xmlns:a16="http://schemas.microsoft.com/office/drawing/2014/main" id="{9551E2E6-94C5-47BF-96D7-009915862FB7}"/>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688766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E62653B-0188-4070-B285-575B46319B63}"/>
              </a:ext>
            </a:extLst>
          </p:cNvPr>
          <p:cNvSpPr>
            <a:spLocks noGrp="1"/>
          </p:cNvSpPr>
          <p:nvPr/>
        </p:nvSpPr>
        <p:spPr>
          <a:xfrm>
            <a:off x="502920" y="329184"/>
            <a:ext cx="10881360" cy="502920"/>
          </a:xfrm>
          <a:prstGeom prst="rect">
            <a:avLst/>
          </a:prstGeom>
          <a:noFill/>
        </p:spPr>
        <p:txBody>
          <a:bodyPr wrap="square" lIns="0" tIns="0" rIns="0" bIns="0" anchor="ctr">
            <a:normAutofit fontScale="92500"/>
          </a:bodyPr>
          <a:lstStyle/>
          <a:p>
            <a:pPr marL="0" indent="0">
              <a:buNone/>
            </a:pPr>
            <a:r>
              <a:rPr sz="3100" b="1" dirty="0">
                <a:solidFill>
                  <a:srgbClr val="172033"/>
                </a:solidFill>
                <a:latin typeface="Aptos Display"/>
                <a:ea typeface="Aptos Display"/>
                <a:cs typeface="Aptos Display"/>
              </a:rPr>
              <a:t>Devam </a:t>
            </a:r>
            <a:r>
              <a:rPr sz="3100" b="1" dirty="0" err="1">
                <a:solidFill>
                  <a:srgbClr val="172033"/>
                </a:solidFill>
                <a:latin typeface="Aptos Display"/>
                <a:ea typeface="Aptos Display"/>
                <a:cs typeface="Aptos Display"/>
              </a:rPr>
              <a:t>planı</a:t>
            </a:r>
            <a:r>
              <a:rPr sz="3100" b="1" dirty="0">
                <a:solidFill>
                  <a:srgbClr val="172033"/>
                </a:solidFill>
                <a:latin typeface="Aptos Display"/>
                <a:ea typeface="Aptos Display"/>
                <a:cs typeface="Aptos Display"/>
              </a:rPr>
              <a:t> 1: </a:t>
            </a:r>
            <a:r>
              <a:rPr sz="3100" b="1" dirty="0" err="1">
                <a:solidFill>
                  <a:srgbClr val="172033"/>
                </a:solidFill>
                <a:latin typeface="Aptos Display"/>
                <a:ea typeface="Aptos Display"/>
                <a:cs typeface="Aptos Display"/>
              </a:rPr>
              <a:t>Üç</a:t>
            </a:r>
            <a:r>
              <a:rPr sz="3100" b="1" dirty="0">
                <a:solidFill>
                  <a:srgbClr val="172033"/>
                </a:solidFill>
                <a:latin typeface="Aptos Display"/>
                <a:ea typeface="Aptos Display"/>
                <a:cs typeface="Aptos Display"/>
              </a:rPr>
              <a:t> </a:t>
            </a:r>
            <a:r>
              <a:rPr sz="3100" b="1" dirty="0" err="1">
                <a:solidFill>
                  <a:srgbClr val="172033"/>
                </a:solidFill>
                <a:latin typeface="Aptos Display"/>
                <a:ea typeface="Aptos Display"/>
                <a:cs typeface="Aptos Display"/>
              </a:rPr>
              <a:t>modelle</a:t>
            </a:r>
            <a:r>
              <a:rPr sz="3100" b="1" dirty="0">
                <a:solidFill>
                  <a:srgbClr val="172033"/>
                </a:solidFill>
                <a:latin typeface="Aptos Display"/>
                <a:ea typeface="Aptos Display"/>
                <a:cs typeface="Aptos Display"/>
              </a:rPr>
              <a:t> </a:t>
            </a:r>
            <a:r>
              <a:rPr sz="3100" b="1" dirty="0" err="1">
                <a:solidFill>
                  <a:srgbClr val="172033"/>
                </a:solidFill>
                <a:latin typeface="Aptos Display"/>
                <a:ea typeface="Aptos Display"/>
                <a:cs typeface="Aptos Display"/>
              </a:rPr>
              <a:t>yeniden</a:t>
            </a:r>
            <a:r>
              <a:rPr sz="3100" b="1" dirty="0">
                <a:solidFill>
                  <a:srgbClr val="172033"/>
                </a:solidFill>
                <a:latin typeface="Aptos Display"/>
                <a:ea typeface="Aptos Display"/>
                <a:cs typeface="Aptos Display"/>
              </a:rPr>
              <a:t> </a:t>
            </a:r>
            <a:r>
              <a:rPr sz="3100" b="1" dirty="0" err="1">
                <a:solidFill>
                  <a:srgbClr val="172033"/>
                </a:solidFill>
                <a:latin typeface="Aptos Display"/>
                <a:ea typeface="Aptos Display"/>
                <a:cs typeface="Aptos Display"/>
              </a:rPr>
              <a:t>etiketleme</a:t>
            </a:r>
            <a:r>
              <a:rPr lang="en-US" sz="3100" b="1" dirty="0">
                <a:solidFill>
                  <a:srgbClr val="172033"/>
                </a:solidFill>
                <a:latin typeface="Aptos Display"/>
                <a:ea typeface="Aptos Display"/>
                <a:cs typeface="Aptos Display"/>
              </a:rPr>
              <a:t> ? -&gt; label semantics</a:t>
            </a:r>
            <a:endParaRPr sz="3100" dirty="0"/>
          </a:p>
        </p:txBody>
      </p:sp>
      <p:sp>
        <p:nvSpPr>
          <p:cNvPr id="3" name="Text 1">
            <a:extLst>
              <a:ext uri="{FF2B5EF4-FFF2-40B4-BE49-F238E27FC236}">
                <a16:creationId xmlns:a16="http://schemas.microsoft.com/office/drawing/2014/main" id="{C0D36D03-8BB3-49F2-A424-0A0CDC9B5788}"/>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Amaç: tek model etiketine bağımlılığı azaltmak ve daha güvenilir veri havuzu oluşturmak.</a:t>
            </a:r>
            <a:endParaRPr sz="1450"/>
          </a:p>
        </p:txBody>
      </p:sp>
      <p:sp>
        <p:nvSpPr>
          <p:cNvPr id="4" name="Shape 2">
            <a:extLst>
              <a:ext uri="{FF2B5EF4-FFF2-40B4-BE49-F238E27FC236}">
                <a16:creationId xmlns:a16="http://schemas.microsoft.com/office/drawing/2014/main" id="{5B123558-6D67-4F13-8142-331978E93298}"/>
              </a:ext>
            </a:extLst>
          </p:cNvPr>
          <p:cNvSpPr>
            <a:spLocks noGrp="1"/>
          </p:cNvSpPr>
          <p:nvPr/>
        </p:nvSpPr>
        <p:spPr>
          <a:xfrm>
            <a:off x="731520" y="1417320"/>
            <a:ext cx="2567635" cy="525780"/>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EC5AA709-25D6-4652-9990-A996D0DE31A8}"/>
              </a:ext>
            </a:extLst>
          </p:cNvPr>
          <p:cNvSpPr>
            <a:spLocks noGrp="1"/>
          </p:cNvSpPr>
          <p:nvPr/>
        </p:nvSpPr>
        <p:spPr>
          <a:xfrm>
            <a:off x="804672" y="1490472"/>
            <a:ext cx="2421331" cy="434340"/>
          </a:xfrm>
          <a:prstGeom prst="rect">
            <a:avLst/>
          </a:prstGeom>
          <a:noFill/>
        </p:spPr>
        <p:txBody>
          <a:bodyPr wrap="square" lIns="0" tIns="0" rIns="0" bIns="0" anchor="ctr">
            <a:normAutofit/>
          </a:bodyPr>
          <a:lstStyle/>
          <a:p>
            <a:pPr marL="0" indent="0">
              <a:buNone/>
            </a:pPr>
            <a:r>
              <a:rPr sz="1150" b="1">
                <a:solidFill>
                  <a:srgbClr val="FFFFFF"/>
                </a:solidFill>
              </a:rPr>
              <a:t>Metin</a:t>
            </a:r>
            <a:endParaRPr sz="1150"/>
          </a:p>
        </p:txBody>
      </p:sp>
      <p:sp>
        <p:nvSpPr>
          <p:cNvPr id="6" name="Shape 4">
            <a:extLst>
              <a:ext uri="{FF2B5EF4-FFF2-40B4-BE49-F238E27FC236}">
                <a16:creationId xmlns:a16="http://schemas.microsoft.com/office/drawing/2014/main" id="{E322F8F7-8905-4C49-AEC9-536537D9054F}"/>
              </a:ext>
            </a:extLst>
          </p:cNvPr>
          <p:cNvSpPr>
            <a:spLocks noGrp="1"/>
          </p:cNvSpPr>
          <p:nvPr/>
        </p:nvSpPr>
        <p:spPr>
          <a:xfrm>
            <a:off x="3299155" y="1417320"/>
            <a:ext cx="2032711" cy="525780"/>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F1395674-D5B9-42F6-A17B-321D5C6796F5}"/>
              </a:ext>
            </a:extLst>
          </p:cNvPr>
          <p:cNvSpPr>
            <a:spLocks noGrp="1"/>
          </p:cNvSpPr>
          <p:nvPr/>
        </p:nvSpPr>
        <p:spPr>
          <a:xfrm>
            <a:off x="3372307" y="1490472"/>
            <a:ext cx="1886407" cy="434340"/>
          </a:xfrm>
          <a:prstGeom prst="rect">
            <a:avLst/>
          </a:prstGeom>
          <a:noFill/>
        </p:spPr>
        <p:txBody>
          <a:bodyPr wrap="square" lIns="0" tIns="0" rIns="0" bIns="0" anchor="ctr">
            <a:normAutofit/>
          </a:bodyPr>
          <a:lstStyle/>
          <a:p>
            <a:pPr marL="0" indent="0">
              <a:buNone/>
            </a:pPr>
            <a:r>
              <a:rPr sz="1150" b="1">
                <a:solidFill>
                  <a:srgbClr val="FFFFFF"/>
                </a:solidFill>
              </a:rPr>
              <a:t>ChatGPT</a:t>
            </a:r>
            <a:endParaRPr sz="1150"/>
          </a:p>
        </p:txBody>
      </p:sp>
      <p:sp>
        <p:nvSpPr>
          <p:cNvPr id="8" name="Shape 6">
            <a:extLst>
              <a:ext uri="{FF2B5EF4-FFF2-40B4-BE49-F238E27FC236}">
                <a16:creationId xmlns:a16="http://schemas.microsoft.com/office/drawing/2014/main" id="{67CA5060-6E61-4FE3-87C9-135787C4E2C4}"/>
              </a:ext>
            </a:extLst>
          </p:cNvPr>
          <p:cNvSpPr>
            <a:spLocks noGrp="1"/>
          </p:cNvSpPr>
          <p:nvPr/>
        </p:nvSpPr>
        <p:spPr>
          <a:xfrm>
            <a:off x="5331866" y="1417320"/>
            <a:ext cx="2032711" cy="52578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E7404309-7013-463F-B445-4FD5FAAC39B7}"/>
              </a:ext>
            </a:extLst>
          </p:cNvPr>
          <p:cNvSpPr>
            <a:spLocks noGrp="1"/>
          </p:cNvSpPr>
          <p:nvPr/>
        </p:nvSpPr>
        <p:spPr>
          <a:xfrm>
            <a:off x="5405018" y="1490472"/>
            <a:ext cx="1886407" cy="434340"/>
          </a:xfrm>
          <a:prstGeom prst="rect">
            <a:avLst/>
          </a:prstGeom>
          <a:noFill/>
        </p:spPr>
        <p:txBody>
          <a:bodyPr wrap="square" lIns="0" tIns="0" rIns="0" bIns="0" anchor="ctr">
            <a:normAutofit/>
          </a:bodyPr>
          <a:lstStyle/>
          <a:p>
            <a:pPr marL="0" indent="0">
              <a:buNone/>
            </a:pPr>
            <a:r>
              <a:rPr sz="1150" b="1">
                <a:solidFill>
                  <a:srgbClr val="FFFFFF"/>
                </a:solidFill>
              </a:rPr>
              <a:t>Claude</a:t>
            </a:r>
            <a:endParaRPr sz="1150"/>
          </a:p>
        </p:txBody>
      </p:sp>
      <p:sp>
        <p:nvSpPr>
          <p:cNvPr id="10" name="Shape 8">
            <a:extLst>
              <a:ext uri="{FF2B5EF4-FFF2-40B4-BE49-F238E27FC236}">
                <a16:creationId xmlns:a16="http://schemas.microsoft.com/office/drawing/2014/main" id="{DD68C49B-8226-487E-921E-72E4B75DCF29}"/>
              </a:ext>
            </a:extLst>
          </p:cNvPr>
          <p:cNvSpPr>
            <a:spLocks noGrp="1"/>
          </p:cNvSpPr>
          <p:nvPr/>
        </p:nvSpPr>
        <p:spPr>
          <a:xfrm>
            <a:off x="7364578" y="1417320"/>
            <a:ext cx="2032711" cy="525780"/>
          </a:xfrm>
          <a:prstGeom prst="rect">
            <a:avLst/>
          </a:prstGeom>
          <a:solidFill>
            <a:srgbClr val="1D2B46"/>
          </a:solidFill>
          <a:ln w="6350">
            <a:solidFill>
              <a:srgbClr val="DDE3EF"/>
            </a:solidFill>
            <a:prstDash val="solid"/>
          </a:ln>
        </p:spPr>
      </p:sp>
      <p:sp>
        <p:nvSpPr>
          <p:cNvPr id="11" name="Text 9">
            <a:extLst>
              <a:ext uri="{FF2B5EF4-FFF2-40B4-BE49-F238E27FC236}">
                <a16:creationId xmlns:a16="http://schemas.microsoft.com/office/drawing/2014/main" id="{89AE5CCE-F4A2-4E95-A172-0977B65A4517}"/>
              </a:ext>
            </a:extLst>
          </p:cNvPr>
          <p:cNvSpPr>
            <a:spLocks noGrp="1"/>
          </p:cNvSpPr>
          <p:nvPr/>
        </p:nvSpPr>
        <p:spPr>
          <a:xfrm>
            <a:off x="7437730" y="1490472"/>
            <a:ext cx="1886407" cy="434340"/>
          </a:xfrm>
          <a:prstGeom prst="rect">
            <a:avLst/>
          </a:prstGeom>
          <a:noFill/>
        </p:spPr>
        <p:txBody>
          <a:bodyPr wrap="square" lIns="0" tIns="0" rIns="0" bIns="0" anchor="ctr">
            <a:normAutofit/>
          </a:bodyPr>
          <a:lstStyle/>
          <a:p>
            <a:pPr marL="0" indent="0">
              <a:buNone/>
            </a:pPr>
            <a:r>
              <a:rPr sz="1150" b="1">
                <a:solidFill>
                  <a:srgbClr val="FFFFFF"/>
                </a:solidFill>
              </a:rPr>
              <a:t>Gemini</a:t>
            </a:r>
            <a:endParaRPr sz="1150"/>
          </a:p>
        </p:txBody>
      </p:sp>
      <p:sp>
        <p:nvSpPr>
          <p:cNvPr id="12" name="Shape 10">
            <a:extLst>
              <a:ext uri="{FF2B5EF4-FFF2-40B4-BE49-F238E27FC236}">
                <a16:creationId xmlns:a16="http://schemas.microsoft.com/office/drawing/2014/main" id="{21D2C710-5356-4D22-8875-2CB074289ABB}"/>
              </a:ext>
            </a:extLst>
          </p:cNvPr>
          <p:cNvSpPr>
            <a:spLocks noGrp="1"/>
          </p:cNvSpPr>
          <p:nvPr/>
        </p:nvSpPr>
        <p:spPr>
          <a:xfrm>
            <a:off x="9397289" y="1417320"/>
            <a:ext cx="2032711" cy="525780"/>
          </a:xfrm>
          <a:prstGeom prst="rect">
            <a:avLst/>
          </a:prstGeom>
          <a:solidFill>
            <a:srgbClr val="1D2B46"/>
          </a:solidFill>
          <a:ln w="6350">
            <a:solidFill>
              <a:srgbClr val="DDE3EF"/>
            </a:solidFill>
            <a:prstDash val="solid"/>
          </a:ln>
        </p:spPr>
      </p:sp>
      <p:sp>
        <p:nvSpPr>
          <p:cNvPr id="13" name="Text 11">
            <a:extLst>
              <a:ext uri="{FF2B5EF4-FFF2-40B4-BE49-F238E27FC236}">
                <a16:creationId xmlns:a16="http://schemas.microsoft.com/office/drawing/2014/main" id="{BB8A59F7-59F4-4F63-85B7-0CC4A72CCB06}"/>
              </a:ext>
            </a:extLst>
          </p:cNvPr>
          <p:cNvSpPr>
            <a:spLocks noGrp="1"/>
          </p:cNvSpPr>
          <p:nvPr/>
        </p:nvSpPr>
        <p:spPr>
          <a:xfrm>
            <a:off x="9470441" y="1490472"/>
            <a:ext cx="1886407" cy="434340"/>
          </a:xfrm>
          <a:prstGeom prst="rect">
            <a:avLst/>
          </a:prstGeom>
          <a:noFill/>
        </p:spPr>
        <p:txBody>
          <a:bodyPr wrap="square" lIns="0" tIns="0" rIns="0" bIns="0" anchor="ctr">
            <a:normAutofit/>
          </a:bodyPr>
          <a:lstStyle/>
          <a:p>
            <a:pPr marL="0" indent="0">
              <a:buNone/>
            </a:pPr>
            <a:r>
              <a:rPr sz="1150" b="1">
                <a:solidFill>
                  <a:srgbClr val="FFFFFF"/>
                </a:solidFill>
              </a:rPr>
              <a:t>Karar</a:t>
            </a:r>
            <a:endParaRPr sz="1150"/>
          </a:p>
        </p:txBody>
      </p:sp>
      <p:sp>
        <p:nvSpPr>
          <p:cNvPr id="14" name="Shape 12">
            <a:extLst>
              <a:ext uri="{FF2B5EF4-FFF2-40B4-BE49-F238E27FC236}">
                <a16:creationId xmlns:a16="http://schemas.microsoft.com/office/drawing/2014/main" id="{DB7B0E99-E17E-4520-9E78-2B601AC74D40}"/>
              </a:ext>
            </a:extLst>
          </p:cNvPr>
          <p:cNvSpPr>
            <a:spLocks noGrp="1"/>
          </p:cNvSpPr>
          <p:nvPr/>
        </p:nvSpPr>
        <p:spPr>
          <a:xfrm>
            <a:off x="731520" y="1943100"/>
            <a:ext cx="2567635" cy="52578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B8E167F1-6629-4075-AF7E-72D8938A10A8}"/>
              </a:ext>
            </a:extLst>
          </p:cNvPr>
          <p:cNvSpPr>
            <a:spLocks noGrp="1"/>
          </p:cNvSpPr>
          <p:nvPr/>
        </p:nvSpPr>
        <p:spPr>
          <a:xfrm>
            <a:off x="804672" y="2016252"/>
            <a:ext cx="2421331" cy="434340"/>
          </a:xfrm>
          <a:prstGeom prst="rect">
            <a:avLst/>
          </a:prstGeom>
          <a:noFill/>
        </p:spPr>
        <p:txBody>
          <a:bodyPr wrap="square" lIns="0" tIns="0" rIns="0" bIns="0" anchor="ctr">
            <a:normAutofit/>
          </a:bodyPr>
          <a:lstStyle/>
          <a:p>
            <a:pPr marL="0" indent="0">
              <a:buNone/>
            </a:pPr>
            <a:r>
              <a:rPr sz="1270">
                <a:solidFill>
                  <a:srgbClr val="1A1E2A"/>
                </a:solidFill>
              </a:rPr>
              <a:t>Haber 1</a:t>
            </a:r>
            <a:endParaRPr sz="1270"/>
          </a:p>
        </p:txBody>
      </p:sp>
      <p:sp>
        <p:nvSpPr>
          <p:cNvPr id="16" name="Shape 14">
            <a:extLst>
              <a:ext uri="{FF2B5EF4-FFF2-40B4-BE49-F238E27FC236}">
                <a16:creationId xmlns:a16="http://schemas.microsoft.com/office/drawing/2014/main" id="{4D2E26B4-6D91-4819-A2DB-21E877EBB289}"/>
              </a:ext>
            </a:extLst>
          </p:cNvPr>
          <p:cNvSpPr>
            <a:spLocks noGrp="1"/>
          </p:cNvSpPr>
          <p:nvPr/>
        </p:nvSpPr>
        <p:spPr>
          <a:xfrm>
            <a:off x="3299155" y="1943100"/>
            <a:ext cx="2032711" cy="525780"/>
          </a:xfrm>
          <a:prstGeom prst="rect">
            <a:avLst/>
          </a:prstGeom>
          <a:solidFill>
            <a:srgbClr val="FFFFFF"/>
          </a:solidFill>
          <a:ln w="6350">
            <a:solidFill>
              <a:srgbClr val="DDE3EF"/>
            </a:solidFill>
            <a:prstDash val="solid"/>
          </a:ln>
        </p:spPr>
      </p:sp>
      <p:sp>
        <p:nvSpPr>
          <p:cNvPr id="17" name="Text 15">
            <a:extLst>
              <a:ext uri="{FF2B5EF4-FFF2-40B4-BE49-F238E27FC236}">
                <a16:creationId xmlns:a16="http://schemas.microsoft.com/office/drawing/2014/main" id="{DAC984C1-381A-447A-BF42-A939840E0DFE}"/>
              </a:ext>
            </a:extLst>
          </p:cNvPr>
          <p:cNvSpPr>
            <a:spLocks noGrp="1"/>
          </p:cNvSpPr>
          <p:nvPr/>
        </p:nvSpPr>
        <p:spPr>
          <a:xfrm>
            <a:off x="3372307" y="2016252"/>
            <a:ext cx="1886407" cy="434340"/>
          </a:xfrm>
          <a:prstGeom prst="rect">
            <a:avLst/>
          </a:prstGeom>
          <a:noFill/>
        </p:spPr>
        <p:txBody>
          <a:bodyPr wrap="square" lIns="0" tIns="0" rIns="0" bIns="0" anchor="ctr">
            <a:normAutofit/>
          </a:bodyPr>
          <a:lstStyle/>
          <a:p>
            <a:pPr marL="0" indent="0">
              <a:buNone/>
            </a:pPr>
            <a:r>
              <a:rPr sz="1270">
                <a:solidFill>
                  <a:srgbClr val="1A1E2A"/>
                </a:solidFill>
              </a:rPr>
              <a:t>Positive</a:t>
            </a:r>
            <a:endParaRPr sz="1270"/>
          </a:p>
        </p:txBody>
      </p:sp>
      <p:sp>
        <p:nvSpPr>
          <p:cNvPr id="18" name="Shape 16">
            <a:extLst>
              <a:ext uri="{FF2B5EF4-FFF2-40B4-BE49-F238E27FC236}">
                <a16:creationId xmlns:a16="http://schemas.microsoft.com/office/drawing/2014/main" id="{94CC2F12-F87F-4487-AA70-8D7F52D26E90}"/>
              </a:ext>
            </a:extLst>
          </p:cNvPr>
          <p:cNvSpPr>
            <a:spLocks noGrp="1"/>
          </p:cNvSpPr>
          <p:nvPr/>
        </p:nvSpPr>
        <p:spPr>
          <a:xfrm>
            <a:off x="5331866" y="1943100"/>
            <a:ext cx="2032711" cy="525780"/>
          </a:xfrm>
          <a:prstGeom prst="rect">
            <a:avLst/>
          </a:prstGeom>
          <a:solidFill>
            <a:srgbClr val="FFFFFF"/>
          </a:solidFill>
          <a:ln w="6350">
            <a:solidFill>
              <a:srgbClr val="DDE3EF"/>
            </a:solidFill>
            <a:prstDash val="solid"/>
          </a:ln>
        </p:spPr>
      </p:sp>
      <p:sp>
        <p:nvSpPr>
          <p:cNvPr id="19" name="Text 17">
            <a:extLst>
              <a:ext uri="{FF2B5EF4-FFF2-40B4-BE49-F238E27FC236}">
                <a16:creationId xmlns:a16="http://schemas.microsoft.com/office/drawing/2014/main" id="{1A0FBC1A-4F8F-4F66-B1E7-7B997C29012E}"/>
              </a:ext>
            </a:extLst>
          </p:cNvPr>
          <p:cNvSpPr>
            <a:spLocks noGrp="1"/>
          </p:cNvSpPr>
          <p:nvPr/>
        </p:nvSpPr>
        <p:spPr>
          <a:xfrm>
            <a:off x="5405018" y="2016252"/>
            <a:ext cx="1886407" cy="434340"/>
          </a:xfrm>
          <a:prstGeom prst="rect">
            <a:avLst/>
          </a:prstGeom>
          <a:noFill/>
        </p:spPr>
        <p:txBody>
          <a:bodyPr wrap="square" lIns="0" tIns="0" rIns="0" bIns="0" anchor="ctr">
            <a:normAutofit/>
          </a:bodyPr>
          <a:lstStyle/>
          <a:p>
            <a:pPr marL="0" indent="0">
              <a:buNone/>
            </a:pPr>
            <a:r>
              <a:rPr sz="1270">
                <a:solidFill>
                  <a:srgbClr val="1A1E2A"/>
                </a:solidFill>
              </a:rPr>
              <a:t>Positive</a:t>
            </a:r>
            <a:endParaRPr sz="1270"/>
          </a:p>
        </p:txBody>
      </p:sp>
      <p:sp>
        <p:nvSpPr>
          <p:cNvPr id="20" name="Shape 18">
            <a:extLst>
              <a:ext uri="{FF2B5EF4-FFF2-40B4-BE49-F238E27FC236}">
                <a16:creationId xmlns:a16="http://schemas.microsoft.com/office/drawing/2014/main" id="{84D3C40C-EDBC-4F24-802C-B7D03891218F}"/>
              </a:ext>
            </a:extLst>
          </p:cNvPr>
          <p:cNvSpPr>
            <a:spLocks noGrp="1"/>
          </p:cNvSpPr>
          <p:nvPr/>
        </p:nvSpPr>
        <p:spPr>
          <a:xfrm>
            <a:off x="7364578" y="1943100"/>
            <a:ext cx="2032711" cy="525780"/>
          </a:xfrm>
          <a:prstGeom prst="rect">
            <a:avLst/>
          </a:prstGeom>
          <a:solidFill>
            <a:srgbClr val="FFFFFF"/>
          </a:solidFill>
          <a:ln w="6350">
            <a:solidFill>
              <a:srgbClr val="DDE3EF"/>
            </a:solidFill>
            <a:prstDash val="solid"/>
          </a:ln>
        </p:spPr>
      </p:sp>
      <p:sp>
        <p:nvSpPr>
          <p:cNvPr id="21" name="Text 19">
            <a:extLst>
              <a:ext uri="{FF2B5EF4-FFF2-40B4-BE49-F238E27FC236}">
                <a16:creationId xmlns:a16="http://schemas.microsoft.com/office/drawing/2014/main" id="{4653B7BC-B36E-4B2F-A843-E2B449276B64}"/>
              </a:ext>
            </a:extLst>
          </p:cNvPr>
          <p:cNvSpPr>
            <a:spLocks noGrp="1"/>
          </p:cNvSpPr>
          <p:nvPr/>
        </p:nvSpPr>
        <p:spPr>
          <a:xfrm>
            <a:off x="7437730" y="2016252"/>
            <a:ext cx="1886407" cy="434340"/>
          </a:xfrm>
          <a:prstGeom prst="rect">
            <a:avLst/>
          </a:prstGeom>
          <a:noFill/>
        </p:spPr>
        <p:txBody>
          <a:bodyPr wrap="square" lIns="0" tIns="0" rIns="0" bIns="0" anchor="ctr">
            <a:normAutofit/>
          </a:bodyPr>
          <a:lstStyle/>
          <a:p>
            <a:pPr marL="0" indent="0">
              <a:buNone/>
            </a:pPr>
            <a:r>
              <a:rPr sz="1270">
                <a:solidFill>
                  <a:srgbClr val="1A1E2A"/>
                </a:solidFill>
              </a:rPr>
              <a:t>Positive</a:t>
            </a:r>
            <a:endParaRPr sz="1270"/>
          </a:p>
        </p:txBody>
      </p:sp>
      <p:sp>
        <p:nvSpPr>
          <p:cNvPr id="22" name="Shape 20">
            <a:extLst>
              <a:ext uri="{FF2B5EF4-FFF2-40B4-BE49-F238E27FC236}">
                <a16:creationId xmlns:a16="http://schemas.microsoft.com/office/drawing/2014/main" id="{552A2E53-AFD3-4C70-86C1-A5B9736B2BAE}"/>
              </a:ext>
            </a:extLst>
          </p:cNvPr>
          <p:cNvSpPr>
            <a:spLocks noGrp="1"/>
          </p:cNvSpPr>
          <p:nvPr/>
        </p:nvSpPr>
        <p:spPr>
          <a:xfrm>
            <a:off x="9397289" y="1943100"/>
            <a:ext cx="2032711" cy="525780"/>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4C65BAAD-A6C4-45F4-B1A0-46D11D1F3A9E}"/>
              </a:ext>
            </a:extLst>
          </p:cNvPr>
          <p:cNvSpPr>
            <a:spLocks noGrp="1"/>
          </p:cNvSpPr>
          <p:nvPr/>
        </p:nvSpPr>
        <p:spPr>
          <a:xfrm>
            <a:off x="9470441" y="2016252"/>
            <a:ext cx="1886407" cy="434340"/>
          </a:xfrm>
          <a:prstGeom prst="rect">
            <a:avLst/>
          </a:prstGeom>
          <a:noFill/>
        </p:spPr>
        <p:txBody>
          <a:bodyPr wrap="square" lIns="0" tIns="0" rIns="0" bIns="0" anchor="ctr">
            <a:normAutofit/>
          </a:bodyPr>
          <a:lstStyle/>
          <a:p>
            <a:pPr marL="0" indent="0">
              <a:buNone/>
            </a:pPr>
            <a:r>
              <a:rPr sz="1270">
                <a:solidFill>
                  <a:srgbClr val="1A1E2A"/>
                </a:solidFill>
              </a:rPr>
              <a:t>Consensus ✓</a:t>
            </a:r>
            <a:endParaRPr sz="1270"/>
          </a:p>
        </p:txBody>
      </p:sp>
      <p:sp>
        <p:nvSpPr>
          <p:cNvPr id="24" name="Shape 22">
            <a:extLst>
              <a:ext uri="{FF2B5EF4-FFF2-40B4-BE49-F238E27FC236}">
                <a16:creationId xmlns:a16="http://schemas.microsoft.com/office/drawing/2014/main" id="{1C9E2659-F76A-40F1-9363-A6B9058D2EEC}"/>
              </a:ext>
            </a:extLst>
          </p:cNvPr>
          <p:cNvSpPr>
            <a:spLocks noGrp="1"/>
          </p:cNvSpPr>
          <p:nvPr/>
        </p:nvSpPr>
        <p:spPr>
          <a:xfrm>
            <a:off x="731520" y="2468880"/>
            <a:ext cx="2567635" cy="525780"/>
          </a:xfrm>
          <a:prstGeom prst="rect">
            <a:avLst/>
          </a:prstGeom>
          <a:solidFill>
            <a:srgbClr val="F4F6FB"/>
          </a:solidFill>
          <a:ln w="6350">
            <a:solidFill>
              <a:srgbClr val="DDE3EF"/>
            </a:solidFill>
            <a:prstDash val="solid"/>
          </a:ln>
        </p:spPr>
      </p:sp>
      <p:sp>
        <p:nvSpPr>
          <p:cNvPr id="25" name="Text 23">
            <a:extLst>
              <a:ext uri="{FF2B5EF4-FFF2-40B4-BE49-F238E27FC236}">
                <a16:creationId xmlns:a16="http://schemas.microsoft.com/office/drawing/2014/main" id="{123BA6B1-822C-4432-AD07-65E75FCF449D}"/>
              </a:ext>
            </a:extLst>
          </p:cNvPr>
          <p:cNvSpPr>
            <a:spLocks noGrp="1"/>
          </p:cNvSpPr>
          <p:nvPr/>
        </p:nvSpPr>
        <p:spPr>
          <a:xfrm>
            <a:off x="804672" y="2542032"/>
            <a:ext cx="2421331" cy="434340"/>
          </a:xfrm>
          <a:prstGeom prst="rect">
            <a:avLst/>
          </a:prstGeom>
          <a:noFill/>
        </p:spPr>
        <p:txBody>
          <a:bodyPr wrap="square" lIns="0" tIns="0" rIns="0" bIns="0" anchor="ctr">
            <a:normAutofit/>
          </a:bodyPr>
          <a:lstStyle/>
          <a:p>
            <a:pPr marL="0" indent="0">
              <a:buNone/>
            </a:pPr>
            <a:r>
              <a:rPr sz="1270">
                <a:solidFill>
                  <a:srgbClr val="1A1E2A"/>
                </a:solidFill>
              </a:rPr>
              <a:t>Haber 2</a:t>
            </a:r>
            <a:endParaRPr sz="1270"/>
          </a:p>
        </p:txBody>
      </p:sp>
      <p:sp>
        <p:nvSpPr>
          <p:cNvPr id="26" name="Shape 24">
            <a:extLst>
              <a:ext uri="{FF2B5EF4-FFF2-40B4-BE49-F238E27FC236}">
                <a16:creationId xmlns:a16="http://schemas.microsoft.com/office/drawing/2014/main" id="{22F30A5B-6EDB-4078-8841-52D5C5732832}"/>
              </a:ext>
            </a:extLst>
          </p:cNvPr>
          <p:cNvSpPr>
            <a:spLocks noGrp="1"/>
          </p:cNvSpPr>
          <p:nvPr/>
        </p:nvSpPr>
        <p:spPr>
          <a:xfrm>
            <a:off x="3299155" y="2468880"/>
            <a:ext cx="2032711" cy="525780"/>
          </a:xfrm>
          <a:prstGeom prst="rect">
            <a:avLst/>
          </a:prstGeom>
          <a:solidFill>
            <a:srgbClr val="F4F6FB"/>
          </a:solidFill>
          <a:ln w="6350">
            <a:solidFill>
              <a:srgbClr val="DDE3EF"/>
            </a:solidFill>
            <a:prstDash val="solid"/>
          </a:ln>
        </p:spPr>
      </p:sp>
      <p:sp>
        <p:nvSpPr>
          <p:cNvPr id="27" name="Text 25">
            <a:extLst>
              <a:ext uri="{FF2B5EF4-FFF2-40B4-BE49-F238E27FC236}">
                <a16:creationId xmlns:a16="http://schemas.microsoft.com/office/drawing/2014/main" id="{BE2721B3-C4F4-40BE-B7A2-7DEC5A59625B}"/>
              </a:ext>
            </a:extLst>
          </p:cNvPr>
          <p:cNvSpPr>
            <a:spLocks noGrp="1"/>
          </p:cNvSpPr>
          <p:nvPr/>
        </p:nvSpPr>
        <p:spPr>
          <a:xfrm>
            <a:off x="3372307" y="2542032"/>
            <a:ext cx="1886407" cy="434340"/>
          </a:xfrm>
          <a:prstGeom prst="rect">
            <a:avLst/>
          </a:prstGeom>
          <a:noFill/>
        </p:spPr>
        <p:txBody>
          <a:bodyPr wrap="square" lIns="0" tIns="0" rIns="0" bIns="0" anchor="ctr">
            <a:normAutofit/>
          </a:bodyPr>
          <a:lstStyle/>
          <a:p>
            <a:pPr marL="0" indent="0">
              <a:buNone/>
            </a:pPr>
            <a:r>
              <a:rPr sz="1270">
                <a:solidFill>
                  <a:srgbClr val="1A1E2A"/>
                </a:solidFill>
              </a:rPr>
              <a:t>Neutral</a:t>
            </a:r>
            <a:endParaRPr sz="1270"/>
          </a:p>
        </p:txBody>
      </p:sp>
      <p:sp>
        <p:nvSpPr>
          <p:cNvPr id="28" name="Shape 26">
            <a:extLst>
              <a:ext uri="{FF2B5EF4-FFF2-40B4-BE49-F238E27FC236}">
                <a16:creationId xmlns:a16="http://schemas.microsoft.com/office/drawing/2014/main" id="{1CF2830D-BEC7-43EF-9D78-33298A1FF300}"/>
              </a:ext>
            </a:extLst>
          </p:cNvPr>
          <p:cNvSpPr>
            <a:spLocks noGrp="1"/>
          </p:cNvSpPr>
          <p:nvPr/>
        </p:nvSpPr>
        <p:spPr>
          <a:xfrm>
            <a:off x="5331866" y="2468880"/>
            <a:ext cx="2032711" cy="525780"/>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2355DCFA-9051-4E98-B67E-2429A5DDF908}"/>
              </a:ext>
            </a:extLst>
          </p:cNvPr>
          <p:cNvSpPr>
            <a:spLocks noGrp="1"/>
          </p:cNvSpPr>
          <p:nvPr/>
        </p:nvSpPr>
        <p:spPr>
          <a:xfrm>
            <a:off x="5405018" y="2542032"/>
            <a:ext cx="1886407" cy="434340"/>
          </a:xfrm>
          <a:prstGeom prst="rect">
            <a:avLst/>
          </a:prstGeom>
          <a:noFill/>
        </p:spPr>
        <p:txBody>
          <a:bodyPr wrap="square" lIns="0" tIns="0" rIns="0" bIns="0" anchor="ctr">
            <a:normAutofit/>
          </a:bodyPr>
          <a:lstStyle/>
          <a:p>
            <a:pPr marL="0" indent="0">
              <a:buNone/>
            </a:pPr>
            <a:r>
              <a:rPr sz="1270">
                <a:solidFill>
                  <a:srgbClr val="1A1E2A"/>
                </a:solidFill>
              </a:rPr>
              <a:t>Neutral</a:t>
            </a:r>
            <a:endParaRPr sz="1270"/>
          </a:p>
        </p:txBody>
      </p:sp>
      <p:sp>
        <p:nvSpPr>
          <p:cNvPr id="30" name="Shape 28">
            <a:extLst>
              <a:ext uri="{FF2B5EF4-FFF2-40B4-BE49-F238E27FC236}">
                <a16:creationId xmlns:a16="http://schemas.microsoft.com/office/drawing/2014/main" id="{E9A33427-CA8C-4A21-9D5F-14F2AF216D95}"/>
              </a:ext>
            </a:extLst>
          </p:cNvPr>
          <p:cNvSpPr>
            <a:spLocks noGrp="1"/>
          </p:cNvSpPr>
          <p:nvPr/>
        </p:nvSpPr>
        <p:spPr>
          <a:xfrm>
            <a:off x="7364578" y="2468880"/>
            <a:ext cx="2032711" cy="525780"/>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A96FC75B-3427-46DC-89DB-5AA9405B3381}"/>
              </a:ext>
            </a:extLst>
          </p:cNvPr>
          <p:cNvSpPr>
            <a:spLocks noGrp="1"/>
          </p:cNvSpPr>
          <p:nvPr/>
        </p:nvSpPr>
        <p:spPr>
          <a:xfrm>
            <a:off x="7437730" y="2542032"/>
            <a:ext cx="1886407" cy="434340"/>
          </a:xfrm>
          <a:prstGeom prst="rect">
            <a:avLst/>
          </a:prstGeom>
          <a:noFill/>
        </p:spPr>
        <p:txBody>
          <a:bodyPr wrap="square" lIns="0" tIns="0" rIns="0" bIns="0" anchor="ctr">
            <a:normAutofit/>
          </a:bodyPr>
          <a:lstStyle/>
          <a:p>
            <a:pPr marL="0" indent="0">
              <a:buNone/>
            </a:pPr>
            <a:r>
              <a:rPr sz="1270">
                <a:solidFill>
                  <a:srgbClr val="1A1E2A"/>
                </a:solidFill>
              </a:rPr>
              <a:t>Positive</a:t>
            </a:r>
            <a:endParaRPr sz="1270"/>
          </a:p>
        </p:txBody>
      </p:sp>
      <p:sp>
        <p:nvSpPr>
          <p:cNvPr id="32" name="Shape 30">
            <a:extLst>
              <a:ext uri="{FF2B5EF4-FFF2-40B4-BE49-F238E27FC236}">
                <a16:creationId xmlns:a16="http://schemas.microsoft.com/office/drawing/2014/main" id="{E72F5854-0290-4651-A89C-9C61808268D8}"/>
              </a:ext>
            </a:extLst>
          </p:cNvPr>
          <p:cNvSpPr>
            <a:spLocks noGrp="1"/>
          </p:cNvSpPr>
          <p:nvPr/>
        </p:nvSpPr>
        <p:spPr>
          <a:xfrm>
            <a:off x="9397289" y="2468880"/>
            <a:ext cx="2032711" cy="525780"/>
          </a:xfrm>
          <a:prstGeom prst="rect">
            <a:avLst/>
          </a:prstGeom>
          <a:solidFill>
            <a:srgbClr val="F4F6FB"/>
          </a:solidFill>
          <a:ln w="6350">
            <a:solidFill>
              <a:srgbClr val="DDE3EF"/>
            </a:solidFill>
            <a:prstDash val="solid"/>
          </a:ln>
        </p:spPr>
      </p:sp>
      <p:sp>
        <p:nvSpPr>
          <p:cNvPr id="33" name="Text 31">
            <a:extLst>
              <a:ext uri="{FF2B5EF4-FFF2-40B4-BE49-F238E27FC236}">
                <a16:creationId xmlns:a16="http://schemas.microsoft.com/office/drawing/2014/main" id="{F8D72AD0-C469-4930-9AAA-A660926CCA84}"/>
              </a:ext>
            </a:extLst>
          </p:cNvPr>
          <p:cNvSpPr>
            <a:spLocks noGrp="1"/>
          </p:cNvSpPr>
          <p:nvPr/>
        </p:nvSpPr>
        <p:spPr>
          <a:xfrm>
            <a:off x="9470441" y="2542032"/>
            <a:ext cx="1886407" cy="434340"/>
          </a:xfrm>
          <a:prstGeom prst="rect">
            <a:avLst/>
          </a:prstGeom>
          <a:noFill/>
        </p:spPr>
        <p:txBody>
          <a:bodyPr wrap="square" lIns="0" tIns="0" rIns="0" bIns="0" anchor="ctr">
            <a:normAutofit/>
          </a:bodyPr>
          <a:lstStyle/>
          <a:p>
            <a:pPr marL="0" indent="0">
              <a:buNone/>
            </a:pPr>
            <a:r>
              <a:rPr sz="1270">
                <a:solidFill>
                  <a:srgbClr val="1A1E2A"/>
                </a:solidFill>
              </a:rPr>
              <a:t>2/3 majority</a:t>
            </a:r>
            <a:endParaRPr sz="1270"/>
          </a:p>
        </p:txBody>
      </p:sp>
      <p:sp>
        <p:nvSpPr>
          <p:cNvPr id="34" name="Shape 32">
            <a:extLst>
              <a:ext uri="{FF2B5EF4-FFF2-40B4-BE49-F238E27FC236}">
                <a16:creationId xmlns:a16="http://schemas.microsoft.com/office/drawing/2014/main" id="{BCA03D07-695E-4F9F-8CF0-6649D57E4EDC}"/>
              </a:ext>
            </a:extLst>
          </p:cNvPr>
          <p:cNvSpPr>
            <a:spLocks noGrp="1"/>
          </p:cNvSpPr>
          <p:nvPr/>
        </p:nvSpPr>
        <p:spPr>
          <a:xfrm>
            <a:off x="731520" y="2994660"/>
            <a:ext cx="2567635" cy="525780"/>
          </a:xfrm>
          <a:prstGeom prst="rect">
            <a:avLst/>
          </a:prstGeom>
          <a:solidFill>
            <a:srgbClr val="FFFFFF"/>
          </a:solidFill>
          <a:ln w="6350">
            <a:solidFill>
              <a:srgbClr val="DDE3EF"/>
            </a:solidFill>
            <a:prstDash val="solid"/>
          </a:ln>
        </p:spPr>
      </p:sp>
      <p:sp>
        <p:nvSpPr>
          <p:cNvPr id="35" name="Text 33">
            <a:extLst>
              <a:ext uri="{FF2B5EF4-FFF2-40B4-BE49-F238E27FC236}">
                <a16:creationId xmlns:a16="http://schemas.microsoft.com/office/drawing/2014/main" id="{CCF214D1-F720-474A-B3C6-C7A76D12B1EB}"/>
              </a:ext>
            </a:extLst>
          </p:cNvPr>
          <p:cNvSpPr>
            <a:spLocks noGrp="1"/>
          </p:cNvSpPr>
          <p:nvPr/>
        </p:nvSpPr>
        <p:spPr>
          <a:xfrm>
            <a:off x="804672" y="3067812"/>
            <a:ext cx="2421331" cy="434340"/>
          </a:xfrm>
          <a:prstGeom prst="rect">
            <a:avLst/>
          </a:prstGeom>
          <a:noFill/>
        </p:spPr>
        <p:txBody>
          <a:bodyPr wrap="square" lIns="0" tIns="0" rIns="0" bIns="0" anchor="ctr">
            <a:normAutofit/>
          </a:bodyPr>
          <a:lstStyle/>
          <a:p>
            <a:pPr marL="0" indent="0">
              <a:buNone/>
            </a:pPr>
            <a:r>
              <a:rPr sz="1270">
                <a:solidFill>
                  <a:srgbClr val="1A1E2A"/>
                </a:solidFill>
              </a:rPr>
              <a:t>Haber 3</a:t>
            </a:r>
            <a:endParaRPr sz="1270"/>
          </a:p>
        </p:txBody>
      </p:sp>
      <p:sp>
        <p:nvSpPr>
          <p:cNvPr id="36" name="Shape 34">
            <a:extLst>
              <a:ext uri="{FF2B5EF4-FFF2-40B4-BE49-F238E27FC236}">
                <a16:creationId xmlns:a16="http://schemas.microsoft.com/office/drawing/2014/main" id="{C1133429-2322-41B8-8748-6D7CAA8F5BA4}"/>
              </a:ext>
            </a:extLst>
          </p:cNvPr>
          <p:cNvSpPr>
            <a:spLocks noGrp="1"/>
          </p:cNvSpPr>
          <p:nvPr/>
        </p:nvSpPr>
        <p:spPr>
          <a:xfrm>
            <a:off x="3299155" y="2994660"/>
            <a:ext cx="2032711" cy="525780"/>
          </a:xfrm>
          <a:prstGeom prst="rect">
            <a:avLst/>
          </a:prstGeom>
          <a:solidFill>
            <a:srgbClr val="FFFFFF"/>
          </a:solidFill>
          <a:ln w="6350">
            <a:solidFill>
              <a:srgbClr val="DDE3EF"/>
            </a:solidFill>
            <a:prstDash val="solid"/>
          </a:ln>
        </p:spPr>
      </p:sp>
      <p:sp>
        <p:nvSpPr>
          <p:cNvPr id="37" name="Text 35">
            <a:extLst>
              <a:ext uri="{FF2B5EF4-FFF2-40B4-BE49-F238E27FC236}">
                <a16:creationId xmlns:a16="http://schemas.microsoft.com/office/drawing/2014/main" id="{3F1FD675-DAE5-44A9-9E9A-40FE89730FAE}"/>
              </a:ext>
            </a:extLst>
          </p:cNvPr>
          <p:cNvSpPr>
            <a:spLocks noGrp="1"/>
          </p:cNvSpPr>
          <p:nvPr/>
        </p:nvSpPr>
        <p:spPr>
          <a:xfrm>
            <a:off x="3372307" y="3067812"/>
            <a:ext cx="1886407" cy="434340"/>
          </a:xfrm>
          <a:prstGeom prst="rect">
            <a:avLst/>
          </a:prstGeom>
          <a:noFill/>
        </p:spPr>
        <p:txBody>
          <a:bodyPr wrap="square" lIns="0" tIns="0" rIns="0" bIns="0" anchor="ctr">
            <a:normAutofit/>
          </a:bodyPr>
          <a:lstStyle/>
          <a:p>
            <a:pPr marL="0" indent="0">
              <a:buNone/>
            </a:pPr>
            <a:r>
              <a:rPr sz="1270">
                <a:solidFill>
                  <a:srgbClr val="1A1E2A"/>
                </a:solidFill>
              </a:rPr>
              <a:t>Negative</a:t>
            </a:r>
            <a:endParaRPr sz="1270"/>
          </a:p>
        </p:txBody>
      </p:sp>
      <p:sp>
        <p:nvSpPr>
          <p:cNvPr id="38" name="Shape 36">
            <a:extLst>
              <a:ext uri="{FF2B5EF4-FFF2-40B4-BE49-F238E27FC236}">
                <a16:creationId xmlns:a16="http://schemas.microsoft.com/office/drawing/2014/main" id="{EE87937F-BD1F-4174-8085-6349DFCA27AF}"/>
              </a:ext>
            </a:extLst>
          </p:cNvPr>
          <p:cNvSpPr>
            <a:spLocks noGrp="1"/>
          </p:cNvSpPr>
          <p:nvPr/>
        </p:nvSpPr>
        <p:spPr>
          <a:xfrm>
            <a:off x="5331866" y="2994660"/>
            <a:ext cx="2032711" cy="525780"/>
          </a:xfrm>
          <a:prstGeom prst="rect">
            <a:avLst/>
          </a:prstGeom>
          <a:solidFill>
            <a:srgbClr val="FFFFFF"/>
          </a:solidFill>
          <a:ln w="6350">
            <a:solidFill>
              <a:srgbClr val="DDE3EF"/>
            </a:solidFill>
            <a:prstDash val="solid"/>
          </a:ln>
        </p:spPr>
      </p:sp>
      <p:sp>
        <p:nvSpPr>
          <p:cNvPr id="39" name="Text 37">
            <a:extLst>
              <a:ext uri="{FF2B5EF4-FFF2-40B4-BE49-F238E27FC236}">
                <a16:creationId xmlns:a16="http://schemas.microsoft.com/office/drawing/2014/main" id="{20662258-0CFC-4A64-BCBE-CA7F9E1F86AF}"/>
              </a:ext>
            </a:extLst>
          </p:cNvPr>
          <p:cNvSpPr>
            <a:spLocks noGrp="1"/>
          </p:cNvSpPr>
          <p:nvPr/>
        </p:nvSpPr>
        <p:spPr>
          <a:xfrm>
            <a:off x="5405018" y="3067812"/>
            <a:ext cx="1886407" cy="434340"/>
          </a:xfrm>
          <a:prstGeom prst="rect">
            <a:avLst/>
          </a:prstGeom>
          <a:noFill/>
        </p:spPr>
        <p:txBody>
          <a:bodyPr wrap="square" lIns="0" tIns="0" rIns="0" bIns="0" anchor="ctr">
            <a:normAutofit/>
          </a:bodyPr>
          <a:lstStyle/>
          <a:p>
            <a:pPr marL="0" indent="0">
              <a:buNone/>
            </a:pPr>
            <a:r>
              <a:rPr sz="1270">
                <a:solidFill>
                  <a:srgbClr val="1A1E2A"/>
                </a:solidFill>
              </a:rPr>
              <a:t>Positive</a:t>
            </a:r>
            <a:endParaRPr sz="1270"/>
          </a:p>
        </p:txBody>
      </p:sp>
      <p:sp>
        <p:nvSpPr>
          <p:cNvPr id="40" name="Shape 38">
            <a:extLst>
              <a:ext uri="{FF2B5EF4-FFF2-40B4-BE49-F238E27FC236}">
                <a16:creationId xmlns:a16="http://schemas.microsoft.com/office/drawing/2014/main" id="{20FB9FBD-7D16-4B42-BFB8-787D7F43AE65}"/>
              </a:ext>
            </a:extLst>
          </p:cNvPr>
          <p:cNvSpPr>
            <a:spLocks noGrp="1"/>
          </p:cNvSpPr>
          <p:nvPr/>
        </p:nvSpPr>
        <p:spPr>
          <a:xfrm>
            <a:off x="7364578" y="2994660"/>
            <a:ext cx="2032711" cy="525780"/>
          </a:xfrm>
          <a:prstGeom prst="rect">
            <a:avLst/>
          </a:prstGeom>
          <a:solidFill>
            <a:srgbClr val="FFFFFF"/>
          </a:solidFill>
          <a:ln w="6350">
            <a:solidFill>
              <a:srgbClr val="DDE3EF"/>
            </a:solidFill>
            <a:prstDash val="solid"/>
          </a:ln>
        </p:spPr>
      </p:sp>
      <p:sp>
        <p:nvSpPr>
          <p:cNvPr id="41" name="Text 39">
            <a:extLst>
              <a:ext uri="{FF2B5EF4-FFF2-40B4-BE49-F238E27FC236}">
                <a16:creationId xmlns:a16="http://schemas.microsoft.com/office/drawing/2014/main" id="{6E49A00D-A63C-4762-8A4B-650CEF38E6FE}"/>
              </a:ext>
            </a:extLst>
          </p:cNvPr>
          <p:cNvSpPr>
            <a:spLocks noGrp="1"/>
          </p:cNvSpPr>
          <p:nvPr/>
        </p:nvSpPr>
        <p:spPr>
          <a:xfrm>
            <a:off x="7437730" y="3067812"/>
            <a:ext cx="1886407" cy="434340"/>
          </a:xfrm>
          <a:prstGeom prst="rect">
            <a:avLst/>
          </a:prstGeom>
          <a:noFill/>
        </p:spPr>
        <p:txBody>
          <a:bodyPr wrap="square" lIns="0" tIns="0" rIns="0" bIns="0" anchor="ctr">
            <a:normAutofit/>
          </a:bodyPr>
          <a:lstStyle/>
          <a:p>
            <a:pPr marL="0" indent="0">
              <a:buNone/>
            </a:pPr>
            <a:r>
              <a:rPr sz="1270">
                <a:solidFill>
                  <a:srgbClr val="1A1E2A"/>
                </a:solidFill>
              </a:rPr>
              <a:t>Neutral</a:t>
            </a:r>
            <a:endParaRPr sz="1270"/>
          </a:p>
        </p:txBody>
      </p:sp>
      <p:sp>
        <p:nvSpPr>
          <p:cNvPr id="42" name="Shape 40">
            <a:extLst>
              <a:ext uri="{FF2B5EF4-FFF2-40B4-BE49-F238E27FC236}">
                <a16:creationId xmlns:a16="http://schemas.microsoft.com/office/drawing/2014/main" id="{1B5836B5-C94D-497B-A7DB-0C2DC1394036}"/>
              </a:ext>
            </a:extLst>
          </p:cNvPr>
          <p:cNvSpPr>
            <a:spLocks noGrp="1"/>
          </p:cNvSpPr>
          <p:nvPr/>
        </p:nvSpPr>
        <p:spPr>
          <a:xfrm>
            <a:off x="9397289" y="2994660"/>
            <a:ext cx="2032711" cy="525780"/>
          </a:xfrm>
          <a:prstGeom prst="rect">
            <a:avLst/>
          </a:prstGeom>
          <a:solidFill>
            <a:srgbClr val="FFFFFF"/>
          </a:solidFill>
          <a:ln w="6350">
            <a:solidFill>
              <a:srgbClr val="DDE3EF"/>
            </a:solidFill>
            <a:prstDash val="solid"/>
          </a:ln>
        </p:spPr>
      </p:sp>
      <p:sp>
        <p:nvSpPr>
          <p:cNvPr id="43" name="Text 41">
            <a:extLst>
              <a:ext uri="{FF2B5EF4-FFF2-40B4-BE49-F238E27FC236}">
                <a16:creationId xmlns:a16="http://schemas.microsoft.com/office/drawing/2014/main" id="{7DF9AC55-2164-4FB8-851F-3B0B2D2F83D7}"/>
              </a:ext>
            </a:extLst>
          </p:cNvPr>
          <p:cNvSpPr>
            <a:spLocks noGrp="1"/>
          </p:cNvSpPr>
          <p:nvPr/>
        </p:nvSpPr>
        <p:spPr>
          <a:xfrm>
            <a:off x="9470441" y="3067812"/>
            <a:ext cx="1886407" cy="434340"/>
          </a:xfrm>
          <a:prstGeom prst="rect">
            <a:avLst/>
          </a:prstGeom>
          <a:noFill/>
        </p:spPr>
        <p:txBody>
          <a:bodyPr wrap="square" lIns="0" tIns="0" rIns="0" bIns="0" anchor="ctr">
            <a:normAutofit/>
          </a:bodyPr>
          <a:lstStyle/>
          <a:p>
            <a:pPr marL="0" indent="0">
              <a:buNone/>
            </a:pPr>
            <a:r>
              <a:rPr sz="1270">
                <a:solidFill>
                  <a:srgbClr val="1A1E2A"/>
                </a:solidFill>
              </a:rPr>
              <a:t>Tutarsız / dışarıda</a:t>
            </a:r>
            <a:endParaRPr sz="1270"/>
          </a:p>
        </p:txBody>
      </p:sp>
      <p:sp>
        <p:nvSpPr>
          <p:cNvPr id="44" name="Text 42">
            <a:extLst>
              <a:ext uri="{FF2B5EF4-FFF2-40B4-BE49-F238E27FC236}">
                <a16:creationId xmlns:a16="http://schemas.microsoft.com/office/drawing/2014/main" id="{3EC1658C-1568-48C9-B648-2DD5372214FE}"/>
              </a:ext>
            </a:extLst>
          </p:cNvPr>
          <p:cNvSpPr>
            <a:spLocks noGrp="1"/>
          </p:cNvSpPr>
          <p:nvPr/>
        </p:nvSpPr>
        <p:spPr>
          <a:xfrm>
            <a:off x="914400" y="3977640"/>
            <a:ext cx="9784080" cy="1143000"/>
          </a:xfrm>
          <a:prstGeom prst="rect">
            <a:avLst/>
          </a:prstGeom>
          <a:noFill/>
        </p:spPr>
        <p:txBody>
          <a:bodyPr wrap="square" lIns="635" tIns="635" rIns="635" bIns="635" anchor="ctr">
            <a:normAutofit/>
          </a:bodyPr>
          <a:lstStyle/>
          <a:p>
            <a:r>
              <a:rPr sz="1570">
                <a:solidFill>
                  <a:srgbClr val="1A1E2A"/>
                </a:solidFill>
              </a:rPr>
              <a:t>Hem eğitim adayları hem dış test adayları ChatGPT, Claude ve Gemini ile yeniden etiketlenecek.</a:t>
            </a:r>
            <a:endParaRPr sz="1570"/>
          </a:p>
          <a:p>
            <a:r>
              <a:rPr sz="1570">
                <a:solidFill>
                  <a:srgbClr val="1A1E2A"/>
                </a:solidFill>
              </a:rPr>
              <a:t>3/3 consensus geçen örnekler güvenilir çekirdek set olarak kullanılacak.</a:t>
            </a:r>
            <a:endParaRPr sz="1570"/>
          </a:p>
          <a:p>
            <a:r>
              <a:rPr sz="1570">
                <a:solidFill>
                  <a:srgbClr val="1A1E2A"/>
                </a:solidFill>
              </a:rPr>
              <a:t>2/3 majority örnekler duyarlılık analizine ayrılacak; tutarsız örnekler analiz edilecek veya dışarıda bırakılacak.</a:t>
            </a:r>
            <a:endParaRPr sz="1570"/>
          </a:p>
        </p:txBody>
      </p:sp>
      <p:sp>
        <p:nvSpPr>
          <p:cNvPr id="45" name="Text 43">
            <a:extLst>
              <a:ext uri="{FF2B5EF4-FFF2-40B4-BE49-F238E27FC236}">
                <a16:creationId xmlns:a16="http://schemas.microsoft.com/office/drawing/2014/main" id="{948E3EF0-F1D3-454C-9AAF-B628E9222D68}"/>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46" name="Text 44">
            <a:extLst>
              <a:ext uri="{FF2B5EF4-FFF2-40B4-BE49-F238E27FC236}">
                <a16:creationId xmlns:a16="http://schemas.microsoft.com/office/drawing/2014/main" id="{857B44B0-2FB3-40D1-86AC-21C4A30293E7}"/>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31</a:t>
            </a:r>
            <a:endParaRPr sz="850"/>
          </a:p>
        </p:txBody>
      </p:sp>
      <p:sp>
        <p:nvSpPr>
          <p:cNvPr id="47" name="Shape 45">
            <a:extLst>
              <a:ext uri="{FF2B5EF4-FFF2-40B4-BE49-F238E27FC236}">
                <a16:creationId xmlns:a16="http://schemas.microsoft.com/office/drawing/2014/main" id="{7C779DDF-2261-4205-AAF5-189FC4B94E59}"/>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2118650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7EDECFF-ADCB-4BEE-A016-BA641091951E}"/>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Devam planı 2: Eğitim veri setini kontrollü büyütme</a:t>
            </a:r>
            <a:endParaRPr sz="3100"/>
          </a:p>
        </p:txBody>
      </p:sp>
      <p:sp>
        <p:nvSpPr>
          <p:cNvPr id="3" name="Text 1">
            <a:extLst>
              <a:ext uri="{FF2B5EF4-FFF2-40B4-BE49-F238E27FC236}">
                <a16:creationId xmlns:a16="http://schemas.microsoft.com/office/drawing/2014/main" id="{719B04B8-A822-4E70-9233-FF92E7F956DB}"/>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Yeni eğitim havuzu ve yeni model seti birlikte kurulacak.</a:t>
            </a:r>
            <a:endParaRPr sz="1450"/>
          </a:p>
        </p:txBody>
      </p:sp>
      <p:sp>
        <p:nvSpPr>
          <p:cNvPr id="4" name="Text 2">
            <a:extLst>
              <a:ext uri="{FF2B5EF4-FFF2-40B4-BE49-F238E27FC236}">
                <a16:creationId xmlns:a16="http://schemas.microsoft.com/office/drawing/2014/main" id="{943409B5-9C67-4A09-A089-ACFF96E05F0D}"/>
              </a:ext>
            </a:extLst>
          </p:cNvPr>
          <p:cNvSpPr>
            <a:spLocks noGrp="1"/>
          </p:cNvSpPr>
          <p:nvPr/>
        </p:nvSpPr>
        <p:spPr>
          <a:xfrm>
            <a:off x="822960" y="1325880"/>
            <a:ext cx="2286000" cy="274320"/>
          </a:xfrm>
          <a:prstGeom prst="rect">
            <a:avLst/>
          </a:prstGeom>
          <a:noFill/>
        </p:spPr>
        <p:txBody>
          <a:bodyPr wrap="square" lIns="0" tIns="0" rIns="0" bIns="0" anchor="ctr"/>
          <a:lstStyle/>
          <a:p>
            <a:pPr marL="0" indent="0">
              <a:buNone/>
            </a:pPr>
            <a:r>
              <a:rPr sz="1800" b="1">
                <a:solidFill>
                  <a:srgbClr val="172033"/>
                </a:solidFill>
              </a:rPr>
              <a:t>Yeni öneri</a:t>
            </a:r>
            <a:endParaRPr sz="1800"/>
          </a:p>
        </p:txBody>
      </p:sp>
      <p:sp>
        <p:nvSpPr>
          <p:cNvPr id="5" name="Text 3">
            <a:extLst>
              <a:ext uri="{FF2B5EF4-FFF2-40B4-BE49-F238E27FC236}">
                <a16:creationId xmlns:a16="http://schemas.microsoft.com/office/drawing/2014/main" id="{2A304B27-2717-4C74-BD44-F1314342C7FF}"/>
              </a:ext>
            </a:extLst>
          </p:cNvPr>
          <p:cNvSpPr>
            <a:spLocks noGrp="1"/>
          </p:cNvSpPr>
          <p:nvPr/>
        </p:nvSpPr>
        <p:spPr>
          <a:xfrm>
            <a:off x="822960" y="1783080"/>
            <a:ext cx="5120640" cy="731520"/>
          </a:xfrm>
          <a:prstGeom prst="rect">
            <a:avLst/>
          </a:prstGeom>
          <a:noFill/>
        </p:spPr>
        <p:txBody>
          <a:bodyPr wrap="square" lIns="381" tIns="381" rIns="381" bIns="381" anchor="ctr">
            <a:normAutofit fontScale="99130"/>
          </a:bodyPr>
          <a:lstStyle/>
          <a:p>
            <a:pPr marL="0" indent="0">
              <a:buNone/>
            </a:pPr>
            <a:r>
              <a:rPr sz="1700">
                <a:solidFill>
                  <a:srgbClr val="1A1E2A"/>
                </a:solidFill>
              </a:rPr>
              <a:t>Consensus S&amp;P/Reuters-train + açık finansal sentiment setleri eğitim havuzuna kontrollü eklenebilir.</a:t>
            </a:r>
            <a:endParaRPr sz="1700"/>
          </a:p>
        </p:txBody>
      </p:sp>
      <p:sp>
        <p:nvSpPr>
          <p:cNvPr id="6" name="Text 4">
            <a:extLst>
              <a:ext uri="{FF2B5EF4-FFF2-40B4-BE49-F238E27FC236}">
                <a16:creationId xmlns:a16="http://schemas.microsoft.com/office/drawing/2014/main" id="{056D7E4C-3570-4CC1-BC69-61FE4711114F}"/>
              </a:ext>
            </a:extLst>
          </p:cNvPr>
          <p:cNvSpPr>
            <a:spLocks noGrp="1"/>
          </p:cNvSpPr>
          <p:nvPr/>
        </p:nvSpPr>
        <p:spPr>
          <a:xfrm>
            <a:off x="6492240" y="1325880"/>
            <a:ext cx="2560320" cy="274320"/>
          </a:xfrm>
          <a:prstGeom prst="rect">
            <a:avLst/>
          </a:prstGeom>
          <a:noFill/>
        </p:spPr>
        <p:txBody>
          <a:bodyPr wrap="square" lIns="0" tIns="0" rIns="0" bIns="0" anchor="ctr"/>
          <a:lstStyle/>
          <a:p>
            <a:pPr marL="0" indent="0">
              <a:buNone/>
            </a:pPr>
            <a:r>
              <a:rPr sz="1800" b="1">
                <a:solidFill>
                  <a:srgbClr val="172033"/>
                </a:solidFill>
              </a:rPr>
              <a:t>Leakage kontrolü</a:t>
            </a:r>
            <a:endParaRPr sz="1800"/>
          </a:p>
        </p:txBody>
      </p:sp>
      <p:sp>
        <p:nvSpPr>
          <p:cNvPr id="7" name="Text 5">
            <a:extLst>
              <a:ext uri="{FF2B5EF4-FFF2-40B4-BE49-F238E27FC236}">
                <a16:creationId xmlns:a16="http://schemas.microsoft.com/office/drawing/2014/main" id="{8A9FACE2-B67B-4747-96CA-3F8E9C23FA51}"/>
              </a:ext>
            </a:extLst>
          </p:cNvPr>
          <p:cNvSpPr>
            <a:spLocks noGrp="1"/>
          </p:cNvSpPr>
          <p:nvPr/>
        </p:nvSpPr>
        <p:spPr>
          <a:xfrm>
            <a:off x="6492240" y="1783080"/>
            <a:ext cx="4297680" cy="731520"/>
          </a:xfrm>
          <a:prstGeom prst="rect">
            <a:avLst/>
          </a:prstGeom>
          <a:noFill/>
        </p:spPr>
        <p:txBody>
          <a:bodyPr wrap="square" lIns="381" tIns="381" rIns="381" bIns="381" anchor="ctr">
            <a:normAutofit fontScale="86649"/>
          </a:bodyPr>
          <a:lstStyle/>
          <a:p>
            <a:pPr marL="0" indent="0">
              <a:buNone/>
            </a:pPr>
            <a:r>
              <a:rPr sz="1700" b="1" dirty="0" err="1">
                <a:solidFill>
                  <a:srgbClr val="D64545"/>
                </a:solidFill>
              </a:rPr>
              <a:t>Train’e</a:t>
            </a:r>
            <a:r>
              <a:rPr sz="1700" b="1" dirty="0">
                <a:solidFill>
                  <a:srgbClr val="D64545"/>
                </a:solidFill>
              </a:rPr>
              <a:t> </a:t>
            </a:r>
            <a:r>
              <a:rPr sz="1700" b="1" dirty="0" err="1">
                <a:solidFill>
                  <a:srgbClr val="D64545"/>
                </a:solidFill>
              </a:rPr>
              <a:t>eklenen</a:t>
            </a:r>
            <a:r>
              <a:rPr sz="1700" b="1" dirty="0">
                <a:solidFill>
                  <a:srgbClr val="D64545"/>
                </a:solidFill>
              </a:rPr>
              <a:t> </a:t>
            </a:r>
            <a:r>
              <a:rPr sz="1700" b="1" dirty="0" err="1">
                <a:solidFill>
                  <a:srgbClr val="D64545"/>
                </a:solidFill>
              </a:rPr>
              <a:t>hiçbir</a:t>
            </a:r>
            <a:r>
              <a:rPr sz="1700" b="1" dirty="0">
                <a:solidFill>
                  <a:srgbClr val="D64545"/>
                </a:solidFill>
              </a:rPr>
              <a:t> </a:t>
            </a:r>
            <a:r>
              <a:rPr sz="1700" b="1" dirty="0" err="1">
                <a:solidFill>
                  <a:srgbClr val="D64545"/>
                </a:solidFill>
              </a:rPr>
              <a:t>örnek</a:t>
            </a:r>
            <a:r>
              <a:rPr sz="1700" b="1" dirty="0">
                <a:solidFill>
                  <a:srgbClr val="D64545"/>
                </a:solidFill>
              </a:rPr>
              <a:t> </a:t>
            </a:r>
            <a:r>
              <a:rPr sz="1700" b="1" dirty="0" err="1">
                <a:solidFill>
                  <a:srgbClr val="D64545"/>
                </a:solidFill>
              </a:rPr>
              <a:t>kilitli</a:t>
            </a:r>
            <a:r>
              <a:rPr sz="1700" b="1" dirty="0">
                <a:solidFill>
                  <a:srgbClr val="D64545"/>
                </a:solidFill>
              </a:rPr>
              <a:t> external </a:t>
            </a:r>
            <a:r>
              <a:rPr sz="1700" b="1" dirty="0" err="1">
                <a:solidFill>
                  <a:srgbClr val="D64545"/>
                </a:solidFill>
              </a:rPr>
              <a:t>testte</a:t>
            </a:r>
            <a:r>
              <a:rPr sz="1700" b="1" dirty="0">
                <a:solidFill>
                  <a:srgbClr val="D64545"/>
                </a:solidFill>
              </a:rPr>
              <a:t> </a:t>
            </a:r>
            <a:r>
              <a:rPr sz="1700" b="1" dirty="0" err="1">
                <a:solidFill>
                  <a:srgbClr val="D64545"/>
                </a:solidFill>
              </a:rPr>
              <a:t>kullanılmayacak</a:t>
            </a:r>
            <a:r>
              <a:rPr sz="1700" b="1" dirty="0">
                <a:solidFill>
                  <a:srgbClr val="D64545"/>
                </a:solidFill>
              </a:rPr>
              <a:t>. </a:t>
            </a:r>
            <a:r>
              <a:rPr sz="1700" b="1" dirty="0" err="1">
                <a:solidFill>
                  <a:srgbClr val="D64545"/>
                </a:solidFill>
              </a:rPr>
              <a:t>FinGPT</a:t>
            </a:r>
            <a:r>
              <a:rPr sz="1700" b="1" dirty="0">
                <a:solidFill>
                  <a:srgbClr val="D64545"/>
                </a:solidFill>
              </a:rPr>
              <a:t> </a:t>
            </a:r>
            <a:r>
              <a:rPr sz="1700" b="1" dirty="0" err="1">
                <a:solidFill>
                  <a:srgbClr val="D64545"/>
                </a:solidFill>
              </a:rPr>
              <a:t>ve</a:t>
            </a:r>
            <a:r>
              <a:rPr sz="1700" b="1" dirty="0">
                <a:solidFill>
                  <a:srgbClr val="D64545"/>
                </a:solidFill>
              </a:rPr>
              <a:t> Financial-</a:t>
            </a:r>
            <a:r>
              <a:rPr sz="1700" b="1" dirty="0" err="1">
                <a:solidFill>
                  <a:srgbClr val="D64545"/>
                </a:solidFill>
              </a:rPr>
              <a:t>RoBERTa</a:t>
            </a:r>
            <a:r>
              <a:rPr sz="1700" b="1" dirty="0">
                <a:solidFill>
                  <a:srgbClr val="D64545"/>
                </a:solidFill>
              </a:rPr>
              <a:t> </a:t>
            </a:r>
            <a:r>
              <a:rPr sz="1700" b="1" dirty="0" err="1">
                <a:solidFill>
                  <a:srgbClr val="D64545"/>
                </a:solidFill>
              </a:rPr>
              <a:t>için</a:t>
            </a:r>
            <a:r>
              <a:rPr sz="1700" b="1" dirty="0">
                <a:solidFill>
                  <a:srgbClr val="D64545"/>
                </a:solidFill>
              </a:rPr>
              <a:t> benchmark overlap </a:t>
            </a:r>
            <a:r>
              <a:rPr sz="1700" b="1" dirty="0" err="1">
                <a:solidFill>
                  <a:srgbClr val="D64545"/>
                </a:solidFill>
              </a:rPr>
              <a:t>denetlenecek</a:t>
            </a:r>
            <a:r>
              <a:rPr sz="1700" b="1" dirty="0">
                <a:solidFill>
                  <a:srgbClr val="D64545"/>
                </a:solidFill>
              </a:rPr>
              <a:t>.</a:t>
            </a:r>
            <a:endParaRPr sz="1700" dirty="0"/>
          </a:p>
        </p:txBody>
      </p:sp>
      <p:sp>
        <p:nvSpPr>
          <p:cNvPr id="8" name="Shape 6">
            <a:extLst>
              <a:ext uri="{FF2B5EF4-FFF2-40B4-BE49-F238E27FC236}">
                <a16:creationId xmlns:a16="http://schemas.microsoft.com/office/drawing/2014/main" id="{73F7110B-7CBE-49F9-A673-2B21110AC470}"/>
              </a:ext>
            </a:extLst>
          </p:cNvPr>
          <p:cNvSpPr>
            <a:spLocks noGrp="1"/>
          </p:cNvSpPr>
          <p:nvPr/>
        </p:nvSpPr>
        <p:spPr>
          <a:xfrm>
            <a:off x="1005840" y="3429000"/>
            <a:ext cx="4567428" cy="51816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E0CDB8AA-05F9-485B-B46A-694653B102C7}"/>
              </a:ext>
            </a:extLst>
          </p:cNvPr>
          <p:cNvSpPr>
            <a:spLocks noGrp="1"/>
          </p:cNvSpPr>
          <p:nvPr/>
        </p:nvSpPr>
        <p:spPr>
          <a:xfrm>
            <a:off x="1078992" y="3502152"/>
            <a:ext cx="4421124" cy="426720"/>
          </a:xfrm>
          <a:prstGeom prst="rect">
            <a:avLst/>
          </a:prstGeom>
          <a:noFill/>
        </p:spPr>
        <p:txBody>
          <a:bodyPr wrap="square" lIns="0" tIns="0" rIns="0" bIns="0" anchor="ctr">
            <a:normAutofit/>
          </a:bodyPr>
          <a:lstStyle/>
          <a:p>
            <a:pPr marL="0" indent="0">
              <a:buNone/>
            </a:pPr>
            <a:r>
              <a:rPr sz="1150" b="1">
                <a:solidFill>
                  <a:srgbClr val="FFFFFF"/>
                </a:solidFill>
              </a:rPr>
              <a:t>Eski kurgu</a:t>
            </a:r>
            <a:endParaRPr sz="1150"/>
          </a:p>
        </p:txBody>
      </p:sp>
      <p:sp>
        <p:nvSpPr>
          <p:cNvPr id="10" name="Shape 8">
            <a:extLst>
              <a:ext uri="{FF2B5EF4-FFF2-40B4-BE49-F238E27FC236}">
                <a16:creationId xmlns:a16="http://schemas.microsoft.com/office/drawing/2014/main" id="{5701A056-D367-4D14-B05F-71ABBDF9E666}"/>
              </a:ext>
            </a:extLst>
          </p:cNvPr>
          <p:cNvSpPr>
            <a:spLocks noGrp="1"/>
          </p:cNvSpPr>
          <p:nvPr/>
        </p:nvSpPr>
        <p:spPr>
          <a:xfrm>
            <a:off x="5573268" y="3429000"/>
            <a:ext cx="5582412" cy="518160"/>
          </a:xfrm>
          <a:prstGeom prst="rect">
            <a:avLst/>
          </a:prstGeom>
          <a:solidFill>
            <a:srgbClr val="1D2B46"/>
          </a:solidFill>
          <a:ln w="6350">
            <a:solidFill>
              <a:srgbClr val="DDE3EF"/>
            </a:solidFill>
            <a:prstDash val="solid"/>
          </a:ln>
        </p:spPr>
      </p:sp>
      <p:sp>
        <p:nvSpPr>
          <p:cNvPr id="11" name="Text 9">
            <a:extLst>
              <a:ext uri="{FF2B5EF4-FFF2-40B4-BE49-F238E27FC236}">
                <a16:creationId xmlns:a16="http://schemas.microsoft.com/office/drawing/2014/main" id="{DF53D755-5B03-4497-ADCC-4C0244702B26}"/>
              </a:ext>
            </a:extLst>
          </p:cNvPr>
          <p:cNvSpPr>
            <a:spLocks noGrp="1"/>
          </p:cNvSpPr>
          <p:nvPr/>
        </p:nvSpPr>
        <p:spPr>
          <a:xfrm>
            <a:off x="5646420" y="3502152"/>
            <a:ext cx="5436108" cy="426720"/>
          </a:xfrm>
          <a:prstGeom prst="rect">
            <a:avLst/>
          </a:prstGeom>
          <a:noFill/>
        </p:spPr>
        <p:txBody>
          <a:bodyPr wrap="square" lIns="0" tIns="0" rIns="0" bIns="0" anchor="ctr">
            <a:normAutofit/>
          </a:bodyPr>
          <a:lstStyle/>
          <a:p>
            <a:pPr marL="0" indent="0">
              <a:buNone/>
            </a:pPr>
            <a:r>
              <a:rPr sz="1150" b="1">
                <a:solidFill>
                  <a:srgbClr val="FFFFFF"/>
                </a:solidFill>
              </a:rPr>
              <a:t>Yeni kurgu</a:t>
            </a:r>
            <a:endParaRPr sz="1150"/>
          </a:p>
        </p:txBody>
      </p:sp>
      <p:sp>
        <p:nvSpPr>
          <p:cNvPr id="12" name="Shape 10">
            <a:extLst>
              <a:ext uri="{FF2B5EF4-FFF2-40B4-BE49-F238E27FC236}">
                <a16:creationId xmlns:a16="http://schemas.microsoft.com/office/drawing/2014/main" id="{B8C7F9E0-38FD-4788-B6F1-FA06789DB906}"/>
              </a:ext>
            </a:extLst>
          </p:cNvPr>
          <p:cNvSpPr>
            <a:spLocks noGrp="1"/>
          </p:cNvSpPr>
          <p:nvPr/>
        </p:nvSpPr>
        <p:spPr>
          <a:xfrm>
            <a:off x="1005840" y="3947160"/>
            <a:ext cx="4567428" cy="518160"/>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046BEAA7-41C5-487B-B7A1-830202A2A9B1}"/>
              </a:ext>
            </a:extLst>
          </p:cNvPr>
          <p:cNvSpPr>
            <a:spLocks noGrp="1"/>
          </p:cNvSpPr>
          <p:nvPr/>
        </p:nvSpPr>
        <p:spPr>
          <a:xfrm>
            <a:off x="1078992" y="4020312"/>
            <a:ext cx="4421124" cy="426720"/>
          </a:xfrm>
          <a:prstGeom prst="rect">
            <a:avLst/>
          </a:prstGeom>
          <a:noFill/>
        </p:spPr>
        <p:txBody>
          <a:bodyPr wrap="square" lIns="0" tIns="0" rIns="0" bIns="0" anchor="ctr">
            <a:normAutofit/>
          </a:bodyPr>
          <a:lstStyle/>
          <a:p>
            <a:pPr marL="0" indent="0">
              <a:buNone/>
            </a:pPr>
            <a:r>
              <a:rPr sz="1240">
                <a:solidFill>
                  <a:srgbClr val="1A1E2A"/>
                </a:solidFill>
              </a:rPr>
              <a:t>Twitter + PhraseBank → Train</a:t>
            </a:r>
            <a:endParaRPr sz="1240"/>
          </a:p>
        </p:txBody>
      </p:sp>
      <p:sp>
        <p:nvSpPr>
          <p:cNvPr id="14" name="Shape 12">
            <a:extLst>
              <a:ext uri="{FF2B5EF4-FFF2-40B4-BE49-F238E27FC236}">
                <a16:creationId xmlns:a16="http://schemas.microsoft.com/office/drawing/2014/main" id="{9E0017CF-7D38-4E09-B5C2-DC35DB9A6EF7}"/>
              </a:ext>
            </a:extLst>
          </p:cNvPr>
          <p:cNvSpPr>
            <a:spLocks noGrp="1"/>
          </p:cNvSpPr>
          <p:nvPr/>
        </p:nvSpPr>
        <p:spPr>
          <a:xfrm>
            <a:off x="5573268" y="3947160"/>
            <a:ext cx="5582412" cy="51816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2B6A364F-451F-4C20-AA73-438FF709508F}"/>
              </a:ext>
            </a:extLst>
          </p:cNvPr>
          <p:cNvSpPr>
            <a:spLocks noGrp="1"/>
          </p:cNvSpPr>
          <p:nvPr/>
        </p:nvSpPr>
        <p:spPr>
          <a:xfrm>
            <a:off x="5646420" y="4020312"/>
            <a:ext cx="5436108" cy="426720"/>
          </a:xfrm>
          <a:prstGeom prst="rect">
            <a:avLst/>
          </a:prstGeom>
          <a:noFill/>
        </p:spPr>
        <p:txBody>
          <a:bodyPr wrap="square" lIns="0" tIns="0" rIns="0" bIns="0" anchor="ctr">
            <a:normAutofit/>
          </a:bodyPr>
          <a:lstStyle/>
          <a:p>
            <a:pPr marL="0" indent="0">
              <a:buNone/>
            </a:pPr>
            <a:r>
              <a:rPr sz="1240">
                <a:solidFill>
                  <a:srgbClr val="1A1E2A"/>
                </a:solidFill>
              </a:rPr>
              <a:t>Twitter + PhraseBank + consensus S&amp;P/Reuters-train + ek finansal sentiment setleri → Train</a:t>
            </a:r>
            <a:endParaRPr sz="1240"/>
          </a:p>
        </p:txBody>
      </p:sp>
      <p:sp>
        <p:nvSpPr>
          <p:cNvPr id="16" name="Shape 14">
            <a:extLst>
              <a:ext uri="{FF2B5EF4-FFF2-40B4-BE49-F238E27FC236}">
                <a16:creationId xmlns:a16="http://schemas.microsoft.com/office/drawing/2014/main" id="{4B1573E4-9195-4977-AEE9-550F61B07EE6}"/>
              </a:ext>
            </a:extLst>
          </p:cNvPr>
          <p:cNvSpPr>
            <a:spLocks noGrp="1"/>
          </p:cNvSpPr>
          <p:nvPr/>
        </p:nvSpPr>
        <p:spPr>
          <a:xfrm>
            <a:off x="1005840" y="4465320"/>
            <a:ext cx="4567428" cy="518160"/>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9EDB9CE1-A017-4839-8AB1-D623E7BDC62C}"/>
              </a:ext>
            </a:extLst>
          </p:cNvPr>
          <p:cNvSpPr>
            <a:spLocks noGrp="1"/>
          </p:cNvSpPr>
          <p:nvPr/>
        </p:nvSpPr>
        <p:spPr>
          <a:xfrm>
            <a:off x="1078992" y="4538472"/>
            <a:ext cx="4421124" cy="426720"/>
          </a:xfrm>
          <a:prstGeom prst="rect">
            <a:avLst/>
          </a:prstGeom>
          <a:noFill/>
        </p:spPr>
        <p:txBody>
          <a:bodyPr wrap="square" lIns="0" tIns="0" rIns="0" bIns="0" anchor="ctr">
            <a:normAutofit/>
          </a:bodyPr>
          <a:lstStyle/>
          <a:p>
            <a:pPr marL="0" indent="0">
              <a:buNone/>
            </a:pPr>
            <a:r>
              <a:rPr sz="1240">
                <a:solidFill>
                  <a:srgbClr val="1A1E2A"/>
                </a:solidFill>
              </a:rPr>
              <a:t>S&amp;P/Reuters → External test</a:t>
            </a:r>
            <a:endParaRPr sz="1240"/>
          </a:p>
        </p:txBody>
      </p:sp>
      <p:sp>
        <p:nvSpPr>
          <p:cNvPr id="18" name="Shape 16">
            <a:extLst>
              <a:ext uri="{FF2B5EF4-FFF2-40B4-BE49-F238E27FC236}">
                <a16:creationId xmlns:a16="http://schemas.microsoft.com/office/drawing/2014/main" id="{5A1BB2A8-1F8A-4412-8835-F9FED2FBA293}"/>
              </a:ext>
            </a:extLst>
          </p:cNvPr>
          <p:cNvSpPr>
            <a:spLocks noGrp="1"/>
          </p:cNvSpPr>
          <p:nvPr/>
        </p:nvSpPr>
        <p:spPr>
          <a:xfrm>
            <a:off x="5573268" y="4465320"/>
            <a:ext cx="5582412" cy="518160"/>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ACF6F40E-08D4-4444-B8C9-9C691A2B9FB5}"/>
              </a:ext>
            </a:extLst>
          </p:cNvPr>
          <p:cNvSpPr>
            <a:spLocks noGrp="1"/>
          </p:cNvSpPr>
          <p:nvPr/>
        </p:nvSpPr>
        <p:spPr>
          <a:xfrm>
            <a:off x="5646420" y="4538472"/>
            <a:ext cx="5436108" cy="426720"/>
          </a:xfrm>
          <a:prstGeom prst="rect">
            <a:avLst/>
          </a:prstGeom>
          <a:noFill/>
        </p:spPr>
        <p:txBody>
          <a:bodyPr wrap="square" lIns="0" tIns="0" rIns="0" bIns="0" anchor="ctr">
            <a:normAutofit/>
          </a:bodyPr>
          <a:lstStyle/>
          <a:p>
            <a:pPr marL="0" indent="0">
              <a:buNone/>
            </a:pPr>
            <a:r>
              <a:rPr sz="1240">
                <a:solidFill>
                  <a:srgbClr val="1A1E2A"/>
                </a:solidFill>
              </a:rPr>
              <a:t>Kilitli S&amp;P/Reuters-test → External test</a:t>
            </a:r>
            <a:endParaRPr sz="1240"/>
          </a:p>
        </p:txBody>
      </p:sp>
      <p:sp>
        <p:nvSpPr>
          <p:cNvPr id="20" name="Shape 18">
            <a:extLst>
              <a:ext uri="{FF2B5EF4-FFF2-40B4-BE49-F238E27FC236}">
                <a16:creationId xmlns:a16="http://schemas.microsoft.com/office/drawing/2014/main" id="{9825294F-54BB-4F82-9BE7-1B5237389EC6}"/>
              </a:ext>
            </a:extLst>
          </p:cNvPr>
          <p:cNvSpPr>
            <a:spLocks noGrp="1"/>
          </p:cNvSpPr>
          <p:nvPr/>
        </p:nvSpPr>
        <p:spPr>
          <a:xfrm>
            <a:off x="1005840" y="5486400"/>
            <a:ext cx="10149840" cy="502920"/>
          </a:xfrm>
          <a:prstGeom prst="roundRect">
            <a:avLst>
              <a:gd name="adj" fmla="val 14545"/>
            </a:avLst>
          </a:prstGeom>
          <a:solidFill>
            <a:srgbClr val="F0FAF8"/>
          </a:solidFill>
          <a:ln w="15240">
            <a:solidFill>
              <a:srgbClr val="0F9D8F"/>
            </a:solidFill>
            <a:prstDash val="solid"/>
          </a:ln>
        </p:spPr>
      </p:sp>
      <p:sp>
        <p:nvSpPr>
          <p:cNvPr id="21" name="Text 19">
            <a:extLst>
              <a:ext uri="{FF2B5EF4-FFF2-40B4-BE49-F238E27FC236}">
                <a16:creationId xmlns:a16="http://schemas.microsoft.com/office/drawing/2014/main" id="{519D5F0F-2DDD-4030-9496-730DA1F4D13E}"/>
              </a:ext>
            </a:extLst>
          </p:cNvPr>
          <p:cNvSpPr>
            <a:spLocks noGrp="1"/>
          </p:cNvSpPr>
          <p:nvPr/>
        </p:nvSpPr>
        <p:spPr>
          <a:xfrm>
            <a:off x="1170432" y="5632704"/>
            <a:ext cx="9820656" cy="274320"/>
          </a:xfrm>
          <a:prstGeom prst="rect">
            <a:avLst/>
          </a:prstGeom>
          <a:noFill/>
        </p:spPr>
        <p:txBody>
          <a:bodyPr wrap="square" lIns="254" tIns="254" rIns="254" bIns="254" anchor="ctr">
            <a:normAutofit/>
          </a:bodyPr>
          <a:lstStyle/>
          <a:p>
            <a:pPr marL="0" indent="0">
              <a:buNone/>
            </a:pPr>
            <a:r>
              <a:rPr sz="1500" b="1">
                <a:solidFill>
                  <a:srgbClr val="172033"/>
                </a:solidFill>
              </a:rPr>
              <a:t>Araştırma sorusu: veri çeşitliliği + FinGPT + Financial-RoBERTa dış genellemeyi güçlendirir mi?</a:t>
            </a:r>
            <a:endParaRPr sz="1500"/>
          </a:p>
        </p:txBody>
      </p:sp>
      <p:sp>
        <p:nvSpPr>
          <p:cNvPr id="22" name="Text 20">
            <a:extLst>
              <a:ext uri="{FF2B5EF4-FFF2-40B4-BE49-F238E27FC236}">
                <a16:creationId xmlns:a16="http://schemas.microsoft.com/office/drawing/2014/main" id="{71EBF59E-7E6C-4B06-9B95-1E12AAA2C15F}"/>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23" name="Text 21">
            <a:extLst>
              <a:ext uri="{FF2B5EF4-FFF2-40B4-BE49-F238E27FC236}">
                <a16:creationId xmlns:a16="http://schemas.microsoft.com/office/drawing/2014/main" id="{B496E233-F0D5-4172-AEFE-8BC20929D7A9}"/>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32</a:t>
            </a:r>
            <a:endParaRPr sz="850"/>
          </a:p>
        </p:txBody>
      </p:sp>
      <p:sp>
        <p:nvSpPr>
          <p:cNvPr id="24" name="Shape 22">
            <a:extLst>
              <a:ext uri="{FF2B5EF4-FFF2-40B4-BE49-F238E27FC236}">
                <a16:creationId xmlns:a16="http://schemas.microsoft.com/office/drawing/2014/main" id="{A66E9402-13A4-4996-8822-36BF3CF56A34}"/>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333239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3E79CE-7609-41B7-BEAA-C84183ABD06D}"/>
              </a:ext>
            </a:extLst>
          </p:cNvPr>
          <p:cNvSpPr>
            <a:spLocks noGrp="1"/>
          </p:cNvSpPr>
          <p:nvPr/>
        </p:nvSpPr>
        <p:spPr>
          <a:xfrm>
            <a:off x="502920" y="329184"/>
            <a:ext cx="10881360" cy="502920"/>
          </a:xfrm>
          <a:prstGeom prst="rect">
            <a:avLst/>
          </a:prstGeom>
          <a:noFill/>
        </p:spPr>
        <p:txBody>
          <a:bodyPr wrap="square" lIns="0" tIns="0" rIns="0" bIns="0" anchor="ctr">
            <a:normAutofit fontScale="62500" lnSpcReduction="20000"/>
          </a:bodyPr>
          <a:lstStyle/>
          <a:p>
            <a:pPr marL="0" indent="0">
              <a:buNone/>
            </a:pPr>
            <a:r>
              <a:rPr sz="3100" b="1" dirty="0">
                <a:solidFill>
                  <a:srgbClr val="172033"/>
                </a:solidFill>
                <a:latin typeface="Aptos Display"/>
                <a:ea typeface="Aptos Display"/>
                <a:cs typeface="Aptos Display"/>
              </a:rPr>
              <a:t>Devam </a:t>
            </a:r>
            <a:r>
              <a:rPr sz="3100" b="1" dirty="0" err="1">
                <a:solidFill>
                  <a:srgbClr val="172033"/>
                </a:solidFill>
                <a:latin typeface="Aptos Display"/>
                <a:ea typeface="Aptos Display"/>
                <a:cs typeface="Aptos Display"/>
              </a:rPr>
              <a:t>planı</a:t>
            </a:r>
            <a:r>
              <a:rPr sz="3100" b="1" dirty="0">
                <a:solidFill>
                  <a:srgbClr val="172033"/>
                </a:solidFill>
                <a:latin typeface="Aptos Display"/>
                <a:ea typeface="Aptos Display"/>
                <a:cs typeface="Aptos Display"/>
              </a:rPr>
              <a:t> 3:</a:t>
            </a:r>
            <a:r>
              <a:rPr lang="en-US" sz="3100" b="1" dirty="0">
                <a:solidFill>
                  <a:srgbClr val="172033"/>
                </a:solidFill>
                <a:latin typeface="Aptos Display"/>
                <a:ea typeface="Aptos Display"/>
                <a:cs typeface="Aptos Display"/>
              </a:rPr>
              <a:t> finetuning </a:t>
            </a:r>
            <a:r>
              <a:rPr lang="en-US" sz="3100" b="1" dirty="0" err="1">
                <a:solidFill>
                  <a:srgbClr val="172033"/>
                </a:solidFill>
                <a:latin typeface="Aptos Display"/>
                <a:ea typeface="Aptos Display"/>
                <a:cs typeface="Aptos Display"/>
              </a:rPr>
              <a:t>için</a:t>
            </a:r>
            <a:r>
              <a:rPr lang="en-US" sz="3100" b="1" dirty="0">
                <a:solidFill>
                  <a:srgbClr val="172033"/>
                </a:solidFill>
                <a:latin typeface="Aptos Display"/>
                <a:ea typeface="Aptos Display"/>
                <a:cs typeface="Aptos Display"/>
              </a:rPr>
              <a:t> -&gt;</a:t>
            </a:r>
            <a:r>
              <a:rPr sz="3100" b="1" dirty="0">
                <a:solidFill>
                  <a:srgbClr val="172033"/>
                </a:solidFill>
                <a:latin typeface="Aptos Display"/>
                <a:ea typeface="Aptos Display"/>
                <a:cs typeface="Aptos Display"/>
              </a:rPr>
              <a:t> </a:t>
            </a:r>
            <a:r>
              <a:rPr lang="en-US" sz="3100" b="1" dirty="0">
                <a:solidFill>
                  <a:srgbClr val="172033"/>
                </a:solidFill>
                <a:latin typeface="Aptos Display"/>
                <a:ea typeface="Aptos Display"/>
                <a:cs typeface="Aptos Display"/>
              </a:rPr>
              <a:t>hyper </a:t>
            </a:r>
            <a:r>
              <a:rPr lang="en-US" sz="3100" b="1" dirty="0" err="1">
                <a:solidFill>
                  <a:srgbClr val="172033"/>
                </a:solidFill>
                <a:latin typeface="Aptos Display"/>
                <a:ea typeface="Aptos Display"/>
                <a:cs typeface="Aptos Display"/>
              </a:rPr>
              <a:t>parametreleri</a:t>
            </a:r>
            <a:r>
              <a:rPr lang="en-US" sz="3100" b="1" dirty="0">
                <a:solidFill>
                  <a:srgbClr val="172033"/>
                </a:solidFill>
                <a:latin typeface="Aptos Display"/>
                <a:ea typeface="Aptos Display"/>
                <a:cs typeface="Aptos Display"/>
              </a:rPr>
              <a:t> </a:t>
            </a:r>
            <a:r>
              <a:rPr lang="en-US" sz="3100" b="1" dirty="0" err="1">
                <a:solidFill>
                  <a:srgbClr val="172033"/>
                </a:solidFill>
                <a:latin typeface="Aptos Display"/>
                <a:ea typeface="Aptos Display"/>
                <a:cs typeface="Aptos Display"/>
              </a:rPr>
              <a:t>bulma</a:t>
            </a:r>
            <a:endParaRPr lang="en-US" sz="3100" b="1" dirty="0">
              <a:solidFill>
                <a:srgbClr val="172033"/>
              </a:solidFill>
              <a:latin typeface="Aptos Display"/>
              <a:ea typeface="Aptos Display"/>
              <a:cs typeface="Aptos Display"/>
            </a:endParaRPr>
          </a:p>
          <a:p>
            <a:pPr marL="0" indent="0">
              <a:buNone/>
            </a:pPr>
            <a:r>
              <a:rPr lang="en-US" sz="3100" b="1" dirty="0" err="1">
                <a:solidFill>
                  <a:srgbClr val="172033"/>
                </a:solidFill>
                <a:latin typeface="Aptos Display"/>
              </a:rPr>
              <a:t>Parametreleri</a:t>
            </a:r>
            <a:r>
              <a:rPr lang="en-US" sz="3100" b="1" dirty="0">
                <a:solidFill>
                  <a:srgbClr val="172033"/>
                </a:solidFill>
                <a:latin typeface="Aptos Display"/>
              </a:rPr>
              <a:t> </a:t>
            </a:r>
            <a:r>
              <a:rPr lang="en-US" sz="3100" b="1" dirty="0" err="1">
                <a:solidFill>
                  <a:srgbClr val="172033"/>
                </a:solidFill>
                <a:latin typeface="Aptos Display"/>
              </a:rPr>
              <a:t>koy</a:t>
            </a:r>
            <a:r>
              <a:rPr lang="en-US" sz="3100" b="1" dirty="0">
                <a:solidFill>
                  <a:srgbClr val="172033"/>
                </a:solidFill>
                <a:latin typeface="Aptos Display"/>
              </a:rPr>
              <a:t>. En iyi </a:t>
            </a:r>
            <a:r>
              <a:rPr lang="en-US" sz="3100" b="1" dirty="0" err="1">
                <a:solidFill>
                  <a:srgbClr val="172033"/>
                </a:solidFill>
                <a:latin typeface="Aptos Display"/>
              </a:rPr>
              <a:t>performansı</a:t>
            </a:r>
            <a:r>
              <a:rPr lang="en-US" sz="3100" b="1" dirty="0">
                <a:solidFill>
                  <a:srgbClr val="172033"/>
                </a:solidFill>
                <a:latin typeface="Aptos Display"/>
              </a:rPr>
              <a:t> </a:t>
            </a:r>
            <a:r>
              <a:rPr lang="en-US" sz="3100" b="1" dirty="0" err="1">
                <a:solidFill>
                  <a:srgbClr val="172033"/>
                </a:solidFill>
                <a:latin typeface="Aptos Display"/>
              </a:rPr>
              <a:t>nasıl</a:t>
            </a:r>
            <a:r>
              <a:rPr lang="en-US" sz="3100" b="1" dirty="0">
                <a:solidFill>
                  <a:srgbClr val="172033"/>
                </a:solidFill>
                <a:latin typeface="Aptos Display"/>
              </a:rPr>
              <a:t> </a:t>
            </a:r>
            <a:r>
              <a:rPr lang="en-US" sz="3100" b="1" dirty="0" err="1">
                <a:solidFill>
                  <a:srgbClr val="172033"/>
                </a:solidFill>
                <a:latin typeface="Aptos Display"/>
              </a:rPr>
              <a:t>seçeriz</a:t>
            </a:r>
            <a:r>
              <a:rPr lang="en-US" sz="3100" b="1" dirty="0">
                <a:solidFill>
                  <a:srgbClr val="172033"/>
                </a:solidFill>
                <a:latin typeface="Aptos Display"/>
              </a:rPr>
              <a:t> </a:t>
            </a:r>
            <a:r>
              <a:rPr lang="en-US" sz="3100" b="1" dirty="0" err="1">
                <a:solidFill>
                  <a:srgbClr val="172033"/>
                </a:solidFill>
                <a:latin typeface="Aptos Display"/>
              </a:rPr>
              <a:t>belirliyeceğiz</a:t>
            </a:r>
            <a:r>
              <a:rPr lang="en-US" sz="3100" b="1" dirty="0">
                <a:solidFill>
                  <a:srgbClr val="172033"/>
                </a:solidFill>
                <a:latin typeface="Aptos Display"/>
              </a:rPr>
              <a:t>.</a:t>
            </a:r>
            <a:endParaRPr sz="3100" dirty="0"/>
          </a:p>
        </p:txBody>
      </p:sp>
      <p:sp>
        <p:nvSpPr>
          <p:cNvPr id="3" name="Text 1">
            <a:extLst>
              <a:ext uri="{FF2B5EF4-FFF2-40B4-BE49-F238E27FC236}">
                <a16:creationId xmlns:a16="http://schemas.microsoft.com/office/drawing/2014/main" id="{20875F6A-11D3-4C63-A0F4-23E681C7D2DA}"/>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Mevcut bulgulardan doğrudan çıkan üç deney ailesi.</a:t>
            </a:r>
            <a:endParaRPr sz="1450"/>
          </a:p>
        </p:txBody>
      </p:sp>
      <p:sp>
        <p:nvSpPr>
          <p:cNvPr id="4" name="Shape 2">
            <a:extLst>
              <a:ext uri="{FF2B5EF4-FFF2-40B4-BE49-F238E27FC236}">
                <a16:creationId xmlns:a16="http://schemas.microsoft.com/office/drawing/2014/main" id="{403BF27E-F8B3-4971-818B-0550220E5617}"/>
              </a:ext>
            </a:extLst>
          </p:cNvPr>
          <p:cNvSpPr>
            <a:spLocks noGrp="1"/>
          </p:cNvSpPr>
          <p:nvPr/>
        </p:nvSpPr>
        <p:spPr>
          <a:xfrm>
            <a:off x="594360" y="1234440"/>
            <a:ext cx="2544775" cy="859536"/>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B33935D6-5FF6-4C03-91BE-9C67DD4FC8D6}"/>
              </a:ext>
            </a:extLst>
          </p:cNvPr>
          <p:cNvSpPr>
            <a:spLocks noGrp="1"/>
          </p:cNvSpPr>
          <p:nvPr/>
        </p:nvSpPr>
        <p:spPr>
          <a:xfrm>
            <a:off x="667512" y="1307592"/>
            <a:ext cx="2398471" cy="768096"/>
          </a:xfrm>
          <a:prstGeom prst="rect">
            <a:avLst/>
          </a:prstGeom>
          <a:noFill/>
        </p:spPr>
        <p:txBody>
          <a:bodyPr wrap="square" lIns="0" tIns="0" rIns="0" bIns="0" anchor="ctr">
            <a:normAutofit/>
          </a:bodyPr>
          <a:lstStyle/>
          <a:p>
            <a:pPr marL="0" indent="0">
              <a:buNone/>
            </a:pPr>
            <a:r>
              <a:rPr sz="1180" b="1">
                <a:solidFill>
                  <a:srgbClr val="FFFFFF"/>
                </a:solidFill>
              </a:rPr>
              <a:t>Deney</a:t>
            </a:r>
            <a:endParaRPr sz="1180"/>
          </a:p>
        </p:txBody>
      </p:sp>
      <p:sp>
        <p:nvSpPr>
          <p:cNvPr id="6" name="Shape 4">
            <a:extLst>
              <a:ext uri="{FF2B5EF4-FFF2-40B4-BE49-F238E27FC236}">
                <a16:creationId xmlns:a16="http://schemas.microsoft.com/office/drawing/2014/main" id="{2AFC94FE-3840-40C8-B59A-D9F78BBABDE4}"/>
              </a:ext>
            </a:extLst>
          </p:cNvPr>
          <p:cNvSpPr>
            <a:spLocks noGrp="1"/>
          </p:cNvSpPr>
          <p:nvPr/>
        </p:nvSpPr>
        <p:spPr>
          <a:xfrm>
            <a:off x="3139135" y="1234440"/>
            <a:ext cx="4646981" cy="859536"/>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00F370D2-F1BB-4336-9384-BBB07EE69FDD}"/>
              </a:ext>
            </a:extLst>
          </p:cNvPr>
          <p:cNvSpPr>
            <a:spLocks noGrp="1"/>
          </p:cNvSpPr>
          <p:nvPr/>
        </p:nvSpPr>
        <p:spPr>
          <a:xfrm>
            <a:off x="3212287" y="1307592"/>
            <a:ext cx="4500677" cy="768096"/>
          </a:xfrm>
          <a:prstGeom prst="rect">
            <a:avLst/>
          </a:prstGeom>
          <a:noFill/>
        </p:spPr>
        <p:txBody>
          <a:bodyPr wrap="square" lIns="0" tIns="0" rIns="0" bIns="0" anchor="ctr">
            <a:normAutofit/>
          </a:bodyPr>
          <a:lstStyle/>
          <a:p>
            <a:pPr marL="0" indent="0">
              <a:buNone/>
            </a:pPr>
            <a:r>
              <a:rPr sz="1180" b="1">
                <a:solidFill>
                  <a:srgbClr val="FFFFFF"/>
                </a:solidFill>
              </a:rPr>
              <a:t>Soru</a:t>
            </a:r>
            <a:endParaRPr sz="1180"/>
          </a:p>
        </p:txBody>
      </p:sp>
      <p:sp>
        <p:nvSpPr>
          <p:cNvPr id="8" name="Shape 6">
            <a:extLst>
              <a:ext uri="{FF2B5EF4-FFF2-40B4-BE49-F238E27FC236}">
                <a16:creationId xmlns:a16="http://schemas.microsoft.com/office/drawing/2014/main" id="{9BB8AA26-B39C-4C4C-BBC0-3FD8CF0DCB69}"/>
              </a:ext>
            </a:extLst>
          </p:cNvPr>
          <p:cNvSpPr>
            <a:spLocks noGrp="1"/>
          </p:cNvSpPr>
          <p:nvPr/>
        </p:nvSpPr>
        <p:spPr>
          <a:xfrm>
            <a:off x="7786116" y="1234440"/>
            <a:ext cx="3872484" cy="859536"/>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1A144F7D-28D2-4515-AA2F-201E41E7D2E8}"/>
              </a:ext>
            </a:extLst>
          </p:cNvPr>
          <p:cNvSpPr>
            <a:spLocks noGrp="1"/>
          </p:cNvSpPr>
          <p:nvPr/>
        </p:nvSpPr>
        <p:spPr>
          <a:xfrm>
            <a:off x="7859268" y="1307592"/>
            <a:ext cx="3726180" cy="768096"/>
          </a:xfrm>
          <a:prstGeom prst="rect">
            <a:avLst/>
          </a:prstGeom>
          <a:noFill/>
        </p:spPr>
        <p:txBody>
          <a:bodyPr wrap="square" lIns="0" tIns="0" rIns="0" bIns="0" anchor="ctr">
            <a:normAutofit/>
          </a:bodyPr>
          <a:lstStyle/>
          <a:p>
            <a:pPr marL="0" indent="0">
              <a:buNone/>
            </a:pPr>
            <a:r>
              <a:rPr sz="1180" b="1">
                <a:solidFill>
                  <a:srgbClr val="FFFFFF"/>
                </a:solidFill>
              </a:rPr>
              <a:t>Beklenen katkı</a:t>
            </a:r>
            <a:endParaRPr sz="1180"/>
          </a:p>
        </p:txBody>
      </p:sp>
      <p:sp>
        <p:nvSpPr>
          <p:cNvPr id="10" name="Shape 8">
            <a:extLst>
              <a:ext uri="{FF2B5EF4-FFF2-40B4-BE49-F238E27FC236}">
                <a16:creationId xmlns:a16="http://schemas.microsoft.com/office/drawing/2014/main" id="{DC227D47-5AC4-4988-A4D2-2796B04445CB}"/>
              </a:ext>
            </a:extLst>
          </p:cNvPr>
          <p:cNvSpPr>
            <a:spLocks noGrp="1"/>
          </p:cNvSpPr>
          <p:nvPr/>
        </p:nvSpPr>
        <p:spPr>
          <a:xfrm>
            <a:off x="530352" y="2167128"/>
            <a:ext cx="2544775" cy="859536"/>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E6CB3B12-D605-45D5-8048-FDB70AB982F9}"/>
              </a:ext>
            </a:extLst>
          </p:cNvPr>
          <p:cNvSpPr>
            <a:spLocks noGrp="1"/>
          </p:cNvSpPr>
          <p:nvPr/>
        </p:nvSpPr>
        <p:spPr>
          <a:xfrm>
            <a:off x="667512" y="2167128"/>
            <a:ext cx="2398471" cy="768096"/>
          </a:xfrm>
          <a:prstGeom prst="rect">
            <a:avLst/>
          </a:prstGeom>
          <a:noFill/>
        </p:spPr>
        <p:txBody>
          <a:bodyPr wrap="square" lIns="0" tIns="0" rIns="0" bIns="0" anchor="ctr">
            <a:normAutofit/>
          </a:bodyPr>
          <a:lstStyle/>
          <a:p>
            <a:pPr marL="0" indent="0">
              <a:buNone/>
            </a:pPr>
            <a:endParaRPr sz="1180" dirty="0"/>
          </a:p>
        </p:txBody>
      </p:sp>
      <p:sp>
        <p:nvSpPr>
          <p:cNvPr id="12" name="Shape 10">
            <a:extLst>
              <a:ext uri="{FF2B5EF4-FFF2-40B4-BE49-F238E27FC236}">
                <a16:creationId xmlns:a16="http://schemas.microsoft.com/office/drawing/2014/main" id="{D058CE24-F61B-46DC-9915-4B70C5029EED}"/>
              </a:ext>
            </a:extLst>
          </p:cNvPr>
          <p:cNvSpPr>
            <a:spLocks noGrp="1"/>
          </p:cNvSpPr>
          <p:nvPr/>
        </p:nvSpPr>
        <p:spPr>
          <a:xfrm>
            <a:off x="3139135" y="2093976"/>
            <a:ext cx="4646981" cy="859536"/>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B42E3B39-20D3-4BB7-BA4E-9EBB913DEFF6}"/>
              </a:ext>
            </a:extLst>
          </p:cNvPr>
          <p:cNvSpPr>
            <a:spLocks noGrp="1"/>
          </p:cNvSpPr>
          <p:nvPr/>
        </p:nvSpPr>
        <p:spPr>
          <a:xfrm>
            <a:off x="3212287" y="2167128"/>
            <a:ext cx="4500677" cy="768096"/>
          </a:xfrm>
          <a:prstGeom prst="rect">
            <a:avLst/>
          </a:prstGeom>
          <a:noFill/>
        </p:spPr>
        <p:txBody>
          <a:bodyPr wrap="square" lIns="0" tIns="0" rIns="0" bIns="0" anchor="ctr">
            <a:normAutofit/>
          </a:bodyPr>
          <a:lstStyle/>
          <a:p>
            <a:pPr marL="0" indent="0">
              <a:buNone/>
            </a:pPr>
            <a:endParaRPr sz="1180" dirty="0"/>
          </a:p>
        </p:txBody>
      </p:sp>
      <p:sp>
        <p:nvSpPr>
          <p:cNvPr id="14" name="Shape 12">
            <a:extLst>
              <a:ext uri="{FF2B5EF4-FFF2-40B4-BE49-F238E27FC236}">
                <a16:creationId xmlns:a16="http://schemas.microsoft.com/office/drawing/2014/main" id="{B72B367E-3A95-4AF4-93F4-32D7B0866B52}"/>
              </a:ext>
            </a:extLst>
          </p:cNvPr>
          <p:cNvSpPr>
            <a:spLocks noGrp="1"/>
          </p:cNvSpPr>
          <p:nvPr/>
        </p:nvSpPr>
        <p:spPr>
          <a:xfrm>
            <a:off x="7786116" y="2093976"/>
            <a:ext cx="3872484" cy="859536"/>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32F0A35E-CE10-4CFE-8570-6DA9456A1437}"/>
              </a:ext>
            </a:extLst>
          </p:cNvPr>
          <p:cNvSpPr>
            <a:spLocks noGrp="1"/>
          </p:cNvSpPr>
          <p:nvPr/>
        </p:nvSpPr>
        <p:spPr>
          <a:xfrm>
            <a:off x="7859268" y="2167128"/>
            <a:ext cx="3726180" cy="768096"/>
          </a:xfrm>
          <a:prstGeom prst="rect">
            <a:avLst/>
          </a:prstGeom>
          <a:noFill/>
        </p:spPr>
        <p:txBody>
          <a:bodyPr wrap="square" lIns="0" tIns="0" rIns="0" bIns="0" anchor="ctr">
            <a:normAutofit/>
          </a:bodyPr>
          <a:lstStyle/>
          <a:p>
            <a:pPr marL="0" indent="0">
              <a:buNone/>
            </a:pPr>
            <a:endParaRPr sz="1180" dirty="0"/>
          </a:p>
        </p:txBody>
      </p:sp>
      <p:sp>
        <p:nvSpPr>
          <p:cNvPr id="16" name="Shape 14">
            <a:extLst>
              <a:ext uri="{FF2B5EF4-FFF2-40B4-BE49-F238E27FC236}">
                <a16:creationId xmlns:a16="http://schemas.microsoft.com/office/drawing/2014/main" id="{9ACE2C7B-DEE7-4647-A9F0-F081FD0538C5}"/>
              </a:ext>
            </a:extLst>
          </p:cNvPr>
          <p:cNvSpPr>
            <a:spLocks noGrp="1"/>
          </p:cNvSpPr>
          <p:nvPr/>
        </p:nvSpPr>
        <p:spPr>
          <a:xfrm>
            <a:off x="594360" y="2953512"/>
            <a:ext cx="2544775" cy="859536"/>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0B0280AC-204A-4D80-9591-80276382EA38}"/>
              </a:ext>
            </a:extLst>
          </p:cNvPr>
          <p:cNvSpPr>
            <a:spLocks noGrp="1"/>
          </p:cNvSpPr>
          <p:nvPr/>
        </p:nvSpPr>
        <p:spPr>
          <a:xfrm>
            <a:off x="667512" y="3026664"/>
            <a:ext cx="2398471" cy="768096"/>
          </a:xfrm>
          <a:prstGeom prst="rect">
            <a:avLst/>
          </a:prstGeom>
          <a:noFill/>
        </p:spPr>
        <p:txBody>
          <a:bodyPr wrap="square" lIns="0" tIns="0" rIns="0" bIns="0" anchor="ctr">
            <a:normAutofit/>
          </a:bodyPr>
          <a:lstStyle/>
          <a:p>
            <a:pPr marL="0" indent="0">
              <a:buNone/>
            </a:pPr>
            <a:r>
              <a:rPr sz="1180">
                <a:solidFill>
                  <a:srgbClr val="1A1E2A"/>
                </a:solidFill>
              </a:rPr>
              <a:t>Veri + model kompozisyonu</a:t>
            </a:r>
            <a:endParaRPr sz="1180"/>
          </a:p>
        </p:txBody>
      </p:sp>
      <p:sp>
        <p:nvSpPr>
          <p:cNvPr id="18" name="Shape 16">
            <a:extLst>
              <a:ext uri="{FF2B5EF4-FFF2-40B4-BE49-F238E27FC236}">
                <a16:creationId xmlns:a16="http://schemas.microsoft.com/office/drawing/2014/main" id="{15001AD3-6626-437A-9AE3-DA9A9A8F883A}"/>
              </a:ext>
            </a:extLst>
          </p:cNvPr>
          <p:cNvSpPr>
            <a:spLocks noGrp="1"/>
          </p:cNvSpPr>
          <p:nvPr/>
        </p:nvSpPr>
        <p:spPr>
          <a:xfrm>
            <a:off x="3139135" y="2953512"/>
            <a:ext cx="4646981" cy="859536"/>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16FE5D70-D86A-4328-90E9-97715060E850}"/>
              </a:ext>
            </a:extLst>
          </p:cNvPr>
          <p:cNvSpPr>
            <a:spLocks noGrp="1"/>
          </p:cNvSpPr>
          <p:nvPr/>
        </p:nvSpPr>
        <p:spPr>
          <a:xfrm>
            <a:off x="3212287" y="3026664"/>
            <a:ext cx="4500677" cy="768096"/>
          </a:xfrm>
          <a:prstGeom prst="rect">
            <a:avLst/>
          </a:prstGeom>
          <a:noFill/>
        </p:spPr>
        <p:txBody>
          <a:bodyPr wrap="square" lIns="0" tIns="0" rIns="0" bIns="0" anchor="ctr">
            <a:normAutofit/>
          </a:bodyPr>
          <a:lstStyle/>
          <a:p>
            <a:pPr marL="0" indent="0">
              <a:buNone/>
            </a:pPr>
            <a:r>
              <a:rPr sz="1180" dirty="0">
                <a:solidFill>
                  <a:srgbClr val="1A1E2A"/>
                </a:solidFill>
              </a:rPr>
              <a:t>Twitter / </a:t>
            </a:r>
            <a:r>
              <a:rPr sz="1180" dirty="0" err="1">
                <a:solidFill>
                  <a:srgbClr val="1A1E2A"/>
                </a:solidFill>
              </a:rPr>
              <a:t>PhraseBank</a:t>
            </a:r>
            <a:r>
              <a:rPr sz="1180" dirty="0">
                <a:solidFill>
                  <a:srgbClr val="1A1E2A"/>
                </a:solidFill>
              </a:rPr>
              <a:t> / S&amp;P / Reuters / ek </a:t>
            </a:r>
            <a:r>
              <a:rPr sz="1180" dirty="0" err="1">
                <a:solidFill>
                  <a:srgbClr val="1A1E2A"/>
                </a:solidFill>
              </a:rPr>
              <a:t>veri</a:t>
            </a:r>
            <a:r>
              <a:rPr sz="1180" dirty="0">
                <a:solidFill>
                  <a:srgbClr val="1A1E2A"/>
                </a:solidFill>
              </a:rPr>
              <a:t> + </a:t>
            </a:r>
            <a:r>
              <a:rPr sz="1180" dirty="0" err="1">
                <a:solidFill>
                  <a:srgbClr val="1A1E2A"/>
                </a:solidFill>
              </a:rPr>
              <a:t>FinGPT</a:t>
            </a:r>
            <a:r>
              <a:rPr sz="1180" dirty="0">
                <a:solidFill>
                  <a:srgbClr val="1A1E2A"/>
                </a:solidFill>
              </a:rPr>
              <a:t> + Financial-</a:t>
            </a:r>
            <a:r>
              <a:rPr sz="1180" dirty="0" err="1">
                <a:solidFill>
                  <a:srgbClr val="1A1E2A"/>
                </a:solidFill>
              </a:rPr>
              <a:t>RoBERTa</a:t>
            </a:r>
            <a:r>
              <a:rPr sz="1180" dirty="0">
                <a:solidFill>
                  <a:srgbClr val="1A1E2A"/>
                </a:solidFill>
              </a:rPr>
              <a:t> </a:t>
            </a:r>
            <a:r>
              <a:rPr sz="1180" dirty="0" err="1">
                <a:solidFill>
                  <a:srgbClr val="1A1E2A"/>
                </a:solidFill>
              </a:rPr>
              <a:t>eklenince</a:t>
            </a:r>
            <a:r>
              <a:rPr sz="1180" dirty="0">
                <a:solidFill>
                  <a:srgbClr val="1A1E2A"/>
                </a:solidFill>
              </a:rPr>
              <a:t> ne </a:t>
            </a:r>
            <a:r>
              <a:rPr sz="1180" dirty="0" err="1">
                <a:solidFill>
                  <a:srgbClr val="1A1E2A"/>
                </a:solidFill>
              </a:rPr>
              <a:t>oluyor</a:t>
            </a:r>
            <a:r>
              <a:rPr sz="1180" dirty="0">
                <a:solidFill>
                  <a:srgbClr val="1A1E2A"/>
                </a:solidFill>
              </a:rPr>
              <a:t>?</a:t>
            </a:r>
            <a:endParaRPr sz="1180" dirty="0"/>
          </a:p>
        </p:txBody>
      </p:sp>
      <p:sp>
        <p:nvSpPr>
          <p:cNvPr id="20" name="Shape 18">
            <a:extLst>
              <a:ext uri="{FF2B5EF4-FFF2-40B4-BE49-F238E27FC236}">
                <a16:creationId xmlns:a16="http://schemas.microsoft.com/office/drawing/2014/main" id="{F05D39DB-BC2B-4A57-A424-39560B59126B}"/>
              </a:ext>
            </a:extLst>
          </p:cNvPr>
          <p:cNvSpPr>
            <a:spLocks noGrp="1"/>
          </p:cNvSpPr>
          <p:nvPr/>
        </p:nvSpPr>
        <p:spPr>
          <a:xfrm>
            <a:off x="7786116" y="2953512"/>
            <a:ext cx="3872484" cy="859536"/>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A8C5BE0C-2CBE-49BA-A080-98F6240635B3}"/>
              </a:ext>
            </a:extLst>
          </p:cNvPr>
          <p:cNvSpPr>
            <a:spLocks noGrp="1"/>
          </p:cNvSpPr>
          <p:nvPr/>
        </p:nvSpPr>
        <p:spPr>
          <a:xfrm>
            <a:off x="7859268" y="3026664"/>
            <a:ext cx="3726180" cy="768096"/>
          </a:xfrm>
          <a:prstGeom prst="rect">
            <a:avLst/>
          </a:prstGeom>
          <a:noFill/>
        </p:spPr>
        <p:txBody>
          <a:bodyPr wrap="square" lIns="0" tIns="0" rIns="0" bIns="0" anchor="ctr">
            <a:normAutofit/>
          </a:bodyPr>
          <a:lstStyle/>
          <a:p>
            <a:pPr marL="0" indent="0">
              <a:buNone/>
            </a:pPr>
            <a:r>
              <a:rPr sz="1180" dirty="0">
                <a:solidFill>
                  <a:srgbClr val="1A1E2A"/>
                </a:solidFill>
              </a:rPr>
              <a:t>Yeni </a:t>
            </a:r>
            <a:r>
              <a:rPr sz="1180" dirty="0" err="1">
                <a:solidFill>
                  <a:srgbClr val="1A1E2A"/>
                </a:solidFill>
              </a:rPr>
              <a:t>veri</a:t>
            </a:r>
            <a:r>
              <a:rPr sz="1180" dirty="0">
                <a:solidFill>
                  <a:srgbClr val="1A1E2A"/>
                </a:solidFill>
              </a:rPr>
              <a:t> + </a:t>
            </a:r>
            <a:r>
              <a:rPr sz="1180" dirty="0" err="1">
                <a:solidFill>
                  <a:srgbClr val="1A1E2A"/>
                </a:solidFill>
              </a:rPr>
              <a:t>finans-özgü</a:t>
            </a:r>
            <a:r>
              <a:rPr sz="1180" dirty="0">
                <a:solidFill>
                  <a:srgbClr val="1A1E2A"/>
                </a:solidFill>
              </a:rPr>
              <a:t> model </a:t>
            </a:r>
            <a:r>
              <a:rPr sz="1180" dirty="0" err="1">
                <a:solidFill>
                  <a:srgbClr val="1A1E2A"/>
                </a:solidFill>
              </a:rPr>
              <a:t>ailesi</a:t>
            </a:r>
            <a:r>
              <a:rPr sz="1180" dirty="0">
                <a:solidFill>
                  <a:srgbClr val="1A1E2A"/>
                </a:solidFill>
              </a:rPr>
              <a:t> </a:t>
            </a:r>
            <a:r>
              <a:rPr sz="1180" dirty="0" err="1">
                <a:solidFill>
                  <a:srgbClr val="1A1E2A"/>
                </a:solidFill>
              </a:rPr>
              <a:t>birlikte</a:t>
            </a:r>
            <a:r>
              <a:rPr sz="1180" dirty="0">
                <a:solidFill>
                  <a:srgbClr val="1A1E2A"/>
                </a:solidFill>
              </a:rPr>
              <a:t> test </a:t>
            </a:r>
            <a:r>
              <a:rPr sz="1180" dirty="0" err="1">
                <a:solidFill>
                  <a:srgbClr val="1A1E2A"/>
                </a:solidFill>
              </a:rPr>
              <a:t>edilir</a:t>
            </a:r>
            <a:r>
              <a:rPr sz="1180" dirty="0">
                <a:solidFill>
                  <a:srgbClr val="1A1E2A"/>
                </a:solidFill>
              </a:rPr>
              <a:t>.</a:t>
            </a:r>
            <a:endParaRPr sz="1180" dirty="0"/>
          </a:p>
        </p:txBody>
      </p:sp>
      <p:sp>
        <p:nvSpPr>
          <p:cNvPr id="22" name="Shape 20">
            <a:extLst>
              <a:ext uri="{FF2B5EF4-FFF2-40B4-BE49-F238E27FC236}">
                <a16:creationId xmlns:a16="http://schemas.microsoft.com/office/drawing/2014/main" id="{BAB6D8A4-7DB3-4E93-B0A8-0E4A54D0CB76}"/>
              </a:ext>
            </a:extLst>
          </p:cNvPr>
          <p:cNvSpPr>
            <a:spLocks noGrp="1"/>
          </p:cNvSpPr>
          <p:nvPr/>
        </p:nvSpPr>
        <p:spPr>
          <a:xfrm>
            <a:off x="594360" y="3813048"/>
            <a:ext cx="2544775" cy="859536"/>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88F3AF37-78AD-4796-AD7D-882DE4296CB1}"/>
              </a:ext>
            </a:extLst>
          </p:cNvPr>
          <p:cNvSpPr>
            <a:spLocks noGrp="1"/>
          </p:cNvSpPr>
          <p:nvPr/>
        </p:nvSpPr>
        <p:spPr>
          <a:xfrm>
            <a:off x="667512" y="3886200"/>
            <a:ext cx="2398471" cy="768096"/>
          </a:xfrm>
          <a:prstGeom prst="rect">
            <a:avLst/>
          </a:prstGeom>
          <a:noFill/>
        </p:spPr>
        <p:txBody>
          <a:bodyPr wrap="square" lIns="0" tIns="0" rIns="0" bIns="0" anchor="ctr">
            <a:normAutofit/>
          </a:bodyPr>
          <a:lstStyle/>
          <a:p>
            <a:pPr marL="0" indent="0">
              <a:buNone/>
            </a:pPr>
            <a:r>
              <a:rPr sz="1180">
                <a:solidFill>
                  <a:srgbClr val="1A1E2A"/>
                </a:solidFill>
              </a:rPr>
              <a:t>Label semantics</a:t>
            </a:r>
            <a:endParaRPr sz="1180"/>
          </a:p>
        </p:txBody>
      </p:sp>
      <p:sp>
        <p:nvSpPr>
          <p:cNvPr id="24" name="Shape 22">
            <a:extLst>
              <a:ext uri="{FF2B5EF4-FFF2-40B4-BE49-F238E27FC236}">
                <a16:creationId xmlns:a16="http://schemas.microsoft.com/office/drawing/2014/main" id="{4F98C341-95AA-4897-B672-75D35561379C}"/>
              </a:ext>
            </a:extLst>
          </p:cNvPr>
          <p:cNvSpPr>
            <a:spLocks noGrp="1"/>
          </p:cNvSpPr>
          <p:nvPr/>
        </p:nvSpPr>
        <p:spPr>
          <a:xfrm>
            <a:off x="3139135" y="3813048"/>
            <a:ext cx="4646981" cy="859536"/>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9DCB3A92-B549-440D-A81E-5DA248E6339D}"/>
              </a:ext>
            </a:extLst>
          </p:cNvPr>
          <p:cNvSpPr>
            <a:spLocks noGrp="1"/>
          </p:cNvSpPr>
          <p:nvPr/>
        </p:nvSpPr>
        <p:spPr>
          <a:xfrm>
            <a:off x="3212287" y="3886200"/>
            <a:ext cx="4500677" cy="768096"/>
          </a:xfrm>
          <a:prstGeom prst="rect">
            <a:avLst/>
          </a:prstGeom>
          <a:noFill/>
        </p:spPr>
        <p:txBody>
          <a:bodyPr wrap="square" lIns="0" tIns="0" rIns="0" bIns="0" anchor="ctr">
            <a:normAutofit/>
          </a:bodyPr>
          <a:lstStyle/>
          <a:p>
            <a:pPr marL="0" indent="0">
              <a:buNone/>
            </a:pPr>
            <a:r>
              <a:rPr sz="1180">
                <a:solidFill>
                  <a:srgbClr val="1A1E2A"/>
                </a:solidFill>
              </a:rPr>
              <a:t>Positive/Neutral/Negative karar kriterleri setler arasında aynı mı?</a:t>
            </a:r>
            <a:endParaRPr sz="1180"/>
          </a:p>
        </p:txBody>
      </p:sp>
      <p:sp>
        <p:nvSpPr>
          <p:cNvPr id="26" name="Shape 24">
            <a:extLst>
              <a:ext uri="{FF2B5EF4-FFF2-40B4-BE49-F238E27FC236}">
                <a16:creationId xmlns:a16="http://schemas.microsoft.com/office/drawing/2014/main" id="{1EE2CFD9-FA05-4CE4-90F9-8DA05E4C77E1}"/>
              </a:ext>
            </a:extLst>
          </p:cNvPr>
          <p:cNvSpPr>
            <a:spLocks noGrp="1"/>
          </p:cNvSpPr>
          <p:nvPr/>
        </p:nvSpPr>
        <p:spPr>
          <a:xfrm>
            <a:off x="7786116" y="3813048"/>
            <a:ext cx="3872484" cy="859536"/>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C0590DF3-5966-4D34-A5AE-D654CE692CCE}"/>
              </a:ext>
            </a:extLst>
          </p:cNvPr>
          <p:cNvSpPr>
            <a:spLocks noGrp="1"/>
          </p:cNvSpPr>
          <p:nvPr/>
        </p:nvSpPr>
        <p:spPr>
          <a:xfrm>
            <a:off x="7859268" y="3886200"/>
            <a:ext cx="3726180" cy="768096"/>
          </a:xfrm>
          <a:prstGeom prst="rect">
            <a:avLst/>
          </a:prstGeom>
          <a:noFill/>
        </p:spPr>
        <p:txBody>
          <a:bodyPr wrap="square" lIns="0" tIns="0" rIns="0" bIns="0" anchor="ctr">
            <a:normAutofit/>
          </a:bodyPr>
          <a:lstStyle/>
          <a:p>
            <a:pPr marL="0" indent="0">
              <a:buNone/>
            </a:pPr>
            <a:r>
              <a:rPr sz="1180">
                <a:solidFill>
                  <a:srgbClr val="1A1E2A"/>
                </a:solidFill>
              </a:rPr>
              <a:t>Reuters ve Neutral düşüşünün nedeni açıklanabilir.</a:t>
            </a:r>
            <a:endParaRPr sz="1180"/>
          </a:p>
        </p:txBody>
      </p:sp>
      <p:sp>
        <p:nvSpPr>
          <p:cNvPr id="28" name="Shape 26">
            <a:extLst>
              <a:ext uri="{FF2B5EF4-FFF2-40B4-BE49-F238E27FC236}">
                <a16:creationId xmlns:a16="http://schemas.microsoft.com/office/drawing/2014/main" id="{3C4521B6-5776-4775-903A-51BBBD407BAB}"/>
              </a:ext>
            </a:extLst>
          </p:cNvPr>
          <p:cNvSpPr>
            <a:spLocks noGrp="1"/>
          </p:cNvSpPr>
          <p:nvPr/>
        </p:nvSpPr>
        <p:spPr>
          <a:xfrm>
            <a:off x="594360" y="4672584"/>
            <a:ext cx="2544775" cy="859536"/>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D1A8A62C-9ABD-4FF9-8492-EA9548C42F1C}"/>
              </a:ext>
            </a:extLst>
          </p:cNvPr>
          <p:cNvSpPr>
            <a:spLocks noGrp="1"/>
          </p:cNvSpPr>
          <p:nvPr/>
        </p:nvSpPr>
        <p:spPr>
          <a:xfrm>
            <a:off x="667512" y="4745736"/>
            <a:ext cx="2398471" cy="768096"/>
          </a:xfrm>
          <a:prstGeom prst="rect">
            <a:avLst/>
          </a:prstGeom>
          <a:noFill/>
        </p:spPr>
        <p:txBody>
          <a:bodyPr wrap="square" lIns="0" tIns="0" rIns="0" bIns="0" anchor="ctr">
            <a:normAutofit/>
          </a:bodyPr>
          <a:lstStyle/>
          <a:p>
            <a:pPr marL="0" indent="0">
              <a:buNone/>
            </a:pPr>
            <a:r>
              <a:rPr sz="1180">
                <a:solidFill>
                  <a:srgbClr val="1A1E2A"/>
                </a:solidFill>
              </a:rPr>
              <a:t>Calibration</a:t>
            </a:r>
            <a:endParaRPr sz="1180"/>
          </a:p>
        </p:txBody>
      </p:sp>
      <p:sp>
        <p:nvSpPr>
          <p:cNvPr id="30" name="Shape 28">
            <a:extLst>
              <a:ext uri="{FF2B5EF4-FFF2-40B4-BE49-F238E27FC236}">
                <a16:creationId xmlns:a16="http://schemas.microsoft.com/office/drawing/2014/main" id="{9DB4A9D1-75F2-4E6E-AEE3-CC491CA5DD2C}"/>
              </a:ext>
            </a:extLst>
          </p:cNvPr>
          <p:cNvSpPr>
            <a:spLocks noGrp="1"/>
          </p:cNvSpPr>
          <p:nvPr/>
        </p:nvSpPr>
        <p:spPr>
          <a:xfrm>
            <a:off x="3139135" y="4672584"/>
            <a:ext cx="4646981" cy="859536"/>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DFC3B906-B204-4623-AF28-D23CAA956FA3}"/>
              </a:ext>
            </a:extLst>
          </p:cNvPr>
          <p:cNvSpPr>
            <a:spLocks noGrp="1"/>
          </p:cNvSpPr>
          <p:nvPr/>
        </p:nvSpPr>
        <p:spPr>
          <a:xfrm>
            <a:off x="3212287" y="4745736"/>
            <a:ext cx="4500677" cy="768096"/>
          </a:xfrm>
          <a:prstGeom prst="rect">
            <a:avLst/>
          </a:prstGeom>
          <a:noFill/>
        </p:spPr>
        <p:txBody>
          <a:bodyPr wrap="square" lIns="0" tIns="0" rIns="0" bIns="0" anchor="ctr">
            <a:normAutofit/>
          </a:bodyPr>
          <a:lstStyle/>
          <a:p>
            <a:pPr marL="0" indent="0">
              <a:buNone/>
            </a:pPr>
            <a:r>
              <a:rPr sz="1180">
                <a:solidFill>
                  <a:srgbClr val="1A1E2A"/>
                </a:solidFill>
              </a:rPr>
              <a:t>Model yanlışken ne kadar emin?</a:t>
            </a:r>
            <a:endParaRPr sz="1180"/>
          </a:p>
        </p:txBody>
      </p:sp>
      <p:sp>
        <p:nvSpPr>
          <p:cNvPr id="32" name="Shape 30">
            <a:extLst>
              <a:ext uri="{FF2B5EF4-FFF2-40B4-BE49-F238E27FC236}">
                <a16:creationId xmlns:a16="http://schemas.microsoft.com/office/drawing/2014/main" id="{9931A13C-97D4-40F8-91F6-901F168FCFB1}"/>
              </a:ext>
            </a:extLst>
          </p:cNvPr>
          <p:cNvSpPr>
            <a:spLocks noGrp="1"/>
          </p:cNvSpPr>
          <p:nvPr/>
        </p:nvSpPr>
        <p:spPr>
          <a:xfrm>
            <a:off x="7786116" y="4672584"/>
            <a:ext cx="3872484" cy="859536"/>
          </a:xfrm>
          <a:prstGeom prst="rect">
            <a:avLst/>
          </a:prstGeom>
          <a:solidFill>
            <a:srgbClr val="F4F6FB"/>
          </a:solidFill>
          <a:ln w="6350">
            <a:solidFill>
              <a:srgbClr val="DDE3EF"/>
            </a:solidFill>
            <a:prstDash val="solid"/>
          </a:ln>
        </p:spPr>
      </p:sp>
      <p:sp>
        <p:nvSpPr>
          <p:cNvPr id="33" name="Text 31">
            <a:extLst>
              <a:ext uri="{FF2B5EF4-FFF2-40B4-BE49-F238E27FC236}">
                <a16:creationId xmlns:a16="http://schemas.microsoft.com/office/drawing/2014/main" id="{D24B5A14-7003-4630-BE41-1C054082E186}"/>
              </a:ext>
            </a:extLst>
          </p:cNvPr>
          <p:cNvSpPr>
            <a:spLocks noGrp="1"/>
          </p:cNvSpPr>
          <p:nvPr/>
        </p:nvSpPr>
        <p:spPr>
          <a:xfrm>
            <a:off x="7859268" y="4745736"/>
            <a:ext cx="3726180" cy="768096"/>
          </a:xfrm>
          <a:prstGeom prst="rect">
            <a:avLst/>
          </a:prstGeom>
          <a:noFill/>
        </p:spPr>
        <p:txBody>
          <a:bodyPr wrap="square" lIns="0" tIns="0" rIns="0" bIns="0" anchor="ctr">
            <a:normAutofit/>
          </a:bodyPr>
          <a:lstStyle/>
          <a:p>
            <a:pPr marL="0" indent="0">
              <a:buNone/>
            </a:pPr>
            <a:r>
              <a:rPr sz="1180">
                <a:solidFill>
                  <a:srgbClr val="1A1E2A"/>
                </a:solidFill>
              </a:rPr>
              <a:t>Confidence güvenilirliği ölçülür.</a:t>
            </a:r>
            <a:endParaRPr sz="1180"/>
          </a:p>
        </p:txBody>
      </p:sp>
      <p:sp>
        <p:nvSpPr>
          <p:cNvPr id="34" name="Text 32">
            <a:extLst>
              <a:ext uri="{FF2B5EF4-FFF2-40B4-BE49-F238E27FC236}">
                <a16:creationId xmlns:a16="http://schemas.microsoft.com/office/drawing/2014/main" id="{52537111-EA4D-4505-A8AF-067F3559D4F9}"/>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5" name="Text 33">
            <a:extLst>
              <a:ext uri="{FF2B5EF4-FFF2-40B4-BE49-F238E27FC236}">
                <a16:creationId xmlns:a16="http://schemas.microsoft.com/office/drawing/2014/main" id="{C9522425-1DFC-4AF2-922A-2C02EAEAC8C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33</a:t>
            </a:r>
            <a:endParaRPr sz="850"/>
          </a:p>
        </p:txBody>
      </p:sp>
      <p:sp>
        <p:nvSpPr>
          <p:cNvPr id="36" name="Shape 34">
            <a:extLst>
              <a:ext uri="{FF2B5EF4-FFF2-40B4-BE49-F238E27FC236}">
                <a16:creationId xmlns:a16="http://schemas.microsoft.com/office/drawing/2014/main" id="{F1B3551C-0ECE-4835-BF42-B3E168937716}"/>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7400783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BDADE-A678-65F4-4EFA-428807F3B7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E503F3-79BC-8601-F057-C743464F996E}"/>
              </a:ext>
            </a:extLst>
          </p:cNvPr>
          <p:cNvSpPr>
            <a:spLocks noGrp="1"/>
          </p:cNvSpPr>
          <p:nvPr/>
        </p:nvSpPr>
        <p:spPr>
          <a:xfrm>
            <a:off x="502920" y="329184"/>
            <a:ext cx="10881360" cy="502920"/>
          </a:xfrm>
          <a:prstGeom prst="rect">
            <a:avLst/>
          </a:prstGeom>
          <a:noFill/>
        </p:spPr>
        <p:txBody>
          <a:bodyPr wrap="square" lIns="0" tIns="0" rIns="0" bIns="0" anchor="ctr">
            <a:normAutofit fontScale="62500" lnSpcReduction="20000"/>
          </a:bodyPr>
          <a:lstStyle/>
          <a:p>
            <a:pPr marL="0" indent="0">
              <a:buNone/>
            </a:pPr>
            <a:r>
              <a:rPr sz="3100" b="1" dirty="0">
                <a:solidFill>
                  <a:srgbClr val="172033"/>
                </a:solidFill>
                <a:latin typeface="Aptos Display"/>
                <a:ea typeface="Aptos Display"/>
                <a:cs typeface="Aptos Display"/>
              </a:rPr>
              <a:t>Devam </a:t>
            </a:r>
            <a:r>
              <a:rPr sz="3100" b="1" dirty="0" err="1">
                <a:solidFill>
                  <a:srgbClr val="172033"/>
                </a:solidFill>
                <a:latin typeface="Aptos Display"/>
                <a:ea typeface="Aptos Display"/>
                <a:cs typeface="Aptos Display"/>
              </a:rPr>
              <a:t>planı</a:t>
            </a:r>
            <a:r>
              <a:rPr sz="3100" b="1" dirty="0">
                <a:solidFill>
                  <a:srgbClr val="172033"/>
                </a:solidFill>
                <a:latin typeface="Aptos Display"/>
                <a:ea typeface="Aptos Display"/>
                <a:cs typeface="Aptos Display"/>
              </a:rPr>
              <a:t> </a:t>
            </a:r>
            <a:r>
              <a:rPr lang="en-US" sz="3100" b="1" dirty="0">
                <a:solidFill>
                  <a:srgbClr val="172033"/>
                </a:solidFill>
                <a:latin typeface="Aptos Display"/>
                <a:ea typeface="Aptos Display"/>
                <a:cs typeface="Aptos Display"/>
              </a:rPr>
              <a:t>4</a:t>
            </a:r>
            <a:r>
              <a:rPr sz="3100" b="1" dirty="0">
                <a:solidFill>
                  <a:srgbClr val="172033"/>
                </a:solidFill>
                <a:latin typeface="Aptos Display"/>
                <a:ea typeface="Aptos Display"/>
                <a:cs typeface="Aptos Display"/>
              </a:rPr>
              <a:t>:</a:t>
            </a:r>
            <a:r>
              <a:rPr lang="en-US" sz="3100" b="1" dirty="0">
                <a:solidFill>
                  <a:srgbClr val="172033"/>
                </a:solidFill>
                <a:latin typeface="Aptos Display"/>
                <a:ea typeface="Aptos Display"/>
                <a:cs typeface="Aptos Display"/>
              </a:rPr>
              <a:t> </a:t>
            </a:r>
            <a:r>
              <a:rPr lang="en-US" sz="3100" b="1" dirty="0" err="1">
                <a:solidFill>
                  <a:srgbClr val="172033"/>
                </a:solidFill>
                <a:latin typeface="Aptos Display"/>
                <a:ea typeface="Aptos Display"/>
                <a:cs typeface="Aptos Display"/>
              </a:rPr>
              <a:t>farklı</a:t>
            </a:r>
            <a:r>
              <a:rPr lang="en-US" sz="3100" b="1" dirty="0">
                <a:solidFill>
                  <a:srgbClr val="172033"/>
                </a:solidFill>
                <a:latin typeface="Aptos Display"/>
                <a:ea typeface="Aptos Display"/>
                <a:cs typeface="Aptos Display"/>
              </a:rPr>
              <a:t> ai </a:t>
            </a:r>
            <a:r>
              <a:rPr lang="en-US" sz="3100" b="1" dirty="0" err="1">
                <a:solidFill>
                  <a:srgbClr val="172033"/>
                </a:solidFill>
                <a:latin typeface="Aptos Display"/>
                <a:ea typeface="Aptos Display"/>
                <a:cs typeface="Aptos Display"/>
              </a:rPr>
              <a:t>modelleri</a:t>
            </a:r>
            <a:r>
              <a:rPr lang="en-US" sz="3100" b="1" dirty="0">
                <a:solidFill>
                  <a:srgbClr val="172033"/>
                </a:solidFill>
                <a:latin typeface="Aptos Display"/>
                <a:ea typeface="Aptos Display"/>
                <a:cs typeface="Aptos Display"/>
              </a:rPr>
              <a:t>(</a:t>
            </a:r>
            <a:r>
              <a:rPr lang="en-US" sz="3100" b="1" dirty="0" err="1">
                <a:solidFill>
                  <a:srgbClr val="172033"/>
                </a:solidFill>
                <a:latin typeface="Aptos Display"/>
                <a:ea typeface="Aptos Display"/>
                <a:cs typeface="Aptos Display"/>
              </a:rPr>
              <a:t>bertler</a:t>
            </a:r>
            <a:r>
              <a:rPr lang="en-US" sz="3100" b="1" dirty="0">
                <a:solidFill>
                  <a:srgbClr val="172033"/>
                </a:solidFill>
                <a:latin typeface="Aptos Display"/>
                <a:ea typeface="Aptos Display"/>
                <a:cs typeface="Aptos Display"/>
              </a:rPr>
              <a:t>)</a:t>
            </a:r>
          </a:p>
          <a:p>
            <a:pPr marL="0" indent="0">
              <a:buNone/>
            </a:pPr>
            <a:r>
              <a:rPr lang="en-US" sz="3100" b="1" dirty="0">
                <a:solidFill>
                  <a:srgbClr val="172033"/>
                </a:solidFill>
                <a:latin typeface="Aptos Display"/>
                <a:ea typeface="Aptos Display"/>
                <a:cs typeface="Aptos Display"/>
              </a:rPr>
              <a:t> </a:t>
            </a:r>
            <a:r>
              <a:rPr lang="en-US" sz="3100" b="1" dirty="0" err="1">
                <a:solidFill>
                  <a:srgbClr val="172033"/>
                </a:solidFill>
                <a:latin typeface="Aptos Display"/>
                <a:ea typeface="Aptos Display"/>
                <a:cs typeface="Aptos Display"/>
              </a:rPr>
              <a:t>kullanarak</a:t>
            </a:r>
            <a:r>
              <a:rPr lang="en-US" sz="3100" b="1" dirty="0">
                <a:solidFill>
                  <a:srgbClr val="172033"/>
                </a:solidFill>
                <a:latin typeface="Aptos Display"/>
                <a:ea typeface="Aptos Display"/>
                <a:cs typeface="Aptos Display"/>
              </a:rPr>
              <a:t> </a:t>
            </a:r>
            <a:r>
              <a:rPr lang="en-US" sz="3100" b="1" dirty="0" err="1">
                <a:solidFill>
                  <a:srgbClr val="172033"/>
                </a:solidFill>
                <a:latin typeface="Aptos Display"/>
                <a:ea typeface="Aptos Display"/>
                <a:cs typeface="Aptos Display"/>
              </a:rPr>
              <a:t>performans</a:t>
            </a:r>
            <a:r>
              <a:rPr lang="en-US" sz="3100" b="1" dirty="0">
                <a:solidFill>
                  <a:srgbClr val="172033"/>
                </a:solidFill>
                <a:latin typeface="Aptos Display"/>
                <a:ea typeface="Aptos Display"/>
                <a:cs typeface="Aptos Display"/>
              </a:rPr>
              <a:t> </a:t>
            </a:r>
            <a:r>
              <a:rPr lang="en-US" sz="3100" b="1" dirty="0" err="1">
                <a:solidFill>
                  <a:srgbClr val="172033"/>
                </a:solidFill>
                <a:latin typeface="Aptos Display"/>
                <a:ea typeface="Aptos Display"/>
                <a:cs typeface="Aptos Display"/>
              </a:rPr>
              <a:t>ölçme</a:t>
            </a:r>
            <a:endParaRPr sz="3100" dirty="0"/>
          </a:p>
        </p:txBody>
      </p:sp>
      <p:sp>
        <p:nvSpPr>
          <p:cNvPr id="3" name="Text 1">
            <a:extLst>
              <a:ext uri="{FF2B5EF4-FFF2-40B4-BE49-F238E27FC236}">
                <a16:creationId xmlns:a16="http://schemas.microsoft.com/office/drawing/2014/main" id="{7AC0E1B6-BBB6-4B2D-D8E6-1C16607411DF}"/>
              </a:ext>
            </a:extLst>
          </p:cNvPr>
          <p:cNvSpPr>
            <a:spLocks noGrp="1"/>
          </p:cNvSpPr>
          <p:nvPr/>
        </p:nvSpPr>
        <p:spPr>
          <a:xfrm>
            <a:off x="734568" y="1133856"/>
            <a:ext cx="10789920" cy="292608"/>
          </a:xfrm>
          <a:prstGeom prst="rect">
            <a:avLst/>
          </a:prstGeom>
          <a:noFill/>
        </p:spPr>
        <p:txBody>
          <a:bodyPr wrap="square" lIns="0" tIns="0" rIns="0" bIns="0" anchor="ctr">
            <a:noAutofit/>
          </a:bodyPr>
          <a:lstStyle/>
          <a:p>
            <a:pPr marL="0" indent="0">
              <a:buNone/>
            </a:pPr>
            <a:r>
              <a:rPr lang="en-US" sz="3200" dirty="0"/>
              <a:t>Fingtp financial Roberta , </a:t>
            </a:r>
            <a:r>
              <a:rPr lang="en-US" sz="3200" dirty="0" err="1"/>
              <a:t>finbert</a:t>
            </a:r>
            <a:r>
              <a:rPr lang="en-US" sz="3200" dirty="0"/>
              <a:t> </a:t>
            </a:r>
          </a:p>
          <a:p>
            <a:pPr marL="0" indent="0">
              <a:buNone/>
            </a:pPr>
            <a:r>
              <a:rPr lang="en-US" sz="3200" dirty="0"/>
              <a:t>Amaç </a:t>
            </a:r>
            <a:r>
              <a:rPr lang="en-US" sz="3200" dirty="0" err="1"/>
              <a:t>veriseti</a:t>
            </a:r>
            <a:r>
              <a:rPr lang="en-US" sz="3200" dirty="0"/>
              <a:t> </a:t>
            </a:r>
            <a:r>
              <a:rPr lang="en-US" sz="3200" dirty="0" err="1"/>
              <a:t>olusturmak</a:t>
            </a:r>
            <a:r>
              <a:rPr lang="en-US" sz="3200" dirty="0"/>
              <a:t>,</a:t>
            </a:r>
          </a:p>
          <a:p>
            <a:pPr marL="0" indent="0">
              <a:buNone/>
            </a:pPr>
            <a:r>
              <a:rPr lang="en-US" sz="3200" dirty="0" err="1"/>
              <a:t>Performnaslı</a:t>
            </a:r>
            <a:r>
              <a:rPr lang="en-US" sz="3200" dirty="0"/>
              <a:t> </a:t>
            </a:r>
            <a:r>
              <a:rPr lang="en-US" sz="3200" dirty="0" err="1"/>
              <a:t>bir</a:t>
            </a:r>
            <a:r>
              <a:rPr lang="en-US" sz="3200" dirty="0"/>
              <a:t> ai </a:t>
            </a:r>
            <a:r>
              <a:rPr lang="en-US" sz="3200" dirty="0" err="1"/>
              <a:t>modeli</a:t>
            </a:r>
            <a:r>
              <a:rPr lang="en-US" sz="3200" dirty="0"/>
              <a:t> </a:t>
            </a:r>
            <a:r>
              <a:rPr lang="en-US" sz="3200" dirty="0" err="1"/>
              <a:t>geliştirmek</a:t>
            </a:r>
            <a:endParaRPr sz="3200" dirty="0"/>
          </a:p>
        </p:txBody>
      </p:sp>
      <p:sp>
        <p:nvSpPr>
          <p:cNvPr id="4" name="Shape 2">
            <a:extLst>
              <a:ext uri="{FF2B5EF4-FFF2-40B4-BE49-F238E27FC236}">
                <a16:creationId xmlns:a16="http://schemas.microsoft.com/office/drawing/2014/main" id="{29FDF821-6F52-E6E3-7B0A-09D0890EE02B}"/>
              </a:ext>
            </a:extLst>
          </p:cNvPr>
          <p:cNvSpPr>
            <a:spLocks noGrp="1"/>
          </p:cNvSpPr>
          <p:nvPr/>
        </p:nvSpPr>
        <p:spPr>
          <a:xfrm>
            <a:off x="457200" y="2372868"/>
            <a:ext cx="2544775" cy="859536"/>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A9FF56F5-51D7-6A7F-D4F1-AE30332E3EF2}"/>
              </a:ext>
            </a:extLst>
          </p:cNvPr>
          <p:cNvSpPr>
            <a:spLocks noGrp="1"/>
          </p:cNvSpPr>
          <p:nvPr/>
        </p:nvSpPr>
        <p:spPr>
          <a:xfrm>
            <a:off x="667512" y="1307592"/>
            <a:ext cx="2398471" cy="768096"/>
          </a:xfrm>
          <a:prstGeom prst="rect">
            <a:avLst/>
          </a:prstGeom>
          <a:noFill/>
        </p:spPr>
        <p:txBody>
          <a:bodyPr wrap="square" lIns="0" tIns="0" rIns="0" bIns="0" anchor="ctr">
            <a:normAutofit/>
          </a:bodyPr>
          <a:lstStyle/>
          <a:p>
            <a:pPr marL="0" indent="0">
              <a:buNone/>
            </a:pPr>
            <a:r>
              <a:rPr sz="1180" b="1">
                <a:solidFill>
                  <a:srgbClr val="FFFFFF"/>
                </a:solidFill>
              </a:rPr>
              <a:t>Deney</a:t>
            </a:r>
            <a:endParaRPr sz="1180"/>
          </a:p>
        </p:txBody>
      </p:sp>
      <p:sp>
        <p:nvSpPr>
          <p:cNvPr id="6" name="Shape 4">
            <a:extLst>
              <a:ext uri="{FF2B5EF4-FFF2-40B4-BE49-F238E27FC236}">
                <a16:creationId xmlns:a16="http://schemas.microsoft.com/office/drawing/2014/main" id="{2C5F7A50-D418-4BEA-978E-533D0D9B2796}"/>
              </a:ext>
            </a:extLst>
          </p:cNvPr>
          <p:cNvSpPr>
            <a:spLocks noGrp="1"/>
          </p:cNvSpPr>
          <p:nvPr/>
        </p:nvSpPr>
        <p:spPr>
          <a:xfrm>
            <a:off x="3129991" y="2651759"/>
            <a:ext cx="4646981" cy="859536"/>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F452A106-2C0C-741C-374C-A2847A3623FF}"/>
              </a:ext>
            </a:extLst>
          </p:cNvPr>
          <p:cNvSpPr>
            <a:spLocks noGrp="1"/>
          </p:cNvSpPr>
          <p:nvPr/>
        </p:nvSpPr>
        <p:spPr>
          <a:xfrm>
            <a:off x="3212287" y="1307592"/>
            <a:ext cx="4500677" cy="768096"/>
          </a:xfrm>
          <a:prstGeom prst="rect">
            <a:avLst/>
          </a:prstGeom>
          <a:noFill/>
        </p:spPr>
        <p:txBody>
          <a:bodyPr wrap="square" lIns="0" tIns="0" rIns="0" bIns="0" anchor="ctr">
            <a:normAutofit/>
          </a:bodyPr>
          <a:lstStyle/>
          <a:p>
            <a:pPr marL="0" indent="0">
              <a:buNone/>
            </a:pPr>
            <a:r>
              <a:rPr sz="1180" b="1">
                <a:solidFill>
                  <a:srgbClr val="FFFFFF"/>
                </a:solidFill>
              </a:rPr>
              <a:t>Soru</a:t>
            </a:r>
            <a:endParaRPr sz="1180"/>
          </a:p>
        </p:txBody>
      </p:sp>
      <p:sp>
        <p:nvSpPr>
          <p:cNvPr id="8" name="Shape 6">
            <a:extLst>
              <a:ext uri="{FF2B5EF4-FFF2-40B4-BE49-F238E27FC236}">
                <a16:creationId xmlns:a16="http://schemas.microsoft.com/office/drawing/2014/main" id="{938053F2-A366-44C5-70A2-10CDC43997DF}"/>
              </a:ext>
            </a:extLst>
          </p:cNvPr>
          <p:cNvSpPr>
            <a:spLocks noGrp="1"/>
          </p:cNvSpPr>
          <p:nvPr/>
        </p:nvSpPr>
        <p:spPr>
          <a:xfrm>
            <a:off x="7648956" y="2619755"/>
            <a:ext cx="3872484" cy="859536"/>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0E2A6A45-6ADB-8B20-767A-6349AC1749B7}"/>
              </a:ext>
            </a:extLst>
          </p:cNvPr>
          <p:cNvSpPr>
            <a:spLocks noGrp="1"/>
          </p:cNvSpPr>
          <p:nvPr/>
        </p:nvSpPr>
        <p:spPr>
          <a:xfrm>
            <a:off x="7859268" y="1307592"/>
            <a:ext cx="3726180" cy="768096"/>
          </a:xfrm>
          <a:prstGeom prst="rect">
            <a:avLst/>
          </a:prstGeom>
          <a:noFill/>
        </p:spPr>
        <p:txBody>
          <a:bodyPr wrap="square" lIns="0" tIns="0" rIns="0" bIns="0" anchor="ctr">
            <a:normAutofit/>
          </a:bodyPr>
          <a:lstStyle/>
          <a:p>
            <a:pPr marL="0" indent="0">
              <a:buNone/>
            </a:pPr>
            <a:r>
              <a:rPr sz="1180" b="1">
                <a:solidFill>
                  <a:srgbClr val="FFFFFF"/>
                </a:solidFill>
              </a:rPr>
              <a:t>Beklenen katkı</a:t>
            </a:r>
            <a:endParaRPr sz="1180"/>
          </a:p>
        </p:txBody>
      </p:sp>
      <p:sp>
        <p:nvSpPr>
          <p:cNvPr id="10" name="Shape 8">
            <a:extLst>
              <a:ext uri="{FF2B5EF4-FFF2-40B4-BE49-F238E27FC236}">
                <a16:creationId xmlns:a16="http://schemas.microsoft.com/office/drawing/2014/main" id="{C965E6D8-6515-4F6C-E3CB-C5AD0944B93D}"/>
              </a:ext>
            </a:extLst>
          </p:cNvPr>
          <p:cNvSpPr>
            <a:spLocks noGrp="1"/>
          </p:cNvSpPr>
          <p:nvPr/>
        </p:nvSpPr>
        <p:spPr>
          <a:xfrm>
            <a:off x="530352" y="2167128"/>
            <a:ext cx="2544775" cy="859536"/>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F27D45E2-7F87-25AD-7F84-EDD9E1D263EF}"/>
              </a:ext>
            </a:extLst>
          </p:cNvPr>
          <p:cNvSpPr>
            <a:spLocks noGrp="1"/>
          </p:cNvSpPr>
          <p:nvPr/>
        </p:nvSpPr>
        <p:spPr>
          <a:xfrm>
            <a:off x="667512" y="2167128"/>
            <a:ext cx="2398471" cy="768096"/>
          </a:xfrm>
          <a:prstGeom prst="rect">
            <a:avLst/>
          </a:prstGeom>
          <a:noFill/>
        </p:spPr>
        <p:txBody>
          <a:bodyPr wrap="square" lIns="0" tIns="0" rIns="0" bIns="0" anchor="ctr">
            <a:normAutofit/>
          </a:bodyPr>
          <a:lstStyle/>
          <a:p>
            <a:pPr marL="0" indent="0">
              <a:buNone/>
            </a:pPr>
            <a:endParaRPr sz="1180" dirty="0"/>
          </a:p>
        </p:txBody>
      </p:sp>
      <p:sp>
        <p:nvSpPr>
          <p:cNvPr id="12" name="Shape 10">
            <a:extLst>
              <a:ext uri="{FF2B5EF4-FFF2-40B4-BE49-F238E27FC236}">
                <a16:creationId xmlns:a16="http://schemas.microsoft.com/office/drawing/2014/main" id="{A7995431-72BC-BBE9-4CAA-8FFB63A57719}"/>
              </a:ext>
            </a:extLst>
          </p:cNvPr>
          <p:cNvSpPr>
            <a:spLocks noGrp="1"/>
          </p:cNvSpPr>
          <p:nvPr/>
        </p:nvSpPr>
        <p:spPr>
          <a:xfrm>
            <a:off x="3139135" y="2085955"/>
            <a:ext cx="4646981" cy="859536"/>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E3A7F636-2355-834A-3009-FB504C1ED609}"/>
              </a:ext>
            </a:extLst>
          </p:cNvPr>
          <p:cNvSpPr>
            <a:spLocks noGrp="1"/>
          </p:cNvSpPr>
          <p:nvPr/>
        </p:nvSpPr>
        <p:spPr>
          <a:xfrm>
            <a:off x="3212287" y="2167128"/>
            <a:ext cx="4500677" cy="768096"/>
          </a:xfrm>
          <a:prstGeom prst="rect">
            <a:avLst/>
          </a:prstGeom>
          <a:noFill/>
        </p:spPr>
        <p:txBody>
          <a:bodyPr wrap="square" lIns="0" tIns="0" rIns="0" bIns="0" anchor="ctr">
            <a:normAutofit/>
          </a:bodyPr>
          <a:lstStyle/>
          <a:p>
            <a:pPr marL="0" indent="0">
              <a:buNone/>
            </a:pPr>
            <a:endParaRPr sz="1180" dirty="0"/>
          </a:p>
        </p:txBody>
      </p:sp>
      <p:sp>
        <p:nvSpPr>
          <p:cNvPr id="14" name="Shape 12">
            <a:extLst>
              <a:ext uri="{FF2B5EF4-FFF2-40B4-BE49-F238E27FC236}">
                <a16:creationId xmlns:a16="http://schemas.microsoft.com/office/drawing/2014/main" id="{8687F0AD-14D9-32ED-BFA7-7013103098A2}"/>
              </a:ext>
            </a:extLst>
          </p:cNvPr>
          <p:cNvSpPr>
            <a:spLocks noGrp="1"/>
          </p:cNvSpPr>
          <p:nvPr/>
        </p:nvSpPr>
        <p:spPr>
          <a:xfrm>
            <a:off x="7786116" y="2093976"/>
            <a:ext cx="3872484" cy="859536"/>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A41ACB6A-76DB-3428-53A9-98F18AA262B7}"/>
              </a:ext>
            </a:extLst>
          </p:cNvPr>
          <p:cNvSpPr>
            <a:spLocks noGrp="1"/>
          </p:cNvSpPr>
          <p:nvPr/>
        </p:nvSpPr>
        <p:spPr>
          <a:xfrm>
            <a:off x="7859268" y="2167128"/>
            <a:ext cx="3726180" cy="768096"/>
          </a:xfrm>
          <a:prstGeom prst="rect">
            <a:avLst/>
          </a:prstGeom>
          <a:noFill/>
        </p:spPr>
        <p:txBody>
          <a:bodyPr wrap="square" lIns="0" tIns="0" rIns="0" bIns="0" anchor="ctr">
            <a:normAutofit/>
          </a:bodyPr>
          <a:lstStyle/>
          <a:p>
            <a:pPr marL="0" indent="0">
              <a:buNone/>
            </a:pPr>
            <a:endParaRPr sz="1180" dirty="0"/>
          </a:p>
        </p:txBody>
      </p:sp>
      <p:sp>
        <p:nvSpPr>
          <p:cNvPr id="16" name="Shape 14">
            <a:extLst>
              <a:ext uri="{FF2B5EF4-FFF2-40B4-BE49-F238E27FC236}">
                <a16:creationId xmlns:a16="http://schemas.microsoft.com/office/drawing/2014/main" id="{7B429422-5090-7C4C-B2C2-354041F81636}"/>
              </a:ext>
            </a:extLst>
          </p:cNvPr>
          <p:cNvSpPr>
            <a:spLocks noGrp="1"/>
          </p:cNvSpPr>
          <p:nvPr/>
        </p:nvSpPr>
        <p:spPr>
          <a:xfrm>
            <a:off x="594360" y="2953512"/>
            <a:ext cx="2544775" cy="859536"/>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1DFB174D-D7E9-EE03-F3F5-932B98C0F9AE}"/>
              </a:ext>
            </a:extLst>
          </p:cNvPr>
          <p:cNvSpPr>
            <a:spLocks noGrp="1"/>
          </p:cNvSpPr>
          <p:nvPr/>
        </p:nvSpPr>
        <p:spPr>
          <a:xfrm>
            <a:off x="667512" y="3026664"/>
            <a:ext cx="2398471" cy="768096"/>
          </a:xfrm>
          <a:prstGeom prst="rect">
            <a:avLst/>
          </a:prstGeom>
          <a:noFill/>
        </p:spPr>
        <p:txBody>
          <a:bodyPr wrap="square" lIns="0" tIns="0" rIns="0" bIns="0" anchor="ctr">
            <a:normAutofit/>
          </a:bodyPr>
          <a:lstStyle/>
          <a:p>
            <a:pPr marL="0" indent="0">
              <a:buNone/>
            </a:pPr>
            <a:r>
              <a:rPr sz="1180">
                <a:solidFill>
                  <a:srgbClr val="1A1E2A"/>
                </a:solidFill>
              </a:rPr>
              <a:t>Veri + model kompozisyonu</a:t>
            </a:r>
            <a:endParaRPr sz="1180"/>
          </a:p>
        </p:txBody>
      </p:sp>
      <p:sp>
        <p:nvSpPr>
          <p:cNvPr id="18" name="Shape 16">
            <a:extLst>
              <a:ext uri="{FF2B5EF4-FFF2-40B4-BE49-F238E27FC236}">
                <a16:creationId xmlns:a16="http://schemas.microsoft.com/office/drawing/2014/main" id="{D35C8DAC-5127-6F46-192A-B6478E3744B3}"/>
              </a:ext>
            </a:extLst>
          </p:cNvPr>
          <p:cNvSpPr>
            <a:spLocks noGrp="1"/>
          </p:cNvSpPr>
          <p:nvPr/>
        </p:nvSpPr>
        <p:spPr>
          <a:xfrm>
            <a:off x="3139135" y="2953512"/>
            <a:ext cx="4646981" cy="859536"/>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1669AD8B-0259-1CA1-129C-4E7DE5CF5170}"/>
              </a:ext>
            </a:extLst>
          </p:cNvPr>
          <p:cNvSpPr>
            <a:spLocks noGrp="1"/>
          </p:cNvSpPr>
          <p:nvPr/>
        </p:nvSpPr>
        <p:spPr>
          <a:xfrm>
            <a:off x="3212287" y="3026664"/>
            <a:ext cx="4500677" cy="768096"/>
          </a:xfrm>
          <a:prstGeom prst="rect">
            <a:avLst/>
          </a:prstGeom>
          <a:noFill/>
        </p:spPr>
        <p:txBody>
          <a:bodyPr wrap="square" lIns="0" tIns="0" rIns="0" bIns="0" anchor="ctr">
            <a:normAutofit/>
          </a:bodyPr>
          <a:lstStyle/>
          <a:p>
            <a:pPr marL="0" indent="0">
              <a:buNone/>
            </a:pPr>
            <a:r>
              <a:rPr sz="1180" dirty="0">
                <a:solidFill>
                  <a:srgbClr val="1A1E2A"/>
                </a:solidFill>
              </a:rPr>
              <a:t>Twitter / </a:t>
            </a:r>
            <a:r>
              <a:rPr sz="1180" dirty="0" err="1">
                <a:solidFill>
                  <a:srgbClr val="1A1E2A"/>
                </a:solidFill>
              </a:rPr>
              <a:t>PhraseBank</a:t>
            </a:r>
            <a:r>
              <a:rPr sz="1180" dirty="0">
                <a:solidFill>
                  <a:srgbClr val="1A1E2A"/>
                </a:solidFill>
              </a:rPr>
              <a:t> / S&amp;P / Reuters / ek </a:t>
            </a:r>
            <a:r>
              <a:rPr sz="1180" dirty="0" err="1">
                <a:solidFill>
                  <a:srgbClr val="1A1E2A"/>
                </a:solidFill>
              </a:rPr>
              <a:t>veri</a:t>
            </a:r>
            <a:r>
              <a:rPr sz="1180" dirty="0">
                <a:solidFill>
                  <a:srgbClr val="1A1E2A"/>
                </a:solidFill>
              </a:rPr>
              <a:t> + </a:t>
            </a:r>
            <a:r>
              <a:rPr sz="1180" dirty="0" err="1">
                <a:solidFill>
                  <a:srgbClr val="1A1E2A"/>
                </a:solidFill>
              </a:rPr>
              <a:t>FinGPT</a:t>
            </a:r>
            <a:r>
              <a:rPr sz="1180" dirty="0">
                <a:solidFill>
                  <a:srgbClr val="1A1E2A"/>
                </a:solidFill>
              </a:rPr>
              <a:t> + Financial-</a:t>
            </a:r>
            <a:r>
              <a:rPr sz="1180" dirty="0" err="1">
                <a:solidFill>
                  <a:srgbClr val="1A1E2A"/>
                </a:solidFill>
              </a:rPr>
              <a:t>RoBERTa</a:t>
            </a:r>
            <a:r>
              <a:rPr sz="1180" dirty="0">
                <a:solidFill>
                  <a:srgbClr val="1A1E2A"/>
                </a:solidFill>
              </a:rPr>
              <a:t> </a:t>
            </a:r>
            <a:r>
              <a:rPr sz="1180" dirty="0" err="1">
                <a:solidFill>
                  <a:srgbClr val="1A1E2A"/>
                </a:solidFill>
              </a:rPr>
              <a:t>eklenince</a:t>
            </a:r>
            <a:r>
              <a:rPr sz="1180" dirty="0">
                <a:solidFill>
                  <a:srgbClr val="1A1E2A"/>
                </a:solidFill>
              </a:rPr>
              <a:t> ne </a:t>
            </a:r>
            <a:r>
              <a:rPr sz="1180" dirty="0" err="1">
                <a:solidFill>
                  <a:srgbClr val="1A1E2A"/>
                </a:solidFill>
              </a:rPr>
              <a:t>oluyor</a:t>
            </a:r>
            <a:r>
              <a:rPr sz="1180" dirty="0">
                <a:solidFill>
                  <a:srgbClr val="1A1E2A"/>
                </a:solidFill>
              </a:rPr>
              <a:t>?</a:t>
            </a:r>
            <a:endParaRPr sz="1180" dirty="0"/>
          </a:p>
        </p:txBody>
      </p:sp>
      <p:sp>
        <p:nvSpPr>
          <p:cNvPr id="20" name="Shape 18">
            <a:extLst>
              <a:ext uri="{FF2B5EF4-FFF2-40B4-BE49-F238E27FC236}">
                <a16:creationId xmlns:a16="http://schemas.microsoft.com/office/drawing/2014/main" id="{EDBCD7D5-CE98-C8FF-7506-55A7088527C3}"/>
              </a:ext>
            </a:extLst>
          </p:cNvPr>
          <p:cNvSpPr>
            <a:spLocks noGrp="1"/>
          </p:cNvSpPr>
          <p:nvPr/>
        </p:nvSpPr>
        <p:spPr>
          <a:xfrm>
            <a:off x="7786116" y="2953512"/>
            <a:ext cx="3872484" cy="859536"/>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4D0D9707-C720-50ED-B319-983218D8FD94}"/>
              </a:ext>
            </a:extLst>
          </p:cNvPr>
          <p:cNvSpPr>
            <a:spLocks noGrp="1"/>
          </p:cNvSpPr>
          <p:nvPr/>
        </p:nvSpPr>
        <p:spPr>
          <a:xfrm>
            <a:off x="7859268" y="3026664"/>
            <a:ext cx="3726180" cy="768096"/>
          </a:xfrm>
          <a:prstGeom prst="rect">
            <a:avLst/>
          </a:prstGeom>
          <a:noFill/>
        </p:spPr>
        <p:txBody>
          <a:bodyPr wrap="square" lIns="0" tIns="0" rIns="0" bIns="0" anchor="ctr">
            <a:normAutofit/>
          </a:bodyPr>
          <a:lstStyle/>
          <a:p>
            <a:pPr marL="0" indent="0">
              <a:buNone/>
            </a:pPr>
            <a:r>
              <a:rPr sz="1180" dirty="0">
                <a:solidFill>
                  <a:srgbClr val="1A1E2A"/>
                </a:solidFill>
              </a:rPr>
              <a:t>Yeni </a:t>
            </a:r>
            <a:r>
              <a:rPr sz="1180" dirty="0" err="1">
                <a:solidFill>
                  <a:srgbClr val="1A1E2A"/>
                </a:solidFill>
              </a:rPr>
              <a:t>veri</a:t>
            </a:r>
            <a:r>
              <a:rPr sz="1180" dirty="0">
                <a:solidFill>
                  <a:srgbClr val="1A1E2A"/>
                </a:solidFill>
              </a:rPr>
              <a:t> + </a:t>
            </a:r>
            <a:r>
              <a:rPr sz="1180" dirty="0" err="1">
                <a:solidFill>
                  <a:srgbClr val="1A1E2A"/>
                </a:solidFill>
              </a:rPr>
              <a:t>finans-özgü</a:t>
            </a:r>
            <a:r>
              <a:rPr sz="1180" dirty="0">
                <a:solidFill>
                  <a:srgbClr val="1A1E2A"/>
                </a:solidFill>
              </a:rPr>
              <a:t> model </a:t>
            </a:r>
            <a:r>
              <a:rPr sz="1180" dirty="0" err="1">
                <a:solidFill>
                  <a:srgbClr val="1A1E2A"/>
                </a:solidFill>
              </a:rPr>
              <a:t>ailesi</a:t>
            </a:r>
            <a:r>
              <a:rPr sz="1180" dirty="0">
                <a:solidFill>
                  <a:srgbClr val="1A1E2A"/>
                </a:solidFill>
              </a:rPr>
              <a:t> </a:t>
            </a:r>
            <a:r>
              <a:rPr sz="1180" dirty="0" err="1">
                <a:solidFill>
                  <a:srgbClr val="1A1E2A"/>
                </a:solidFill>
              </a:rPr>
              <a:t>birlikte</a:t>
            </a:r>
            <a:r>
              <a:rPr sz="1180" dirty="0">
                <a:solidFill>
                  <a:srgbClr val="1A1E2A"/>
                </a:solidFill>
              </a:rPr>
              <a:t> test </a:t>
            </a:r>
            <a:r>
              <a:rPr sz="1180" dirty="0" err="1">
                <a:solidFill>
                  <a:srgbClr val="1A1E2A"/>
                </a:solidFill>
              </a:rPr>
              <a:t>edilir</a:t>
            </a:r>
            <a:r>
              <a:rPr sz="1180" dirty="0">
                <a:solidFill>
                  <a:srgbClr val="1A1E2A"/>
                </a:solidFill>
              </a:rPr>
              <a:t>.</a:t>
            </a:r>
            <a:endParaRPr sz="1180" dirty="0"/>
          </a:p>
        </p:txBody>
      </p:sp>
      <p:sp>
        <p:nvSpPr>
          <p:cNvPr id="22" name="Shape 20">
            <a:extLst>
              <a:ext uri="{FF2B5EF4-FFF2-40B4-BE49-F238E27FC236}">
                <a16:creationId xmlns:a16="http://schemas.microsoft.com/office/drawing/2014/main" id="{43DB4F4A-7542-44AA-39E4-BE10CB786FB0}"/>
              </a:ext>
            </a:extLst>
          </p:cNvPr>
          <p:cNvSpPr>
            <a:spLocks noGrp="1"/>
          </p:cNvSpPr>
          <p:nvPr/>
        </p:nvSpPr>
        <p:spPr>
          <a:xfrm>
            <a:off x="594360" y="3813048"/>
            <a:ext cx="2544775" cy="859536"/>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4A7E42C3-A7C6-C72F-ADEF-839FAED5C983}"/>
              </a:ext>
            </a:extLst>
          </p:cNvPr>
          <p:cNvSpPr>
            <a:spLocks noGrp="1"/>
          </p:cNvSpPr>
          <p:nvPr/>
        </p:nvSpPr>
        <p:spPr>
          <a:xfrm>
            <a:off x="667512" y="3886200"/>
            <a:ext cx="2398471" cy="768096"/>
          </a:xfrm>
          <a:prstGeom prst="rect">
            <a:avLst/>
          </a:prstGeom>
          <a:noFill/>
        </p:spPr>
        <p:txBody>
          <a:bodyPr wrap="square" lIns="0" tIns="0" rIns="0" bIns="0" anchor="ctr">
            <a:normAutofit/>
          </a:bodyPr>
          <a:lstStyle/>
          <a:p>
            <a:pPr marL="0" indent="0">
              <a:buNone/>
            </a:pPr>
            <a:r>
              <a:rPr sz="1180">
                <a:solidFill>
                  <a:srgbClr val="1A1E2A"/>
                </a:solidFill>
              </a:rPr>
              <a:t>Label semantics</a:t>
            </a:r>
            <a:endParaRPr sz="1180"/>
          </a:p>
        </p:txBody>
      </p:sp>
      <p:sp>
        <p:nvSpPr>
          <p:cNvPr id="24" name="Shape 22">
            <a:extLst>
              <a:ext uri="{FF2B5EF4-FFF2-40B4-BE49-F238E27FC236}">
                <a16:creationId xmlns:a16="http://schemas.microsoft.com/office/drawing/2014/main" id="{AEC7EF0D-DC8C-4FF2-78A0-4EE23E2526D5}"/>
              </a:ext>
            </a:extLst>
          </p:cNvPr>
          <p:cNvSpPr>
            <a:spLocks noGrp="1"/>
          </p:cNvSpPr>
          <p:nvPr/>
        </p:nvSpPr>
        <p:spPr>
          <a:xfrm>
            <a:off x="3139135" y="3813048"/>
            <a:ext cx="4646981" cy="859536"/>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8EF9CA49-480D-4CAB-1B00-1EDCB551820F}"/>
              </a:ext>
            </a:extLst>
          </p:cNvPr>
          <p:cNvSpPr>
            <a:spLocks noGrp="1"/>
          </p:cNvSpPr>
          <p:nvPr/>
        </p:nvSpPr>
        <p:spPr>
          <a:xfrm>
            <a:off x="3212287" y="3886200"/>
            <a:ext cx="4500677" cy="768096"/>
          </a:xfrm>
          <a:prstGeom prst="rect">
            <a:avLst/>
          </a:prstGeom>
          <a:noFill/>
        </p:spPr>
        <p:txBody>
          <a:bodyPr wrap="square" lIns="0" tIns="0" rIns="0" bIns="0" anchor="ctr">
            <a:normAutofit/>
          </a:bodyPr>
          <a:lstStyle/>
          <a:p>
            <a:pPr marL="0" indent="0">
              <a:buNone/>
            </a:pPr>
            <a:r>
              <a:rPr sz="1180">
                <a:solidFill>
                  <a:srgbClr val="1A1E2A"/>
                </a:solidFill>
              </a:rPr>
              <a:t>Positive/Neutral/Negative karar kriterleri setler arasında aynı mı?</a:t>
            </a:r>
            <a:endParaRPr sz="1180"/>
          </a:p>
        </p:txBody>
      </p:sp>
      <p:sp>
        <p:nvSpPr>
          <p:cNvPr id="26" name="Shape 24">
            <a:extLst>
              <a:ext uri="{FF2B5EF4-FFF2-40B4-BE49-F238E27FC236}">
                <a16:creationId xmlns:a16="http://schemas.microsoft.com/office/drawing/2014/main" id="{2A6DF15E-F0F2-93DA-8601-113C1D858D3C}"/>
              </a:ext>
            </a:extLst>
          </p:cNvPr>
          <p:cNvSpPr>
            <a:spLocks noGrp="1"/>
          </p:cNvSpPr>
          <p:nvPr/>
        </p:nvSpPr>
        <p:spPr>
          <a:xfrm>
            <a:off x="7786116" y="3813048"/>
            <a:ext cx="3872484" cy="859536"/>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7688E5FF-7E6A-EADC-B71D-17AF0AA7ED64}"/>
              </a:ext>
            </a:extLst>
          </p:cNvPr>
          <p:cNvSpPr>
            <a:spLocks noGrp="1"/>
          </p:cNvSpPr>
          <p:nvPr/>
        </p:nvSpPr>
        <p:spPr>
          <a:xfrm>
            <a:off x="7859268" y="3886200"/>
            <a:ext cx="3726180" cy="768096"/>
          </a:xfrm>
          <a:prstGeom prst="rect">
            <a:avLst/>
          </a:prstGeom>
          <a:noFill/>
        </p:spPr>
        <p:txBody>
          <a:bodyPr wrap="square" lIns="0" tIns="0" rIns="0" bIns="0" anchor="ctr">
            <a:normAutofit/>
          </a:bodyPr>
          <a:lstStyle/>
          <a:p>
            <a:pPr marL="0" indent="0">
              <a:buNone/>
            </a:pPr>
            <a:r>
              <a:rPr sz="1180">
                <a:solidFill>
                  <a:srgbClr val="1A1E2A"/>
                </a:solidFill>
              </a:rPr>
              <a:t>Reuters ve Neutral düşüşünün nedeni açıklanabilir.</a:t>
            </a:r>
            <a:endParaRPr sz="1180"/>
          </a:p>
        </p:txBody>
      </p:sp>
      <p:sp>
        <p:nvSpPr>
          <p:cNvPr id="28" name="Shape 26">
            <a:extLst>
              <a:ext uri="{FF2B5EF4-FFF2-40B4-BE49-F238E27FC236}">
                <a16:creationId xmlns:a16="http://schemas.microsoft.com/office/drawing/2014/main" id="{FE33123D-88C0-2121-6C71-8C23B1DE6232}"/>
              </a:ext>
            </a:extLst>
          </p:cNvPr>
          <p:cNvSpPr>
            <a:spLocks noGrp="1"/>
          </p:cNvSpPr>
          <p:nvPr/>
        </p:nvSpPr>
        <p:spPr>
          <a:xfrm>
            <a:off x="594360" y="4672584"/>
            <a:ext cx="2544775" cy="859536"/>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BD8E8CFE-0396-ED21-573C-EC0A632E2DE5}"/>
              </a:ext>
            </a:extLst>
          </p:cNvPr>
          <p:cNvSpPr>
            <a:spLocks noGrp="1"/>
          </p:cNvSpPr>
          <p:nvPr/>
        </p:nvSpPr>
        <p:spPr>
          <a:xfrm>
            <a:off x="667512" y="4745736"/>
            <a:ext cx="2398471" cy="768096"/>
          </a:xfrm>
          <a:prstGeom prst="rect">
            <a:avLst/>
          </a:prstGeom>
          <a:noFill/>
        </p:spPr>
        <p:txBody>
          <a:bodyPr wrap="square" lIns="0" tIns="0" rIns="0" bIns="0" anchor="ctr">
            <a:normAutofit/>
          </a:bodyPr>
          <a:lstStyle/>
          <a:p>
            <a:pPr marL="0" indent="0">
              <a:buNone/>
            </a:pPr>
            <a:r>
              <a:rPr sz="1180">
                <a:solidFill>
                  <a:srgbClr val="1A1E2A"/>
                </a:solidFill>
              </a:rPr>
              <a:t>Calibration</a:t>
            </a:r>
            <a:endParaRPr sz="1180"/>
          </a:p>
        </p:txBody>
      </p:sp>
      <p:sp>
        <p:nvSpPr>
          <p:cNvPr id="30" name="Shape 28">
            <a:extLst>
              <a:ext uri="{FF2B5EF4-FFF2-40B4-BE49-F238E27FC236}">
                <a16:creationId xmlns:a16="http://schemas.microsoft.com/office/drawing/2014/main" id="{0E3DAF64-03AA-28C4-09F9-1FBE3B285533}"/>
              </a:ext>
            </a:extLst>
          </p:cNvPr>
          <p:cNvSpPr>
            <a:spLocks noGrp="1"/>
          </p:cNvSpPr>
          <p:nvPr/>
        </p:nvSpPr>
        <p:spPr>
          <a:xfrm>
            <a:off x="3139135" y="4672584"/>
            <a:ext cx="4646981" cy="859536"/>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2481BFA6-1559-6D91-7B8C-DF2EFF04253F}"/>
              </a:ext>
            </a:extLst>
          </p:cNvPr>
          <p:cNvSpPr>
            <a:spLocks noGrp="1"/>
          </p:cNvSpPr>
          <p:nvPr/>
        </p:nvSpPr>
        <p:spPr>
          <a:xfrm>
            <a:off x="3212287" y="4745736"/>
            <a:ext cx="4500677" cy="768096"/>
          </a:xfrm>
          <a:prstGeom prst="rect">
            <a:avLst/>
          </a:prstGeom>
          <a:noFill/>
        </p:spPr>
        <p:txBody>
          <a:bodyPr wrap="square" lIns="0" tIns="0" rIns="0" bIns="0" anchor="ctr">
            <a:normAutofit/>
          </a:bodyPr>
          <a:lstStyle/>
          <a:p>
            <a:pPr marL="0" indent="0">
              <a:buNone/>
            </a:pPr>
            <a:r>
              <a:rPr sz="1180">
                <a:solidFill>
                  <a:srgbClr val="1A1E2A"/>
                </a:solidFill>
              </a:rPr>
              <a:t>Model yanlışken ne kadar emin?</a:t>
            </a:r>
            <a:endParaRPr sz="1180"/>
          </a:p>
        </p:txBody>
      </p:sp>
      <p:sp>
        <p:nvSpPr>
          <p:cNvPr id="32" name="Shape 30">
            <a:extLst>
              <a:ext uri="{FF2B5EF4-FFF2-40B4-BE49-F238E27FC236}">
                <a16:creationId xmlns:a16="http://schemas.microsoft.com/office/drawing/2014/main" id="{A06D72AC-8EFB-1DB0-73B6-C2CCBA19B505}"/>
              </a:ext>
            </a:extLst>
          </p:cNvPr>
          <p:cNvSpPr>
            <a:spLocks noGrp="1"/>
          </p:cNvSpPr>
          <p:nvPr/>
        </p:nvSpPr>
        <p:spPr>
          <a:xfrm>
            <a:off x="7786116" y="4672584"/>
            <a:ext cx="3872484" cy="859536"/>
          </a:xfrm>
          <a:prstGeom prst="rect">
            <a:avLst/>
          </a:prstGeom>
          <a:solidFill>
            <a:srgbClr val="F4F6FB"/>
          </a:solidFill>
          <a:ln w="6350">
            <a:solidFill>
              <a:srgbClr val="DDE3EF"/>
            </a:solidFill>
            <a:prstDash val="solid"/>
          </a:ln>
        </p:spPr>
      </p:sp>
      <p:sp>
        <p:nvSpPr>
          <p:cNvPr id="33" name="Text 31">
            <a:extLst>
              <a:ext uri="{FF2B5EF4-FFF2-40B4-BE49-F238E27FC236}">
                <a16:creationId xmlns:a16="http://schemas.microsoft.com/office/drawing/2014/main" id="{C9F5F912-3A9E-3552-DAAA-E5F35C19EBF6}"/>
              </a:ext>
            </a:extLst>
          </p:cNvPr>
          <p:cNvSpPr>
            <a:spLocks noGrp="1"/>
          </p:cNvSpPr>
          <p:nvPr/>
        </p:nvSpPr>
        <p:spPr>
          <a:xfrm>
            <a:off x="7859268" y="4745736"/>
            <a:ext cx="3726180" cy="768096"/>
          </a:xfrm>
          <a:prstGeom prst="rect">
            <a:avLst/>
          </a:prstGeom>
          <a:noFill/>
        </p:spPr>
        <p:txBody>
          <a:bodyPr wrap="square" lIns="0" tIns="0" rIns="0" bIns="0" anchor="ctr">
            <a:normAutofit/>
          </a:bodyPr>
          <a:lstStyle/>
          <a:p>
            <a:pPr marL="0" indent="0">
              <a:buNone/>
            </a:pPr>
            <a:r>
              <a:rPr sz="1180">
                <a:solidFill>
                  <a:srgbClr val="1A1E2A"/>
                </a:solidFill>
              </a:rPr>
              <a:t>Confidence güvenilirliği ölçülür.</a:t>
            </a:r>
            <a:endParaRPr sz="1180"/>
          </a:p>
        </p:txBody>
      </p:sp>
      <p:sp>
        <p:nvSpPr>
          <p:cNvPr id="34" name="Text 32">
            <a:extLst>
              <a:ext uri="{FF2B5EF4-FFF2-40B4-BE49-F238E27FC236}">
                <a16:creationId xmlns:a16="http://schemas.microsoft.com/office/drawing/2014/main" id="{F8E074FF-2BD4-DA3D-CB11-EA8DD6E00295}"/>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5" name="Text 33">
            <a:extLst>
              <a:ext uri="{FF2B5EF4-FFF2-40B4-BE49-F238E27FC236}">
                <a16:creationId xmlns:a16="http://schemas.microsoft.com/office/drawing/2014/main" id="{9BEB4774-28DA-3256-F903-1DF81E89499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33</a:t>
            </a:r>
            <a:endParaRPr sz="850"/>
          </a:p>
        </p:txBody>
      </p:sp>
      <p:sp>
        <p:nvSpPr>
          <p:cNvPr id="36" name="Shape 34">
            <a:extLst>
              <a:ext uri="{FF2B5EF4-FFF2-40B4-BE49-F238E27FC236}">
                <a16:creationId xmlns:a16="http://schemas.microsoft.com/office/drawing/2014/main" id="{F51D1D9B-F0DE-A57B-50E5-5C839BCF5FB2}"/>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749584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DB996BE-B0A9-4C18-B3D3-71A7769270B7}"/>
              </a:ext>
            </a:extLst>
          </p:cNvPr>
          <p:cNvSpPr>
            <a:spLocks noGrp="1"/>
          </p:cNvSpPr>
          <p:nvPr/>
        </p:nvSpPr>
        <p:spPr>
          <a:xfrm>
            <a:off x="731520" y="2148840"/>
            <a:ext cx="10789920" cy="502920"/>
          </a:xfrm>
          <a:prstGeom prst="rect">
            <a:avLst/>
          </a:prstGeom>
          <a:noFill/>
        </p:spPr>
        <p:txBody>
          <a:bodyPr wrap="square" lIns="0" tIns="0" rIns="0" bIns="0" anchor="ctr"/>
          <a:lstStyle/>
          <a:p>
            <a:pPr marL="0" indent="0" algn="ctr">
              <a:buNone/>
            </a:pPr>
            <a:r>
              <a:rPr sz="3800" b="1">
                <a:solidFill>
                  <a:srgbClr val="FFFFFF"/>
                </a:solidFill>
              </a:rPr>
              <a:t>Teşekkürler</a:t>
            </a:r>
            <a:endParaRPr sz="3800"/>
          </a:p>
        </p:txBody>
      </p:sp>
      <p:sp>
        <p:nvSpPr>
          <p:cNvPr id="3" name="Text 1">
            <a:extLst>
              <a:ext uri="{FF2B5EF4-FFF2-40B4-BE49-F238E27FC236}">
                <a16:creationId xmlns:a16="http://schemas.microsoft.com/office/drawing/2014/main" id="{B8752689-6CF7-4240-B035-97F5521A5B9F}"/>
              </a:ext>
            </a:extLst>
          </p:cNvPr>
          <p:cNvSpPr>
            <a:spLocks noGrp="1"/>
          </p:cNvSpPr>
          <p:nvPr/>
        </p:nvSpPr>
        <p:spPr>
          <a:xfrm>
            <a:off x="731520" y="2880360"/>
            <a:ext cx="10789920" cy="320040"/>
          </a:xfrm>
          <a:prstGeom prst="rect">
            <a:avLst/>
          </a:prstGeom>
          <a:noFill/>
        </p:spPr>
        <p:txBody>
          <a:bodyPr wrap="square" lIns="0" tIns="0" rIns="0" bIns="0" anchor="ctr"/>
          <a:lstStyle/>
          <a:p>
            <a:pPr marL="0" indent="0" algn="ctr">
              <a:buNone/>
            </a:pPr>
            <a:r>
              <a:rPr sz="2100">
                <a:solidFill>
                  <a:srgbClr val="DCE6FF"/>
                </a:solidFill>
              </a:rPr>
              <a:t>Sorular ve görüşler</a:t>
            </a:r>
            <a:endParaRPr sz="2100"/>
          </a:p>
        </p:txBody>
      </p:sp>
      <p:sp>
        <p:nvSpPr>
          <p:cNvPr id="4" name="Text 2">
            <a:extLst>
              <a:ext uri="{FF2B5EF4-FFF2-40B4-BE49-F238E27FC236}">
                <a16:creationId xmlns:a16="http://schemas.microsoft.com/office/drawing/2014/main" id="{36AAB41B-2A9C-491C-BEF0-60881911071F}"/>
              </a:ext>
            </a:extLst>
          </p:cNvPr>
          <p:cNvSpPr>
            <a:spLocks noGrp="1"/>
          </p:cNvSpPr>
          <p:nvPr/>
        </p:nvSpPr>
        <p:spPr>
          <a:xfrm>
            <a:off x="1463040" y="3977640"/>
            <a:ext cx="9326880" cy="594360"/>
          </a:xfrm>
          <a:prstGeom prst="rect">
            <a:avLst/>
          </a:prstGeom>
          <a:noFill/>
        </p:spPr>
        <p:txBody>
          <a:bodyPr wrap="square" lIns="0" tIns="0" rIns="0" bIns="0" anchor="ctr">
            <a:normAutofit/>
          </a:bodyPr>
          <a:lstStyle/>
          <a:p>
            <a:pPr marL="0" indent="0" algn="ctr">
              <a:buNone/>
            </a:pPr>
            <a:r>
              <a:rPr sz="1800" b="1">
                <a:solidFill>
                  <a:srgbClr val="FFFFFF"/>
                </a:solidFill>
              </a:rPr>
              <a:t>Ana mesaj: İç test başarısı önemli; ancak finansal NLP’de gerçek değer, farklı veri kaynaklarında güvenilir genelleme sağlayabilmektir.</a:t>
            </a:r>
            <a:endParaRPr sz="1800"/>
          </a:p>
        </p:txBody>
      </p:sp>
      <p:sp>
        <p:nvSpPr>
          <p:cNvPr id="5" name="Text 3">
            <a:extLst>
              <a:ext uri="{FF2B5EF4-FFF2-40B4-BE49-F238E27FC236}">
                <a16:creationId xmlns:a16="http://schemas.microsoft.com/office/drawing/2014/main" id="{EB0E3DD8-FD01-4464-9522-2C01F3244437}"/>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6" name="Text 4">
            <a:extLst>
              <a:ext uri="{FF2B5EF4-FFF2-40B4-BE49-F238E27FC236}">
                <a16:creationId xmlns:a16="http://schemas.microsoft.com/office/drawing/2014/main" id="{4B5F6A77-1413-4120-B1DE-14313A54AFC2}"/>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34</a:t>
            </a:r>
            <a:endParaRPr sz="850"/>
          </a:p>
        </p:txBody>
      </p:sp>
      <p:sp>
        <p:nvSpPr>
          <p:cNvPr id="7" name="Shape 5">
            <a:extLst>
              <a:ext uri="{FF2B5EF4-FFF2-40B4-BE49-F238E27FC236}">
                <a16:creationId xmlns:a16="http://schemas.microsoft.com/office/drawing/2014/main" id="{C0F93C44-FA67-4E69-862B-584FBCBF4905}"/>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037046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2033"/>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554C113-C0B9-4C40-946E-9592C480C7C5}"/>
              </a:ext>
            </a:extLst>
          </p:cNvPr>
          <p:cNvSpPr>
            <a:spLocks noGrp="1"/>
          </p:cNvSpPr>
          <p:nvPr/>
        </p:nvSpPr>
        <p:spPr>
          <a:xfrm>
            <a:off x="731520" y="2240280"/>
            <a:ext cx="10789920" cy="685800"/>
          </a:xfrm>
          <a:prstGeom prst="rect">
            <a:avLst/>
          </a:prstGeom>
          <a:noFill/>
        </p:spPr>
        <p:txBody>
          <a:bodyPr wrap="square" lIns="0" tIns="0" rIns="0" bIns="0" anchor="ctr"/>
          <a:lstStyle/>
          <a:p>
            <a:pPr marL="0" indent="0" algn="ctr">
              <a:buNone/>
            </a:pPr>
            <a:r>
              <a:rPr sz="3600" b="1">
                <a:solidFill>
                  <a:srgbClr val="FFFFFF"/>
                </a:solidFill>
              </a:rPr>
              <a:t>« EKLER »</a:t>
            </a:r>
            <a:endParaRPr sz="3600"/>
          </a:p>
        </p:txBody>
      </p:sp>
      <p:sp>
        <p:nvSpPr>
          <p:cNvPr id="3" name="Text 1">
            <a:extLst>
              <a:ext uri="{FF2B5EF4-FFF2-40B4-BE49-F238E27FC236}">
                <a16:creationId xmlns:a16="http://schemas.microsoft.com/office/drawing/2014/main" id="{E3ED7DED-2BB6-44F4-A9A0-8E5EF12E4794}"/>
              </a:ext>
            </a:extLst>
          </p:cNvPr>
          <p:cNvSpPr>
            <a:spLocks noGrp="1"/>
          </p:cNvSpPr>
          <p:nvPr/>
        </p:nvSpPr>
        <p:spPr>
          <a:xfrm>
            <a:off x="1554480" y="3063240"/>
            <a:ext cx="9144000" cy="502920"/>
          </a:xfrm>
          <a:prstGeom prst="rect">
            <a:avLst/>
          </a:prstGeom>
          <a:noFill/>
        </p:spPr>
        <p:txBody>
          <a:bodyPr wrap="square" lIns="0" tIns="0" rIns="0" bIns="0" anchor="ctr">
            <a:normAutofit/>
          </a:bodyPr>
          <a:lstStyle/>
          <a:p>
            <a:pPr marL="0" indent="0" algn="ctr">
              <a:buNone/>
            </a:pPr>
            <a:r>
              <a:rPr sz="1800">
                <a:solidFill>
                  <a:srgbClr val="DCE6FF"/>
                </a:solidFill>
              </a:rPr>
              <a:t>Soru-cevap için literatür, model kaynakları ve deney ayrıntıları</a:t>
            </a:r>
            <a:endParaRPr sz="1800"/>
          </a:p>
        </p:txBody>
      </p:sp>
      <p:sp>
        <p:nvSpPr>
          <p:cNvPr id="4" name="Text 2">
            <a:extLst>
              <a:ext uri="{FF2B5EF4-FFF2-40B4-BE49-F238E27FC236}">
                <a16:creationId xmlns:a16="http://schemas.microsoft.com/office/drawing/2014/main" id="{BF763ACD-D12F-4082-8F13-5D6E701C200D}"/>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5" name="Text 3">
            <a:extLst>
              <a:ext uri="{FF2B5EF4-FFF2-40B4-BE49-F238E27FC236}">
                <a16:creationId xmlns:a16="http://schemas.microsoft.com/office/drawing/2014/main" id="{B680A605-A869-41CB-BF36-FB746823903B}"/>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35</a:t>
            </a:r>
            <a:endParaRPr sz="850"/>
          </a:p>
        </p:txBody>
      </p:sp>
      <p:sp>
        <p:nvSpPr>
          <p:cNvPr id="6" name="Shape 4">
            <a:extLst>
              <a:ext uri="{FF2B5EF4-FFF2-40B4-BE49-F238E27FC236}">
                <a16:creationId xmlns:a16="http://schemas.microsoft.com/office/drawing/2014/main" id="{FC0CEA2E-6FB4-4551-BCDF-358BDFDA2974}"/>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499056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9D4B5B0-8CB2-4387-93AE-04B40C025203}"/>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Literatür bağlamı</a:t>
            </a:r>
            <a:endParaRPr sz="3100"/>
          </a:p>
        </p:txBody>
      </p:sp>
      <p:sp>
        <p:nvSpPr>
          <p:cNvPr id="3" name="Text 1">
            <a:extLst>
              <a:ext uri="{FF2B5EF4-FFF2-40B4-BE49-F238E27FC236}">
                <a16:creationId xmlns:a16="http://schemas.microsoft.com/office/drawing/2014/main" id="{58AE0050-560F-4BCC-92FB-B8A44E0375B1}"/>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Finansal NLP’de başarı yalnızca mimari değil, veri ve etiket tasarımına bağlıdır.</a:t>
            </a:r>
            <a:endParaRPr sz="1450"/>
          </a:p>
        </p:txBody>
      </p:sp>
      <p:sp>
        <p:nvSpPr>
          <p:cNvPr id="4" name="Shape 2">
            <a:extLst>
              <a:ext uri="{FF2B5EF4-FFF2-40B4-BE49-F238E27FC236}">
                <a16:creationId xmlns:a16="http://schemas.microsoft.com/office/drawing/2014/main" id="{877CE23C-FFBE-4066-B1F2-91B4213E2D32}"/>
              </a:ext>
            </a:extLst>
          </p:cNvPr>
          <p:cNvSpPr>
            <a:spLocks noGrp="1"/>
          </p:cNvSpPr>
          <p:nvPr/>
        </p:nvSpPr>
        <p:spPr>
          <a:xfrm>
            <a:off x="566928" y="1280160"/>
            <a:ext cx="2323490" cy="777240"/>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5CE01E06-B11D-4229-886F-8A6494289B09}"/>
              </a:ext>
            </a:extLst>
          </p:cNvPr>
          <p:cNvSpPr>
            <a:spLocks noGrp="1"/>
          </p:cNvSpPr>
          <p:nvPr/>
        </p:nvSpPr>
        <p:spPr>
          <a:xfrm>
            <a:off x="640080" y="1353312"/>
            <a:ext cx="2177186" cy="685800"/>
          </a:xfrm>
          <a:prstGeom prst="rect">
            <a:avLst/>
          </a:prstGeom>
          <a:noFill/>
        </p:spPr>
        <p:txBody>
          <a:bodyPr wrap="square" lIns="0" tIns="0" rIns="0" bIns="0" anchor="ctr">
            <a:normAutofit/>
          </a:bodyPr>
          <a:lstStyle/>
          <a:p>
            <a:pPr marL="0" indent="0">
              <a:buNone/>
            </a:pPr>
            <a:r>
              <a:rPr sz="1250" b="1">
                <a:solidFill>
                  <a:srgbClr val="FFFFFF"/>
                </a:solidFill>
              </a:rPr>
              <a:t>Alan</a:t>
            </a:r>
            <a:endParaRPr sz="1250"/>
          </a:p>
        </p:txBody>
      </p:sp>
      <p:sp>
        <p:nvSpPr>
          <p:cNvPr id="6" name="Shape 4">
            <a:extLst>
              <a:ext uri="{FF2B5EF4-FFF2-40B4-BE49-F238E27FC236}">
                <a16:creationId xmlns:a16="http://schemas.microsoft.com/office/drawing/2014/main" id="{4B5A6199-7C95-45EA-9ED4-06ADD299406A}"/>
              </a:ext>
            </a:extLst>
          </p:cNvPr>
          <p:cNvSpPr>
            <a:spLocks noGrp="1"/>
          </p:cNvSpPr>
          <p:nvPr/>
        </p:nvSpPr>
        <p:spPr>
          <a:xfrm>
            <a:off x="2890418" y="1280160"/>
            <a:ext cx="4315054" cy="777240"/>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D072345E-353D-4A9F-99B0-F00283B3919B}"/>
              </a:ext>
            </a:extLst>
          </p:cNvPr>
          <p:cNvSpPr>
            <a:spLocks noGrp="1"/>
          </p:cNvSpPr>
          <p:nvPr/>
        </p:nvSpPr>
        <p:spPr>
          <a:xfrm>
            <a:off x="2963570" y="1353312"/>
            <a:ext cx="4168750" cy="685800"/>
          </a:xfrm>
          <a:prstGeom prst="rect">
            <a:avLst/>
          </a:prstGeom>
          <a:noFill/>
        </p:spPr>
        <p:txBody>
          <a:bodyPr wrap="square" lIns="0" tIns="0" rIns="0" bIns="0" anchor="ctr">
            <a:normAutofit/>
          </a:bodyPr>
          <a:lstStyle/>
          <a:p>
            <a:pPr marL="0" indent="0">
              <a:buNone/>
            </a:pPr>
            <a:r>
              <a:rPr sz="1250" b="1">
                <a:solidFill>
                  <a:srgbClr val="FFFFFF"/>
                </a:solidFill>
              </a:rPr>
              <a:t>Literatürde genel bulgu</a:t>
            </a:r>
            <a:endParaRPr sz="1250"/>
          </a:p>
        </p:txBody>
      </p:sp>
      <p:sp>
        <p:nvSpPr>
          <p:cNvPr id="8" name="Shape 6">
            <a:extLst>
              <a:ext uri="{FF2B5EF4-FFF2-40B4-BE49-F238E27FC236}">
                <a16:creationId xmlns:a16="http://schemas.microsoft.com/office/drawing/2014/main" id="{D4FD8D40-01AA-4AD1-9632-C6E7814F0D97}"/>
              </a:ext>
            </a:extLst>
          </p:cNvPr>
          <p:cNvSpPr>
            <a:spLocks noGrp="1"/>
          </p:cNvSpPr>
          <p:nvPr/>
        </p:nvSpPr>
        <p:spPr>
          <a:xfrm>
            <a:off x="7205472" y="1280160"/>
            <a:ext cx="4425696" cy="77724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F4CD7233-582B-4ED2-880F-CB43CE3A4A32}"/>
              </a:ext>
            </a:extLst>
          </p:cNvPr>
          <p:cNvSpPr>
            <a:spLocks noGrp="1"/>
          </p:cNvSpPr>
          <p:nvPr/>
        </p:nvSpPr>
        <p:spPr>
          <a:xfrm>
            <a:off x="7278624" y="1353312"/>
            <a:ext cx="4279392" cy="685800"/>
          </a:xfrm>
          <a:prstGeom prst="rect">
            <a:avLst/>
          </a:prstGeom>
          <a:noFill/>
        </p:spPr>
        <p:txBody>
          <a:bodyPr wrap="square" lIns="0" tIns="0" rIns="0" bIns="0" anchor="ctr">
            <a:normAutofit/>
          </a:bodyPr>
          <a:lstStyle/>
          <a:p>
            <a:pPr marL="0" indent="0">
              <a:buNone/>
            </a:pPr>
            <a:r>
              <a:rPr sz="1250" b="1">
                <a:solidFill>
                  <a:srgbClr val="FFFFFF"/>
                </a:solidFill>
              </a:rPr>
              <a:t>Bu tezdeki karşılığı</a:t>
            </a:r>
            <a:endParaRPr sz="1250"/>
          </a:p>
        </p:txBody>
      </p:sp>
      <p:sp>
        <p:nvSpPr>
          <p:cNvPr id="10" name="Shape 8">
            <a:extLst>
              <a:ext uri="{FF2B5EF4-FFF2-40B4-BE49-F238E27FC236}">
                <a16:creationId xmlns:a16="http://schemas.microsoft.com/office/drawing/2014/main" id="{173277FD-2A0A-4068-B8D5-511B9F7FB7A1}"/>
              </a:ext>
            </a:extLst>
          </p:cNvPr>
          <p:cNvSpPr>
            <a:spLocks noGrp="1"/>
          </p:cNvSpPr>
          <p:nvPr/>
        </p:nvSpPr>
        <p:spPr>
          <a:xfrm>
            <a:off x="566928" y="2057400"/>
            <a:ext cx="2323490" cy="777240"/>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0F75D732-6A9C-4A07-98DC-519AE3B46FB9}"/>
              </a:ext>
            </a:extLst>
          </p:cNvPr>
          <p:cNvSpPr>
            <a:spLocks noGrp="1"/>
          </p:cNvSpPr>
          <p:nvPr/>
        </p:nvSpPr>
        <p:spPr>
          <a:xfrm>
            <a:off x="640080" y="2130552"/>
            <a:ext cx="2177186" cy="685800"/>
          </a:xfrm>
          <a:prstGeom prst="rect">
            <a:avLst/>
          </a:prstGeom>
          <a:noFill/>
        </p:spPr>
        <p:txBody>
          <a:bodyPr wrap="square" lIns="0" tIns="0" rIns="0" bIns="0" anchor="ctr">
            <a:normAutofit/>
          </a:bodyPr>
          <a:lstStyle/>
          <a:p>
            <a:pPr marL="0" indent="0">
              <a:buNone/>
            </a:pPr>
            <a:r>
              <a:rPr sz="1220">
                <a:solidFill>
                  <a:srgbClr val="1A1E2A"/>
                </a:solidFill>
              </a:rPr>
              <a:t>Transformer tabanlı SA</a:t>
            </a:r>
            <a:endParaRPr sz="1220"/>
          </a:p>
        </p:txBody>
      </p:sp>
      <p:sp>
        <p:nvSpPr>
          <p:cNvPr id="12" name="Shape 10">
            <a:extLst>
              <a:ext uri="{FF2B5EF4-FFF2-40B4-BE49-F238E27FC236}">
                <a16:creationId xmlns:a16="http://schemas.microsoft.com/office/drawing/2014/main" id="{F1A2E867-B819-444E-92EB-30132C65788A}"/>
              </a:ext>
            </a:extLst>
          </p:cNvPr>
          <p:cNvSpPr>
            <a:spLocks noGrp="1"/>
          </p:cNvSpPr>
          <p:nvPr/>
        </p:nvSpPr>
        <p:spPr>
          <a:xfrm>
            <a:off x="2890418" y="2057400"/>
            <a:ext cx="4315054" cy="777240"/>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553E985A-8AD7-4B92-BD1F-71AEBCF60FE6}"/>
              </a:ext>
            </a:extLst>
          </p:cNvPr>
          <p:cNvSpPr>
            <a:spLocks noGrp="1"/>
          </p:cNvSpPr>
          <p:nvPr/>
        </p:nvSpPr>
        <p:spPr>
          <a:xfrm>
            <a:off x="2963570" y="2130552"/>
            <a:ext cx="4168750" cy="685800"/>
          </a:xfrm>
          <a:prstGeom prst="rect">
            <a:avLst/>
          </a:prstGeom>
          <a:noFill/>
        </p:spPr>
        <p:txBody>
          <a:bodyPr wrap="square" lIns="0" tIns="0" rIns="0" bIns="0" anchor="ctr">
            <a:normAutofit/>
          </a:bodyPr>
          <a:lstStyle/>
          <a:p>
            <a:pPr marL="0" indent="0">
              <a:buNone/>
            </a:pPr>
            <a:r>
              <a:rPr sz="1220">
                <a:solidFill>
                  <a:srgbClr val="1A1E2A"/>
                </a:solidFill>
              </a:rPr>
              <a:t>BERT/RoBERTa türü modeller bağlamsal temsil öğrenir.</a:t>
            </a:r>
            <a:endParaRPr sz="1220"/>
          </a:p>
        </p:txBody>
      </p:sp>
      <p:sp>
        <p:nvSpPr>
          <p:cNvPr id="14" name="Shape 12">
            <a:extLst>
              <a:ext uri="{FF2B5EF4-FFF2-40B4-BE49-F238E27FC236}">
                <a16:creationId xmlns:a16="http://schemas.microsoft.com/office/drawing/2014/main" id="{A1AE27CE-5B7C-447B-BFC3-7CF551C76037}"/>
              </a:ext>
            </a:extLst>
          </p:cNvPr>
          <p:cNvSpPr>
            <a:spLocks noGrp="1"/>
          </p:cNvSpPr>
          <p:nvPr/>
        </p:nvSpPr>
        <p:spPr>
          <a:xfrm>
            <a:off x="7205472" y="2057400"/>
            <a:ext cx="4425696" cy="77724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DB60E36A-2064-43D4-BADB-484CD5D50F8C}"/>
              </a:ext>
            </a:extLst>
          </p:cNvPr>
          <p:cNvSpPr>
            <a:spLocks noGrp="1"/>
          </p:cNvSpPr>
          <p:nvPr/>
        </p:nvSpPr>
        <p:spPr>
          <a:xfrm>
            <a:off x="7278624" y="2130552"/>
            <a:ext cx="4279392" cy="685800"/>
          </a:xfrm>
          <a:prstGeom prst="rect">
            <a:avLst/>
          </a:prstGeom>
          <a:noFill/>
        </p:spPr>
        <p:txBody>
          <a:bodyPr wrap="square" lIns="0" tIns="0" rIns="0" bIns="0" anchor="ctr">
            <a:normAutofit/>
          </a:bodyPr>
          <a:lstStyle/>
          <a:p>
            <a:pPr marL="0" indent="0">
              <a:buNone/>
            </a:pPr>
            <a:r>
              <a:rPr sz="1220">
                <a:solidFill>
                  <a:srgbClr val="1A1E2A"/>
                </a:solidFill>
              </a:rPr>
              <a:t>BERT, DistilBERT, RoBERTa ve FinBERT aynı görevde karşılaştırıldı.</a:t>
            </a:r>
            <a:endParaRPr sz="1220"/>
          </a:p>
        </p:txBody>
      </p:sp>
      <p:sp>
        <p:nvSpPr>
          <p:cNvPr id="16" name="Shape 14">
            <a:extLst>
              <a:ext uri="{FF2B5EF4-FFF2-40B4-BE49-F238E27FC236}">
                <a16:creationId xmlns:a16="http://schemas.microsoft.com/office/drawing/2014/main" id="{25886BBA-2CE4-4222-AF85-400AC9F8A583}"/>
              </a:ext>
            </a:extLst>
          </p:cNvPr>
          <p:cNvSpPr>
            <a:spLocks noGrp="1"/>
          </p:cNvSpPr>
          <p:nvPr/>
        </p:nvSpPr>
        <p:spPr>
          <a:xfrm>
            <a:off x="566928" y="2834640"/>
            <a:ext cx="2323490" cy="777240"/>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56EB2E8D-FB87-4E65-92D7-2E949EBF6754}"/>
              </a:ext>
            </a:extLst>
          </p:cNvPr>
          <p:cNvSpPr>
            <a:spLocks noGrp="1"/>
          </p:cNvSpPr>
          <p:nvPr/>
        </p:nvSpPr>
        <p:spPr>
          <a:xfrm>
            <a:off x="640080" y="2907792"/>
            <a:ext cx="2177186" cy="685800"/>
          </a:xfrm>
          <a:prstGeom prst="rect">
            <a:avLst/>
          </a:prstGeom>
          <a:noFill/>
        </p:spPr>
        <p:txBody>
          <a:bodyPr wrap="square" lIns="0" tIns="0" rIns="0" bIns="0" anchor="ctr">
            <a:normAutofit/>
          </a:bodyPr>
          <a:lstStyle/>
          <a:p>
            <a:pPr marL="0" indent="0">
              <a:buNone/>
            </a:pPr>
            <a:r>
              <a:rPr sz="1220">
                <a:solidFill>
                  <a:srgbClr val="1A1E2A"/>
                </a:solidFill>
              </a:rPr>
              <a:t>Finans-özgü modeller</a:t>
            </a:r>
            <a:endParaRPr sz="1220"/>
          </a:p>
        </p:txBody>
      </p:sp>
      <p:sp>
        <p:nvSpPr>
          <p:cNvPr id="18" name="Shape 16">
            <a:extLst>
              <a:ext uri="{FF2B5EF4-FFF2-40B4-BE49-F238E27FC236}">
                <a16:creationId xmlns:a16="http://schemas.microsoft.com/office/drawing/2014/main" id="{357EAE07-13E2-4A73-B3BD-9FC35ABC22BC}"/>
              </a:ext>
            </a:extLst>
          </p:cNvPr>
          <p:cNvSpPr>
            <a:spLocks noGrp="1"/>
          </p:cNvSpPr>
          <p:nvPr/>
        </p:nvSpPr>
        <p:spPr>
          <a:xfrm>
            <a:off x="2890418" y="2834640"/>
            <a:ext cx="4315054" cy="777240"/>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241F1159-110C-43EF-935E-1862483531A9}"/>
              </a:ext>
            </a:extLst>
          </p:cNvPr>
          <p:cNvSpPr>
            <a:spLocks noGrp="1"/>
          </p:cNvSpPr>
          <p:nvPr/>
        </p:nvSpPr>
        <p:spPr>
          <a:xfrm>
            <a:off x="2963570" y="2907792"/>
            <a:ext cx="4168750" cy="685800"/>
          </a:xfrm>
          <a:prstGeom prst="rect">
            <a:avLst/>
          </a:prstGeom>
          <a:noFill/>
        </p:spPr>
        <p:txBody>
          <a:bodyPr wrap="square" lIns="0" tIns="0" rIns="0" bIns="0" anchor="ctr">
            <a:normAutofit/>
          </a:bodyPr>
          <a:lstStyle/>
          <a:p>
            <a:pPr marL="0" indent="0">
              <a:buNone/>
            </a:pPr>
            <a:r>
              <a:rPr sz="1220">
                <a:solidFill>
                  <a:srgbClr val="1A1E2A"/>
                </a:solidFill>
              </a:rPr>
              <a:t>FinBERT gibi modeller finansal dil üzerinde adapte edilir.</a:t>
            </a:r>
            <a:endParaRPr sz="1220"/>
          </a:p>
        </p:txBody>
      </p:sp>
      <p:sp>
        <p:nvSpPr>
          <p:cNvPr id="20" name="Shape 18">
            <a:extLst>
              <a:ext uri="{FF2B5EF4-FFF2-40B4-BE49-F238E27FC236}">
                <a16:creationId xmlns:a16="http://schemas.microsoft.com/office/drawing/2014/main" id="{AFC6C17F-15ED-4477-B526-AD391799F1A4}"/>
              </a:ext>
            </a:extLst>
          </p:cNvPr>
          <p:cNvSpPr>
            <a:spLocks noGrp="1"/>
          </p:cNvSpPr>
          <p:nvPr/>
        </p:nvSpPr>
        <p:spPr>
          <a:xfrm>
            <a:off x="7205472" y="2834640"/>
            <a:ext cx="4425696" cy="777240"/>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1AE3C36E-6DD2-4DDA-A709-CDE3D9E5313D}"/>
              </a:ext>
            </a:extLst>
          </p:cNvPr>
          <p:cNvSpPr>
            <a:spLocks noGrp="1"/>
          </p:cNvSpPr>
          <p:nvPr/>
        </p:nvSpPr>
        <p:spPr>
          <a:xfrm>
            <a:off x="7278624" y="2907792"/>
            <a:ext cx="4279392" cy="685800"/>
          </a:xfrm>
          <a:prstGeom prst="rect">
            <a:avLst/>
          </a:prstGeom>
          <a:noFill/>
        </p:spPr>
        <p:txBody>
          <a:bodyPr wrap="square" lIns="0" tIns="0" rIns="0" bIns="0" anchor="ctr">
            <a:normAutofit/>
          </a:bodyPr>
          <a:lstStyle/>
          <a:p>
            <a:pPr marL="0" indent="0">
              <a:buNone/>
            </a:pPr>
            <a:r>
              <a:rPr sz="1220">
                <a:solidFill>
                  <a:srgbClr val="1A1E2A"/>
                </a:solidFill>
              </a:rPr>
              <a:t>FinBERT’in hazır ve fine-tuned halleri ayrı ayrı incelendi.</a:t>
            </a:r>
            <a:endParaRPr sz="1220"/>
          </a:p>
        </p:txBody>
      </p:sp>
      <p:sp>
        <p:nvSpPr>
          <p:cNvPr id="22" name="Shape 20">
            <a:extLst>
              <a:ext uri="{FF2B5EF4-FFF2-40B4-BE49-F238E27FC236}">
                <a16:creationId xmlns:a16="http://schemas.microsoft.com/office/drawing/2014/main" id="{1D5629BB-5D2A-40A5-AA94-080BA9A39A66}"/>
              </a:ext>
            </a:extLst>
          </p:cNvPr>
          <p:cNvSpPr>
            <a:spLocks noGrp="1"/>
          </p:cNvSpPr>
          <p:nvPr/>
        </p:nvSpPr>
        <p:spPr>
          <a:xfrm>
            <a:off x="566928" y="3611880"/>
            <a:ext cx="2323490" cy="777240"/>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57F59E61-20D0-4A72-A665-D004C39D20DF}"/>
              </a:ext>
            </a:extLst>
          </p:cNvPr>
          <p:cNvSpPr>
            <a:spLocks noGrp="1"/>
          </p:cNvSpPr>
          <p:nvPr/>
        </p:nvSpPr>
        <p:spPr>
          <a:xfrm>
            <a:off x="640080" y="3685032"/>
            <a:ext cx="2177186" cy="685800"/>
          </a:xfrm>
          <a:prstGeom prst="rect">
            <a:avLst/>
          </a:prstGeom>
          <a:noFill/>
        </p:spPr>
        <p:txBody>
          <a:bodyPr wrap="square" lIns="0" tIns="0" rIns="0" bIns="0" anchor="ctr">
            <a:normAutofit/>
          </a:bodyPr>
          <a:lstStyle/>
          <a:p>
            <a:pPr marL="0" indent="0">
              <a:buNone/>
            </a:pPr>
            <a:r>
              <a:rPr sz="1220">
                <a:solidFill>
                  <a:srgbClr val="1A1E2A"/>
                </a:solidFill>
              </a:rPr>
              <a:t>Domain shift</a:t>
            </a:r>
            <a:endParaRPr sz="1220"/>
          </a:p>
        </p:txBody>
      </p:sp>
      <p:sp>
        <p:nvSpPr>
          <p:cNvPr id="24" name="Shape 22">
            <a:extLst>
              <a:ext uri="{FF2B5EF4-FFF2-40B4-BE49-F238E27FC236}">
                <a16:creationId xmlns:a16="http://schemas.microsoft.com/office/drawing/2014/main" id="{75853AAE-795B-465F-A207-878DB42A326C}"/>
              </a:ext>
            </a:extLst>
          </p:cNvPr>
          <p:cNvSpPr>
            <a:spLocks noGrp="1"/>
          </p:cNvSpPr>
          <p:nvPr/>
        </p:nvSpPr>
        <p:spPr>
          <a:xfrm>
            <a:off x="2890418" y="3611880"/>
            <a:ext cx="4315054" cy="777240"/>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249A2517-D883-4E0E-A661-DB3D06F5C93C}"/>
              </a:ext>
            </a:extLst>
          </p:cNvPr>
          <p:cNvSpPr>
            <a:spLocks noGrp="1"/>
          </p:cNvSpPr>
          <p:nvPr/>
        </p:nvSpPr>
        <p:spPr>
          <a:xfrm>
            <a:off x="2963570" y="3685032"/>
            <a:ext cx="4168750" cy="685800"/>
          </a:xfrm>
          <a:prstGeom prst="rect">
            <a:avLst/>
          </a:prstGeom>
          <a:noFill/>
        </p:spPr>
        <p:txBody>
          <a:bodyPr wrap="square" lIns="0" tIns="0" rIns="0" bIns="0" anchor="ctr">
            <a:normAutofit/>
          </a:bodyPr>
          <a:lstStyle/>
          <a:p>
            <a:pPr marL="0" indent="0">
              <a:buNone/>
            </a:pPr>
            <a:r>
              <a:rPr sz="1220">
                <a:solidFill>
                  <a:srgbClr val="1A1E2A"/>
                </a:solidFill>
              </a:rPr>
              <a:t>Kaynak değişince model başarısı düşebilir.</a:t>
            </a:r>
            <a:endParaRPr sz="1220"/>
          </a:p>
        </p:txBody>
      </p:sp>
      <p:sp>
        <p:nvSpPr>
          <p:cNvPr id="26" name="Shape 24">
            <a:extLst>
              <a:ext uri="{FF2B5EF4-FFF2-40B4-BE49-F238E27FC236}">
                <a16:creationId xmlns:a16="http://schemas.microsoft.com/office/drawing/2014/main" id="{D380055B-8F6B-46E4-B97B-C27C319EBE0E}"/>
              </a:ext>
            </a:extLst>
          </p:cNvPr>
          <p:cNvSpPr>
            <a:spLocks noGrp="1"/>
          </p:cNvSpPr>
          <p:nvPr/>
        </p:nvSpPr>
        <p:spPr>
          <a:xfrm>
            <a:off x="7205472" y="3611880"/>
            <a:ext cx="4425696" cy="777240"/>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B9866241-635E-45A2-9EC4-255CDE0B58D7}"/>
              </a:ext>
            </a:extLst>
          </p:cNvPr>
          <p:cNvSpPr>
            <a:spLocks noGrp="1"/>
          </p:cNvSpPr>
          <p:nvPr/>
        </p:nvSpPr>
        <p:spPr>
          <a:xfrm>
            <a:off x="7278624" y="3685032"/>
            <a:ext cx="4279392" cy="685800"/>
          </a:xfrm>
          <a:prstGeom prst="rect">
            <a:avLst/>
          </a:prstGeom>
          <a:noFill/>
        </p:spPr>
        <p:txBody>
          <a:bodyPr wrap="square" lIns="0" tIns="0" rIns="0" bIns="0" anchor="ctr">
            <a:normAutofit/>
          </a:bodyPr>
          <a:lstStyle/>
          <a:p>
            <a:pPr marL="0" indent="0">
              <a:buNone/>
            </a:pPr>
            <a:r>
              <a:rPr sz="1220">
                <a:solidFill>
                  <a:srgbClr val="1A1E2A"/>
                </a:solidFill>
              </a:rPr>
              <a:t>S&amp;P ve Reuters dış testleri ile ölçüldü.</a:t>
            </a:r>
            <a:endParaRPr sz="1220"/>
          </a:p>
        </p:txBody>
      </p:sp>
      <p:sp>
        <p:nvSpPr>
          <p:cNvPr id="28" name="Shape 26">
            <a:extLst>
              <a:ext uri="{FF2B5EF4-FFF2-40B4-BE49-F238E27FC236}">
                <a16:creationId xmlns:a16="http://schemas.microsoft.com/office/drawing/2014/main" id="{473319BC-C5C7-4FED-ABF4-E46E78ACF557}"/>
              </a:ext>
            </a:extLst>
          </p:cNvPr>
          <p:cNvSpPr>
            <a:spLocks noGrp="1"/>
          </p:cNvSpPr>
          <p:nvPr/>
        </p:nvSpPr>
        <p:spPr>
          <a:xfrm>
            <a:off x="566928" y="4389120"/>
            <a:ext cx="2323490" cy="777240"/>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AC92ACDC-EA60-46CE-A0FA-8641CDA8B43C}"/>
              </a:ext>
            </a:extLst>
          </p:cNvPr>
          <p:cNvSpPr>
            <a:spLocks noGrp="1"/>
          </p:cNvSpPr>
          <p:nvPr/>
        </p:nvSpPr>
        <p:spPr>
          <a:xfrm>
            <a:off x="640080" y="4462272"/>
            <a:ext cx="2177186" cy="685800"/>
          </a:xfrm>
          <a:prstGeom prst="rect">
            <a:avLst/>
          </a:prstGeom>
          <a:noFill/>
        </p:spPr>
        <p:txBody>
          <a:bodyPr wrap="square" lIns="0" tIns="0" rIns="0" bIns="0" anchor="ctr">
            <a:normAutofit/>
          </a:bodyPr>
          <a:lstStyle/>
          <a:p>
            <a:pPr marL="0" indent="0">
              <a:buNone/>
            </a:pPr>
            <a:r>
              <a:rPr sz="1220">
                <a:solidFill>
                  <a:srgbClr val="1A1E2A"/>
                </a:solidFill>
              </a:rPr>
              <a:t>Etiket semantiği</a:t>
            </a:r>
            <a:endParaRPr sz="1220"/>
          </a:p>
        </p:txBody>
      </p:sp>
      <p:sp>
        <p:nvSpPr>
          <p:cNvPr id="30" name="Shape 28">
            <a:extLst>
              <a:ext uri="{FF2B5EF4-FFF2-40B4-BE49-F238E27FC236}">
                <a16:creationId xmlns:a16="http://schemas.microsoft.com/office/drawing/2014/main" id="{D1255CF7-2458-4E54-8609-32D9C67C1364}"/>
              </a:ext>
            </a:extLst>
          </p:cNvPr>
          <p:cNvSpPr>
            <a:spLocks noGrp="1"/>
          </p:cNvSpPr>
          <p:nvPr/>
        </p:nvSpPr>
        <p:spPr>
          <a:xfrm>
            <a:off x="2890418" y="4389120"/>
            <a:ext cx="4315054" cy="777240"/>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74DF58EC-ABFC-43E6-A927-E2E28BF9E880}"/>
              </a:ext>
            </a:extLst>
          </p:cNvPr>
          <p:cNvSpPr>
            <a:spLocks noGrp="1"/>
          </p:cNvSpPr>
          <p:nvPr/>
        </p:nvSpPr>
        <p:spPr>
          <a:xfrm>
            <a:off x="2963570" y="4462272"/>
            <a:ext cx="4168750" cy="685800"/>
          </a:xfrm>
          <a:prstGeom prst="rect">
            <a:avLst/>
          </a:prstGeom>
          <a:noFill/>
        </p:spPr>
        <p:txBody>
          <a:bodyPr wrap="square" lIns="0" tIns="0" rIns="0" bIns="0" anchor="ctr">
            <a:normAutofit/>
          </a:bodyPr>
          <a:lstStyle/>
          <a:p>
            <a:pPr marL="0" indent="0">
              <a:buNone/>
            </a:pPr>
            <a:r>
              <a:rPr sz="1220">
                <a:solidFill>
                  <a:srgbClr val="1A1E2A"/>
                </a:solidFill>
              </a:rPr>
              <a:t>Aynı etiket adları farklı anotasyon mantıklarına dayanabilir.</a:t>
            </a:r>
            <a:endParaRPr sz="1220"/>
          </a:p>
        </p:txBody>
      </p:sp>
      <p:sp>
        <p:nvSpPr>
          <p:cNvPr id="32" name="Shape 30">
            <a:extLst>
              <a:ext uri="{FF2B5EF4-FFF2-40B4-BE49-F238E27FC236}">
                <a16:creationId xmlns:a16="http://schemas.microsoft.com/office/drawing/2014/main" id="{893B921B-0323-492A-B97D-043C99FB1E57}"/>
              </a:ext>
            </a:extLst>
          </p:cNvPr>
          <p:cNvSpPr>
            <a:spLocks noGrp="1"/>
          </p:cNvSpPr>
          <p:nvPr/>
        </p:nvSpPr>
        <p:spPr>
          <a:xfrm>
            <a:off x="7205472" y="4389120"/>
            <a:ext cx="4425696" cy="777240"/>
          </a:xfrm>
          <a:prstGeom prst="rect">
            <a:avLst/>
          </a:prstGeom>
          <a:solidFill>
            <a:srgbClr val="F4F6FB"/>
          </a:solidFill>
          <a:ln w="6350">
            <a:solidFill>
              <a:srgbClr val="DDE3EF"/>
            </a:solidFill>
            <a:prstDash val="solid"/>
          </a:ln>
        </p:spPr>
      </p:sp>
      <p:sp>
        <p:nvSpPr>
          <p:cNvPr id="33" name="Text 31">
            <a:extLst>
              <a:ext uri="{FF2B5EF4-FFF2-40B4-BE49-F238E27FC236}">
                <a16:creationId xmlns:a16="http://schemas.microsoft.com/office/drawing/2014/main" id="{5829358A-FA38-4BCB-A61C-52F23863C173}"/>
              </a:ext>
            </a:extLst>
          </p:cNvPr>
          <p:cNvSpPr>
            <a:spLocks noGrp="1"/>
          </p:cNvSpPr>
          <p:nvPr/>
        </p:nvSpPr>
        <p:spPr>
          <a:xfrm>
            <a:off x="7278624" y="4462272"/>
            <a:ext cx="4279392" cy="685800"/>
          </a:xfrm>
          <a:prstGeom prst="rect">
            <a:avLst/>
          </a:prstGeom>
          <a:noFill/>
        </p:spPr>
        <p:txBody>
          <a:bodyPr wrap="square" lIns="0" tIns="0" rIns="0" bIns="0" anchor="ctr">
            <a:normAutofit/>
          </a:bodyPr>
          <a:lstStyle/>
          <a:p>
            <a:pPr marL="0" indent="0">
              <a:buNone/>
            </a:pPr>
            <a:r>
              <a:rPr sz="1220">
                <a:solidFill>
                  <a:srgbClr val="1A1E2A"/>
                </a:solidFill>
              </a:rPr>
              <a:t>Neutral sınıfındaki düşüş ve PhraseBank etkisi ile tartışıldı.</a:t>
            </a:r>
            <a:endParaRPr sz="1220"/>
          </a:p>
        </p:txBody>
      </p:sp>
      <p:sp>
        <p:nvSpPr>
          <p:cNvPr id="34" name="Shape 32">
            <a:extLst>
              <a:ext uri="{FF2B5EF4-FFF2-40B4-BE49-F238E27FC236}">
                <a16:creationId xmlns:a16="http://schemas.microsoft.com/office/drawing/2014/main" id="{A3A4E421-3B1A-4C5F-95C7-5C0D12A8D06E}"/>
              </a:ext>
            </a:extLst>
          </p:cNvPr>
          <p:cNvSpPr>
            <a:spLocks noGrp="1"/>
          </p:cNvSpPr>
          <p:nvPr/>
        </p:nvSpPr>
        <p:spPr>
          <a:xfrm>
            <a:off x="777240" y="5532120"/>
            <a:ext cx="10607040" cy="530352"/>
          </a:xfrm>
          <a:prstGeom prst="roundRect">
            <a:avLst>
              <a:gd name="adj" fmla="val 13793"/>
            </a:avLst>
          </a:prstGeom>
          <a:solidFill>
            <a:srgbClr val="F0FAF8"/>
          </a:solidFill>
          <a:ln w="15240">
            <a:solidFill>
              <a:srgbClr val="0F9D8F"/>
            </a:solidFill>
            <a:prstDash val="solid"/>
          </a:ln>
        </p:spPr>
      </p:sp>
      <p:sp>
        <p:nvSpPr>
          <p:cNvPr id="35" name="Text 33">
            <a:extLst>
              <a:ext uri="{FF2B5EF4-FFF2-40B4-BE49-F238E27FC236}">
                <a16:creationId xmlns:a16="http://schemas.microsoft.com/office/drawing/2014/main" id="{C1290D89-028E-45F7-8665-846585BF2228}"/>
              </a:ext>
            </a:extLst>
          </p:cNvPr>
          <p:cNvSpPr>
            <a:spLocks noGrp="1"/>
          </p:cNvSpPr>
          <p:nvPr/>
        </p:nvSpPr>
        <p:spPr>
          <a:xfrm>
            <a:off x="941832" y="5678424"/>
            <a:ext cx="10277856" cy="301752"/>
          </a:xfrm>
          <a:prstGeom prst="rect">
            <a:avLst/>
          </a:prstGeom>
          <a:noFill/>
        </p:spPr>
        <p:txBody>
          <a:bodyPr wrap="square" lIns="254" tIns="254" rIns="254" bIns="254" anchor="ctr">
            <a:normAutofit fontScale="77500" lnSpcReduction="20000"/>
          </a:bodyPr>
          <a:lstStyle/>
          <a:p>
            <a:pPr marL="0" indent="0">
              <a:buNone/>
            </a:pPr>
            <a:r>
              <a:rPr sz="1500" b="1">
                <a:solidFill>
                  <a:srgbClr val="172033"/>
                </a:solidFill>
              </a:rPr>
              <a:t>Literatürdeki boşluk: İç testte yüksek skor alan finansal sentiment modelinin farklı finansal kaynaklarda ne kadar sağlam kaldığı çoğu zaman yeterince ayrıştırılmıyor.</a:t>
            </a:r>
            <a:endParaRPr sz="1500"/>
          </a:p>
        </p:txBody>
      </p:sp>
      <p:sp>
        <p:nvSpPr>
          <p:cNvPr id="36" name="Text 34">
            <a:extLst>
              <a:ext uri="{FF2B5EF4-FFF2-40B4-BE49-F238E27FC236}">
                <a16:creationId xmlns:a16="http://schemas.microsoft.com/office/drawing/2014/main" id="{4BCABCC5-D2CD-47E5-9C29-F935770513EC}"/>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7" name="Text 35">
            <a:extLst>
              <a:ext uri="{FF2B5EF4-FFF2-40B4-BE49-F238E27FC236}">
                <a16:creationId xmlns:a16="http://schemas.microsoft.com/office/drawing/2014/main" id="{6EE47AB8-1EEB-4187-AF51-4885AA5F1EFD}"/>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36</a:t>
            </a:r>
            <a:endParaRPr sz="850"/>
          </a:p>
        </p:txBody>
      </p:sp>
      <p:sp>
        <p:nvSpPr>
          <p:cNvPr id="38" name="Shape 36">
            <a:extLst>
              <a:ext uri="{FF2B5EF4-FFF2-40B4-BE49-F238E27FC236}">
                <a16:creationId xmlns:a16="http://schemas.microsoft.com/office/drawing/2014/main" id="{E5FB4F28-6BF6-43AA-BD93-58B8CC7134A2}"/>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477789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2E9A8AA-0487-4120-8E83-186411827838}"/>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Finans-özgü modellerin eğitim kaynakları</a:t>
            </a:r>
            <a:endParaRPr sz="3100"/>
          </a:p>
        </p:txBody>
      </p:sp>
      <p:sp>
        <p:nvSpPr>
          <p:cNvPr id="3" name="Text 1">
            <a:extLst>
              <a:ext uri="{FF2B5EF4-FFF2-40B4-BE49-F238E27FC236}">
                <a16:creationId xmlns:a16="http://schemas.microsoft.com/office/drawing/2014/main" id="{0051DC91-DCF5-458C-A1D2-85E24A05E956}"/>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Devam çalışması için modelin daha önce hangi veriyi gördüğü kritik.</a:t>
            </a:r>
            <a:endParaRPr sz="1450"/>
          </a:p>
        </p:txBody>
      </p:sp>
      <p:sp>
        <p:nvSpPr>
          <p:cNvPr id="4" name="Shape 2">
            <a:extLst>
              <a:ext uri="{FF2B5EF4-FFF2-40B4-BE49-F238E27FC236}">
                <a16:creationId xmlns:a16="http://schemas.microsoft.com/office/drawing/2014/main" id="{872C608D-35FC-477C-BF31-37E7F459C364}"/>
              </a:ext>
            </a:extLst>
          </p:cNvPr>
          <p:cNvSpPr>
            <a:spLocks noGrp="1"/>
          </p:cNvSpPr>
          <p:nvPr/>
        </p:nvSpPr>
        <p:spPr>
          <a:xfrm>
            <a:off x="502920" y="1234440"/>
            <a:ext cx="2008022" cy="994410"/>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21D81C9B-3AAC-4FC9-8B49-D24945A5897A}"/>
              </a:ext>
            </a:extLst>
          </p:cNvPr>
          <p:cNvSpPr>
            <a:spLocks noGrp="1"/>
          </p:cNvSpPr>
          <p:nvPr/>
        </p:nvSpPr>
        <p:spPr>
          <a:xfrm>
            <a:off x="576072" y="1307592"/>
            <a:ext cx="1861718" cy="902970"/>
          </a:xfrm>
          <a:prstGeom prst="rect">
            <a:avLst/>
          </a:prstGeom>
          <a:noFill/>
        </p:spPr>
        <p:txBody>
          <a:bodyPr wrap="square" lIns="0" tIns="0" rIns="0" bIns="0" anchor="ctr">
            <a:normAutofit/>
          </a:bodyPr>
          <a:lstStyle/>
          <a:p>
            <a:pPr marL="0" indent="0">
              <a:buNone/>
            </a:pPr>
            <a:r>
              <a:rPr sz="1130" b="1">
                <a:solidFill>
                  <a:srgbClr val="FFFFFF"/>
                </a:solidFill>
              </a:rPr>
              <a:t>Model ailesi</a:t>
            </a:r>
            <a:endParaRPr sz="1130"/>
          </a:p>
        </p:txBody>
      </p:sp>
      <p:sp>
        <p:nvSpPr>
          <p:cNvPr id="6" name="Shape 4">
            <a:extLst>
              <a:ext uri="{FF2B5EF4-FFF2-40B4-BE49-F238E27FC236}">
                <a16:creationId xmlns:a16="http://schemas.microsoft.com/office/drawing/2014/main" id="{61450463-8B49-4610-91B3-123830965CF5}"/>
              </a:ext>
            </a:extLst>
          </p:cNvPr>
          <p:cNvSpPr>
            <a:spLocks noGrp="1"/>
          </p:cNvSpPr>
          <p:nvPr/>
        </p:nvSpPr>
        <p:spPr>
          <a:xfrm>
            <a:off x="2510942" y="1234440"/>
            <a:ext cx="5577840" cy="994410"/>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3B0FE843-2FB7-4871-B109-3639932060E1}"/>
              </a:ext>
            </a:extLst>
          </p:cNvPr>
          <p:cNvSpPr>
            <a:spLocks noGrp="1"/>
          </p:cNvSpPr>
          <p:nvPr/>
        </p:nvSpPr>
        <p:spPr>
          <a:xfrm>
            <a:off x="2584094" y="1307592"/>
            <a:ext cx="5431536" cy="902970"/>
          </a:xfrm>
          <a:prstGeom prst="rect">
            <a:avLst/>
          </a:prstGeom>
          <a:noFill/>
        </p:spPr>
        <p:txBody>
          <a:bodyPr wrap="square" lIns="0" tIns="0" rIns="0" bIns="0" anchor="ctr">
            <a:normAutofit/>
          </a:bodyPr>
          <a:lstStyle/>
          <a:p>
            <a:pPr marL="0" indent="0">
              <a:buNone/>
            </a:pPr>
            <a:r>
              <a:rPr sz="1130" b="1">
                <a:solidFill>
                  <a:srgbClr val="FFFFFF"/>
                </a:solidFill>
              </a:rPr>
              <a:t>Bilinen eğitim / adaptasyon kaynakları</a:t>
            </a:r>
            <a:endParaRPr sz="1130"/>
          </a:p>
        </p:txBody>
      </p:sp>
      <p:sp>
        <p:nvSpPr>
          <p:cNvPr id="8" name="Shape 6">
            <a:extLst>
              <a:ext uri="{FF2B5EF4-FFF2-40B4-BE49-F238E27FC236}">
                <a16:creationId xmlns:a16="http://schemas.microsoft.com/office/drawing/2014/main" id="{DDD17FD8-1FF1-49A6-81CE-720F596B13E1}"/>
              </a:ext>
            </a:extLst>
          </p:cNvPr>
          <p:cNvSpPr>
            <a:spLocks noGrp="1"/>
          </p:cNvSpPr>
          <p:nvPr/>
        </p:nvSpPr>
        <p:spPr>
          <a:xfrm>
            <a:off x="8088782" y="1234440"/>
            <a:ext cx="3569818" cy="994410"/>
          </a:xfrm>
          <a:prstGeom prst="rect">
            <a:avLst/>
          </a:prstGeom>
          <a:solidFill>
            <a:srgbClr val="1D2B46"/>
          </a:solidFill>
          <a:ln w="6350">
            <a:solidFill>
              <a:srgbClr val="DDE3EF"/>
            </a:solidFill>
            <a:prstDash val="solid"/>
          </a:ln>
        </p:spPr>
      </p:sp>
      <p:sp>
        <p:nvSpPr>
          <p:cNvPr id="9" name="Text 7">
            <a:extLst>
              <a:ext uri="{FF2B5EF4-FFF2-40B4-BE49-F238E27FC236}">
                <a16:creationId xmlns:a16="http://schemas.microsoft.com/office/drawing/2014/main" id="{0A5D5EDF-D1FE-4C94-845A-BFF3B34CB2C8}"/>
              </a:ext>
            </a:extLst>
          </p:cNvPr>
          <p:cNvSpPr>
            <a:spLocks noGrp="1"/>
          </p:cNvSpPr>
          <p:nvPr/>
        </p:nvSpPr>
        <p:spPr>
          <a:xfrm>
            <a:off x="8161934" y="1307592"/>
            <a:ext cx="3423514" cy="902970"/>
          </a:xfrm>
          <a:prstGeom prst="rect">
            <a:avLst/>
          </a:prstGeom>
          <a:noFill/>
        </p:spPr>
        <p:txBody>
          <a:bodyPr wrap="square" lIns="0" tIns="0" rIns="0" bIns="0" anchor="ctr">
            <a:normAutofit/>
          </a:bodyPr>
          <a:lstStyle/>
          <a:p>
            <a:pPr marL="0" indent="0">
              <a:buNone/>
            </a:pPr>
            <a:r>
              <a:rPr sz="1130" b="1">
                <a:solidFill>
                  <a:srgbClr val="FFFFFF"/>
                </a:solidFill>
              </a:rPr>
              <a:t>Bizim çalışma açısından not</a:t>
            </a:r>
            <a:endParaRPr sz="1130"/>
          </a:p>
        </p:txBody>
      </p:sp>
      <p:sp>
        <p:nvSpPr>
          <p:cNvPr id="10" name="Shape 8">
            <a:extLst>
              <a:ext uri="{FF2B5EF4-FFF2-40B4-BE49-F238E27FC236}">
                <a16:creationId xmlns:a16="http://schemas.microsoft.com/office/drawing/2014/main" id="{3863729C-F996-4812-9910-C0EEBEFF103E}"/>
              </a:ext>
            </a:extLst>
          </p:cNvPr>
          <p:cNvSpPr>
            <a:spLocks noGrp="1"/>
          </p:cNvSpPr>
          <p:nvPr/>
        </p:nvSpPr>
        <p:spPr>
          <a:xfrm>
            <a:off x="502920" y="2228850"/>
            <a:ext cx="2008022" cy="994410"/>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2039724A-E07A-4991-B6E4-04E0A178214C}"/>
              </a:ext>
            </a:extLst>
          </p:cNvPr>
          <p:cNvSpPr>
            <a:spLocks noGrp="1"/>
          </p:cNvSpPr>
          <p:nvPr/>
        </p:nvSpPr>
        <p:spPr>
          <a:xfrm>
            <a:off x="576072" y="2302002"/>
            <a:ext cx="1861718" cy="902970"/>
          </a:xfrm>
          <a:prstGeom prst="rect">
            <a:avLst/>
          </a:prstGeom>
          <a:noFill/>
        </p:spPr>
        <p:txBody>
          <a:bodyPr wrap="square" lIns="0" tIns="0" rIns="0" bIns="0" anchor="ctr">
            <a:normAutofit/>
          </a:bodyPr>
          <a:lstStyle/>
          <a:p>
            <a:pPr marL="0" indent="0">
              <a:buNone/>
            </a:pPr>
            <a:r>
              <a:rPr sz="1130">
                <a:solidFill>
                  <a:srgbClr val="1A1E2A"/>
                </a:solidFill>
              </a:rPr>
              <a:t>ProsusAI FinBERT</a:t>
            </a:r>
            <a:endParaRPr sz="1130"/>
          </a:p>
        </p:txBody>
      </p:sp>
      <p:sp>
        <p:nvSpPr>
          <p:cNvPr id="12" name="Shape 10">
            <a:extLst>
              <a:ext uri="{FF2B5EF4-FFF2-40B4-BE49-F238E27FC236}">
                <a16:creationId xmlns:a16="http://schemas.microsoft.com/office/drawing/2014/main" id="{14104906-066B-4E05-AAE2-A24D671A6F5C}"/>
              </a:ext>
            </a:extLst>
          </p:cNvPr>
          <p:cNvSpPr>
            <a:spLocks noGrp="1"/>
          </p:cNvSpPr>
          <p:nvPr/>
        </p:nvSpPr>
        <p:spPr>
          <a:xfrm>
            <a:off x="2510942" y="2228850"/>
            <a:ext cx="5577840" cy="994410"/>
          </a:xfrm>
          <a:prstGeom prst="rect">
            <a:avLst/>
          </a:prstGeom>
          <a:solidFill>
            <a:srgbClr val="FFFFFF"/>
          </a:solidFill>
          <a:ln w="6350">
            <a:solidFill>
              <a:srgbClr val="DDE3EF"/>
            </a:solidFill>
            <a:prstDash val="solid"/>
          </a:ln>
        </p:spPr>
      </p:sp>
      <p:sp>
        <p:nvSpPr>
          <p:cNvPr id="13" name="Text 11">
            <a:extLst>
              <a:ext uri="{FF2B5EF4-FFF2-40B4-BE49-F238E27FC236}">
                <a16:creationId xmlns:a16="http://schemas.microsoft.com/office/drawing/2014/main" id="{EAE47B13-C458-4FC8-8770-52213C3C57CF}"/>
              </a:ext>
            </a:extLst>
          </p:cNvPr>
          <p:cNvSpPr>
            <a:spLocks noGrp="1"/>
          </p:cNvSpPr>
          <p:nvPr/>
        </p:nvSpPr>
        <p:spPr>
          <a:xfrm>
            <a:off x="2584094" y="2302002"/>
            <a:ext cx="5431536" cy="902970"/>
          </a:xfrm>
          <a:prstGeom prst="rect">
            <a:avLst/>
          </a:prstGeom>
          <a:noFill/>
        </p:spPr>
        <p:txBody>
          <a:bodyPr wrap="square" lIns="0" tIns="0" rIns="0" bIns="0" anchor="ctr">
            <a:normAutofit/>
          </a:bodyPr>
          <a:lstStyle/>
          <a:p>
            <a:pPr marL="0" indent="0">
              <a:buNone/>
            </a:pPr>
            <a:r>
              <a:rPr sz="1130">
                <a:solidFill>
                  <a:srgbClr val="1A1E2A"/>
                </a:solidFill>
              </a:rPr>
              <a:t>Reuters TRC2 ile domain-adaptive training; Financial PhraseBank ile sentiment fine-tuning</a:t>
            </a:r>
            <a:endParaRPr sz="1130"/>
          </a:p>
        </p:txBody>
      </p:sp>
      <p:sp>
        <p:nvSpPr>
          <p:cNvPr id="14" name="Shape 12">
            <a:extLst>
              <a:ext uri="{FF2B5EF4-FFF2-40B4-BE49-F238E27FC236}">
                <a16:creationId xmlns:a16="http://schemas.microsoft.com/office/drawing/2014/main" id="{B624646C-4163-44EE-9FD6-C553C7BAD3B1}"/>
              </a:ext>
            </a:extLst>
          </p:cNvPr>
          <p:cNvSpPr>
            <a:spLocks noGrp="1"/>
          </p:cNvSpPr>
          <p:nvPr/>
        </p:nvSpPr>
        <p:spPr>
          <a:xfrm>
            <a:off x="8088782" y="2228850"/>
            <a:ext cx="3569818" cy="994410"/>
          </a:xfrm>
          <a:prstGeom prst="rect">
            <a:avLst/>
          </a:prstGeom>
          <a:solidFill>
            <a:srgbClr val="FFFFFF"/>
          </a:solidFill>
          <a:ln w="6350">
            <a:solidFill>
              <a:srgbClr val="DDE3EF"/>
            </a:solidFill>
            <a:prstDash val="solid"/>
          </a:ln>
        </p:spPr>
      </p:sp>
      <p:sp>
        <p:nvSpPr>
          <p:cNvPr id="15" name="Text 13">
            <a:extLst>
              <a:ext uri="{FF2B5EF4-FFF2-40B4-BE49-F238E27FC236}">
                <a16:creationId xmlns:a16="http://schemas.microsoft.com/office/drawing/2014/main" id="{AF3FA275-9238-46AD-8CC1-273018E5F389}"/>
              </a:ext>
            </a:extLst>
          </p:cNvPr>
          <p:cNvSpPr>
            <a:spLocks noGrp="1"/>
          </p:cNvSpPr>
          <p:nvPr/>
        </p:nvSpPr>
        <p:spPr>
          <a:xfrm>
            <a:off x="8161934" y="2302002"/>
            <a:ext cx="3423514" cy="902970"/>
          </a:xfrm>
          <a:prstGeom prst="rect">
            <a:avLst/>
          </a:prstGeom>
          <a:noFill/>
        </p:spPr>
        <p:txBody>
          <a:bodyPr wrap="square" lIns="0" tIns="0" rIns="0" bIns="0" anchor="ctr">
            <a:normAutofit/>
          </a:bodyPr>
          <a:lstStyle/>
          <a:p>
            <a:pPr marL="0" indent="0">
              <a:buNone/>
            </a:pPr>
            <a:r>
              <a:rPr sz="1130">
                <a:solidFill>
                  <a:srgbClr val="1A1E2A"/>
                </a:solidFill>
              </a:rPr>
              <a:t>PhraseBank ile doğrudan örtüşme var; bağımsız test olarak kullanılmadı.</a:t>
            </a:r>
            <a:endParaRPr sz="1130"/>
          </a:p>
        </p:txBody>
      </p:sp>
      <p:sp>
        <p:nvSpPr>
          <p:cNvPr id="16" name="Shape 14">
            <a:extLst>
              <a:ext uri="{FF2B5EF4-FFF2-40B4-BE49-F238E27FC236}">
                <a16:creationId xmlns:a16="http://schemas.microsoft.com/office/drawing/2014/main" id="{222144C8-E6A7-424B-9CA8-4E5CF62FBAAA}"/>
              </a:ext>
            </a:extLst>
          </p:cNvPr>
          <p:cNvSpPr>
            <a:spLocks noGrp="1"/>
          </p:cNvSpPr>
          <p:nvPr/>
        </p:nvSpPr>
        <p:spPr>
          <a:xfrm>
            <a:off x="502920" y="3223260"/>
            <a:ext cx="2008022" cy="994410"/>
          </a:xfrm>
          <a:prstGeom prst="rect">
            <a:avLst/>
          </a:prstGeom>
          <a:solidFill>
            <a:srgbClr val="F4F6FB"/>
          </a:solidFill>
          <a:ln w="6350">
            <a:solidFill>
              <a:srgbClr val="DDE3EF"/>
            </a:solidFill>
            <a:prstDash val="solid"/>
          </a:ln>
        </p:spPr>
      </p:sp>
      <p:sp>
        <p:nvSpPr>
          <p:cNvPr id="17" name="Text 15">
            <a:extLst>
              <a:ext uri="{FF2B5EF4-FFF2-40B4-BE49-F238E27FC236}">
                <a16:creationId xmlns:a16="http://schemas.microsoft.com/office/drawing/2014/main" id="{BA85BA74-FF35-4481-9E56-BD7554BDC0C1}"/>
              </a:ext>
            </a:extLst>
          </p:cNvPr>
          <p:cNvSpPr>
            <a:spLocks noGrp="1"/>
          </p:cNvSpPr>
          <p:nvPr/>
        </p:nvSpPr>
        <p:spPr>
          <a:xfrm>
            <a:off x="576072" y="3296412"/>
            <a:ext cx="1861718" cy="902970"/>
          </a:xfrm>
          <a:prstGeom prst="rect">
            <a:avLst/>
          </a:prstGeom>
          <a:noFill/>
        </p:spPr>
        <p:txBody>
          <a:bodyPr wrap="square" lIns="0" tIns="0" rIns="0" bIns="0" anchor="ctr">
            <a:normAutofit/>
          </a:bodyPr>
          <a:lstStyle/>
          <a:p>
            <a:pPr marL="0" indent="0">
              <a:buNone/>
            </a:pPr>
            <a:r>
              <a:rPr sz="1130">
                <a:solidFill>
                  <a:srgbClr val="1A1E2A"/>
                </a:solidFill>
              </a:rPr>
              <a:t>Financial-RoBERTa</a:t>
            </a:r>
            <a:endParaRPr sz="1130"/>
          </a:p>
        </p:txBody>
      </p:sp>
      <p:sp>
        <p:nvSpPr>
          <p:cNvPr id="18" name="Shape 16">
            <a:extLst>
              <a:ext uri="{FF2B5EF4-FFF2-40B4-BE49-F238E27FC236}">
                <a16:creationId xmlns:a16="http://schemas.microsoft.com/office/drawing/2014/main" id="{E5BBBAD6-D528-4C79-AF34-F06361B970CB}"/>
              </a:ext>
            </a:extLst>
          </p:cNvPr>
          <p:cNvSpPr>
            <a:spLocks noGrp="1"/>
          </p:cNvSpPr>
          <p:nvPr/>
        </p:nvSpPr>
        <p:spPr>
          <a:xfrm>
            <a:off x="2510942" y="3223260"/>
            <a:ext cx="5577840" cy="994410"/>
          </a:xfrm>
          <a:prstGeom prst="rect">
            <a:avLst/>
          </a:prstGeom>
          <a:solidFill>
            <a:srgbClr val="F4F6FB"/>
          </a:solidFill>
          <a:ln w="6350">
            <a:solidFill>
              <a:srgbClr val="DDE3EF"/>
            </a:solidFill>
            <a:prstDash val="solid"/>
          </a:ln>
        </p:spPr>
      </p:sp>
      <p:sp>
        <p:nvSpPr>
          <p:cNvPr id="19" name="Text 17">
            <a:extLst>
              <a:ext uri="{FF2B5EF4-FFF2-40B4-BE49-F238E27FC236}">
                <a16:creationId xmlns:a16="http://schemas.microsoft.com/office/drawing/2014/main" id="{34362C72-BFFE-48FC-9344-D26B5B300DEA}"/>
              </a:ext>
            </a:extLst>
          </p:cNvPr>
          <p:cNvSpPr>
            <a:spLocks noGrp="1"/>
          </p:cNvSpPr>
          <p:nvPr/>
        </p:nvSpPr>
        <p:spPr>
          <a:xfrm>
            <a:off x="2584094" y="3296412"/>
            <a:ext cx="5431536" cy="902970"/>
          </a:xfrm>
          <a:prstGeom prst="rect">
            <a:avLst/>
          </a:prstGeom>
          <a:noFill/>
        </p:spPr>
        <p:txBody>
          <a:bodyPr wrap="square" lIns="0" tIns="0" rIns="0" bIns="0" anchor="ctr">
            <a:normAutofit/>
          </a:bodyPr>
          <a:lstStyle/>
          <a:p>
            <a:pPr marL="0" indent="0">
              <a:buNone/>
            </a:pPr>
            <a:r>
              <a:rPr sz="1130">
                <a:solidFill>
                  <a:srgbClr val="1A1E2A"/>
                </a:solidFill>
              </a:rPr>
              <a:t>RoBERTa-Large; 10-K/10-Q/8-K, earnings call, CSR/ESG ve finans haberleriyle further training/fine-tuning</a:t>
            </a:r>
            <a:endParaRPr sz="1130"/>
          </a:p>
        </p:txBody>
      </p:sp>
      <p:sp>
        <p:nvSpPr>
          <p:cNvPr id="20" name="Shape 18">
            <a:extLst>
              <a:ext uri="{FF2B5EF4-FFF2-40B4-BE49-F238E27FC236}">
                <a16:creationId xmlns:a16="http://schemas.microsoft.com/office/drawing/2014/main" id="{14D6C25E-41CF-44EE-A4F7-B96492892F78}"/>
              </a:ext>
            </a:extLst>
          </p:cNvPr>
          <p:cNvSpPr>
            <a:spLocks noGrp="1"/>
          </p:cNvSpPr>
          <p:nvPr/>
        </p:nvSpPr>
        <p:spPr>
          <a:xfrm>
            <a:off x="8088782" y="3223260"/>
            <a:ext cx="3569818" cy="994410"/>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2D424326-EFB2-426D-9009-18424EBD60D5}"/>
              </a:ext>
            </a:extLst>
          </p:cNvPr>
          <p:cNvSpPr>
            <a:spLocks noGrp="1"/>
          </p:cNvSpPr>
          <p:nvPr/>
        </p:nvSpPr>
        <p:spPr>
          <a:xfrm>
            <a:off x="8161934" y="3296412"/>
            <a:ext cx="3423514" cy="902970"/>
          </a:xfrm>
          <a:prstGeom prst="rect">
            <a:avLst/>
          </a:prstGeom>
          <a:noFill/>
        </p:spPr>
        <p:txBody>
          <a:bodyPr wrap="square" lIns="0" tIns="0" rIns="0" bIns="0" anchor="ctr">
            <a:normAutofit/>
          </a:bodyPr>
          <a:lstStyle/>
          <a:p>
            <a:pPr marL="0" indent="0">
              <a:buNone/>
            </a:pPr>
            <a:r>
              <a:rPr sz="1130">
                <a:solidFill>
                  <a:srgbClr val="1A1E2A"/>
                </a:solidFill>
              </a:rPr>
              <a:t>Genel RoBERTa’ya karşı finans alanına uyarlanmış RoBERTa alternatifi olarak denenebilir.</a:t>
            </a:r>
            <a:endParaRPr sz="1130"/>
          </a:p>
        </p:txBody>
      </p:sp>
      <p:sp>
        <p:nvSpPr>
          <p:cNvPr id="22" name="Shape 20">
            <a:extLst>
              <a:ext uri="{FF2B5EF4-FFF2-40B4-BE49-F238E27FC236}">
                <a16:creationId xmlns:a16="http://schemas.microsoft.com/office/drawing/2014/main" id="{57D65C5C-E447-43BA-A58C-9EA533D01288}"/>
              </a:ext>
            </a:extLst>
          </p:cNvPr>
          <p:cNvSpPr>
            <a:spLocks noGrp="1"/>
          </p:cNvSpPr>
          <p:nvPr/>
        </p:nvSpPr>
        <p:spPr>
          <a:xfrm>
            <a:off x="502920" y="4217670"/>
            <a:ext cx="2008022" cy="994410"/>
          </a:xfrm>
          <a:prstGeom prst="rect">
            <a:avLst/>
          </a:prstGeom>
          <a:solidFill>
            <a:srgbClr val="FFFFFF"/>
          </a:solidFill>
          <a:ln w="6350">
            <a:solidFill>
              <a:srgbClr val="DDE3EF"/>
            </a:solidFill>
            <a:prstDash val="solid"/>
          </a:ln>
        </p:spPr>
      </p:sp>
      <p:sp>
        <p:nvSpPr>
          <p:cNvPr id="23" name="Text 21">
            <a:extLst>
              <a:ext uri="{FF2B5EF4-FFF2-40B4-BE49-F238E27FC236}">
                <a16:creationId xmlns:a16="http://schemas.microsoft.com/office/drawing/2014/main" id="{E5766121-AA1C-4027-8AE6-CEF560200B19}"/>
              </a:ext>
            </a:extLst>
          </p:cNvPr>
          <p:cNvSpPr>
            <a:spLocks noGrp="1"/>
          </p:cNvSpPr>
          <p:nvPr/>
        </p:nvSpPr>
        <p:spPr>
          <a:xfrm>
            <a:off x="576072" y="4290822"/>
            <a:ext cx="1861718" cy="902970"/>
          </a:xfrm>
          <a:prstGeom prst="rect">
            <a:avLst/>
          </a:prstGeom>
          <a:noFill/>
        </p:spPr>
        <p:txBody>
          <a:bodyPr wrap="square" lIns="0" tIns="0" rIns="0" bIns="0" anchor="ctr">
            <a:normAutofit/>
          </a:bodyPr>
          <a:lstStyle/>
          <a:p>
            <a:pPr marL="0" indent="0">
              <a:buNone/>
            </a:pPr>
            <a:r>
              <a:rPr sz="1130">
                <a:solidFill>
                  <a:srgbClr val="1A1E2A"/>
                </a:solidFill>
              </a:rPr>
              <a:t>FinGPT sentiment</a:t>
            </a:r>
            <a:endParaRPr sz="1130"/>
          </a:p>
        </p:txBody>
      </p:sp>
      <p:sp>
        <p:nvSpPr>
          <p:cNvPr id="24" name="Shape 22">
            <a:extLst>
              <a:ext uri="{FF2B5EF4-FFF2-40B4-BE49-F238E27FC236}">
                <a16:creationId xmlns:a16="http://schemas.microsoft.com/office/drawing/2014/main" id="{595B16AC-81F3-465E-A0FA-7F48E713C62C}"/>
              </a:ext>
            </a:extLst>
          </p:cNvPr>
          <p:cNvSpPr>
            <a:spLocks noGrp="1"/>
          </p:cNvSpPr>
          <p:nvPr/>
        </p:nvSpPr>
        <p:spPr>
          <a:xfrm>
            <a:off x="2510942" y="4217670"/>
            <a:ext cx="5577840" cy="994410"/>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5E6B5752-EB20-4DFD-87ED-745BDC0558B9}"/>
              </a:ext>
            </a:extLst>
          </p:cNvPr>
          <p:cNvSpPr>
            <a:spLocks noGrp="1"/>
          </p:cNvSpPr>
          <p:nvPr/>
        </p:nvSpPr>
        <p:spPr>
          <a:xfrm>
            <a:off x="2584094" y="4290822"/>
            <a:ext cx="5431536" cy="902970"/>
          </a:xfrm>
          <a:prstGeom prst="rect">
            <a:avLst/>
          </a:prstGeom>
          <a:noFill/>
        </p:spPr>
        <p:txBody>
          <a:bodyPr wrap="square" lIns="0" tIns="0" rIns="0" bIns="0" anchor="ctr">
            <a:normAutofit/>
          </a:bodyPr>
          <a:lstStyle/>
          <a:p>
            <a:pPr marL="0" indent="0">
              <a:buNone/>
            </a:pPr>
            <a:r>
              <a:rPr sz="1130">
                <a:solidFill>
                  <a:srgbClr val="1A1E2A"/>
                </a:solidFill>
              </a:rPr>
              <a:t>Financial PhraseBank, FiQA, Twitter Financial News ve GPT-news tabanlı instruction sentiment verileri</a:t>
            </a:r>
            <a:endParaRPr sz="1130"/>
          </a:p>
        </p:txBody>
      </p:sp>
      <p:sp>
        <p:nvSpPr>
          <p:cNvPr id="26" name="Shape 24">
            <a:extLst>
              <a:ext uri="{FF2B5EF4-FFF2-40B4-BE49-F238E27FC236}">
                <a16:creationId xmlns:a16="http://schemas.microsoft.com/office/drawing/2014/main" id="{DB22A737-443E-4EE2-8F1F-F73BD920ED0F}"/>
              </a:ext>
            </a:extLst>
          </p:cNvPr>
          <p:cNvSpPr>
            <a:spLocks noGrp="1"/>
          </p:cNvSpPr>
          <p:nvPr/>
        </p:nvSpPr>
        <p:spPr>
          <a:xfrm>
            <a:off x="8088782" y="4217670"/>
            <a:ext cx="3569818" cy="994410"/>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1801A2FF-5B46-4083-BB2A-3BE496DF6C41}"/>
              </a:ext>
            </a:extLst>
          </p:cNvPr>
          <p:cNvSpPr>
            <a:spLocks noGrp="1"/>
          </p:cNvSpPr>
          <p:nvPr/>
        </p:nvSpPr>
        <p:spPr>
          <a:xfrm>
            <a:off x="8161934" y="4290822"/>
            <a:ext cx="3423514" cy="902970"/>
          </a:xfrm>
          <a:prstGeom prst="rect">
            <a:avLst/>
          </a:prstGeom>
          <a:noFill/>
        </p:spPr>
        <p:txBody>
          <a:bodyPr wrap="square" lIns="0" tIns="0" rIns="0" bIns="0" anchor="ctr">
            <a:normAutofit/>
          </a:bodyPr>
          <a:lstStyle/>
          <a:p>
            <a:pPr marL="0" indent="0">
              <a:buNone/>
            </a:pPr>
            <a:r>
              <a:rPr sz="1130">
                <a:solidFill>
                  <a:srgbClr val="1A1E2A"/>
                </a:solidFill>
              </a:rPr>
              <a:t>Bizim Twitter + PhraseBank verileriyle potansiyel örtüşme var.</a:t>
            </a:r>
            <a:endParaRPr sz="1130"/>
          </a:p>
        </p:txBody>
      </p:sp>
      <p:sp>
        <p:nvSpPr>
          <p:cNvPr id="28" name="Text 26">
            <a:extLst>
              <a:ext uri="{FF2B5EF4-FFF2-40B4-BE49-F238E27FC236}">
                <a16:creationId xmlns:a16="http://schemas.microsoft.com/office/drawing/2014/main" id="{8E71450C-FCC1-49A9-A213-2044E99DF740}"/>
              </a:ext>
            </a:extLst>
          </p:cNvPr>
          <p:cNvSpPr>
            <a:spLocks noGrp="1"/>
          </p:cNvSpPr>
          <p:nvPr/>
        </p:nvSpPr>
        <p:spPr>
          <a:xfrm>
            <a:off x="594360" y="5623560"/>
            <a:ext cx="10972800" cy="320040"/>
          </a:xfrm>
          <a:prstGeom prst="rect">
            <a:avLst/>
          </a:prstGeom>
          <a:noFill/>
        </p:spPr>
        <p:txBody>
          <a:bodyPr wrap="square" lIns="0" tIns="0" rIns="0" bIns="0" anchor="ctr">
            <a:normAutofit/>
          </a:bodyPr>
          <a:lstStyle/>
          <a:p>
            <a:pPr marL="0" indent="0">
              <a:buNone/>
            </a:pPr>
            <a:r>
              <a:rPr sz="950">
                <a:solidFill>
                  <a:srgbClr val="5E6A7D"/>
                </a:solidFill>
              </a:rPr>
              <a:t>Kaynak notu: ProsusAI/finBERT; Financial-RoBERTa; FinGPT/fingpt-sentiment-train Hugging Face.</a:t>
            </a:r>
            <a:endParaRPr sz="950"/>
          </a:p>
        </p:txBody>
      </p:sp>
      <p:sp>
        <p:nvSpPr>
          <p:cNvPr id="29" name="Text 27">
            <a:extLst>
              <a:ext uri="{FF2B5EF4-FFF2-40B4-BE49-F238E27FC236}">
                <a16:creationId xmlns:a16="http://schemas.microsoft.com/office/drawing/2014/main" id="{A66E43EB-6403-4558-8490-11125AA5E731}"/>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0" name="Text 28">
            <a:extLst>
              <a:ext uri="{FF2B5EF4-FFF2-40B4-BE49-F238E27FC236}">
                <a16:creationId xmlns:a16="http://schemas.microsoft.com/office/drawing/2014/main" id="{6FBE8661-B93D-40CF-B7B2-B8FB873CAD64}"/>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37</a:t>
            </a:r>
            <a:endParaRPr sz="850"/>
          </a:p>
        </p:txBody>
      </p:sp>
      <p:sp>
        <p:nvSpPr>
          <p:cNvPr id="31" name="Shape 29">
            <a:extLst>
              <a:ext uri="{FF2B5EF4-FFF2-40B4-BE49-F238E27FC236}">
                <a16:creationId xmlns:a16="http://schemas.microsoft.com/office/drawing/2014/main" id="{98A15D1B-969B-4D69-90C1-99D746258193}"/>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2010243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1C2908-77D2-4D5A-B0A9-EABD78017A1A}"/>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Eğitim ve değerlendirme ayarları</a:t>
            </a:r>
            <a:endParaRPr sz="3100"/>
          </a:p>
        </p:txBody>
      </p:sp>
      <p:sp>
        <p:nvSpPr>
          <p:cNvPr id="3" name="Text 1">
            <a:extLst>
              <a:ext uri="{FF2B5EF4-FFF2-40B4-BE49-F238E27FC236}">
                <a16:creationId xmlns:a16="http://schemas.microsoft.com/office/drawing/2014/main" id="{D99DDC05-D573-4331-BE62-DCFA1CE60481}"/>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Karşılaştırmalar aynı görev ve aynı metrik üzerinden yapıldı.</a:t>
            </a:r>
            <a:endParaRPr sz="1450"/>
          </a:p>
        </p:txBody>
      </p:sp>
      <p:sp>
        <p:nvSpPr>
          <p:cNvPr id="4" name="Shape 2">
            <a:extLst>
              <a:ext uri="{FF2B5EF4-FFF2-40B4-BE49-F238E27FC236}">
                <a16:creationId xmlns:a16="http://schemas.microsoft.com/office/drawing/2014/main" id="{D8B2115B-1B0C-4F18-9D0B-BB708345121F}"/>
              </a:ext>
            </a:extLst>
          </p:cNvPr>
          <p:cNvSpPr>
            <a:spLocks noGrp="1"/>
          </p:cNvSpPr>
          <p:nvPr/>
        </p:nvSpPr>
        <p:spPr>
          <a:xfrm>
            <a:off x="1051560" y="1371600"/>
            <a:ext cx="2790749" cy="600891"/>
          </a:xfrm>
          <a:prstGeom prst="rect">
            <a:avLst/>
          </a:prstGeom>
          <a:solidFill>
            <a:srgbClr val="1D2B46"/>
          </a:solidFill>
          <a:ln w="6350">
            <a:solidFill>
              <a:srgbClr val="DDE3EF"/>
            </a:solidFill>
            <a:prstDash val="solid"/>
          </a:ln>
        </p:spPr>
      </p:sp>
      <p:sp>
        <p:nvSpPr>
          <p:cNvPr id="5" name="Text 3">
            <a:extLst>
              <a:ext uri="{FF2B5EF4-FFF2-40B4-BE49-F238E27FC236}">
                <a16:creationId xmlns:a16="http://schemas.microsoft.com/office/drawing/2014/main" id="{7569C472-9BED-4600-B665-DEE5D61C5432}"/>
              </a:ext>
            </a:extLst>
          </p:cNvPr>
          <p:cNvSpPr>
            <a:spLocks noGrp="1"/>
          </p:cNvSpPr>
          <p:nvPr/>
        </p:nvSpPr>
        <p:spPr>
          <a:xfrm>
            <a:off x="1124712" y="1444752"/>
            <a:ext cx="2644445" cy="509451"/>
          </a:xfrm>
          <a:prstGeom prst="rect">
            <a:avLst/>
          </a:prstGeom>
          <a:noFill/>
        </p:spPr>
        <p:txBody>
          <a:bodyPr wrap="square" lIns="0" tIns="0" rIns="0" bIns="0" anchor="ctr">
            <a:normAutofit/>
          </a:bodyPr>
          <a:lstStyle/>
          <a:p>
            <a:pPr marL="0" indent="0">
              <a:buNone/>
            </a:pPr>
            <a:r>
              <a:rPr sz="1150" b="1">
                <a:solidFill>
                  <a:srgbClr val="FFFFFF"/>
                </a:solidFill>
              </a:rPr>
              <a:t>Başlık</a:t>
            </a:r>
            <a:endParaRPr sz="1150"/>
          </a:p>
        </p:txBody>
      </p:sp>
      <p:sp>
        <p:nvSpPr>
          <p:cNvPr id="6" name="Shape 4">
            <a:extLst>
              <a:ext uri="{FF2B5EF4-FFF2-40B4-BE49-F238E27FC236}">
                <a16:creationId xmlns:a16="http://schemas.microsoft.com/office/drawing/2014/main" id="{3573E335-1EFA-469E-A8EA-6A4D70847A35}"/>
              </a:ext>
            </a:extLst>
          </p:cNvPr>
          <p:cNvSpPr>
            <a:spLocks noGrp="1"/>
          </p:cNvSpPr>
          <p:nvPr/>
        </p:nvSpPr>
        <p:spPr>
          <a:xfrm>
            <a:off x="3842309" y="1371600"/>
            <a:ext cx="7176211" cy="600891"/>
          </a:xfrm>
          <a:prstGeom prst="rect">
            <a:avLst/>
          </a:prstGeom>
          <a:solidFill>
            <a:srgbClr val="1D2B46"/>
          </a:solidFill>
          <a:ln w="6350">
            <a:solidFill>
              <a:srgbClr val="DDE3EF"/>
            </a:solidFill>
            <a:prstDash val="solid"/>
          </a:ln>
        </p:spPr>
      </p:sp>
      <p:sp>
        <p:nvSpPr>
          <p:cNvPr id="7" name="Text 5">
            <a:extLst>
              <a:ext uri="{FF2B5EF4-FFF2-40B4-BE49-F238E27FC236}">
                <a16:creationId xmlns:a16="http://schemas.microsoft.com/office/drawing/2014/main" id="{5264B055-9D60-485A-9218-C8D624AB21CD}"/>
              </a:ext>
            </a:extLst>
          </p:cNvPr>
          <p:cNvSpPr>
            <a:spLocks noGrp="1"/>
          </p:cNvSpPr>
          <p:nvPr/>
        </p:nvSpPr>
        <p:spPr>
          <a:xfrm>
            <a:off x="3915461" y="1444752"/>
            <a:ext cx="7029907" cy="509451"/>
          </a:xfrm>
          <a:prstGeom prst="rect">
            <a:avLst/>
          </a:prstGeom>
          <a:noFill/>
        </p:spPr>
        <p:txBody>
          <a:bodyPr wrap="square" lIns="0" tIns="0" rIns="0" bIns="0" anchor="ctr">
            <a:normAutofit/>
          </a:bodyPr>
          <a:lstStyle/>
          <a:p>
            <a:pPr marL="0" indent="0">
              <a:buNone/>
            </a:pPr>
            <a:r>
              <a:rPr sz="1150" b="1">
                <a:solidFill>
                  <a:srgbClr val="FFFFFF"/>
                </a:solidFill>
              </a:rPr>
              <a:t>Uygulama</a:t>
            </a:r>
            <a:endParaRPr sz="1150"/>
          </a:p>
        </p:txBody>
      </p:sp>
      <p:sp>
        <p:nvSpPr>
          <p:cNvPr id="8" name="Shape 6">
            <a:extLst>
              <a:ext uri="{FF2B5EF4-FFF2-40B4-BE49-F238E27FC236}">
                <a16:creationId xmlns:a16="http://schemas.microsoft.com/office/drawing/2014/main" id="{8C44F770-1D81-4A44-8F68-2ED4A70D12E7}"/>
              </a:ext>
            </a:extLst>
          </p:cNvPr>
          <p:cNvSpPr>
            <a:spLocks noGrp="1"/>
          </p:cNvSpPr>
          <p:nvPr/>
        </p:nvSpPr>
        <p:spPr>
          <a:xfrm>
            <a:off x="1051560" y="1972491"/>
            <a:ext cx="2790749" cy="600891"/>
          </a:xfrm>
          <a:prstGeom prst="rect">
            <a:avLst/>
          </a:prstGeom>
          <a:solidFill>
            <a:srgbClr val="FFFFFF"/>
          </a:solidFill>
          <a:ln w="6350">
            <a:solidFill>
              <a:srgbClr val="DDE3EF"/>
            </a:solidFill>
            <a:prstDash val="solid"/>
          </a:ln>
        </p:spPr>
      </p:sp>
      <p:sp>
        <p:nvSpPr>
          <p:cNvPr id="9" name="Text 7">
            <a:extLst>
              <a:ext uri="{FF2B5EF4-FFF2-40B4-BE49-F238E27FC236}">
                <a16:creationId xmlns:a16="http://schemas.microsoft.com/office/drawing/2014/main" id="{30AA4AC8-6496-40C6-B4B8-FA23963715D7}"/>
              </a:ext>
            </a:extLst>
          </p:cNvPr>
          <p:cNvSpPr>
            <a:spLocks noGrp="1"/>
          </p:cNvSpPr>
          <p:nvPr/>
        </p:nvSpPr>
        <p:spPr>
          <a:xfrm>
            <a:off x="1124712" y="2045643"/>
            <a:ext cx="2644445" cy="509451"/>
          </a:xfrm>
          <a:prstGeom prst="rect">
            <a:avLst/>
          </a:prstGeom>
          <a:noFill/>
        </p:spPr>
        <p:txBody>
          <a:bodyPr wrap="square" lIns="0" tIns="0" rIns="0" bIns="0" anchor="ctr">
            <a:normAutofit/>
          </a:bodyPr>
          <a:lstStyle/>
          <a:p>
            <a:pPr marL="0" indent="0">
              <a:buNone/>
            </a:pPr>
            <a:r>
              <a:rPr sz="1320">
                <a:solidFill>
                  <a:srgbClr val="1A1E2A"/>
                </a:solidFill>
              </a:rPr>
              <a:t>Görev</a:t>
            </a:r>
            <a:endParaRPr sz="1320"/>
          </a:p>
        </p:txBody>
      </p:sp>
      <p:sp>
        <p:nvSpPr>
          <p:cNvPr id="10" name="Shape 8">
            <a:extLst>
              <a:ext uri="{FF2B5EF4-FFF2-40B4-BE49-F238E27FC236}">
                <a16:creationId xmlns:a16="http://schemas.microsoft.com/office/drawing/2014/main" id="{DCBF4F43-BD50-444D-84A5-991A870B3CEE}"/>
              </a:ext>
            </a:extLst>
          </p:cNvPr>
          <p:cNvSpPr>
            <a:spLocks noGrp="1"/>
          </p:cNvSpPr>
          <p:nvPr/>
        </p:nvSpPr>
        <p:spPr>
          <a:xfrm>
            <a:off x="3842309" y="1972491"/>
            <a:ext cx="7176211" cy="600891"/>
          </a:xfrm>
          <a:prstGeom prst="rect">
            <a:avLst/>
          </a:prstGeom>
          <a:solidFill>
            <a:srgbClr val="FFFFFF"/>
          </a:solidFill>
          <a:ln w="6350">
            <a:solidFill>
              <a:srgbClr val="DDE3EF"/>
            </a:solidFill>
            <a:prstDash val="solid"/>
          </a:ln>
        </p:spPr>
      </p:sp>
      <p:sp>
        <p:nvSpPr>
          <p:cNvPr id="11" name="Text 9">
            <a:extLst>
              <a:ext uri="{FF2B5EF4-FFF2-40B4-BE49-F238E27FC236}">
                <a16:creationId xmlns:a16="http://schemas.microsoft.com/office/drawing/2014/main" id="{0FB270AE-BDEE-4208-8A4E-79043D1BC9BE}"/>
              </a:ext>
            </a:extLst>
          </p:cNvPr>
          <p:cNvSpPr>
            <a:spLocks noGrp="1"/>
          </p:cNvSpPr>
          <p:nvPr/>
        </p:nvSpPr>
        <p:spPr>
          <a:xfrm>
            <a:off x="3915461" y="2045643"/>
            <a:ext cx="7029907" cy="509451"/>
          </a:xfrm>
          <a:prstGeom prst="rect">
            <a:avLst/>
          </a:prstGeom>
          <a:noFill/>
        </p:spPr>
        <p:txBody>
          <a:bodyPr wrap="square" lIns="0" tIns="0" rIns="0" bIns="0" anchor="ctr">
            <a:normAutofit/>
          </a:bodyPr>
          <a:lstStyle/>
          <a:p>
            <a:pPr marL="0" indent="0">
              <a:buNone/>
            </a:pPr>
            <a:r>
              <a:rPr sz="1320">
                <a:solidFill>
                  <a:srgbClr val="1A1E2A"/>
                </a:solidFill>
              </a:rPr>
              <a:t>3 sınıflı finansal sentiment classification</a:t>
            </a:r>
            <a:endParaRPr sz="1320"/>
          </a:p>
        </p:txBody>
      </p:sp>
      <p:sp>
        <p:nvSpPr>
          <p:cNvPr id="12" name="Shape 10">
            <a:extLst>
              <a:ext uri="{FF2B5EF4-FFF2-40B4-BE49-F238E27FC236}">
                <a16:creationId xmlns:a16="http://schemas.microsoft.com/office/drawing/2014/main" id="{CE3D979D-6184-4043-A0C0-1B9BCD6AA225}"/>
              </a:ext>
            </a:extLst>
          </p:cNvPr>
          <p:cNvSpPr>
            <a:spLocks noGrp="1"/>
          </p:cNvSpPr>
          <p:nvPr/>
        </p:nvSpPr>
        <p:spPr>
          <a:xfrm>
            <a:off x="1051560" y="2573383"/>
            <a:ext cx="2790749" cy="600891"/>
          </a:xfrm>
          <a:prstGeom prst="rect">
            <a:avLst/>
          </a:prstGeom>
          <a:solidFill>
            <a:srgbClr val="F4F6FB"/>
          </a:solidFill>
          <a:ln w="6350">
            <a:solidFill>
              <a:srgbClr val="DDE3EF"/>
            </a:solidFill>
            <a:prstDash val="solid"/>
          </a:ln>
        </p:spPr>
      </p:sp>
      <p:sp>
        <p:nvSpPr>
          <p:cNvPr id="13" name="Text 11">
            <a:extLst>
              <a:ext uri="{FF2B5EF4-FFF2-40B4-BE49-F238E27FC236}">
                <a16:creationId xmlns:a16="http://schemas.microsoft.com/office/drawing/2014/main" id="{F69A4925-70AB-4780-B764-C7E6AE67A6DC}"/>
              </a:ext>
            </a:extLst>
          </p:cNvPr>
          <p:cNvSpPr>
            <a:spLocks noGrp="1"/>
          </p:cNvSpPr>
          <p:nvPr/>
        </p:nvSpPr>
        <p:spPr>
          <a:xfrm>
            <a:off x="1124712" y="2646535"/>
            <a:ext cx="2644445" cy="509451"/>
          </a:xfrm>
          <a:prstGeom prst="rect">
            <a:avLst/>
          </a:prstGeom>
          <a:noFill/>
        </p:spPr>
        <p:txBody>
          <a:bodyPr wrap="square" lIns="0" tIns="0" rIns="0" bIns="0" anchor="ctr">
            <a:normAutofit/>
          </a:bodyPr>
          <a:lstStyle/>
          <a:p>
            <a:pPr marL="0" indent="0">
              <a:buNone/>
            </a:pPr>
            <a:r>
              <a:rPr sz="1320">
                <a:solidFill>
                  <a:srgbClr val="1A1E2A"/>
                </a:solidFill>
              </a:rPr>
              <a:t>Etiketler</a:t>
            </a:r>
            <a:endParaRPr sz="1320"/>
          </a:p>
        </p:txBody>
      </p:sp>
      <p:sp>
        <p:nvSpPr>
          <p:cNvPr id="14" name="Shape 12">
            <a:extLst>
              <a:ext uri="{FF2B5EF4-FFF2-40B4-BE49-F238E27FC236}">
                <a16:creationId xmlns:a16="http://schemas.microsoft.com/office/drawing/2014/main" id="{B0ADA816-BA3F-4FC6-8398-A50556FD307A}"/>
              </a:ext>
            </a:extLst>
          </p:cNvPr>
          <p:cNvSpPr>
            <a:spLocks noGrp="1"/>
          </p:cNvSpPr>
          <p:nvPr/>
        </p:nvSpPr>
        <p:spPr>
          <a:xfrm>
            <a:off x="3842309" y="2573383"/>
            <a:ext cx="7176211" cy="600891"/>
          </a:xfrm>
          <a:prstGeom prst="rect">
            <a:avLst/>
          </a:prstGeom>
          <a:solidFill>
            <a:srgbClr val="F4F6FB"/>
          </a:solidFill>
          <a:ln w="6350">
            <a:solidFill>
              <a:srgbClr val="DDE3EF"/>
            </a:solidFill>
            <a:prstDash val="solid"/>
          </a:ln>
        </p:spPr>
      </p:sp>
      <p:sp>
        <p:nvSpPr>
          <p:cNvPr id="15" name="Text 13">
            <a:extLst>
              <a:ext uri="{FF2B5EF4-FFF2-40B4-BE49-F238E27FC236}">
                <a16:creationId xmlns:a16="http://schemas.microsoft.com/office/drawing/2014/main" id="{02F784D7-B8EC-4F2A-8C54-54D64B7DA067}"/>
              </a:ext>
            </a:extLst>
          </p:cNvPr>
          <p:cNvSpPr>
            <a:spLocks noGrp="1"/>
          </p:cNvSpPr>
          <p:nvPr/>
        </p:nvSpPr>
        <p:spPr>
          <a:xfrm>
            <a:off x="3915461" y="2646535"/>
            <a:ext cx="7029907" cy="509451"/>
          </a:xfrm>
          <a:prstGeom prst="rect">
            <a:avLst/>
          </a:prstGeom>
          <a:noFill/>
        </p:spPr>
        <p:txBody>
          <a:bodyPr wrap="square" lIns="0" tIns="0" rIns="0" bIns="0" anchor="ctr">
            <a:normAutofit/>
          </a:bodyPr>
          <a:lstStyle/>
          <a:p>
            <a:pPr marL="0" indent="0">
              <a:buNone/>
            </a:pPr>
            <a:r>
              <a:rPr sz="1320">
                <a:solidFill>
                  <a:srgbClr val="1A1E2A"/>
                </a:solidFill>
              </a:rPr>
              <a:t>Negative / Neutral / Positive</a:t>
            </a:r>
            <a:endParaRPr sz="1320"/>
          </a:p>
        </p:txBody>
      </p:sp>
      <p:sp>
        <p:nvSpPr>
          <p:cNvPr id="16" name="Shape 14">
            <a:extLst>
              <a:ext uri="{FF2B5EF4-FFF2-40B4-BE49-F238E27FC236}">
                <a16:creationId xmlns:a16="http://schemas.microsoft.com/office/drawing/2014/main" id="{4544DDF3-1116-4393-A85E-F3669BD0D8F1}"/>
              </a:ext>
            </a:extLst>
          </p:cNvPr>
          <p:cNvSpPr>
            <a:spLocks noGrp="1"/>
          </p:cNvSpPr>
          <p:nvPr/>
        </p:nvSpPr>
        <p:spPr>
          <a:xfrm>
            <a:off x="1051560" y="3174274"/>
            <a:ext cx="2790749" cy="600891"/>
          </a:xfrm>
          <a:prstGeom prst="rect">
            <a:avLst/>
          </a:prstGeom>
          <a:solidFill>
            <a:srgbClr val="FFFFFF"/>
          </a:solidFill>
          <a:ln w="6350">
            <a:solidFill>
              <a:srgbClr val="DDE3EF"/>
            </a:solidFill>
            <a:prstDash val="solid"/>
          </a:ln>
        </p:spPr>
      </p:sp>
      <p:sp>
        <p:nvSpPr>
          <p:cNvPr id="17" name="Text 15">
            <a:extLst>
              <a:ext uri="{FF2B5EF4-FFF2-40B4-BE49-F238E27FC236}">
                <a16:creationId xmlns:a16="http://schemas.microsoft.com/office/drawing/2014/main" id="{223AF056-AEC7-4AE3-BAF9-BBA6885E3909}"/>
              </a:ext>
            </a:extLst>
          </p:cNvPr>
          <p:cNvSpPr>
            <a:spLocks noGrp="1"/>
          </p:cNvSpPr>
          <p:nvPr/>
        </p:nvSpPr>
        <p:spPr>
          <a:xfrm>
            <a:off x="1124712" y="3247426"/>
            <a:ext cx="2644445" cy="509451"/>
          </a:xfrm>
          <a:prstGeom prst="rect">
            <a:avLst/>
          </a:prstGeom>
          <a:noFill/>
        </p:spPr>
        <p:txBody>
          <a:bodyPr wrap="square" lIns="0" tIns="0" rIns="0" bIns="0" anchor="ctr">
            <a:normAutofit/>
          </a:bodyPr>
          <a:lstStyle/>
          <a:p>
            <a:pPr marL="0" indent="0">
              <a:buNone/>
            </a:pPr>
            <a:r>
              <a:rPr sz="1320">
                <a:solidFill>
                  <a:srgbClr val="1A1E2A"/>
                </a:solidFill>
              </a:rPr>
              <a:t>Ana metrik</a:t>
            </a:r>
            <a:endParaRPr sz="1320"/>
          </a:p>
        </p:txBody>
      </p:sp>
      <p:sp>
        <p:nvSpPr>
          <p:cNvPr id="18" name="Shape 16">
            <a:extLst>
              <a:ext uri="{FF2B5EF4-FFF2-40B4-BE49-F238E27FC236}">
                <a16:creationId xmlns:a16="http://schemas.microsoft.com/office/drawing/2014/main" id="{1A64F062-FEA4-4F25-9BB4-EBB2FEB5BF75}"/>
              </a:ext>
            </a:extLst>
          </p:cNvPr>
          <p:cNvSpPr>
            <a:spLocks noGrp="1"/>
          </p:cNvSpPr>
          <p:nvPr/>
        </p:nvSpPr>
        <p:spPr>
          <a:xfrm>
            <a:off x="3842309" y="3174274"/>
            <a:ext cx="7176211" cy="600891"/>
          </a:xfrm>
          <a:prstGeom prst="rect">
            <a:avLst/>
          </a:prstGeom>
          <a:solidFill>
            <a:srgbClr val="FFFFFF"/>
          </a:solidFill>
          <a:ln w="6350">
            <a:solidFill>
              <a:srgbClr val="DDE3EF"/>
            </a:solidFill>
            <a:prstDash val="solid"/>
          </a:ln>
        </p:spPr>
      </p:sp>
      <p:sp>
        <p:nvSpPr>
          <p:cNvPr id="19" name="Text 17">
            <a:extLst>
              <a:ext uri="{FF2B5EF4-FFF2-40B4-BE49-F238E27FC236}">
                <a16:creationId xmlns:a16="http://schemas.microsoft.com/office/drawing/2014/main" id="{C99C556E-49EA-4350-BBE6-5C75DEF703EC}"/>
              </a:ext>
            </a:extLst>
          </p:cNvPr>
          <p:cNvSpPr>
            <a:spLocks noGrp="1"/>
          </p:cNvSpPr>
          <p:nvPr/>
        </p:nvSpPr>
        <p:spPr>
          <a:xfrm>
            <a:off x="3915461" y="3247426"/>
            <a:ext cx="7029907" cy="509451"/>
          </a:xfrm>
          <a:prstGeom prst="rect">
            <a:avLst/>
          </a:prstGeom>
          <a:noFill/>
        </p:spPr>
        <p:txBody>
          <a:bodyPr wrap="square" lIns="0" tIns="0" rIns="0" bIns="0" anchor="ctr">
            <a:normAutofit/>
          </a:bodyPr>
          <a:lstStyle/>
          <a:p>
            <a:pPr marL="0" indent="0">
              <a:buNone/>
            </a:pPr>
            <a:r>
              <a:rPr sz="1320">
                <a:solidFill>
                  <a:srgbClr val="1A1E2A"/>
                </a:solidFill>
              </a:rPr>
              <a:t>Macro-F1</a:t>
            </a:r>
            <a:endParaRPr sz="1320"/>
          </a:p>
        </p:txBody>
      </p:sp>
      <p:sp>
        <p:nvSpPr>
          <p:cNvPr id="20" name="Shape 18">
            <a:extLst>
              <a:ext uri="{FF2B5EF4-FFF2-40B4-BE49-F238E27FC236}">
                <a16:creationId xmlns:a16="http://schemas.microsoft.com/office/drawing/2014/main" id="{D442693E-7CE8-4A45-9B75-D2EDFB999FAA}"/>
              </a:ext>
            </a:extLst>
          </p:cNvPr>
          <p:cNvSpPr>
            <a:spLocks noGrp="1"/>
          </p:cNvSpPr>
          <p:nvPr/>
        </p:nvSpPr>
        <p:spPr>
          <a:xfrm>
            <a:off x="1051560" y="3775166"/>
            <a:ext cx="2790749" cy="600891"/>
          </a:xfrm>
          <a:prstGeom prst="rect">
            <a:avLst/>
          </a:prstGeom>
          <a:solidFill>
            <a:srgbClr val="F4F6FB"/>
          </a:solidFill>
          <a:ln w="6350">
            <a:solidFill>
              <a:srgbClr val="DDE3EF"/>
            </a:solidFill>
            <a:prstDash val="solid"/>
          </a:ln>
        </p:spPr>
      </p:sp>
      <p:sp>
        <p:nvSpPr>
          <p:cNvPr id="21" name="Text 19">
            <a:extLst>
              <a:ext uri="{FF2B5EF4-FFF2-40B4-BE49-F238E27FC236}">
                <a16:creationId xmlns:a16="http://schemas.microsoft.com/office/drawing/2014/main" id="{8C5E0DCA-3D6D-429D-BF0B-1681EF134A5D}"/>
              </a:ext>
            </a:extLst>
          </p:cNvPr>
          <p:cNvSpPr>
            <a:spLocks noGrp="1"/>
          </p:cNvSpPr>
          <p:nvPr/>
        </p:nvSpPr>
        <p:spPr>
          <a:xfrm>
            <a:off x="1124712" y="3848318"/>
            <a:ext cx="2644445" cy="509451"/>
          </a:xfrm>
          <a:prstGeom prst="rect">
            <a:avLst/>
          </a:prstGeom>
          <a:noFill/>
        </p:spPr>
        <p:txBody>
          <a:bodyPr wrap="square" lIns="0" tIns="0" rIns="0" bIns="0" anchor="ctr">
            <a:normAutofit/>
          </a:bodyPr>
          <a:lstStyle/>
          <a:p>
            <a:pPr marL="0" indent="0">
              <a:buNone/>
            </a:pPr>
            <a:r>
              <a:rPr sz="1320">
                <a:solidFill>
                  <a:srgbClr val="1A1E2A"/>
                </a:solidFill>
              </a:rPr>
              <a:t>Robustluk</a:t>
            </a:r>
            <a:endParaRPr sz="1320"/>
          </a:p>
        </p:txBody>
      </p:sp>
      <p:sp>
        <p:nvSpPr>
          <p:cNvPr id="22" name="Shape 20">
            <a:extLst>
              <a:ext uri="{FF2B5EF4-FFF2-40B4-BE49-F238E27FC236}">
                <a16:creationId xmlns:a16="http://schemas.microsoft.com/office/drawing/2014/main" id="{68380B1F-AD94-4E09-8057-517518E9AC53}"/>
              </a:ext>
            </a:extLst>
          </p:cNvPr>
          <p:cNvSpPr>
            <a:spLocks noGrp="1"/>
          </p:cNvSpPr>
          <p:nvPr/>
        </p:nvSpPr>
        <p:spPr>
          <a:xfrm>
            <a:off x="3842309" y="3775166"/>
            <a:ext cx="7176211" cy="600891"/>
          </a:xfrm>
          <a:prstGeom prst="rect">
            <a:avLst/>
          </a:prstGeom>
          <a:solidFill>
            <a:srgbClr val="F4F6FB"/>
          </a:solidFill>
          <a:ln w="6350">
            <a:solidFill>
              <a:srgbClr val="DDE3EF"/>
            </a:solidFill>
            <a:prstDash val="solid"/>
          </a:ln>
        </p:spPr>
      </p:sp>
      <p:sp>
        <p:nvSpPr>
          <p:cNvPr id="23" name="Text 21">
            <a:extLst>
              <a:ext uri="{FF2B5EF4-FFF2-40B4-BE49-F238E27FC236}">
                <a16:creationId xmlns:a16="http://schemas.microsoft.com/office/drawing/2014/main" id="{2B9E3C3E-F7C5-4442-9845-E97BF5D3F04B}"/>
              </a:ext>
            </a:extLst>
          </p:cNvPr>
          <p:cNvSpPr>
            <a:spLocks noGrp="1"/>
          </p:cNvSpPr>
          <p:nvPr/>
        </p:nvSpPr>
        <p:spPr>
          <a:xfrm>
            <a:off x="3915461" y="3848318"/>
            <a:ext cx="7029907" cy="509451"/>
          </a:xfrm>
          <a:prstGeom prst="rect">
            <a:avLst/>
          </a:prstGeom>
          <a:noFill/>
        </p:spPr>
        <p:txBody>
          <a:bodyPr wrap="square" lIns="0" tIns="0" rIns="0" bIns="0" anchor="ctr">
            <a:normAutofit/>
          </a:bodyPr>
          <a:lstStyle/>
          <a:p>
            <a:pPr marL="0" indent="0">
              <a:buNone/>
            </a:pPr>
            <a:r>
              <a:rPr sz="1320">
                <a:solidFill>
                  <a:srgbClr val="1A1E2A"/>
                </a:solidFill>
              </a:rPr>
              <a:t>3 random seed: 42, 123, 2024</a:t>
            </a:r>
            <a:endParaRPr sz="1320"/>
          </a:p>
        </p:txBody>
      </p:sp>
      <p:sp>
        <p:nvSpPr>
          <p:cNvPr id="24" name="Shape 22">
            <a:extLst>
              <a:ext uri="{FF2B5EF4-FFF2-40B4-BE49-F238E27FC236}">
                <a16:creationId xmlns:a16="http://schemas.microsoft.com/office/drawing/2014/main" id="{42247C50-BB4D-45BF-A84D-36F9A75A7F20}"/>
              </a:ext>
            </a:extLst>
          </p:cNvPr>
          <p:cNvSpPr>
            <a:spLocks noGrp="1"/>
          </p:cNvSpPr>
          <p:nvPr/>
        </p:nvSpPr>
        <p:spPr>
          <a:xfrm>
            <a:off x="1051560" y="4376057"/>
            <a:ext cx="2790749" cy="600891"/>
          </a:xfrm>
          <a:prstGeom prst="rect">
            <a:avLst/>
          </a:prstGeom>
          <a:solidFill>
            <a:srgbClr val="FFFFFF"/>
          </a:solidFill>
          <a:ln w="6350">
            <a:solidFill>
              <a:srgbClr val="DDE3EF"/>
            </a:solidFill>
            <a:prstDash val="solid"/>
          </a:ln>
        </p:spPr>
      </p:sp>
      <p:sp>
        <p:nvSpPr>
          <p:cNvPr id="25" name="Text 23">
            <a:extLst>
              <a:ext uri="{FF2B5EF4-FFF2-40B4-BE49-F238E27FC236}">
                <a16:creationId xmlns:a16="http://schemas.microsoft.com/office/drawing/2014/main" id="{B48CE865-CA4D-4C0F-9240-4EE6AAD1F4BA}"/>
              </a:ext>
            </a:extLst>
          </p:cNvPr>
          <p:cNvSpPr>
            <a:spLocks noGrp="1"/>
          </p:cNvSpPr>
          <p:nvPr/>
        </p:nvSpPr>
        <p:spPr>
          <a:xfrm>
            <a:off x="1124712" y="4449209"/>
            <a:ext cx="2644445" cy="509451"/>
          </a:xfrm>
          <a:prstGeom prst="rect">
            <a:avLst/>
          </a:prstGeom>
          <a:noFill/>
        </p:spPr>
        <p:txBody>
          <a:bodyPr wrap="square" lIns="0" tIns="0" rIns="0" bIns="0" anchor="ctr">
            <a:normAutofit/>
          </a:bodyPr>
          <a:lstStyle/>
          <a:p>
            <a:pPr marL="0" indent="0">
              <a:buNone/>
            </a:pPr>
            <a:r>
              <a:rPr sz="1320">
                <a:solidFill>
                  <a:srgbClr val="1A1E2A"/>
                </a:solidFill>
              </a:rPr>
              <a:t>İç test</a:t>
            </a:r>
            <a:endParaRPr sz="1320"/>
          </a:p>
        </p:txBody>
      </p:sp>
      <p:sp>
        <p:nvSpPr>
          <p:cNvPr id="26" name="Shape 24">
            <a:extLst>
              <a:ext uri="{FF2B5EF4-FFF2-40B4-BE49-F238E27FC236}">
                <a16:creationId xmlns:a16="http://schemas.microsoft.com/office/drawing/2014/main" id="{341C8A55-54E2-4119-A2EF-35F4DD6B72D6}"/>
              </a:ext>
            </a:extLst>
          </p:cNvPr>
          <p:cNvSpPr>
            <a:spLocks noGrp="1"/>
          </p:cNvSpPr>
          <p:nvPr/>
        </p:nvSpPr>
        <p:spPr>
          <a:xfrm>
            <a:off x="3842309" y="4376057"/>
            <a:ext cx="7176211" cy="600891"/>
          </a:xfrm>
          <a:prstGeom prst="rect">
            <a:avLst/>
          </a:prstGeom>
          <a:solidFill>
            <a:srgbClr val="FFFFFF"/>
          </a:solidFill>
          <a:ln w="6350">
            <a:solidFill>
              <a:srgbClr val="DDE3EF"/>
            </a:solidFill>
            <a:prstDash val="solid"/>
          </a:ln>
        </p:spPr>
      </p:sp>
      <p:sp>
        <p:nvSpPr>
          <p:cNvPr id="27" name="Text 25">
            <a:extLst>
              <a:ext uri="{FF2B5EF4-FFF2-40B4-BE49-F238E27FC236}">
                <a16:creationId xmlns:a16="http://schemas.microsoft.com/office/drawing/2014/main" id="{3100927C-CC18-47CD-A958-93072236E873}"/>
              </a:ext>
            </a:extLst>
          </p:cNvPr>
          <p:cNvSpPr>
            <a:spLocks noGrp="1"/>
          </p:cNvSpPr>
          <p:nvPr/>
        </p:nvSpPr>
        <p:spPr>
          <a:xfrm>
            <a:off x="3915461" y="4449209"/>
            <a:ext cx="7029907" cy="509451"/>
          </a:xfrm>
          <a:prstGeom prst="rect">
            <a:avLst/>
          </a:prstGeom>
          <a:noFill/>
        </p:spPr>
        <p:txBody>
          <a:bodyPr wrap="square" lIns="0" tIns="0" rIns="0" bIns="0" anchor="ctr">
            <a:normAutofit/>
          </a:bodyPr>
          <a:lstStyle/>
          <a:p>
            <a:pPr marL="0" indent="0">
              <a:buNone/>
            </a:pPr>
            <a:r>
              <a:rPr sz="1320">
                <a:solidFill>
                  <a:srgbClr val="1A1E2A"/>
                </a:solidFill>
              </a:rPr>
              <a:t>2.386 örnek; ana veri dağılımındaki performans</a:t>
            </a:r>
            <a:endParaRPr sz="1320"/>
          </a:p>
        </p:txBody>
      </p:sp>
      <p:sp>
        <p:nvSpPr>
          <p:cNvPr id="28" name="Shape 26">
            <a:extLst>
              <a:ext uri="{FF2B5EF4-FFF2-40B4-BE49-F238E27FC236}">
                <a16:creationId xmlns:a16="http://schemas.microsoft.com/office/drawing/2014/main" id="{4BFB4B02-3B02-4C14-83F9-75240054D809}"/>
              </a:ext>
            </a:extLst>
          </p:cNvPr>
          <p:cNvSpPr>
            <a:spLocks noGrp="1"/>
          </p:cNvSpPr>
          <p:nvPr/>
        </p:nvSpPr>
        <p:spPr>
          <a:xfrm>
            <a:off x="1051560" y="4976949"/>
            <a:ext cx="2790749" cy="600891"/>
          </a:xfrm>
          <a:prstGeom prst="rect">
            <a:avLst/>
          </a:prstGeom>
          <a:solidFill>
            <a:srgbClr val="F4F6FB"/>
          </a:solidFill>
          <a:ln w="6350">
            <a:solidFill>
              <a:srgbClr val="DDE3EF"/>
            </a:solidFill>
            <a:prstDash val="solid"/>
          </a:ln>
        </p:spPr>
      </p:sp>
      <p:sp>
        <p:nvSpPr>
          <p:cNvPr id="29" name="Text 27">
            <a:extLst>
              <a:ext uri="{FF2B5EF4-FFF2-40B4-BE49-F238E27FC236}">
                <a16:creationId xmlns:a16="http://schemas.microsoft.com/office/drawing/2014/main" id="{6BAB46D2-D491-4275-BBB7-7FF0160160D3}"/>
              </a:ext>
            </a:extLst>
          </p:cNvPr>
          <p:cNvSpPr>
            <a:spLocks noGrp="1"/>
          </p:cNvSpPr>
          <p:nvPr/>
        </p:nvSpPr>
        <p:spPr>
          <a:xfrm>
            <a:off x="1124712" y="5050101"/>
            <a:ext cx="2644445" cy="509451"/>
          </a:xfrm>
          <a:prstGeom prst="rect">
            <a:avLst/>
          </a:prstGeom>
          <a:noFill/>
        </p:spPr>
        <p:txBody>
          <a:bodyPr wrap="square" lIns="0" tIns="0" rIns="0" bIns="0" anchor="ctr">
            <a:normAutofit/>
          </a:bodyPr>
          <a:lstStyle/>
          <a:p>
            <a:pPr marL="0" indent="0">
              <a:buNone/>
            </a:pPr>
            <a:r>
              <a:rPr sz="1320">
                <a:solidFill>
                  <a:srgbClr val="1A1E2A"/>
                </a:solidFill>
              </a:rPr>
              <a:t>Dış test</a:t>
            </a:r>
            <a:endParaRPr sz="1320"/>
          </a:p>
        </p:txBody>
      </p:sp>
      <p:sp>
        <p:nvSpPr>
          <p:cNvPr id="30" name="Shape 28">
            <a:extLst>
              <a:ext uri="{FF2B5EF4-FFF2-40B4-BE49-F238E27FC236}">
                <a16:creationId xmlns:a16="http://schemas.microsoft.com/office/drawing/2014/main" id="{977EFB7B-F5B8-4C13-B68F-D59D75F9044A}"/>
              </a:ext>
            </a:extLst>
          </p:cNvPr>
          <p:cNvSpPr>
            <a:spLocks noGrp="1"/>
          </p:cNvSpPr>
          <p:nvPr/>
        </p:nvSpPr>
        <p:spPr>
          <a:xfrm>
            <a:off x="3842309" y="4976949"/>
            <a:ext cx="7176211" cy="600891"/>
          </a:xfrm>
          <a:prstGeom prst="rect">
            <a:avLst/>
          </a:prstGeom>
          <a:solidFill>
            <a:srgbClr val="F4F6FB"/>
          </a:solidFill>
          <a:ln w="6350">
            <a:solidFill>
              <a:srgbClr val="DDE3EF"/>
            </a:solidFill>
            <a:prstDash val="solid"/>
          </a:ln>
        </p:spPr>
      </p:sp>
      <p:sp>
        <p:nvSpPr>
          <p:cNvPr id="31" name="Text 29">
            <a:extLst>
              <a:ext uri="{FF2B5EF4-FFF2-40B4-BE49-F238E27FC236}">
                <a16:creationId xmlns:a16="http://schemas.microsoft.com/office/drawing/2014/main" id="{7F31381D-6A2B-4642-91E1-76F541F521CE}"/>
              </a:ext>
            </a:extLst>
          </p:cNvPr>
          <p:cNvSpPr>
            <a:spLocks noGrp="1"/>
          </p:cNvSpPr>
          <p:nvPr/>
        </p:nvSpPr>
        <p:spPr>
          <a:xfrm>
            <a:off x="3915461" y="5050101"/>
            <a:ext cx="7029907" cy="509451"/>
          </a:xfrm>
          <a:prstGeom prst="rect">
            <a:avLst/>
          </a:prstGeom>
          <a:noFill/>
        </p:spPr>
        <p:txBody>
          <a:bodyPr wrap="square" lIns="0" tIns="0" rIns="0" bIns="0" anchor="ctr">
            <a:normAutofit/>
          </a:bodyPr>
          <a:lstStyle/>
          <a:p>
            <a:pPr marL="0" indent="0">
              <a:buNone/>
            </a:pPr>
            <a:r>
              <a:rPr sz="1320">
                <a:solidFill>
                  <a:srgbClr val="1A1E2A"/>
                </a:solidFill>
              </a:rPr>
              <a:t>S&amp;P, Reuters, Synthetic; eğitimde kullanılmayan veri</a:t>
            </a:r>
            <a:endParaRPr sz="1320"/>
          </a:p>
        </p:txBody>
      </p:sp>
      <p:sp>
        <p:nvSpPr>
          <p:cNvPr id="32" name="Text 30">
            <a:extLst>
              <a:ext uri="{FF2B5EF4-FFF2-40B4-BE49-F238E27FC236}">
                <a16:creationId xmlns:a16="http://schemas.microsoft.com/office/drawing/2014/main" id="{4DCAAC8F-C54D-48A0-B4CE-31D66A50E7D4}"/>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33" name="Text 31">
            <a:extLst>
              <a:ext uri="{FF2B5EF4-FFF2-40B4-BE49-F238E27FC236}">
                <a16:creationId xmlns:a16="http://schemas.microsoft.com/office/drawing/2014/main" id="{9CE64746-0AC3-464F-B28A-E15B4DDB504A}"/>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38</a:t>
            </a:r>
            <a:endParaRPr sz="850"/>
          </a:p>
        </p:txBody>
      </p:sp>
      <p:sp>
        <p:nvSpPr>
          <p:cNvPr id="34" name="Shape 32">
            <a:extLst>
              <a:ext uri="{FF2B5EF4-FFF2-40B4-BE49-F238E27FC236}">
                <a16:creationId xmlns:a16="http://schemas.microsoft.com/office/drawing/2014/main" id="{BE18F1BA-DB4E-4BC8-9A27-B91C18102AE8}"/>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279175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E2214E6-D8F9-4374-98A2-1F4C9402BD4F}"/>
              </a:ext>
            </a:extLst>
          </p:cNvPr>
          <p:cNvSpPr>
            <a:spLocks noGrp="1"/>
          </p:cNvSpPr>
          <p:nvPr/>
        </p:nvSpPr>
        <p:spPr>
          <a:xfrm>
            <a:off x="502920" y="329184"/>
            <a:ext cx="10881360" cy="502920"/>
          </a:xfrm>
          <a:prstGeom prst="rect">
            <a:avLst/>
          </a:prstGeom>
          <a:noFill/>
        </p:spPr>
        <p:txBody>
          <a:bodyPr wrap="square" lIns="0" tIns="0" rIns="0" bIns="0" anchor="ctr">
            <a:normAutofit/>
          </a:bodyPr>
          <a:lstStyle/>
          <a:p>
            <a:pPr marL="0" indent="0">
              <a:buNone/>
            </a:pPr>
            <a:r>
              <a:rPr sz="3100" b="1">
                <a:solidFill>
                  <a:srgbClr val="172033"/>
                </a:solidFill>
                <a:latin typeface="Aptos Display"/>
                <a:ea typeface="Aptos Display"/>
                <a:cs typeface="Aptos Display"/>
              </a:rPr>
              <a:t>Devam planı 4: Finansal model audit’i</a:t>
            </a:r>
            <a:endParaRPr sz="3100"/>
          </a:p>
        </p:txBody>
      </p:sp>
      <p:sp>
        <p:nvSpPr>
          <p:cNvPr id="3" name="Text 1">
            <a:extLst>
              <a:ext uri="{FF2B5EF4-FFF2-40B4-BE49-F238E27FC236}">
                <a16:creationId xmlns:a16="http://schemas.microsoft.com/office/drawing/2014/main" id="{A3BF8DD1-30CB-493A-AB36-2172A340DAEB}"/>
              </a:ext>
            </a:extLst>
          </p:cNvPr>
          <p:cNvSpPr>
            <a:spLocks noGrp="1"/>
          </p:cNvSpPr>
          <p:nvPr/>
        </p:nvSpPr>
        <p:spPr>
          <a:xfrm>
            <a:off x="530352" y="868680"/>
            <a:ext cx="10789920" cy="292608"/>
          </a:xfrm>
          <a:prstGeom prst="rect">
            <a:avLst/>
          </a:prstGeom>
          <a:noFill/>
        </p:spPr>
        <p:txBody>
          <a:bodyPr wrap="square" lIns="0" tIns="0" rIns="0" bIns="0" anchor="ctr">
            <a:normAutofit/>
          </a:bodyPr>
          <a:lstStyle/>
          <a:p>
            <a:pPr marL="0" indent="0">
              <a:buNone/>
            </a:pPr>
            <a:r>
              <a:rPr sz="1450">
                <a:solidFill>
                  <a:srgbClr val="5E6A7D"/>
                </a:solidFill>
              </a:rPr>
              <a:t>FinBERT / Financial-RoBERTa / FinGPT gibi modellerin eğitim kaynakları sonuç yorumunu etkiler.</a:t>
            </a:r>
            <a:endParaRPr sz="1450"/>
          </a:p>
        </p:txBody>
      </p:sp>
      <p:sp>
        <p:nvSpPr>
          <p:cNvPr id="4" name="Text 2">
            <a:extLst>
              <a:ext uri="{FF2B5EF4-FFF2-40B4-BE49-F238E27FC236}">
                <a16:creationId xmlns:a16="http://schemas.microsoft.com/office/drawing/2014/main" id="{91D80E00-912D-4847-BAAE-89C0A849D0D3}"/>
              </a:ext>
            </a:extLst>
          </p:cNvPr>
          <p:cNvSpPr>
            <a:spLocks noGrp="1"/>
          </p:cNvSpPr>
          <p:nvPr/>
        </p:nvSpPr>
        <p:spPr>
          <a:xfrm>
            <a:off x="777240" y="1325880"/>
            <a:ext cx="10241280" cy="2926080"/>
          </a:xfrm>
          <a:prstGeom prst="rect">
            <a:avLst/>
          </a:prstGeom>
          <a:noFill/>
        </p:spPr>
        <p:txBody>
          <a:bodyPr wrap="square" lIns="635" tIns="635" rIns="635" bIns="635" anchor="ctr">
            <a:normAutofit/>
          </a:bodyPr>
          <a:lstStyle/>
          <a:p>
            <a:r>
              <a:rPr sz="1620">
                <a:solidFill>
                  <a:srgbClr val="1A1E2A"/>
                </a:solidFill>
              </a:rPr>
              <a:t>ProsusAI FinBERT: Reuters TRC2 + Financial PhraseBank bilgisi nedeniyle PhraseBank örtüşmesi dikkate alınmalı.</a:t>
            </a:r>
            <a:endParaRPr sz="1620"/>
          </a:p>
          <a:p>
            <a:r>
              <a:rPr sz="1620">
                <a:solidFill>
                  <a:srgbClr val="1A1E2A"/>
                </a:solidFill>
              </a:rPr>
              <a:t>Financial-RoBERTa: 10-K/10-Q/8-K, earnings call, CSR/ESG ve finans haberleriyle finans alanına uyarlanmış RoBERTa alternatifi sunar.</a:t>
            </a:r>
            <a:endParaRPr sz="1620"/>
          </a:p>
          <a:p>
            <a:r>
              <a:rPr sz="1620">
                <a:solidFill>
                  <a:srgbClr val="1A1E2A"/>
                </a:solidFill>
              </a:rPr>
              <a:t>FinGPT sentiment: PhraseBank ve Twitter Financial News gibi bizim verilerle örtüşebilecek kaynaklar içerir.</a:t>
            </a:r>
            <a:endParaRPr sz="1620"/>
          </a:p>
          <a:p>
            <a:r>
              <a:rPr sz="1620">
                <a:solidFill>
                  <a:srgbClr val="1A1E2A"/>
                </a:solidFill>
              </a:rPr>
              <a:t>Yeni model eklenirse, yalnızca skor değil; modelin hangi verileri daha önce görmüş olabileceği de raporlanacak.</a:t>
            </a:r>
            <a:endParaRPr sz="1620"/>
          </a:p>
        </p:txBody>
      </p:sp>
      <p:sp>
        <p:nvSpPr>
          <p:cNvPr id="5" name="Shape 3">
            <a:extLst>
              <a:ext uri="{FF2B5EF4-FFF2-40B4-BE49-F238E27FC236}">
                <a16:creationId xmlns:a16="http://schemas.microsoft.com/office/drawing/2014/main" id="{989E59AD-56D8-41F3-8339-0E47681BCAC9}"/>
              </a:ext>
            </a:extLst>
          </p:cNvPr>
          <p:cNvSpPr>
            <a:spLocks noGrp="1"/>
          </p:cNvSpPr>
          <p:nvPr/>
        </p:nvSpPr>
        <p:spPr>
          <a:xfrm>
            <a:off x="914400" y="5074920"/>
            <a:ext cx="10058400" cy="658368"/>
          </a:xfrm>
          <a:prstGeom prst="roundRect">
            <a:avLst>
              <a:gd name="adj" fmla="val 11111"/>
            </a:avLst>
          </a:prstGeom>
          <a:solidFill>
            <a:srgbClr val="F0FAF8"/>
          </a:solidFill>
          <a:ln w="15240">
            <a:solidFill>
              <a:srgbClr val="F4A62A"/>
            </a:solidFill>
            <a:prstDash val="solid"/>
          </a:ln>
        </p:spPr>
      </p:sp>
      <p:sp>
        <p:nvSpPr>
          <p:cNvPr id="6" name="Text 4">
            <a:extLst>
              <a:ext uri="{FF2B5EF4-FFF2-40B4-BE49-F238E27FC236}">
                <a16:creationId xmlns:a16="http://schemas.microsoft.com/office/drawing/2014/main" id="{29FBDCC9-9383-42A8-A8D3-8FC08FD0B0F3}"/>
              </a:ext>
            </a:extLst>
          </p:cNvPr>
          <p:cNvSpPr>
            <a:spLocks noGrp="1"/>
          </p:cNvSpPr>
          <p:nvPr/>
        </p:nvSpPr>
        <p:spPr>
          <a:xfrm>
            <a:off x="1078992" y="5221224"/>
            <a:ext cx="9729216" cy="429768"/>
          </a:xfrm>
          <a:prstGeom prst="rect">
            <a:avLst/>
          </a:prstGeom>
          <a:noFill/>
        </p:spPr>
        <p:txBody>
          <a:bodyPr wrap="square" lIns="254" tIns="254" rIns="254" bIns="254" anchor="ctr">
            <a:normAutofit lnSpcReduction="10000"/>
          </a:bodyPr>
          <a:lstStyle/>
          <a:p>
            <a:pPr marL="0" indent="0">
              <a:buNone/>
            </a:pPr>
            <a:r>
              <a:rPr sz="1500" b="1">
                <a:solidFill>
                  <a:srgbClr val="172033"/>
                </a:solidFill>
              </a:rPr>
              <a:t>Bu adım, model karşılaştırmalarında data contamination / benchmark overlap riskini daha açık yönetmemizi sağlar.</a:t>
            </a:r>
            <a:endParaRPr sz="1500"/>
          </a:p>
        </p:txBody>
      </p:sp>
      <p:sp>
        <p:nvSpPr>
          <p:cNvPr id="7" name="Text 5">
            <a:extLst>
              <a:ext uri="{FF2B5EF4-FFF2-40B4-BE49-F238E27FC236}">
                <a16:creationId xmlns:a16="http://schemas.microsoft.com/office/drawing/2014/main" id="{365EF604-ECBE-4421-B565-4D055260092A}"/>
              </a:ext>
            </a:extLst>
          </p:cNvPr>
          <p:cNvSpPr>
            <a:spLocks noGrp="1"/>
          </p:cNvSpPr>
          <p:nvPr/>
        </p:nvSpPr>
        <p:spPr>
          <a:xfrm>
            <a:off x="502920" y="6473952"/>
            <a:ext cx="3931920" cy="182880"/>
          </a:xfrm>
          <a:prstGeom prst="rect">
            <a:avLst/>
          </a:prstGeom>
          <a:noFill/>
        </p:spPr>
        <p:txBody>
          <a:bodyPr wrap="square" lIns="0" tIns="0" rIns="0" bIns="0" anchor="ctr"/>
          <a:lstStyle/>
          <a:p>
            <a:pPr marL="0" indent="0">
              <a:buNone/>
            </a:pPr>
            <a:r>
              <a:rPr sz="850">
                <a:solidFill>
                  <a:srgbClr val="5E6A7D"/>
                </a:solidFill>
              </a:rPr>
              <a:t>Tez savunması</a:t>
            </a:r>
            <a:endParaRPr sz="850"/>
          </a:p>
        </p:txBody>
      </p:sp>
      <p:sp>
        <p:nvSpPr>
          <p:cNvPr id="8" name="Text 6">
            <a:extLst>
              <a:ext uri="{FF2B5EF4-FFF2-40B4-BE49-F238E27FC236}">
                <a16:creationId xmlns:a16="http://schemas.microsoft.com/office/drawing/2014/main" id="{676791E3-1E61-408A-89E8-933994A90043}"/>
              </a:ext>
            </a:extLst>
          </p:cNvPr>
          <p:cNvSpPr>
            <a:spLocks noGrp="1"/>
          </p:cNvSpPr>
          <p:nvPr/>
        </p:nvSpPr>
        <p:spPr>
          <a:xfrm>
            <a:off x="11247120" y="6455664"/>
            <a:ext cx="411480" cy="182880"/>
          </a:xfrm>
          <a:prstGeom prst="rect">
            <a:avLst/>
          </a:prstGeom>
          <a:noFill/>
        </p:spPr>
        <p:txBody>
          <a:bodyPr wrap="square" lIns="0" tIns="0" rIns="0" bIns="0" anchor="ctr"/>
          <a:lstStyle/>
          <a:p>
            <a:pPr marL="0" indent="0" algn="r">
              <a:buNone/>
            </a:pPr>
            <a:r>
              <a:rPr sz="850">
                <a:solidFill>
                  <a:srgbClr val="5E6A7D"/>
                </a:solidFill>
              </a:rPr>
              <a:t> 39</a:t>
            </a:r>
            <a:endParaRPr sz="850"/>
          </a:p>
        </p:txBody>
      </p:sp>
      <p:sp>
        <p:nvSpPr>
          <p:cNvPr id="9" name="Shape 7">
            <a:extLst>
              <a:ext uri="{FF2B5EF4-FFF2-40B4-BE49-F238E27FC236}">
                <a16:creationId xmlns:a16="http://schemas.microsoft.com/office/drawing/2014/main" id="{5F550A62-3843-4F64-9A6F-25B35752DF02}"/>
              </a:ext>
            </a:extLst>
          </p:cNvPr>
          <p:cNvSpPr>
            <a:spLocks noGrp="1"/>
          </p:cNvSpPr>
          <p:nvPr/>
        </p:nvSpPr>
        <p:spPr>
          <a:xfrm>
            <a:off x="502920" y="6327648"/>
            <a:ext cx="11201400" cy="0"/>
          </a:xfrm>
          <a:prstGeom prst="line">
            <a:avLst/>
          </a:prstGeom>
          <a:noFill/>
          <a:ln w="12700">
            <a:solidFill>
              <a:srgbClr val="E8ECF5"/>
            </a:solidFill>
            <a:prstDash val="solid"/>
          </a:ln>
        </p:spPr>
      </p:sp>
    </p:spTree>
    <p:extLst>
      <p:ext uri="{BB962C8B-B14F-4D97-AF65-F5344CB8AC3E}">
        <p14:creationId xmlns:p14="http://schemas.microsoft.com/office/powerpoint/2010/main" val="1023806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7982</Words>
  <Application>Microsoft Office PowerPoint</Application>
  <DocSecurity>0</DocSecurity>
  <PresentationFormat>Widescreen</PresentationFormat>
  <Paragraphs>975</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serkan kaymak</cp:lastModifiedBy>
  <cp:revision>13</cp:revision>
  <dcterms:created xsi:type="dcterms:W3CDTF">2026-08-26T20:20:19Z</dcterms:created>
  <dcterms:modified xsi:type="dcterms:W3CDTF">2026-08-27T09:12:10Z</dcterms:modified>
</cp:coreProperties>
</file>