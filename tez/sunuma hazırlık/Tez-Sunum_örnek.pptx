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6" r:id="rId2"/>
    <p:sldId id="264" r:id="rId3"/>
    <p:sldId id="257" r:id="rId4"/>
    <p:sldId id="267" r:id="rId5"/>
    <p:sldId id="268" r:id="rId6"/>
    <p:sldId id="269" r:id="rId7"/>
    <p:sldId id="270" r:id="rId8"/>
    <p:sldId id="272" r:id="rId9"/>
    <p:sldId id="271" r:id="rId10"/>
    <p:sldId id="273" r:id="rId11"/>
    <p:sldId id="274" r:id="rId12"/>
    <p:sldId id="280" r:id="rId13"/>
    <p:sldId id="275" r:id="rId14"/>
    <p:sldId id="259" r:id="rId15"/>
    <p:sldId id="276" r:id="rId16"/>
    <p:sldId id="277" r:id="rId17"/>
    <p:sldId id="278" r:id="rId18"/>
    <p:sldId id="279" r:id="rId19"/>
    <p:sldId id="281" r:id="rId20"/>
    <p:sldId id="285" r:id="rId21"/>
    <p:sldId id="286" r:id="rId22"/>
    <p:sldId id="287" r:id="rId23"/>
    <p:sldId id="288" r:id="rId24"/>
    <p:sldId id="289" r:id="rId25"/>
    <p:sldId id="282" r:id="rId26"/>
    <p:sldId id="283" r:id="rId27"/>
    <p:sldId id="284" r:id="rId28"/>
    <p:sldId id="290" r:id="rId29"/>
    <p:sldId id="291" r:id="rId30"/>
    <p:sldId id="293" r:id="rId31"/>
    <p:sldId id="294" r:id="rId32"/>
    <p:sldId id="292"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261" r:id="rId5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Orta Stil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Orta Sti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Orta Stil 2 - Vurgu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Orta Stil 2 - Vurgu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51"/>
    <p:restoredTop sz="94659"/>
  </p:normalViewPr>
  <p:slideViewPr>
    <p:cSldViewPr snapToGrid="0" snapToObjects="1">
      <p:cViewPr varScale="1">
        <p:scale>
          <a:sx n="84" d="100"/>
          <a:sy n="84" d="100"/>
        </p:scale>
        <p:origin x="336" y="82"/>
      </p:cViewPr>
      <p:guideLst/>
    </p:cSldViewPr>
  </p:slideViewPr>
  <p:notesTextViewPr>
    <p:cViewPr>
      <p:scale>
        <a:sx n="1" d="1"/>
        <a:sy n="1" d="1"/>
      </p:scale>
      <p:origin x="0" y="-979"/>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FCCC0A-1FFF-4D67-AECA-A987696C1B5B}" type="doc">
      <dgm:prSet loTypeId="urn:microsoft.com/office/officeart/2005/8/layout/list1" loCatId="list" qsTypeId="urn:microsoft.com/office/officeart/2005/8/quickstyle/3d2" qsCatId="3D" csTypeId="urn:microsoft.com/office/officeart/2005/8/colors/colorful3" csCatId="colorful" phldr="1"/>
      <dgm:spPr/>
      <dgm:t>
        <a:bodyPr/>
        <a:lstStyle/>
        <a:p>
          <a:endParaRPr lang="tr-TR"/>
        </a:p>
      </dgm:t>
    </dgm:pt>
    <dgm:pt modelId="{9945BB62-A2F2-4C64-BBAB-62EDB6D68B8B}">
      <dgm:prSet phldrT="[Metin]" custT="1"/>
      <dgm:spPr/>
      <dgm:t>
        <a:bodyPr/>
        <a:lstStyle/>
        <a:p>
          <a:pPr algn="l"/>
          <a:r>
            <a:rPr lang="tr-TR" sz="1600" b="1" dirty="0" smtClean="0">
              <a:solidFill>
                <a:schemeClr val="tx1"/>
              </a:solidFill>
              <a:latin typeface="Times New Roman" panose="02020603050405020304" pitchFamily="18" charset="0"/>
              <a:cs typeface="Times New Roman" panose="02020603050405020304" pitchFamily="18" charset="0"/>
            </a:rPr>
            <a:t>Giriş ve Motivasyon</a:t>
          </a:r>
          <a:endParaRPr lang="tr-TR" sz="1600" b="1" dirty="0">
            <a:solidFill>
              <a:schemeClr val="tx1"/>
            </a:solidFill>
            <a:latin typeface="Times New Roman" panose="02020603050405020304" pitchFamily="18" charset="0"/>
            <a:cs typeface="Times New Roman" panose="02020603050405020304" pitchFamily="18" charset="0"/>
          </a:endParaRPr>
        </a:p>
      </dgm:t>
    </dgm:pt>
    <dgm:pt modelId="{F5EC10B0-0BA5-4E82-840F-C0E1BBE0886C}" type="parTrans" cxnId="{87AEE089-BB10-49B5-8282-1F724682C2D6}">
      <dgm:prSet/>
      <dgm:spPr/>
      <dgm:t>
        <a:bodyPr/>
        <a:lstStyle/>
        <a:p>
          <a:pPr algn="l"/>
          <a:endParaRPr lang="tr-TR" sz="1400"/>
        </a:p>
      </dgm:t>
    </dgm:pt>
    <dgm:pt modelId="{226E0897-DE94-48C9-8B51-3B7566B8C145}" type="sibTrans" cxnId="{87AEE089-BB10-49B5-8282-1F724682C2D6}">
      <dgm:prSet/>
      <dgm:spPr/>
      <dgm:t>
        <a:bodyPr/>
        <a:lstStyle/>
        <a:p>
          <a:pPr algn="l"/>
          <a:endParaRPr lang="tr-TR" sz="1400"/>
        </a:p>
      </dgm:t>
    </dgm:pt>
    <dgm:pt modelId="{A5FE8BF8-DCED-4FB9-962F-4C633A2781EA}">
      <dgm:prSet phldrT="[Metin]" custT="1"/>
      <dgm:spPr/>
      <dgm:t>
        <a:bodyPr/>
        <a:lstStyle/>
        <a:p>
          <a:pPr algn="l"/>
          <a:r>
            <a:rPr lang="tr-TR" sz="1600" b="1" dirty="0" smtClean="0">
              <a:solidFill>
                <a:schemeClr val="tx1"/>
              </a:solidFill>
              <a:latin typeface="Times New Roman" panose="02020603050405020304" pitchFamily="18" charset="0"/>
              <a:cs typeface="Times New Roman" panose="02020603050405020304" pitchFamily="18" charset="0"/>
            </a:rPr>
            <a:t>Literatür Özeti</a:t>
          </a:r>
          <a:endParaRPr lang="tr-TR" sz="1600" b="1" dirty="0">
            <a:solidFill>
              <a:schemeClr val="tx1"/>
            </a:solidFill>
            <a:latin typeface="Times New Roman" panose="02020603050405020304" pitchFamily="18" charset="0"/>
            <a:cs typeface="Times New Roman" panose="02020603050405020304" pitchFamily="18" charset="0"/>
          </a:endParaRPr>
        </a:p>
      </dgm:t>
    </dgm:pt>
    <dgm:pt modelId="{5099BFD2-452C-438E-A1E7-96E3648AC435}" type="parTrans" cxnId="{B9984FBD-8336-40A1-AE4C-02C23DA95FA8}">
      <dgm:prSet/>
      <dgm:spPr/>
      <dgm:t>
        <a:bodyPr/>
        <a:lstStyle/>
        <a:p>
          <a:pPr algn="l"/>
          <a:endParaRPr lang="tr-TR" sz="1400"/>
        </a:p>
      </dgm:t>
    </dgm:pt>
    <dgm:pt modelId="{B5FEA8D2-0AA1-426F-AAFE-61DD6ECA6AF8}" type="sibTrans" cxnId="{B9984FBD-8336-40A1-AE4C-02C23DA95FA8}">
      <dgm:prSet/>
      <dgm:spPr/>
      <dgm:t>
        <a:bodyPr/>
        <a:lstStyle/>
        <a:p>
          <a:pPr algn="l"/>
          <a:endParaRPr lang="tr-TR" sz="1400"/>
        </a:p>
      </dgm:t>
    </dgm:pt>
    <dgm:pt modelId="{720FF5BB-0C4D-4007-943F-190EA3298EAC}">
      <dgm:prSet phldrT="[Metin]" custT="1"/>
      <dgm:spPr/>
      <dgm:t>
        <a:bodyPr/>
        <a:lstStyle/>
        <a:p>
          <a:pPr algn="l"/>
          <a:r>
            <a:rPr lang="tr-TR" sz="1600" b="1" dirty="0" smtClean="0">
              <a:solidFill>
                <a:schemeClr val="tx1"/>
              </a:solidFill>
              <a:latin typeface="Times New Roman" panose="02020603050405020304" pitchFamily="18" charset="0"/>
              <a:cs typeface="Times New Roman" panose="02020603050405020304" pitchFamily="18" charset="0"/>
            </a:rPr>
            <a:t>Materyal ve </a:t>
          </a:r>
          <a:r>
            <a:rPr lang="tr-TR" sz="1600" b="1" dirty="0" err="1" smtClean="0">
              <a:solidFill>
                <a:schemeClr val="tx1"/>
              </a:solidFill>
              <a:latin typeface="Times New Roman" panose="02020603050405020304" pitchFamily="18" charset="0"/>
              <a:cs typeface="Times New Roman" panose="02020603050405020304" pitchFamily="18" charset="0"/>
            </a:rPr>
            <a:t>Method</a:t>
          </a:r>
          <a:endParaRPr lang="tr-TR" sz="1600" b="1" dirty="0">
            <a:solidFill>
              <a:schemeClr val="tx1"/>
            </a:solidFill>
            <a:latin typeface="Times New Roman" panose="02020603050405020304" pitchFamily="18" charset="0"/>
            <a:cs typeface="Times New Roman" panose="02020603050405020304" pitchFamily="18" charset="0"/>
          </a:endParaRPr>
        </a:p>
      </dgm:t>
    </dgm:pt>
    <dgm:pt modelId="{DB94D631-324D-4C0D-85D4-78655D47813E}" type="parTrans" cxnId="{9BCEA214-AAD3-4403-8FD8-F31CC432E54D}">
      <dgm:prSet/>
      <dgm:spPr/>
      <dgm:t>
        <a:bodyPr/>
        <a:lstStyle/>
        <a:p>
          <a:pPr algn="l"/>
          <a:endParaRPr lang="tr-TR" sz="1400"/>
        </a:p>
      </dgm:t>
    </dgm:pt>
    <dgm:pt modelId="{C634584F-313D-4F90-871A-B129C7F38CDB}" type="sibTrans" cxnId="{9BCEA214-AAD3-4403-8FD8-F31CC432E54D}">
      <dgm:prSet/>
      <dgm:spPr/>
      <dgm:t>
        <a:bodyPr/>
        <a:lstStyle/>
        <a:p>
          <a:pPr algn="l"/>
          <a:endParaRPr lang="tr-TR" sz="1400"/>
        </a:p>
      </dgm:t>
    </dgm:pt>
    <dgm:pt modelId="{AF3B3686-D017-46D1-8F47-77FB28F0D931}">
      <dgm:prSet phldrT="[Metin]" custT="1"/>
      <dgm:spPr/>
      <dgm:t>
        <a:bodyPr/>
        <a:lstStyle/>
        <a:p>
          <a:pPr algn="l"/>
          <a:r>
            <a:rPr lang="tr-TR" sz="1600" b="1" dirty="0" smtClean="0">
              <a:solidFill>
                <a:schemeClr val="tx1"/>
              </a:solidFill>
              <a:latin typeface="Times New Roman" panose="02020603050405020304" pitchFamily="18" charset="0"/>
              <a:cs typeface="Times New Roman" panose="02020603050405020304" pitchFamily="18" charset="0"/>
            </a:rPr>
            <a:t>Deneyler ve Bulgular</a:t>
          </a:r>
          <a:endParaRPr lang="tr-TR" sz="1600" b="1" dirty="0">
            <a:solidFill>
              <a:schemeClr val="tx1"/>
            </a:solidFill>
            <a:latin typeface="Times New Roman" panose="02020603050405020304" pitchFamily="18" charset="0"/>
            <a:cs typeface="Times New Roman" panose="02020603050405020304" pitchFamily="18" charset="0"/>
          </a:endParaRPr>
        </a:p>
      </dgm:t>
    </dgm:pt>
    <dgm:pt modelId="{E5404859-ADAC-4F1B-9A85-731AB1819FF4}" type="parTrans" cxnId="{329F5633-43D8-4475-9A35-8EB095A84384}">
      <dgm:prSet/>
      <dgm:spPr/>
      <dgm:t>
        <a:bodyPr/>
        <a:lstStyle/>
        <a:p>
          <a:pPr algn="l"/>
          <a:endParaRPr lang="tr-TR" sz="1400"/>
        </a:p>
      </dgm:t>
    </dgm:pt>
    <dgm:pt modelId="{F2BDB73C-9655-4359-9882-6C36EDAB91D6}" type="sibTrans" cxnId="{329F5633-43D8-4475-9A35-8EB095A84384}">
      <dgm:prSet/>
      <dgm:spPr/>
      <dgm:t>
        <a:bodyPr/>
        <a:lstStyle/>
        <a:p>
          <a:pPr algn="l"/>
          <a:endParaRPr lang="tr-TR" sz="1400"/>
        </a:p>
      </dgm:t>
    </dgm:pt>
    <dgm:pt modelId="{BF1780B6-3F5C-4B80-95CE-858205A3166F}">
      <dgm:prSet phldrT="[Metin]" custT="1"/>
      <dgm:spPr/>
      <dgm:t>
        <a:bodyPr/>
        <a:lstStyle/>
        <a:p>
          <a:pPr algn="l"/>
          <a:r>
            <a:rPr lang="tr-TR" sz="1600" b="1" dirty="0" smtClean="0">
              <a:solidFill>
                <a:schemeClr val="tx1"/>
              </a:solidFill>
              <a:latin typeface="Times New Roman" panose="02020603050405020304" pitchFamily="18" charset="0"/>
              <a:cs typeface="Times New Roman" panose="02020603050405020304" pitchFamily="18" charset="0"/>
            </a:rPr>
            <a:t>Sonuç ve Gelecek Çalışmalar</a:t>
          </a:r>
          <a:endParaRPr lang="tr-TR" sz="1600" b="1" dirty="0">
            <a:solidFill>
              <a:schemeClr val="tx1"/>
            </a:solidFill>
            <a:latin typeface="Times New Roman" panose="02020603050405020304" pitchFamily="18" charset="0"/>
            <a:cs typeface="Times New Roman" panose="02020603050405020304" pitchFamily="18" charset="0"/>
          </a:endParaRPr>
        </a:p>
      </dgm:t>
    </dgm:pt>
    <dgm:pt modelId="{F7C5FF11-B14E-4A0E-8A95-331809BAD459}" type="parTrans" cxnId="{0F5F0B78-6A28-403E-BFAC-CE3F6E74E85D}">
      <dgm:prSet/>
      <dgm:spPr/>
      <dgm:t>
        <a:bodyPr/>
        <a:lstStyle/>
        <a:p>
          <a:pPr algn="l"/>
          <a:endParaRPr lang="tr-TR" sz="1400"/>
        </a:p>
      </dgm:t>
    </dgm:pt>
    <dgm:pt modelId="{ABC0692B-738F-43BC-BFDE-E71B0942A4EB}" type="sibTrans" cxnId="{0F5F0B78-6A28-403E-BFAC-CE3F6E74E85D}">
      <dgm:prSet/>
      <dgm:spPr/>
      <dgm:t>
        <a:bodyPr/>
        <a:lstStyle/>
        <a:p>
          <a:pPr algn="l"/>
          <a:endParaRPr lang="tr-TR" sz="1400"/>
        </a:p>
      </dgm:t>
    </dgm:pt>
    <dgm:pt modelId="{C2AE7BF4-9B4F-4B4B-806F-8B8D111A6BE3}" type="pres">
      <dgm:prSet presAssocID="{0CFCCC0A-1FFF-4D67-AECA-A987696C1B5B}" presName="linear" presStyleCnt="0">
        <dgm:presLayoutVars>
          <dgm:dir/>
          <dgm:animLvl val="lvl"/>
          <dgm:resizeHandles val="exact"/>
        </dgm:presLayoutVars>
      </dgm:prSet>
      <dgm:spPr/>
      <dgm:t>
        <a:bodyPr/>
        <a:lstStyle/>
        <a:p>
          <a:endParaRPr lang="tr-TR"/>
        </a:p>
      </dgm:t>
    </dgm:pt>
    <dgm:pt modelId="{18B2D15E-55D3-42C1-AEA3-C2D2766FF1E1}" type="pres">
      <dgm:prSet presAssocID="{9945BB62-A2F2-4C64-BBAB-62EDB6D68B8B}" presName="parentLin" presStyleCnt="0"/>
      <dgm:spPr/>
    </dgm:pt>
    <dgm:pt modelId="{49052C64-BCA2-48FA-8627-1D0F85B4ACAC}" type="pres">
      <dgm:prSet presAssocID="{9945BB62-A2F2-4C64-BBAB-62EDB6D68B8B}" presName="parentLeftMargin" presStyleLbl="node1" presStyleIdx="0" presStyleCnt="5"/>
      <dgm:spPr/>
      <dgm:t>
        <a:bodyPr/>
        <a:lstStyle/>
        <a:p>
          <a:endParaRPr lang="tr-TR"/>
        </a:p>
      </dgm:t>
    </dgm:pt>
    <dgm:pt modelId="{AA6A1B3E-0853-47C1-8A9F-F45001026AD4}" type="pres">
      <dgm:prSet presAssocID="{9945BB62-A2F2-4C64-BBAB-62EDB6D68B8B}" presName="parentText" presStyleLbl="node1" presStyleIdx="0" presStyleCnt="5">
        <dgm:presLayoutVars>
          <dgm:chMax val="0"/>
          <dgm:bulletEnabled val="1"/>
        </dgm:presLayoutVars>
      </dgm:prSet>
      <dgm:spPr/>
      <dgm:t>
        <a:bodyPr/>
        <a:lstStyle/>
        <a:p>
          <a:endParaRPr lang="tr-TR"/>
        </a:p>
      </dgm:t>
    </dgm:pt>
    <dgm:pt modelId="{B0CBB6C1-E3CB-4306-87FA-B65F40048EAF}" type="pres">
      <dgm:prSet presAssocID="{9945BB62-A2F2-4C64-BBAB-62EDB6D68B8B}" presName="negativeSpace" presStyleCnt="0"/>
      <dgm:spPr/>
    </dgm:pt>
    <dgm:pt modelId="{967DE780-AA5C-4B6E-9DE0-BB6DF40AD9D6}" type="pres">
      <dgm:prSet presAssocID="{9945BB62-A2F2-4C64-BBAB-62EDB6D68B8B}" presName="childText" presStyleLbl="conFgAcc1" presStyleIdx="0" presStyleCnt="5">
        <dgm:presLayoutVars>
          <dgm:bulletEnabled val="1"/>
        </dgm:presLayoutVars>
      </dgm:prSet>
      <dgm:spPr/>
    </dgm:pt>
    <dgm:pt modelId="{08E6602D-A696-4636-A99C-DB0F0F4A484C}" type="pres">
      <dgm:prSet presAssocID="{226E0897-DE94-48C9-8B51-3B7566B8C145}" presName="spaceBetweenRectangles" presStyleCnt="0"/>
      <dgm:spPr/>
    </dgm:pt>
    <dgm:pt modelId="{018C1F6A-CFE5-4958-8178-8AEFEC0B7E7B}" type="pres">
      <dgm:prSet presAssocID="{A5FE8BF8-DCED-4FB9-962F-4C633A2781EA}" presName="parentLin" presStyleCnt="0"/>
      <dgm:spPr/>
    </dgm:pt>
    <dgm:pt modelId="{A183E7F4-4B87-4409-A424-7EE162A00530}" type="pres">
      <dgm:prSet presAssocID="{A5FE8BF8-DCED-4FB9-962F-4C633A2781EA}" presName="parentLeftMargin" presStyleLbl="node1" presStyleIdx="0" presStyleCnt="5"/>
      <dgm:spPr/>
      <dgm:t>
        <a:bodyPr/>
        <a:lstStyle/>
        <a:p>
          <a:endParaRPr lang="tr-TR"/>
        </a:p>
      </dgm:t>
    </dgm:pt>
    <dgm:pt modelId="{66688647-E4A9-4131-B06B-939564764CC2}" type="pres">
      <dgm:prSet presAssocID="{A5FE8BF8-DCED-4FB9-962F-4C633A2781EA}" presName="parentText" presStyleLbl="node1" presStyleIdx="1" presStyleCnt="5">
        <dgm:presLayoutVars>
          <dgm:chMax val="0"/>
          <dgm:bulletEnabled val="1"/>
        </dgm:presLayoutVars>
      </dgm:prSet>
      <dgm:spPr/>
      <dgm:t>
        <a:bodyPr/>
        <a:lstStyle/>
        <a:p>
          <a:endParaRPr lang="tr-TR"/>
        </a:p>
      </dgm:t>
    </dgm:pt>
    <dgm:pt modelId="{87028BAF-C1E9-450C-B970-D88E8592C1AD}" type="pres">
      <dgm:prSet presAssocID="{A5FE8BF8-DCED-4FB9-962F-4C633A2781EA}" presName="negativeSpace" presStyleCnt="0"/>
      <dgm:spPr/>
    </dgm:pt>
    <dgm:pt modelId="{3C87EFAC-633E-4700-84F0-BE7ED7F872F6}" type="pres">
      <dgm:prSet presAssocID="{A5FE8BF8-DCED-4FB9-962F-4C633A2781EA}" presName="childText" presStyleLbl="conFgAcc1" presStyleIdx="1" presStyleCnt="5">
        <dgm:presLayoutVars>
          <dgm:bulletEnabled val="1"/>
        </dgm:presLayoutVars>
      </dgm:prSet>
      <dgm:spPr/>
    </dgm:pt>
    <dgm:pt modelId="{D2506376-7D1D-4713-886A-EA511FD13F26}" type="pres">
      <dgm:prSet presAssocID="{B5FEA8D2-0AA1-426F-AAFE-61DD6ECA6AF8}" presName="spaceBetweenRectangles" presStyleCnt="0"/>
      <dgm:spPr/>
    </dgm:pt>
    <dgm:pt modelId="{A4DB07F5-1929-46D5-86A6-024093DA23C6}" type="pres">
      <dgm:prSet presAssocID="{720FF5BB-0C4D-4007-943F-190EA3298EAC}" presName="parentLin" presStyleCnt="0"/>
      <dgm:spPr/>
    </dgm:pt>
    <dgm:pt modelId="{08536399-B095-43D0-BBA3-C48A60CF1E1F}" type="pres">
      <dgm:prSet presAssocID="{720FF5BB-0C4D-4007-943F-190EA3298EAC}" presName="parentLeftMargin" presStyleLbl="node1" presStyleIdx="1" presStyleCnt="5"/>
      <dgm:spPr/>
      <dgm:t>
        <a:bodyPr/>
        <a:lstStyle/>
        <a:p>
          <a:endParaRPr lang="tr-TR"/>
        </a:p>
      </dgm:t>
    </dgm:pt>
    <dgm:pt modelId="{9DF2B1EB-204E-4F44-9057-7CFD161712EF}" type="pres">
      <dgm:prSet presAssocID="{720FF5BB-0C4D-4007-943F-190EA3298EAC}" presName="parentText" presStyleLbl="node1" presStyleIdx="2" presStyleCnt="5">
        <dgm:presLayoutVars>
          <dgm:chMax val="0"/>
          <dgm:bulletEnabled val="1"/>
        </dgm:presLayoutVars>
      </dgm:prSet>
      <dgm:spPr/>
      <dgm:t>
        <a:bodyPr/>
        <a:lstStyle/>
        <a:p>
          <a:endParaRPr lang="tr-TR"/>
        </a:p>
      </dgm:t>
    </dgm:pt>
    <dgm:pt modelId="{4B6D2D3A-5D9C-41A8-A623-4D720330377E}" type="pres">
      <dgm:prSet presAssocID="{720FF5BB-0C4D-4007-943F-190EA3298EAC}" presName="negativeSpace" presStyleCnt="0"/>
      <dgm:spPr/>
    </dgm:pt>
    <dgm:pt modelId="{81657EAB-E9D3-419B-AC44-BF88F7150198}" type="pres">
      <dgm:prSet presAssocID="{720FF5BB-0C4D-4007-943F-190EA3298EAC}" presName="childText" presStyleLbl="conFgAcc1" presStyleIdx="2" presStyleCnt="5">
        <dgm:presLayoutVars>
          <dgm:bulletEnabled val="1"/>
        </dgm:presLayoutVars>
      </dgm:prSet>
      <dgm:spPr/>
    </dgm:pt>
    <dgm:pt modelId="{13869645-2939-4134-8A06-ED38EF8DAE3C}" type="pres">
      <dgm:prSet presAssocID="{C634584F-313D-4F90-871A-B129C7F38CDB}" presName="spaceBetweenRectangles" presStyleCnt="0"/>
      <dgm:spPr/>
    </dgm:pt>
    <dgm:pt modelId="{A31474B0-F32D-432C-8FC9-4EAD06584933}" type="pres">
      <dgm:prSet presAssocID="{AF3B3686-D017-46D1-8F47-77FB28F0D931}" presName="parentLin" presStyleCnt="0"/>
      <dgm:spPr/>
    </dgm:pt>
    <dgm:pt modelId="{EC698F8F-8438-4952-AC32-030D8C279CCD}" type="pres">
      <dgm:prSet presAssocID="{AF3B3686-D017-46D1-8F47-77FB28F0D931}" presName="parentLeftMargin" presStyleLbl="node1" presStyleIdx="2" presStyleCnt="5"/>
      <dgm:spPr/>
      <dgm:t>
        <a:bodyPr/>
        <a:lstStyle/>
        <a:p>
          <a:endParaRPr lang="tr-TR"/>
        </a:p>
      </dgm:t>
    </dgm:pt>
    <dgm:pt modelId="{93F715B3-AAF3-434A-932C-B374CD5AD284}" type="pres">
      <dgm:prSet presAssocID="{AF3B3686-D017-46D1-8F47-77FB28F0D931}" presName="parentText" presStyleLbl="node1" presStyleIdx="3" presStyleCnt="5">
        <dgm:presLayoutVars>
          <dgm:chMax val="0"/>
          <dgm:bulletEnabled val="1"/>
        </dgm:presLayoutVars>
      </dgm:prSet>
      <dgm:spPr/>
      <dgm:t>
        <a:bodyPr/>
        <a:lstStyle/>
        <a:p>
          <a:endParaRPr lang="tr-TR"/>
        </a:p>
      </dgm:t>
    </dgm:pt>
    <dgm:pt modelId="{0E943918-03F1-40CC-8200-F81F79517DC5}" type="pres">
      <dgm:prSet presAssocID="{AF3B3686-D017-46D1-8F47-77FB28F0D931}" presName="negativeSpace" presStyleCnt="0"/>
      <dgm:spPr/>
    </dgm:pt>
    <dgm:pt modelId="{93BEE057-39D4-4898-8E4F-B2054F4EA1F4}" type="pres">
      <dgm:prSet presAssocID="{AF3B3686-D017-46D1-8F47-77FB28F0D931}" presName="childText" presStyleLbl="conFgAcc1" presStyleIdx="3" presStyleCnt="5">
        <dgm:presLayoutVars>
          <dgm:bulletEnabled val="1"/>
        </dgm:presLayoutVars>
      </dgm:prSet>
      <dgm:spPr/>
    </dgm:pt>
    <dgm:pt modelId="{30D8BBC7-B9EA-4B3C-A223-FC886D1BC323}" type="pres">
      <dgm:prSet presAssocID="{F2BDB73C-9655-4359-9882-6C36EDAB91D6}" presName="spaceBetweenRectangles" presStyleCnt="0"/>
      <dgm:spPr/>
    </dgm:pt>
    <dgm:pt modelId="{CD381F0B-0854-4E6E-A835-35DE1C238E3C}" type="pres">
      <dgm:prSet presAssocID="{BF1780B6-3F5C-4B80-95CE-858205A3166F}" presName="parentLin" presStyleCnt="0"/>
      <dgm:spPr/>
    </dgm:pt>
    <dgm:pt modelId="{7148B86F-6668-4878-B4B5-3E85220C2914}" type="pres">
      <dgm:prSet presAssocID="{BF1780B6-3F5C-4B80-95CE-858205A3166F}" presName="parentLeftMargin" presStyleLbl="node1" presStyleIdx="3" presStyleCnt="5"/>
      <dgm:spPr/>
      <dgm:t>
        <a:bodyPr/>
        <a:lstStyle/>
        <a:p>
          <a:endParaRPr lang="tr-TR"/>
        </a:p>
      </dgm:t>
    </dgm:pt>
    <dgm:pt modelId="{33AA38EE-7FC9-4F40-8AB7-880F1147CD8A}" type="pres">
      <dgm:prSet presAssocID="{BF1780B6-3F5C-4B80-95CE-858205A3166F}" presName="parentText" presStyleLbl="node1" presStyleIdx="4" presStyleCnt="5">
        <dgm:presLayoutVars>
          <dgm:chMax val="0"/>
          <dgm:bulletEnabled val="1"/>
        </dgm:presLayoutVars>
      </dgm:prSet>
      <dgm:spPr/>
      <dgm:t>
        <a:bodyPr/>
        <a:lstStyle/>
        <a:p>
          <a:endParaRPr lang="tr-TR"/>
        </a:p>
      </dgm:t>
    </dgm:pt>
    <dgm:pt modelId="{5E2E10D4-E791-4ACD-B75A-E4180E5879D4}" type="pres">
      <dgm:prSet presAssocID="{BF1780B6-3F5C-4B80-95CE-858205A3166F}" presName="negativeSpace" presStyleCnt="0"/>
      <dgm:spPr/>
    </dgm:pt>
    <dgm:pt modelId="{24BB7810-6C07-4DB1-9AF4-81FAD1EA75DD}" type="pres">
      <dgm:prSet presAssocID="{BF1780B6-3F5C-4B80-95CE-858205A3166F}" presName="childText" presStyleLbl="conFgAcc1" presStyleIdx="4" presStyleCnt="5">
        <dgm:presLayoutVars>
          <dgm:bulletEnabled val="1"/>
        </dgm:presLayoutVars>
      </dgm:prSet>
      <dgm:spPr/>
    </dgm:pt>
  </dgm:ptLst>
  <dgm:cxnLst>
    <dgm:cxn modelId="{E24E906C-130E-428C-9BBA-4B95E4B9B905}" type="presOf" srcId="{9945BB62-A2F2-4C64-BBAB-62EDB6D68B8B}" destId="{49052C64-BCA2-48FA-8627-1D0F85B4ACAC}" srcOrd="0" destOrd="0" presId="urn:microsoft.com/office/officeart/2005/8/layout/list1"/>
    <dgm:cxn modelId="{88E00980-2364-42B4-8FD6-C183209DAB20}" type="presOf" srcId="{BF1780B6-3F5C-4B80-95CE-858205A3166F}" destId="{7148B86F-6668-4878-B4B5-3E85220C2914}" srcOrd="0" destOrd="0" presId="urn:microsoft.com/office/officeart/2005/8/layout/list1"/>
    <dgm:cxn modelId="{C8203477-CFC6-4259-A91D-0BB1DE180CEC}" type="presOf" srcId="{AF3B3686-D017-46D1-8F47-77FB28F0D931}" destId="{93F715B3-AAF3-434A-932C-B374CD5AD284}" srcOrd="1" destOrd="0" presId="urn:microsoft.com/office/officeart/2005/8/layout/list1"/>
    <dgm:cxn modelId="{DDD566B5-D2A3-42FC-889C-F0A9BC0C5571}" type="presOf" srcId="{BF1780B6-3F5C-4B80-95CE-858205A3166F}" destId="{33AA38EE-7FC9-4F40-8AB7-880F1147CD8A}" srcOrd="1" destOrd="0" presId="urn:microsoft.com/office/officeart/2005/8/layout/list1"/>
    <dgm:cxn modelId="{60EA12B3-B869-4560-A75C-3FC55F7DFD6C}" type="presOf" srcId="{720FF5BB-0C4D-4007-943F-190EA3298EAC}" destId="{9DF2B1EB-204E-4F44-9057-7CFD161712EF}" srcOrd="1" destOrd="0" presId="urn:microsoft.com/office/officeart/2005/8/layout/list1"/>
    <dgm:cxn modelId="{9BCEA214-AAD3-4403-8FD8-F31CC432E54D}" srcId="{0CFCCC0A-1FFF-4D67-AECA-A987696C1B5B}" destId="{720FF5BB-0C4D-4007-943F-190EA3298EAC}" srcOrd="2" destOrd="0" parTransId="{DB94D631-324D-4C0D-85D4-78655D47813E}" sibTransId="{C634584F-313D-4F90-871A-B129C7F38CDB}"/>
    <dgm:cxn modelId="{A88E3A2B-13B9-4B90-BFA0-44A7A69C6924}" type="presOf" srcId="{720FF5BB-0C4D-4007-943F-190EA3298EAC}" destId="{08536399-B095-43D0-BBA3-C48A60CF1E1F}" srcOrd="0" destOrd="0" presId="urn:microsoft.com/office/officeart/2005/8/layout/list1"/>
    <dgm:cxn modelId="{0F5F0B78-6A28-403E-BFAC-CE3F6E74E85D}" srcId="{0CFCCC0A-1FFF-4D67-AECA-A987696C1B5B}" destId="{BF1780B6-3F5C-4B80-95CE-858205A3166F}" srcOrd="4" destOrd="0" parTransId="{F7C5FF11-B14E-4A0E-8A95-331809BAD459}" sibTransId="{ABC0692B-738F-43BC-BFDE-E71B0942A4EB}"/>
    <dgm:cxn modelId="{93CB452E-4EEC-4804-8BFB-F9B51788728F}" type="presOf" srcId="{A5FE8BF8-DCED-4FB9-962F-4C633A2781EA}" destId="{66688647-E4A9-4131-B06B-939564764CC2}" srcOrd="1" destOrd="0" presId="urn:microsoft.com/office/officeart/2005/8/layout/list1"/>
    <dgm:cxn modelId="{B9984FBD-8336-40A1-AE4C-02C23DA95FA8}" srcId="{0CFCCC0A-1FFF-4D67-AECA-A987696C1B5B}" destId="{A5FE8BF8-DCED-4FB9-962F-4C633A2781EA}" srcOrd="1" destOrd="0" parTransId="{5099BFD2-452C-438E-A1E7-96E3648AC435}" sibTransId="{B5FEA8D2-0AA1-426F-AAFE-61DD6ECA6AF8}"/>
    <dgm:cxn modelId="{2CFDFDD6-64D0-4A88-933E-4205FCB4B1BD}" type="presOf" srcId="{0CFCCC0A-1FFF-4D67-AECA-A987696C1B5B}" destId="{C2AE7BF4-9B4F-4B4B-806F-8B8D111A6BE3}" srcOrd="0" destOrd="0" presId="urn:microsoft.com/office/officeart/2005/8/layout/list1"/>
    <dgm:cxn modelId="{6BDA1763-AF9A-49ED-8649-0002C125D5AC}" type="presOf" srcId="{A5FE8BF8-DCED-4FB9-962F-4C633A2781EA}" destId="{A183E7F4-4B87-4409-A424-7EE162A00530}" srcOrd="0" destOrd="0" presId="urn:microsoft.com/office/officeart/2005/8/layout/list1"/>
    <dgm:cxn modelId="{329F5633-43D8-4475-9A35-8EB095A84384}" srcId="{0CFCCC0A-1FFF-4D67-AECA-A987696C1B5B}" destId="{AF3B3686-D017-46D1-8F47-77FB28F0D931}" srcOrd="3" destOrd="0" parTransId="{E5404859-ADAC-4F1B-9A85-731AB1819FF4}" sibTransId="{F2BDB73C-9655-4359-9882-6C36EDAB91D6}"/>
    <dgm:cxn modelId="{C38917E4-8485-4C43-B1A1-18415ACACE29}" type="presOf" srcId="{AF3B3686-D017-46D1-8F47-77FB28F0D931}" destId="{EC698F8F-8438-4952-AC32-030D8C279CCD}" srcOrd="0" destOrd="0" presId="urn:microsoft.com/office/officeart/2005/8/layout/list1"/>
    <dgm:cxn modelId="{87AEE089-BB10-49B5-8282-1F724682C2D6}" srcId="{0CFCCC0A-1FFF-4D67-AECA-A987696C1B5B}" destId="{9945BB62-A2F2-4C64-BBAB-62EDB6D68B8B}" srcOrd="0" destOrd="0" parTransId="{F5EC10B0-0BA5-4E82-840F-C0E1BBE0886C}" sibTransId="{226E0897-DE94-48C9-8B51-3B7566B8C145}"/>
    <dgm:cxn modelId="{5E743A35-827B-4AB3-80AA-DA7A09C82922}" type="presOf" srcId="{9945BB62-A2F2-4C64-BBAB-62EDB6D68B8B}" destId="{AA6A1B3E-0853-47C1-8A9F-F45001026AD4}" srcOrd="1" destOrd="0" presId="urn:microsoft.com/office/officeart/2005/8/layout/list1"/>
    <dgm:cxn modelId="{130D5A4E-ED48-411F-9EF3-A40394F713E4}" type="presParOf" srcId="{C2AE7BF4-9B4F-4B4B-806F-8B8D111A6BE3}" destId="{18B2D15E-55D3-42C1-AEA3-C2D2766FF1E1}" srcOrd="0" destOrd="0" presId="urn:microsoft.com/office/officeart/2005/8/layout/list1"/>
    <dgm:cxn modelId="{A4D5AA25-C82C-4C0D-BE08-7617C9A5C1F7}" type="presParOf" srcId="{18B2D15E-55D3-42C1-AEA3-C2D2766FF1E1}" destId="{49052C64-BCA2-48FA-8627-1D0F85B4ACAC}" srcOrd="0" destOrd="0" presId="urn:microsoft.com/office/officeart/2005/8/layout/list1"/>
    <dgm:cxn modelId="{2DB20526-EEB9-4501-85B5-B3B0FF6EA732}" type="presParOf" srcId="{18B2D15E-55D3-42C1-AEA3-C2D2766FF1E1}" destId="{AA6A1B3E-0853-47C1-8A9F-F45001026AD4}" srcOrd="1" destOrd="0" presId="urn:microsoft.com/office/officeart/2005/8/layout/list1"/>
    <dgm:cxn modelId="{389787CA-B716-4349-9109-30FAD6E85072}" type="presParOf" srcId="{C2AE7BF4-9B4F-4B4B-806F-8B8D111A6BE3}" destId="{B0CBB6C1-E3CB-4306-87FA-B65F40048EAF}" srcOrd="1" destOrd="0" presId="urn:microsoft.com/office/officeart/2005/8/layout/list1"/>
    <dgm:cxn modelId="{6B93E226-2EF2-4CA4-AA3A-FD5047EAB75E}" type="presParOf" srcId="{C2AE7BF4-9B4F-4B4B-806F-8B8D111A6BE3}" destId="{967DE780-AA5C-4B6E-9DE0-BB6DF40AD9D6}" srcOrd="2" destOrd="0" presId="urn:microsoft.com/office/officeart/2005/8/layout/list1"/>
    <dgm:cxn modelId="{88736A29-AE74-4EB5-B003-4E7272D7F582}" type="presParOf" srcId="{C2AE7BF4-9B4F-4B4B-806F-8B8D111A6BE3}" destId="{08E6602D-A696-4636-A99C-DB0F0F4A484C}" srcOrd="3" destOrd="0" presId="urn:microsoft.com/office/officeart/2005/8/layout/list1"/>
    <dgm:cxn modelId="{EE68BF2B-50FF-46D3-A8ED-40365B98EA16}" type="presParOf" srcId="{C2AE7BF4-9B4F-4B4B-806F-8B8D111A6BE3}" destId="{018C1F6A-CFE5-4958-8178-8AEFEC0B7E7B}" srcOrd="4" destOrd="0" presId="urn:microsoft.com/office/officeart/2005/8/layout/list1"/>
    <dgm:cxn modelId="{1A6F525F-6C28-411A-8444-C972EDBD47C0}" type="presParOf" srcId="{018C1F6A-CFE5-4958-8178-8AEFEC0B7E7B}" destId="{A183E7F4-4B87-4409-A424-7EE162A00530}" srcOrd="0" destOrd="0" presId="urn:microsoft.com/office/officeart/2005/8/layout/list1"/>
    <dgm:cxn modelId="{726C1D10-998B-4CE7-938F-C6BF27F33F48}" type="presParOf" srcId="{018C1F6A-CFE5-4958-8178-8AEFEC0B7E7B}" destId="{66688647-E4A9-4131-B06B-939564764CC2}" srcOrd="1" destOrd="0" presId="urn:microsoft.com/office/officeart/2005/8/layout/list1"/>
    <dgm:cxn modelId="{15CF6EFD-437D-478B-AC32-07AF40E57FE8}" type="presParOf" srcId="{C2AE7BF4-9B4F-4B4B-806F-8B8D111A6BE3}" destId="{87028BAF-C1E9-450C-B970-D88E8592C1AD}" srcOrd="5" destOrd="0" presId="urn:microsoft.com/office/officeart/2005/8/layout/list1"/>
    <dgm:cxn modelId="{AA616600-7F8E-4619-AB4B-26BBAAFEEEDC}" type="presParOf" srcId="{C2AE7BF4-9B4F-4B4B-806F-8B8D111A6BE3}" destId="{3C87EFAC-633E-4700-84F0-BE7ED7F872F6}" srcOrd="6" destOrd="0" presId="urn:microsoft.com/office/officeart/2005/8/layout/list1"/>
    <dgm:cxn modelId="{1FE3CBC4-DD3D-4FEA-B1AA-CE6ED64A28F8}" type="presParOf" srcId="{C2AE7BF4-9B4F-4B4B-806F-8B8D111A6BE3}" destId="{D2506376-7D1D-4713-886A-EA511FD13F26}" srcOrd="7" destOrd="0" presId="urn:microsoft.com/office/officeart/2005/8/layout/list1"/>
    <dgm:cxn modelId="{54831E17-BD23-4735-9996-5C3551E4F22D}" type="presParOf" srcId="{C2AE7BF4-9B4F-4B4B-806F-8B8D111A6BE3}" destId="{A4DB07F5-1929-46D5-86A6-024093DA23C6}" srcOrd="8" destOrd="0" presId="urn:microsoft.com/office/officeart/2005/8/layout/list1"/>
    <dgm:cxn modelId="{E58CD26C-9F1C-4CB8-AEBD-BA87ACE7D5A8}" type="presParOf" srcId="{A4DB07F5-1929-46D5-86A6-024093DA23C6}" destId="{08536399-B095-43D0-BBA3-C48A60CF1E1F}" srcOrd="0" destOrd="0" presId="urn:microsoft.com/office/officeart/2005/8/layout/list1"/>
    <dgm:cxn modelId="{FD6853EC-9A9B-4A44-ACE6-F6CAE9752BAA}" type="presParOf" srcId="{A4DB07F5-1929-46D5-86A6-024093DA23C6}" destId="{9DF2B1EB-204E-4F44-9057-7CFD161712EF}" srcOrd="1" destOrd="0" presId="urn:microsoft.com/office/officeart/2005/8/layout/list1"/>
    <dgm:cxn modelId="{6A5F7F4B-CF01-4685-A2CA-C48F263D4AAB}" type="presParOf" srcId="{C2AE7BF4-9B4F-4B4B-806F-8B8D111A6BE3}" destId="{4B6D2D3A-5D9C-41A8-A623-4D720330377E}" srcOrd="9" destOrd="0" presId="urn:microsoft.com/office/officeart/2005/8/layout/list1"/>
    <dgm:cxn modelId="{468454CD-D3D2-406C-B98B-8C0915664C0A}" type="presParOf" srcId="{C2AE7BF4-9B4F-4B4B-806F-8B8D111A6BE3}" destId="{81657EAB-E9D3-419B-AC44-BF88F7150198}" srcOrd="10" destOrd="0" presId="urn:microsoft.com/office/officeart/2005/8/layout/list1"/>
    <dgm:cxn modelId="{01B24CD2-4B0C-4628-A1AD-8DB1D326FD5F}" type="presParOf" srcId="{C2AE7BF4-9B4F-4B4B-806F-8B8D111A6BE3}" destId="{13869645-2939-4134-8A06-ED38EF8DAE3C}" srcOrd="11" destOrd="0" presId="urn:microsoft.com/office/officeart/2005/8/layout/list1"/>
    <dgm:cxn modelId="{C716198F-59F8-4262-AACD-F39F12C38338}" type="presParOf" srcId="{C2AE7BF4-9B4F-4B4B-806F-8B8D111A6BE3}" destId="{A31474B0-F32D-432C-8FC9-4EAD06584933}" srcOrd="12" destOrd="0" presId="urn:microsoft.com/office/officeart/2005/8/layout/list1"/>
    <dgm:cxn modelId="{41D419CD-59F3-4073-B060-A3B94730E001}" type="presParOf" srcId="{A31474B0-F32D-432C-8FC9-4EAD06584933}" destId="{EC698F8F-8438-4952-AC32-030D8C279CCD}" srcOrd="0" destOrd="0" presId="urn:microsoft.com/office/officeart/2005/8/layout/list1"/>
    <dgm:cxn modelId="{CEA1D1B9-9427-4AFD-B5CF-0B636E68E94D}" type="presParOf" srcId="{A31474B0-F32D-432C-8FC9-4EAD06584933}" destId="{93F715B3-AAF3-434A-932C-B374CD5AD284}" srcOrd="1" destOrd="0" presId="urn:microsoft.com/office/officeart/2005/8/layout/list1"/>
    <dgm:cxn modelId="{645E9380-74C5-482D-A92A-8A0F3AEFFAD1}" type="presParOf" srcId="{C2AE7BF4-9B4F-4B4B-806F-8B8D111A6BE3}" destId="{0E943918-03F1-40CC-8200-F81F79517DC5}" srcOrd="13" destOrd="0" presId="urn:microsoft.com/office/officeart/2005/8/layout/list1"/>
    <dgm:cxn modelId="{D2900B7E-BC7D-470F-8A48-DC305EBA595B}" type="presParOf" srcId="{C2AE7BF4-9B4F-4B4B-806F-8B8D111A6BE3}" destId="{93BEE057-39D4-4898-8E4F-B2054F4EA1F4}" srcOrd="14" destOrd="0" presId="urn:microsoft.com/office/officeart/2005/8/layout/list1"/>
    <dgm:cxn modelId="{8DAB7996-7E0E-407A-BCBF-2858B1F6910F}" type="presParOf" srcId="{C2AE7BF4-9B4F-4B4B-806F-8B8D111A6BE3}" destId="{30D8BBC7-B9EA-4B3C-A223-FC886D1BC323}" srcOrd="15" destOrd="0" presId="urn:microsoft.com/office/officeart/2005/8/layout/list1"/>
    <dgm:cxn modelId="{8455229D-770D-4636-9ABF-91396010809C}" type="presParOf" srcId="{C2AE7BF4-9B4F-4B4B-806F-8B8D111A6BE3}" destId="{CD381F0B-0854-4E6E-A835-35DE1C238E3C}" srcOrd="16" destOrd="0" presId="urn:microsoft.com/office/officeart/2005/8/layout/list1"/>
    <dgm:cxn modelId="{A93E9220-0FA6-4B33-ACB1-6397299ACBEF}" type="presParOf" srcId="{CD381F0B-0854-4E6E-A835-35DE1C238E3C}" destId="{7148B86F-6668-4878-B4B5-3E85220C2914}" srcOrd="0" destOrd="0" presId="urn:microsoft.com/office/officeart/2005/8/layout/list1"/>
    <dgm:cxn modelId="{17A8FB06-74B7-41A4-AB85-89855249B712}" type="presParOf" srcId="{CD381F0B-0854-4E6E-A835-35DE1C238E3C}" destId="{33AA38EE-7FC9-4F40-8AB7-880F1147CD8A}" srcOrd="1" destOrd="0" presId="urn:microsoft.com/office/officeart/2005/8/layout/list1"/>
    <dgm:cxn modelId="{431E67A4-E251-49E3-9CAC-4F348F2560DF}" type="presParOf" srcId="{C2AE7BF4-9B4F-4B4B-806F-8B8D111A6BE3}" destId="{5E2E10D4-E791-4ACD-B75A-E4180E5879D4}" srcOrd="17" destOrd="0" presId="urn:microsoft.com/office/officeart/2005/8/layout/list1"/>
    <dgm:cxn modelId="{429B0DBB-D5F4-43DB-8F0E-C032D577BB0B}" type="presParOf" srcId="{C2AE7BF4-9B4F-4B4B-806F-8B8D111A6BE3}" destId="{24BB7810-6C07-4DB1-9AF4-81FAD1EA75DD}"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9BB5F1-67D2-42CC-ABB9-7D6D48E5BA50}"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tr-TR"/>
        </a:p>
      </dgm:t>
    </dgm:pt>
    <dgm:pt modelId="{FDED7335-4AB5-4B38-9586-AF2703690493}">
      <dgm:prSet phldrT="[Metin]" custT="1"/>
      <dgm:spPr/>
      <dgm:t>
        <a:bodyPr/>
        <a:lstStyle/>
        <a:p>
          <a:r>
            <a:rPr lang="tr-TR" sz="3200" dirty="0" smtClean="0"/>
            <a:t>GPT -4o</a:t>
          </a:r>
          <a:endParaRPr lang="tr-TR" sz="3200" dirty="0"/>
        </a:p>
      </dgm:t>
    </dgm:pt>
    <dgm:pt modelId="{247E6817-3820-493A-9B3C-232421AE832A}" type="parTrans" cxnId="{E93436F7-DA1C-40EE-9821-1A4733B3D5FC}">
      <dgm:prSet/>
      <dgm:spPr/>
      <dgm:t>
        <a:bodyPr/>
        <a:lstStyle/>
        <a:p>
          <a:endParaRPr lang="tr-TR"/>
        </a:p>
      </dgm:t>
    </dgm:pt>
    <dgm:pt modelId="{3953E21B-60E5-48A2-9DB3-FA4E6B5EEEF9}" type="sibTrans" cxnId="{E93436F7-DA1C-40EE-9821-1A4733B3D5FC}">
      <dgm:prSet/>
      <dgm:spPr/>
      <dgm:t>
        <a:bodyPr/>
        <a:lstStyle/>
        <a:p>
          <a:endParaRPr lang="tr-TR"/>
        </a:p>
      </dgm:t>
    </dgm:pt>
    <dgm:pt modelId="{4972B73B-FD96-4D2A-94D4-5A9D0F2F4D39}">
      <dgm:prSet phldrT="[Metin]" custT="1"/>
      <dgm:spPr/>
      <dgm:t>
        <a:bodyPr/>
        <a:lstStyle/>
        <a:p>
          <a:pPr>
            <a:lnSpc>
              <a:spcPct val="150000"/>
            </a:lnSpc>
          </a:pPr>
          <a:r>
            <a:rPr lang="tr-TR" sz="1600" b="1" dirty="0" smtClean="0">
              <a:latin typeface="Times New Roman" panose="02020603050405020304" pitchFamily="18" charset="0"/>
              <a:cs typeface="Times New Roman" panose="02020603050405020304" pitchFamily="18" charset="0"/>
            </a:rPr>
            <a:t>Çok dilli üretim kapasitesi</a:t>
          </a:r>
          <a:endParaRPr lang="tr-TR" sz="1600" b="1" dirty="0">
            <a:latin typeface="Times New Roman" panose="02020603050405020304" pitchFamily="18" charset="0"/>
            <a:cs typeface="Times New Roman" panose="02020603050405020304" pitchFamily="18" charset="0"/>
          </a:endParaRPr>
        </a:p>
      </dgm:t>
    </dgm:pt>
    <dgm:pt modelId="{A9C7091C-1F60-4A00-83BB-8D22B330AB30}" type="parTrans" cxnId="{27449990-F184-4010-9705-B171C0280B7C}">
      <dgm:prSet/>
      <dgm:spPr/>
      <dgm:t>
        <a:bodyPr/>
        <a:lstStyle/>
        <a:p>
          <a:endParaRPr lang="tr-TR"/>
        </a:p>
      </dgm:t>
    </dgm:pt>
    <dgm:pt modelId="{4BA98420-19A4-49CB-A104-AB3A191FA908}" type="sibTrans" cxnId="{27449990-F184-4010-9705-B171C0280B7C}">
      <dgm:prSet/>
      <dgm:spPr/>
      <dgm:t>
        <a:bodyPr/>
        <a:lstStyle/>
        <a:p>
          <a:endParaRPr lang="tr-TR"/>
        </a:p>
      </dgm:t>
    </dgm:pt>
    <dgm:pt modelId="{A5F1D420-D4E7-492A-A0B7-6B3605C0E998}">
      <dgm:prSet phldrT="[Metin]" custT="1"/>
      <dgm:spPr/>
      <dgm:t>
        <a:bodyPr/>
        <a:lstStyle/>
        <a:p>
          <a:pPr>
            <a:lnSpc>
              <a:spcPct val="150000"/>
            </a:lnSpc>
          </a:pPr>
          <a:r>
            <a:rPr lang="tr-TR" sz="1600" b="1" dirty="0" smtClean="0">
              <a:latin typeface="Times New Roman" panose="02020603050405020304" pitchFamily="18" charset="0"/>
              <a:cs typeface="Times New Roman" panose="02020603050405020304" pitchFamily="18" charset="0"/>
            </a:rPr>
            <a:t>Yüksek bağlamsal tutarlılık</a:t>
          </a:r>
          <a:endParaRPr lang="tr-TR" sz="1600" b="1" dirty="0">
            <a:latin typeface="Times New Roman" panose="02020603050405020304" pitchFamily="18" charset="0"/>
            <a:cs typeface="Times New Roman" panose="02020603050405020304" pitchFamily="18" charset="0"/>
          </a:endParaRPr>
        </a:p>
      </dgm:t>
    </dgm:pt>
    <dgm:pt modelId="{FF925DE0-B351-4525-9322-078552C89A6F}" type="parTrans" cxnId="{8D8C416C-AEAB-47B4-A98C-61601E478E3B}">
      <dgm:prSet/>
      <dgm:spPr/>
      <dgm:t>
        <a:bodyPr/>
        <a:lstStyle/>
        <a:p>
          <a:endParaRPr lang="tr-TR"/>
        </a:p>
      </dgm:t>
    </dgm:pt>
    <dgm:pt modelId="{B8A9D4B4-6DE2-420E-A120-1B0919001D5F}" type="sibTrans" cxnId="{8D8C416C-AEAB-47B4-A98C-61601E478E3B}">
      <dgm:prSet/>
      <dgm:spPr/>
      <dgm:t>
        <a:bodyPr/>
        <a:lstStyle/>
        <a:p>
          <a:endParaRPr lang="tr-TR"/>
        </a:p>
      </dgm:t>
    </dgm:pt>
    <dgm:pt modelId="{5ED23B7B-6DA9-46D9-A11C-A41A4A4FD4B6}">
      <dgm:prSet phldrT="[Metin]" custT="1"/>
      <dgm:spPr/>
      <dgm:t>
        <a:bodyPr/>
        <a:lstStyle/>
        <a:p>
          <a:r>
            <a:rPr lang="tr-TR" sz="3200" dirty="0" err="1" smtClean="0"/>
            <a:t>Claude</a:t>
          </a:r>
          <a:r>
            <a:rPr lang="tr-TR" sz="3200" dirty="0" smtClean="0"/>
            <a:t> 3</a:t>
          </a:r>
          <a:endParaRPr lang="tr-TR" sz="3200" dirty="0"/>
        </a:p>
      </dgm:t>
    </dgm:pt>
    <dgm:pt modelId="{B26D60F0-7569-447A-B711-63B3FB4E2635}" type="parTrans" cxnId="{75D75982-4C37-4D11-940A-4D2B6780E9F6}">
      <dgm:prSet/>
      <dgm:spPr/>
      <dgm:t>
        <a:bodyPr/>
        <a:lstStyle/>
        <a:p>
          <a:endParaRPr lang="tr-TR"/>
        </a:p>
      </dgm:t>
    </dgm:pt>
    <dgm:pt modelId="{E922CEA4-2D66-4A69-BDB4-4733440501D3}" type="sibTrans" cxnId="{75D75982-4C37-4D11-940A-4D2B6780E9F6}">
      <dgm:prSet/>
      <dgm:spPr/>
      <dgm:t>
        <a:bodyPr/>
        <a:lstStyle/>
        <a:p>
          <a:endParaRPr lang="tr-TR"/>
        </a:p>
      </dgm:t>
    </dgm:pt>
    <dgm:pt modelId="{8496A0FE-0C40-4BD6-98F6-7764F552ECA8}">
      <dgm:prSet phldrT="[Metin]" custT="1"/>
      <dgm:spPr/>
      <dgm:t>
        <a:bodyPr/>
        <a:lstStyle/>
        <a:p>
          <a:pPr>
            <a:lnSpc>
              <a:spcPct val="200000"/>
            </a:lnSpc>
          </a:pPr>
          <a:r>
            <a:rPr lang="tr-TR" sz="1600" b="1" dirty="0" smtClean="0">
              <a:latin typeface="Times New Roman" panose="02020603050405020304" pitchFamily="18" charset="0"/>
              <a:cs typeface="Times New Roman" panose="02020603050405020304" pitchFamily="18" charset="0"/>
            </a:rPr>
            <a:t>Talimat uyumu yüksek</a:t>
          </a:r>
          <a:endParaRPr lang="tr-TR" sz="1600" b="1" dirty="0">
            <a:latin typeface="Times New Roman" panose="02020603050405020304" pitchFamily="18" charset="0"/>
            <a:cs typeface="Times New Roman" panose="02020603050405020304" pitchFamily="18" charset="0"/>
          </a:endParaRPr>
        </a:p>
      </dgm:t>
    </dgm:pt>
    <dgm:pt modelId="{7CAA7B5A-ABD8-415F-BCEE-6D7CFD577388}" type="parTrans" cxnId="{B7606E1A-D5E6-402F-BA7E-1F2B37097D6F}">
      <dgm:prSet/>
      <dgm:spPr/>
      <dgm:t>
        <a:bodyPr/>
        <a:lstStyle/>
        <a:p>
          <a:endParaRPr lang="tr-TR"/>
        </a:p>
      </dgm:t>
    </dgm:pt>
    <dgm:pt modelId="{086FDE32-A508-4817-B0A4-68F72F0AA6F7}" type="sibTrans" cxnId="{B7606E1A-D5E6-402F-BA7E-1F2B37097D6F}">
      <dgm:prSet/>
      <dgm:spPr/>
      <dgm:t>
        <a:bodyPr/>
        <a:lstStyle/>
        <a:p>
          <a:endParaRPr lang="tr-TR"/>
        </a:p>
      </dgm:t>
    </dgm:pt>
    <dgm:pt modelId="{20D242D4-2EE2-4A7A-B309-EDEEB1717229}">
      <dgm:prSet phldrT="[Metin]" custT="1"/>
      <dgm:spPr/>
      <dgm:t>
        <a:bodyPr/>
        <a:lstStyle/>
        <a:p>
          <a:pPr>
            <a:lnSpc>
              <a:spcPct val="200000"/>
            </a:lnSpc>
          </a:pPr>
          <a:r>
            <a:rPr lang="tr-TR" sz="1600" b="1" dirty="0" smtClean="0">
              <a:latin typeface="Times New Roman" panose="02020603050405020304" pitchFamily="18" charset="0"/>
              <a:cs typeface="Times New Roman" panose="02020603050405020304" pitchFamily="18" charset="0"/>
            </a:rPr>
            <a:t>Daha kontrollü üretim</a:t>
          </a:r>
          <a:endParaRPr lang="tr-TR" sz="1600" b="1" dirty="0">
            <a:latin typeface="Times New Roman" panose="02020603050405020304" pitchFamily="18" charset="0"/>
            <a:cs typeface="Times New Roman" panose="02020603050405020304" pitchFamily="18" charset="0"/>
          </a:endParaRPr>
        </a:p>
      </dgm:t>
    </dgm:pt>
    <dgm:pt modelId="{22D10BEB-D22D-41DB-81C5-AA8E746622F6}" type="parTrans" cxnId="{2FC1815F-908D-4AFE-B13C-34FBF5907034}">
      <dgm:prSet/>
      <dgm:spPr/>
      <dgm:t>
        <a:bodyPr/>
        <a:lstStyle/>
        <a:p>
          <a:endParaRPr lang="tr-TR"/>
        </a:p>
      </dgm:t>
    </dgm:pt>
    <dgm:pt modelId="{1A956B11-8F20-4DA3-8D60-65B3A3B71634}" type="sibTrans" cxnId="{2FC1815F-908D-4AFE-B13C-34FBF5907034}">
      <dgm:prSet/>
      <dgm:spPr/>
      <dgm:t>
        <a:bodyPr/>
        <a:lstStyle/>
        <a:p>
          <a:endParaRPr lang="tr-TR"/>
        </a:p>
      </dgm:t>
    </dgm:pt>
    <dgm:pt modelId="{AC309F65-F2DC-40CF-A23F-46988E5FFE74}">
      <dgm:prSet phldrT="[Metin]" custT="1"/>
      <dgm:spPr/>
      <dgm:t>
        <a:bodyPr/>
        <a:lstStyle/>
        <a:p>
          <a:pPr>
            <a:lnSpc>
              <a:spcPct val="150000"/>
            </a:lnSpc>
          </a:pPr>
          <a:r>
            <a:rPr lang="tr-TR" sz="1600" b="1" dirty="0" smtClean="0">
              <a:latin typeface="Times New Roman" panose="02020603050405020304" pitchFamily="18" charset="0"/>
              <a:cs typeface="Times New Roman" panose="02020603050405020304" pitchFamily="18" charset="0"/>
            </a:rPr>
            <a:t>Doğal metin üretimi</a:t>
          </a:r>
          <a:endParaRPr lang="tr-TR" sz="1600" b="1" dirty="0">
            <a:latin typeface="Times New Roman" panose="02020603050405020304" pitchFamily="18" charset="0"/>
            <a:cs typeface="Times New Roman" panose="02020603050405020304" pitchFamily="18" charset="0"/>
          </a:endParaRPr>
        </a:p>
      </dgm:t>
    </dgm:pt>
    <dgm:pt modelId="{73E15DBD-2A9F-4204-A7A8-462A92EC6635}" type="parTrans" cxnId="{EFFAA55A-92A6-4262-96F5-232E52FC895D}">
      <dgm:prSet/>
      <dgm:spPr/>
      <dgm:t>
        <a:bodyPr/>
        <a:lstStyle/>
        <a:p>
          <a:endParaRPr lang="tr-TR"/>
        </a:p>
      </dgm:t>
    </dgm:pt>
    <dgm:pt modelId="{5FBC9E4D-CEA4-4602-A7EF-2553743BC724}" type="sibTrans" cxnId="{EFFAA55A-92A6-4262-96F5-232E52FC895D}">
      <dgm:prSet/>
      <dgm:spPr/>
      <dgm:t>
        <a:bodyPr/>
        <a:lstStyle/>
        <a:p>
          <a:endParaRPr lang="tr-TR"/>
        </a:p>
      </dgm:t>
    </dgm:pt>
    <dgm:pt modelId="{3E37DD96-0B53-489A-818B-48811AAFDFBB}">
      <dgm:prSet phldrT="[Metin]" custT="1"/>
      <dgm:spPr/>
      <dgm:t>
        <a:bodyPr/>
        <a:lstStyle/>
        <a:p>
          <a:pPr>
            <a:lnSpc>
              <a:spcPct val="200000"/>
            </a:lnSpc>
          </a:pPr>
          <a:r>
            <a:rPr lang="tr-TR" sz="1600" b="1" dirty="0" smtClean="0">
              <a:latin typeface="Times New Roman" panose="02020603050405020304" pitchFamily="18" charset="0"/>
              <a:cs typeface="Times New Roman" panose="02020603050405020304" pitchFamily="18" charset="0"/>
            </a:rPr>
            <a:t>Tutarlı çıktı yapısı</a:t>
          </a:r>
          <a:endParaRPr lang="tr-TR" sz="1600" b="1" dirty="0">
            <a:latin typeface="Times New Roman" panose="02020603050405020304" pitchFamily="18" charset="0"/>
            <a:cs typeface="Times New Roman" panose="02020603050405020304" pitchFamily="18" charset="0"/>
          </a:endParaRPr>
        </a:p>
      </dgm:t>
    </dgm:pt>
    <dgm:pt modelId="{A91136AA-857D-43FB-B284-E1BD06A02557}" type="parTrans" cxnId="{085E5FBD-9A20-431D-9CE4-CB7B3475497A}">
      <dgm:prSet/>
      <dgm:spPr/>
      <dgm:t>
        <a:bodyPr/>
        <a:lstStyle/>
        <a:p>
          <a:endParaRPr lang="tr-TR"/>
        </a:p>
      </dgm:t>
    </dgm:pt>
    <dgm:pt modelId="{A1970379-E5CB-49C0-901F-FC1EB976C2C6}" type="sibTrans" cxnId="{085E5FBD-9A20-431D-9CE4-CB7B3475497A}">
      <dgm:prSet/>
      <dgm:spPr/>
      <dgm:t>
        <a:bodyPr/>
        <a:lstStyle/>
        <a:p>
          <a:endParaRPr lang="tr-TR"/>
        </a:p>
      </dgm:t>
    </dgm:pt>
    <dgm:pt modelId="{12B5EA48-D579-47DC-B4E5-CA0B0E61E151}">
      <dgm:prSet phldrT="[Metin]" custT="1"/>
      <dgm:spPr/>
      <dgm:t>
        <a:bodyPr/>
        <a:lstStyle/>
        <a:p>
          <a:pPr>
            <a:lnSpc>
              <a:spcPct val="150000"/>
            </a:lnSpc>
          </a:pPr>
          <a:r>
            <a:rPr lang="tr-TR" sz="1600" b="1" dirty="0" smtClean="0">
              <a:latin typeface="Times New Roman" panose="02020603050405020304" pitchFamily="18" charset="0"/>
              <a:cs typeface="Times New Roman" panose="02020603050405020304" pitchFamily="18" charset="0"/>
            </a:rPr>
            <a:t>SA görevlerine uygunluk</a:t>
          </a:r>
          <a:endParaRPr lang="tr-TR" sz="1600" b="1" dirty="0">
            <a:latin typeface="Times New Roman" panose="02020603050405020304" pitchFamily="18" charset="0"/>
            <a:cs typeface="Times New Roman" panose="02020603050405020304" pitchFamily="18" charset="0"/>
          </a:endParaRPr>
        </a:p>
      </dgm:t>
    </dgm:pt>
    <dgm:pt modelId="{6D94FFEC-D0D5-4CB3-89D1-E4B8DEA71B9B}" type="parTrans" cxnId="{D5047B72-2ED1-484D-AE74-1E0C61403E6C}">
      <dgm:prSet/>
      <dgm:spPr/>
      <dgm:t>
        <a:bodyPr/>
        <a:lstStyle/>
        <a:p>
          <a:endParaRPr lang="tr-TR"/>
        </a:p>
      </dgm:t>
    </dgm:pt>
    <dgm:pt modelId="{9B559704-30D3-48DE-8E26-59ABC4DC5C46}" type="sibTrans" cxnId="{D5047B72-2ED1-484D-AE74-1E0C61403E6C}">
      <dgm:prSet/>
      <dgm:spPr/>
      <dgm:t>
        <a:bodyPr/>
        <a:lstStyle/>
        <a:p>
          <a:endParaRPr lang="tr-TR"/>
        </a:p>
      </dgm:t>
    </dgm:pt>
    <dgm:pt modelId="{F59AC32D-66FC-4E9B-A2F6-7E2355201C61}">
      <dgm:prSet phldrT="[Metin]" custT="1"/>
      <dgm:spPr/>
      <dgm:t>
        <a:bodyPr/>
        <a:lstStyle/>
        <a:p>
          <a:pPr>
            <a:lnSpc>
              <a:spcPct val="200000"/>
            </a:lnSpc>
          </a:pPr>
          <a:r>
            <a:rPr lang="tr-TR" sz="1600" b="1" dirty="0" smtClean="0">
              <a:latin typeface="Times New Roman" panose="02020603050405020304" pitchFamily="18" charset="0"/>
              <a:cs typeface="Times New Roman" panose="02020603050405020304" pitchFamily="18" charset="0"/>
            </a:rPr>
            <a:t>SA görevlerine uygunluk</a:t>
          </a:r>
          <a:endParaRPr lang="tr-TR" sz="1600" b="1" dirty="0">
            <a:latin typeface="Times New Roman" panose="02020603050405020304" pitchFamily="18" charset="0"/>
            <a:cs typeface="Times New Roman" panose="02020603050405020304" pitchFamily="18" charset="0"/>
          </a:endParaRPr>
        </a:p>
      </dgm:t>
    </dgm:pt>
    <dgm:pt modelId="{A06BB8C2-A8A4-4208-AF28-630B06A655AF}" type="parTrans" cxnId="{AFDBEF65-0AE8-44E5-BE94-B4172670D5F9}">
      <dgm:prSet/>
      <dgm:spPr/>
      <dgm:t>
        <a:bodyPr/>
        <a:lstStyle/>
        <a:p>
          <a:endParaRPr lang="tr-TR"/>
        </a:p>
      </dgm:t>
    </dgm:pt>
    <dgm:pt modelId="{855EF575-8CA4-4A20-9F16-8EAE69E2F92C}" type="sibTrans" cxnId="{AFDBEF65-0AE8-44E5-BE94-B4172670D5F9}">
      <dgm:prSet/>
      <dgm:spPr/>
      <dgm:t>
        <a:bodyPr/>
        <a:lstStyle/>
        <a:p>
          <a:endParaRPr lang="tr-TR"/>
        </a:p>
      </dgm:t>
    </dgm:pt>
    <dgm:pt modelId="{965AEA38-A7EB-4AFE-9EAC-833FC482643A}" type="pres">
      <dgm:prSet presAssocID="{799BB5F1-67D2-42CC-ABB9-7D6D48E5BA50}" presName="Name0" presStyleCnt="0">
        <dgm:presLayoutVars>
          <dgm:dir/>
          <dgm:animLvl val="lvl"/>
          <dgm:resizeHandles val="exact"/>
        </dgm:presLayoutVars>
      </dgm:prSet>
      <dgm:spPr/>
      <dgm:t>
        <a:bodyPr/>
        <a:lstStyle/>
        <a:p>
          <a:endParaRPr lang="tr-TR"/>
        </a:p>
      </dgm:t>
    </dgm:pt>
    <dgm:pt modelId="{22905D6A-D163-4830-B880-7B1F5AB86DB9}" type="pres">
      <dgm:prSet presAssocID="{FDED7335-4AB5-4B38-9586-AF2703690493}" presName="composite" presStyleCnt="0"/>
      <dgm:spPr/>
    </dgm:pt>
    <dgm:pt modelId="{3DE17DCA-1BFF-4CCC-B30C-EF6470DAD08D}" type="pres">
      <dgm:prSet presAssocID="{FDED7335-4AB5-4B38-9586-AF2703690493}" presName="parTx" presStyleLbl="alignNode1" presStyleIdx="0" presStyleCnt="2">
        <dgm:presLayoutVars>
          <dgm:chMax val="0"/>
          <dgm:chPref val="0"/>
          <dgm:bulletEnabled val="1"/>
        </dgm:presLayoutVars>
      </dgm:prSet>
      <dgm:spPr/>
      <dgm:t>
        <a:bodyPr/>
        <a:lstStyle/>
        <a:p>
          <a:endParaRPr lang="tr-TR"/>
        </a:p>
      </dgm:t>
    </dgm:pt>
    <dgm:pt modelId="{F0787A9E-CCD3-4354-9C80-239EAFACC7F0}" type="pres">
      <dgm:prSet presAssocID="{FDED7335-4AB5-4B38-9586-AF2703690493}" presName="desTx" presStyleLbl="alignAccFollowNode1" presStyleIdx="0" presStyleCnt="2">
        <dgm:presLayoutVars>
          <dgm:bulletEnabled val="1"/>
        </dgm:presLayoutVars>
      </dgm:prSet>
      <dgm:spPr/>
      <dgm:t>
        <a:bodyPr/>
        <a:lstStyle/>
        <a:p>
          <a:endParaRPr lang="tr-TR"/>
        </a:p>
      </dgm:t>
    </dgm:pt>
    <dgm:pt modelId="{B0785C2D-3C47-41DA-B431-A1CEA21DEA5D}" type="pres">
      <dgm:prSet presAssocID="{3953E21B-60E5-48A2-9DB3-FA4E6B5EEEF9}" presName="space" presStyleCnt="0"/>
      <dgm:spPr/>
    </dgm:pt>
    <dgm:pt modelId="{911CC6C6-069B-4664-9901-7F72EA802011}" type="pres">
      <dgm:prSet presAssocID="{5ED23B7B-6DA9-46D9-A11C-A41A4A4FD4B6}" presName="composite" presStyleCnt="0"/>
      <dgm:spPr/>
    </dgm:pt>
    <dgm:pt modelId="{9DD6CECC-FA45-44A7-B533-2CB80B822519}" type="pres">
      <dgm:prSet presAssocID="{5ED23B7B-6DA9-46D9-A11C-A41A4A4FD4B6}" presName="parTx" presStyleLbl="alignNode1" presStyleIdx="1" presStyleCnt="2">
        <dgm:presLayoutVars>
          <dgm:chMax val="0"/>
          <dgm:chPref val="0"/>
          <dgm:bulletEnabled val="1"/>
        </dgm:presLayoutVars>
      </dgm:prSet>
      <dgm:spPr/>
      <dgm:t>
        <a:bodyPr/>
        <a:lstStyle/>
        <a:p>
          <a:endParaRPr lang="tr-TR"/>
        </a:p>
      </dgm:t>
    </dgm:pt>
    <dgm:pt modelId="{246823C0-1F61-4B2A-8067-87A0DCDE6825}" type="pres">
      <dgm:prSet presAssocID="{5ED23B7B-6DA9-46D9-A11C-A41A4A4FD4B6}" presName="desTx" presStyleLbl="alignAccFollowNode1" presStyleIdx="1" presStyleCnt="2">
        <dgm:presLayoutVars>
          <dgm:bulletEnabled val="1"/>
        </dgm:presLayoutVars>
      </dgm:prSet>
      <dgm:spPr/>
      <dgm:t>
        <a:bodyPr/>
        <a:lstStyle/>
        <a:p>
          <a:endParaRPr lang="tr-TR"/>
        </a:p>
      </dgm:t>
    </dgm:pt>
  </dgm:ptLst>
  <dgm:cxnLst>
    <dgm:cxn modelId="{AFDBEF65-0AE8-44E5-BE94-B4172670D5F9}" srcId="{5ED23B7B-6DA9-46D9-A11C-A41A4A4FD4B6}" destId="{F59AC32D-66FC-4E9B-A2F6-7E2355201C61}" srcOrd="3" destOrd="0" parTransId="{A06BB8C2-A8A4-4208-AF28-630B06A655AF}" sibTransId="{855EF575-8CA4-4A20-9F16-8EAE69E2F92C}"/>
    <dgm:cxn modelId="{86EE6167-DD8F-4AB6-9B08-BB9FEC946B5E}" type="presOf" srcId="{A5F1D420-D4E7-492A-A0B7-6B3605C0E998}" destId="{F0787A9E-CCD3-4354-9C80-239EAFACC7F0}" srcOrd="0" destOrd="1" presId="urn:microsoft.com/office/officeart/2005/8/layout/hList1"/>
    <dgm:cxn modelId="{75D75982-4C37-4D11-940A-4D2B6780E9F6}" srcId="{799BB5F1-67D2-42CC-ABB9-7D6D48E5BA50}" destId="{5ED23B7B-6DA9-46D9-A11C-A41A4A4FD4B6}" srcOrd="1" destOrd="0" parTransId="{B26D60F0-7569-447A-B711-63B3FB4E2635}" sibTransId="{E922CEA4-2D66-4A69-BDB4-4733440501D3}"/>
    <dgm:cxn modelId="{EFFAA55A-92A6-4262-96F5-232E52FC895D}" srcId="{FDED7335-4AB5-4B38-9586-AF2703690493}" destId="{AC309F65-F2DC-40CF-A23F-46988E5FFE74}" srcOrd="2" destOrd="0" parTransId="{73E15DBD-2A9F-4204-A7A8-462A92EC6635}" sibTransId="{5FBC9E4D-CEA4-4602-A7EF-2553743BC724}"/>
    <dgm:cxn modelId="{085E5FBD-9A20-431D-9CE4-CB7B3475497A}" srcId="{5ED23B7B-6DA9-46D9-A11C-A41A4A4FD4B6}" destId="{3E37DD96-0B53-489A-818B-48811AAFDFBB}" srcOrd="2" destOrd="0" parTransId="{A91136AA-857D-43FB-B284-E1BD06A02557}" sibTransId="{A1970379-E5CB-49C0-901F-FC1EB976C2C6}"/>
    <dgm:cxn modelId="{7A1019F3-8CBA-4255-B4C2-D5BE736407BD}" type="presOf" srcId="{8496A0FE-0C40-4BD6-98F6-7764F552ECA8}" destId="{246823C0-1F61-4B2A-8067-87A0DCDE6825}" srcOrd="0" destOrd="0" presId="urn:microsoft.com/office/officeart/2005/8/layout/hList1"/>
    <dgm:cxn modelId="{8D8C416C-AEAB-47B4-A98C-61601E478E3B}" srcId="{FDED7335-4AB5-4B38-9586-AF2703690493}" destId="{A5F1D420-D4E7-492A-A0B7-6B3605C0E998}" srcOrd="1" destOrd="0" parTransId="{FF925DE0-B351-4525-9322-078552C89A6F}" sibTransId="{B8A9D4B4-6DE2-420E-A120-1B0919001D5F}"/>
    <dgm:cxn modelId="{27449990-F184-4010-9705-B171C0280B7C}" srcId="{FDED7335-4AB5-4B38-9586-AF2703690493}" destId="{4972B73B-FD96-4D2A-94D4-5A9D0F2F4D39}" srcOrd="0" destOrd="0" parTransId="{A9C7091C-1F60-4A00-83BB-8D22B330AB30}" sibTransId="{4BA98420-19A4-49CB-A104-AB3A191FA908}"/>
    <dgm:cxn modelId="{23B4E6F8-3C5C-41D3-A09D-268C5209D58A}" type="presOf" srcId="{20D242D4-2EE2-4A7A-B309-EDEEB1717229}" destId="{246823C0-1F61-4B2A-8067-87A0DCDE6825}" srcOrd="0" destOrd="1" presId="urn:microsoft.com/office/officeart/2005/8/layout/hList1"/>
    <dgm:cxn modelId="{B7606E1A-D5E6-402F-BA7E-1F2B37097D6F}" srcId="{5ED23B7B-6DA9-46D9-A11C-A41A4A4FD4B6}" destId="{8496A0FE-0C40-4BD6-98F6-7764F552ECA8}" srcOrd="0" destOrd="0" parTransId="{7CAA7B5A-ABD8-415F-BCEE-6D7CFD577388}" sibTransId="{086FDE32-A508-4817-B0A4-68F72F0AA6F7}"/>
    <dgm:cxn modelId="{CB397793-C270-42FC-B5A9-811B5BB9243E}" type="presOf" srcId="{12B5EA48-D579-47DC-B4E5-CA0B0E61E151}" destId="{F0787A9E-CCD3-4354-9C80-239EAFACC7F0}" srcOrd="0" destOrd="3" presId="urn:microsoft.com/office/officeart/2005/8/layout/hList1"/>
    <dgm:cxn modelId="{2FC1815F-908D-4AFE-B13C-34FBF5907034}" srcId="{5ED23B7B-6DA9-46D9-A11C-A41A4A4FD4B6}" destId="{20D242D4-2EE2-4A7A-B309-EDEEB1717229}" srcOrd="1" destOrd="0" parTransId="{22D10BEB-D22D-41DB-81C5-AA8E746622F6}" sibTransId="{1A956B11-8F20-4DA3-8D60-65B3A3B71634}"/>
    <dgm:cxn modelId="{27CF5F7B-6D5A-46CA-92A8-C9786BED6B3D}" type="presOf" srcId="{799BB5F1-67D2-42CC-ABB9-7D6D48E5BA50}" destId="{965AEA38-A7EB-4AFE-9EAC-833FC482643A}" srcOrd="0" destOrd="0" presId="urn:microsoft.com/office/officeart/2005/8/layout/hList1"/>
    <dgm:cxn modelId="{C282FD0E-371F-4CE6-A8AB-D041E349E77F}" type="presOf" srcId="{AC309F65-F2DC-40CF-A23F-46988E5FFE74}" destId="{F0787A9E-CCD3-4354-9C80-239EAFACC7F0}" srcOrd="0" destOrd="2" presId="urn:microsoft.com/office/officeart/2005/8/layout/hList1"/>
    <dgm:cxn modelId="{FF244781-59C6-4002-A850-2A61CA49CF52}" type="presOf" srcId="{F59AC32D-66FC-4E9B-A2F6-7E2355201C61}" destId="{246823C0-1F61-4B2A-8067-87A0DCDE6825}" srcOrd="0" destOrd="3" presId="urn:microsoft.com/office/officeart/2005/8/layout/hList1"/>
    <dgm:cxn modelId="{D5047B72-2ED1-484D-AE74-1E0C61403E6C}" srcId="{FDED7335-4AB5-4B38-9586-AF2703690493}" destId="{12B5EA48-D579-47DC-B4E5-CA0B0E61E151}" srcOrd="3" destOrd="0" parTransId="{6D94FFEC-D0D5-4CB3-89D1-E4B8DEA71B9B}" sibTransId="{9B559704-30D3-48DE-8E26-59ABC4DC5C46}"/>
    <dgm:cxn modelId="{9F234968-8F53-4E12-ACE6-A4EDDC48D76F}" type="presOf" srcId="{5ED23B7B-6DA9-46D9-A11C-A41A4A4FD4B6}" destId="{9DD6CECC-FA45-44A7-B533-2CB80B822519}" srcOrd="0" destOrd="0" presId="urn:microsoft.com/office/officeart/2005/8/layout/hList1"/>
    <dgm:cxn modelId="{E93436F7-DA1C-40EE-9821-1A4733B3D5FC}" srcId="{799BB5F1-67D2-42CC-ABB9-7D6D48E5BA50}" destId="{FDED7335-4AB5-4B38-9586-AF2703690493}" srcOrd="0" destOrd="0" parTransId="{247E6817-3820-493A-9B3C-232421AE832A}" sibTransId="{3953E21B-60E5-48A2-9DB3-FA4E6B5EEEF9}"/>
    <dgm:cxn modelId="{C7AA6AA9-4CB5-4813-9742-753DB1227562}" type="presOf" srcId="{3E37DD96-0B53-489A-818B-48811AAFDFBB}" destId="{246823C0-1F61-4B2A-8067-87A0DCDE6825}" srcOrd="0" destOrd="2" presId="urn:microsoft.com/office/officeart/2005/8/layout/hList1"/>
    <dgm:cxn modelId="{A0D3CD6B-BC16-4430-94A4-DD58C0F160C1}" type="presOf" srcId="{FDED7335-4AB5-4B38-9586-AF2703690493}" destId="{3DE17DCA-1BFF-4CCC-B30C-EF6470DAD08D}" srcOrd="0" destOrd="0" presId="urn:microsoft.com/office/officeart/2005/8/layout/hList1"/>
    <dgm:cxn modelId="{ED4129D0-AF86-4BF5-B47B-97DD42354DB2}" type="presOf" srcId="{4972B73B-FD96-4D2A-94D4-5A9D0F2F4D39}" destId="{F0787A9E-CCD3-4354-9C80-239EAFACC7F0}" srcOrd="0" destOrd="0" presId="urn:microsoft.com/office/officeart/2005/8/layout/hList1"/>
    <dgm:cxn modelId="{8AE8A75D-5CA6-4136-B728-81E125DD8E60}" type="presParOf" srcId="{965AEA38-A7EB-4AFE-9EAC-833FC482643A}" destId="{22905D6A-D163-4830-B880-7B1F5AB86DB9}" srcOrd="0" destOrd="0" presId="urn:microsoft.com/office/officeart/2005/8/layout/hList1"/>
    <dgm:cxn modelId="{28EE9D6A-C8E9-40D4-A864-1B07041029EA}" type="presParOf" srcId="{22905D6A-D163-4830-B880-7B1F5AB86DB9}" destId="{3DE17DCA-1BFF-4CCC-B30C-EF6470DAD08D}" srcOrd="0" destOrd="0" presId="urn:microsoft.com/office/officeart/2005/8/layout/hList1"/>
    <dgm:cxn modelId="{9DF52E6F-6146-46BE-95D2-B7EBD82C2759}" type="presParOf" srcId="{22905D6A-D163-4830-B880-7B1F5AB86DB9}" destId="{F0787A9E-CCD3-4354-9C80-239EAFACC7F0}" srcOrd="1" destOrd="0" presId="urn:microsoft.com/office/officeart/2005/8/layout/hList1"/>
    <dgm:cxn modelId="{8C810747-B1DF-411E-AADC-9410C632562F}" type="presParOf" srcId="{965AEA38-A7EB-4AFE-9EAC-833FC482643A}" destId="{B0785C2D-3C47-41DA-B431-A1CEA21DEA5D}" srcOrd="1" destOrd="0" presId="urn:microsoft.com/office/officeart/2005/8/layout/hList1"/>
    <dgm:cxn modelId="{368C2B04-5F29-4364-8561-7F88A3DCDECE}" type="presParOf" srcId="{965AEA38-A7EB-4AFE-9EAC-833FC482643A}" destId="{911CC6C6-069B-4664-9901-7F72EA802011}" srcOrd="2" destOrd="0" presId="urn:microsoft.com/office/officeart/2005/8/layout/hList1"/>
    <dgm:cxn modelId="{5CC76EF9-8BBA-488B-913E-C5D4F268BFE6}" type="presParOf" srcId="{911CC6C6-069B-4664-9901-7F72EA802011}" destId="{9DD6CECC-FA45-44A7-B533-2CB80B822519}" srcOrd="0" destOrd="0" presId="urn:microsoft.com/office/officeart/2005/8/layout/hList1"/>
    <dgm:cxn modelId="{61EAE81C-6634-49C0-ACAE-425160C1C049}" type="presParOf" srcId="{911CC6C6-069B-4664-9901-7F72EA802011}" destId="{246823C0-1F61-4B2A-8067-87A0DCDE6825}" srcOrd="1" destOrd="0" presId="urn:microsoft.com/office/officeart/2005/8/layout/h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3DDE27-A741-4388-9692-02B25FEF1585}" type="doc">
      <dgm:prSet loTypeId="urn:microsoft.com/office/officeart/2005/8/layout/hierarchy3" loCatId="list" qsTypeId="urn:microsoft.com/office/officeart/2005/8/quickstyle/3d2" qsCatId="3D" csTypeId="urn:microsoft.com/office/officeart/2005/8/colors/colorful2" csCatId="colorful" phldr="1"/>
      <dgm:spPr/>
      <dgm:t>
        <a:bodyPr/>
        <a:lstStyle/>
        <a:p>
          <a:endParaRPr lang="tr-TR"/>
        </a:p>
      </dgm:t>
    </dgm:pt>
    <dgm:pt modelId="{33163759-E98C-4975-B8E5-9038DE796365}">
      <dgm:prSet phldrT="[Metin]"/>
      <dgm:spPr/>
      <dgm:t>
        <a:bodyPr/>
        <a:lstStyle/>
        <a:p>
          <a:pPr algn="ctr"/>
          <a:r>
            <a:rPr lang="tr-TR" b="1" u="none" dirty="0" smtClean="0">
              <a:solidFill>
                <a:schemeClr val="tx1"/>
              </a:solidFill>
              <a:effectLst/>
            </a:rPr>
            <a:t>Geleneksel ML Modelleri</a:t>
          </a:r>
          <a:endParaRPr lang="tr-TR" b="1" u="none" dirty="0">
            <a:solidFill>
              <a:schemeClr val="tx1"/>
            </a:solidFill>
            <a:effectLst/>
          </a:endParaRPr>
        </a:p>
      </dgm:t>
    </dgm:pt>
    <dgm:pt modelId="{6A7040F8-E4EF-4372-A093-96D17E3DD4C2}" type="parTrans" cxnId="{58743691-CDBC-4C78-9EBE-FEF9799F9A13}">
      <dgm:prSet/>
      <dgm:spPr/>
      <dgm:t>
        <a:bodyPr/>
        <a:lstStyle/>
        <a:p>
          <a:pPr algn="ctr"/>
          <a:endParaRPr lang="tr-TR"/>
        </a:p>
      </dgm:t>
    </dgm:pt>
    <dgm:pt modelId="{DED9B059-74AE-4EA6-98CD-DD288BBEFEB4}" type="sibTrans" cxnId="{58743691-CDBC-4C78-9EBE-FEF9799F9A13}">
      <dgm:prSet/>
      <dgm:spPr/>
      <dgm:t>
        <a:bodyPr/>
        <a:lstStyle/>
        <a:p>
          <a:pPr algn="ctr"/>
          <a:endParaRPr lang="tr-TR"/>
        </a:p>
      </dgm:t>
    </dgm:pt>
    <dgm:pt modelId="{46E72AE4-9EE5-4796-BC52-0D2E2E03E5AE}">
      <dgm:prSet phldrT="[Metin]" custT="1"/>
      <dgm:spPr/>
      <dgm:t>
        <a:bodyPr/>
        <a:lstStyle/>
        <a:p>
          <a:pPr algn="ctr"/>
          <a:r>
            <a:rPr lang="tr-TR" sz="1400" dirty="0" err="1" smtClean="0">
              <a:latin typeface="Times New Roman" panose="02020603050405020304" pitchFamily="18" charset="0"/>
              <a:cs typeface="Times New Roman" panose="02020603050405020304" pitchFamily="18" charset="0"/>
            </a:rPr>
            <a:t>Naive</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Bayes</a:t>
          </a:r>
          <a:r>
            <a:rPr lang="tr-TR" sz="1400" dirty="0" smtClean="0">
              <a:latin typeface="Times New Roman" panose="02020603050405020304" pitchFamily="18" charset="0"/>
              <a:cs typeface="Times New Roman" panose="02020603050405020304" pitchFamily="18" charset="0"/>
            </a:rPr>
            <a:t>(NB)</a:t>
          </a:r>
          <a:endParaRPr lang="tr-TR" sz="1400" dirty="0">
            <a:latin typeface="Times New Roman" panose="02020603050405020304" pitchFamily="18" charset="0"/>
            <a:cs typeface="Times New Roman" panose="02020603050405020304" pitchFamily="18" charset="0"/>
          </a:endParaRPr>
        </a:p>
      </dgm:t>
    </dgm:pt>
    <dgm:pt modelId="{9184867E-9C2E-42C2-A966-8F80F112B98D}" type="parTrans" cxnId="{8D47EA68-7F75-4BC7-AC0D-2E50F905439F}">
      <dgm:prSet/>
      <dgm:spPr/>
      <dgm:t>
        <a:bodyPr/>
        <a:lstStyle/>
        <a:p>
          <a:pPr algn="ctr"/>
          <a:endParaRPr lang="tr-TR"/>
        </a:p>
      </dgm:t>
    </dgm:pt>
    <dgm:pt modelId="{F07D79D7-61F9-4248-AB3F-A50C1A305D74}" type="sibTrans" cxnId="{8D47EA68-7F75-4BC7-AC0D-2E50F905439F}">
      <dgm:prSet/>
      <dgm:spPr/>
      <dgm:t>
        <a:bodyPr/>
        <a:lstStyle/>
        <a:p>
          <a:pPr algn="ctr"/>
          <a:endParaRPr lang="tr-TR"/>
        </a:p>
      </dgm:t>
    </dgm:pt>
    <dgm:pt modelId="{A1E5376F-046A-451A-ABCA-00AA29AECF0B}">
      <dgm:prSet phldrT="[Metin]" custT="1"/>
      <dgm:spPr/>
      <dgm:t>
        <a:bodyPr/>
        <a:lstStyle/>
        <a:p>
          <a:pPr algn="ctr"/>
          <a:r>
            <a:rPr lang="tr-TR" sz="1400" dirty="0" err="1" smtClean="0">
              <a:latin typeface="Times New Roman" panose="02020603050405020304" pitchFamily="18" charset="0"/>
              <a:cs typeface="Times New Roman" panose="02020603050405020304" pitchFamily="18" charset="0"/>
            </a:rPr>
            <a:t>Support</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Vector</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Machines</a:t>
          </a:r>
          <a:r>
            <a:rPr lang="tr-TR" sz="1400" dirty="0" smtClean="0">
              <a:latin typeface="Times New Roman" panose="02020603050405020304" pitchFamily="18" charset="0"/>
              <a:cs typeface="Times New Roman" panose="02020603050405020304" pitchFamily="18" charset="0"/>
            </a:rPr>
            <a:t>(SVM)</a:t>
          </a:r>
          <a:endParaRPr lang="tr-TR" sz="1400" dirty="0">
            <a:latin typeface="Times New Roman" panose="02020603050405020304" pitchFamily="18" charset="0"/>
            <a:cs typeface="Times New Roman" panose="02020603050405020304" pitchFamily="18" charset="0"/>
          </a:endParaRPr>
        </a:p>
      </dgm:t>
    </dgm:pt>
    <dgm:pt modelId="{BF77E46A-F1BF-46FE-B083-499F61820D31}" type="parTrans" cxnId="{5E224E29-1374-4CB0-B051-3A2C0264A864}">
      <dgm:prSet/>
      <dgm:spPr/>
      <dgm:t>
        <a:bodyPr/>
        <a:lstStyle/>
        <a:p>
          <a:pPr algn="ctr"/>
          <a:endParaRPr lang="tr-TR"/>
        </a:p>
      </dgm:t>
    </dgm:pt>
    <dgm:pt modelId="{72F9F0B2-4AC9-4B47-B046-1ECEFFA70EA2}" type="sibTrans" cxnId="{5E224E29-1374-4CB0-B051-3A2C0264A864}">
      <dgm:prSet/>
      <dgm:spPr/>
      <dgm:t>
        <a:bodyPr/>
        <a:lstStyle/>
        <a:p>
          <a:pPr algn="ctr"/>
          <a:endParaRPr lang="tr-TR"/>
        </a:p>
      </dgm:t>
    </dgm:pt>
    <dgm:pt modelId="{F4A7BE44-F2FB-4C7F-A435-B67B73560834}">
      <dgm:prSet phldrT="[Metin]"/>
      <dgm:spPr/>
      <dgm:t>
        <a:bodyPr/>
        <a:lstStyle/>
        <a:p>
          <a:pPr algn="ctr"/>
          <a:r>
            <a:rPr lang="tr-TR" b="1" dirty="0" smtClean="0">
              <a:solidFill>
                <a:schemeClr val="tx1"/>
              </a:solidFill>
            </a:rPr>
            <a:t>Derin Öğrenme Tabanlı Modeller</a:t>
          </a:r>
          <a:endParaRPr lang="tr-TR" b="1" dirty="0">
            <a:solidFill>
              <a:schemeClr val="tx1"/>
            </a:solidFill>
          </a:endParaRPr>
        </a:p>
      </dgm:t>
    </dgm:pt>
    <dgm:pt modelId="{DDE85586-27AD-40F4-8C0B-EECABD54B509}" type="parTrans" cxnId="{318FFB68-04EA-41E3-A313-6B5609706151}">
      <dgm:prSet/>
      <dgm:spPr/>
      <dgm:t>
        <a:bodyPr/>
        <a:lstStyle/>
        <a:p>
          <a:pPr algn="ctr"/>
          <a:endParaRPr lang="tr-TR"/>
        </a:p>
      </dgm:t>
    </dgm:pt>
    <dgm:pt modelId="{41AAE5D2-916B-457D-939B-85657E2DFA4F}" type="sibTrans" cxnId="{318FFB68-04EA-41E3-A313-6B5609706151}">
      <dgm:prSet/>
      <dgm:spPr/>
      <dgm:t>
        <a:bodyPr/>
        <a:lstStyle/>
        <a:p>
          <a:pPr algn="ctr"/>
          <a:endParaRPr lang="tr-TR"/>
        </a:p>
      </dgm:t>
    </dgm:pt>
    <dgm:pt modelId="{D03360F2-1438-4C8C-A32D-2719E0A67E3E}">
      <dgm:prSet phldrT="[Metin]"/>
      <dgm:spPr/>
      <dgm:t>
        <a:bodyPr/>
        <a:lstStyle/>
        <a:p>
          <a:pPr algn="ctr"/>
          <a:r>
            <a:rPr lang="tr-TR" b="1" dirty="0" err="1" smtClean="0">
              <a:solidFill>
                <a:schemeClr val="tx1"/>
              </a:solidFill>
            </a:rPr>
            <a:t>Transformer</a:t>
          </a:r>
          <a:r>
            <a:rPr lang="tr-TR" b="1" dirty="0" smtClean="0">
              <a:solidFill>
                <a:schemeClr val="tx1"/>
              </a:solidFill>
            </a:rPr>
            <a:t> Tabanlı Model</a:t>
          </a:r>
          <a:endParaRPr lang="tr-TR" b="1" dirty="0">
            <a:solidFill>
              <a:schemeClr val="tx1"/>
            </a:solidFill>
          </a:endParaRPr>
        </a:p>
      </dgm:t>
    </dgm:pt>
    <dgm:pt modelId="{7ED9D55E-8CD5-4F8F-9D19-5FD21D2C74A8}" type="parTrans" cxnId="{AD875B61-65C6-47A0-AD5A-75B81D7D4025}">
      <dgm:prSet/>
      <dgm:spPr/>
      <dgm:t>
        <a:bodyPr/>
        <a:lstStyle/>
        <a:p>
          <a:pPr algn="ctr"/>
          <a:endParaRPr lang="tr-TR"/>
        </a:p>
      </dgm:t>
    </dgm:pt>
    <dgm:pt modelId="{C217C965-F999-4D71-8C6C-529EF3AA303D}" type="sibTrans" cxnId="{AD875B61-65C6-47A0-AD5A-75B81D7D4025}">
      <dgm:prSet/>
      <dgm:spPr/>
      <dgm:t>
        <a:bodyPr/>
        <a:lstStyle/>
        <a:p>
          <a:pPr algn="ctr"/>
          <a:endParaRPr lang="tr-TR"/>
        </a:p>
      </dgm:t>
    </dgm:pt>
    <dgm:pt modelId="{0A4915D7-58C1-4387-892F-F6ED33178007}">
      <dgm:prSet phldrT="[Metin]" custT="1"/>
      <dgm:spPr/>
      <dgm:t>
        <a:bodyPr/>
        <a:lstStyle/>
        <a:p>
          <a:pPr algn="ctr"/>
          <a:r>
            <a:rPr lang="tr-TR" sz="1400" dirty="0" err="1" smtClean="0">
              <a:latin typeface="Times New Roman" panose="02020603050405020304" pitchFamily="18" charset="0"/>
              <a:cs typeface="Times New Roman" panose="02020603050405020304" pitchFamily="18" charset="0"/>
            </a:rPr>
            <a:t>Bidirectional</a:t>
          </a:r>
          <a:r>
            <a:rPr lang="tr-TR" sz="1400" dirty="0" smtClean="0">
              <a:latin typeface="Times New Roman" panose="02020603050405020304" pitchFamily="18" charset="0"/>
              <a:cs typeface="Times New Roman" panose="02020603050405020304" pitchFamily="18" charset="0"/>
            </a:rPr>
            <a:t> Encoder </a:t>
          </a:r>
          <a:r>
            <a:rPr lang="tr-TR" sz="1400" dirty="0" err="1" smtClean="0">
              <a:latin typeface="Times New Roman" panose="02020603050405020304" pitchFamily="18" charset="0"/>
              <a:cs typeface="Times New Roman" panose="02020603050405020304" pitchFamily="18" charset="0"/>
            </a:rPr>
            <a:t>Representations</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from</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Transformers</a:t>
          </a:r>
          <a:r>
            <a:rPr lang="tr-TR" sz="1400" dirty="0" smtClean="0">
              <a:latin typeface="Times New Roman" panose="02020603050405020304" pitchFamily="18" charset="0"/>
              <a:cs typeface="Times New Roman" panose="02020603050405020304" pitchFamily="18" charset="0"/>
            </a:rPr>
            <a:t> (BERT) </a:t>
          </a:r>
          <a:endParaRPr lang="tr-TR" sz="1400" dirty="0">
            <a:latin typeface="Times New Roman" panose="02020603050405020304" pitchFamily="18" charset="0"/>
            <a:cs typeface="Times New Roman" panose="02020603050405020304" pitchFamily="18" charset="0"/>
          </a:endParaRPr>
        </a:p>
      </dgm:t>
    </dgm:pt>
    <dgm:pt modelId="{AE4AFDE8-083D-4F1F-81ED-151F6A871F74}" type="parTrans" cxnId="{649C19DB-8F71-4057-8F0F-21E026AE8B2E}">
      <dgm:prSet/>
      <dgm:spPr/>
      <dgm:t>
        <a:bodyPr/>
        <a:lstStyle/>
        <a:p>
          <a:pPr algn="ctr"/>
          <a:endParaRPr lang="tr-TR"/>
        </a:p>
      </dgm:t>
    </dgm:pt>
    <dgm:pt modelId="{BAC1E2AE-30C5-4F39-B1F2-B11D1C4F480F}" type="sibTrans" cxnId="{649C19DB-8F71-4057-8F0F-21E026AE8B2E}">
      <dgm:prSet/>
      <dgm:spPr/>
      <dgm:t>
        <a:bodyPr/>
        <a:lstStyle/>
        <a:p>
          <a:pPr algn="ctr"/>
          <a:endParaRPr lang="tr-TR"/>
        </a:p>
      </dgm:t>
    </dgm:pt>
    <dgm:pt modelId="{0940DE55-39C8-48FE-AAFC-4FF5CAE325F8}">
      <dgm:prSet phldrT="[Metin]" custT="1"/>
      <dgm:spPr/>
      <dgm:t>
        <a:bodyPr/>
        <a:lstStyle/>
        <a:p>
          <a:pPr algn="ctr"/>
          <a:r>
            <a:rPr lang="tr-TR" sz="1400" dirty="0" err="1" smtClean="0">
              <a:latin typeface="Times New Roman" panose="02020603050405020304" pitchFamily="18" charset="0"/>
              <a:cs typeface="Times New Roman" panose="02020603050405020304" pitchFamily="18" charset="0"/>
            </a:rPr>
            <a:t>Logistic</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Regression</a:t>
          </a:r>
          <a:r>
            <a:rPr lang="tr-TR" sz="1400" dirty="0" smtClean="0">
              <a:latin typeface="Times New Roman" panose="02020603050405020304" pitchFamily="18" charset="0"/>
              <a:cs typeface="Times New Roman" panose="02020603050405020304" pitchFamily="18" charset="0"/>
            </a:rPr>
            <a:t>(LR)</a:t>
          </a:r>
          <a:endParaRPr lang="tr-TR" sz="1400" dirty="0">
            <a:latin typeface="Times New Roman" panose="02020603050405020304" pitchFamily="18" charset="0"/>
            <a:cs typeface="Times New Roman" panose="02020603050405020304" pitchFamily="18" charset="0"/>
          </a:endParaRPr>
        </a:p>
      </dgm:t>
    </dgm:pt>
    <dgm:pt modelId="{7D64FDE4-08C1-4B4A-9481-72110CE2F431}" type="parTrans" cxnId="{F46957A4-F3D8-4DD3-835A-70BD01A8CD3F}">
      <dgm:prSet/>
      <dgm:spPr/>
      <dgm:t>
        <a:bodyPr/>
        <a:lstStyle/>
        <a:p>
          <a:pPr algn="ctr"/>
          <a:endParaRPr lang="tr-TR"/>
        </a:p>
      </dgm:t>
    </dgm:pt>
    <dgm:pt modelId="{578AA202-1A10-4125-B14C-3479F0E1B4A8}" type="sibTrans" cxnId="{F46957A4-F3D8-4DD3-835A-70BD01A8CD3F}">
      <dgm:prSet/>
      <dgm:spPr/>
      <dgm:t>
        <a:bodyPr/>
        <a:lstStyle/>
        <a:p>
          <a:pPr algn="ctr"/>
          <a:endParaRPr lang="tr-TR"/>
        </a:p>
      </dgm:t>
    </dgm:pt>
    <dgm:pt modelId="{2290F4D8-3530-4F43-BC0E-04A14CDA4EF5}">
      <dgm:prSet custT="1"/>
      <dgm:spPr/>
      <dgm:t>
        <a:bodyPr/>
        <a:lstStyle/>
        <a:p>
          <a:pPr algn="ctr"/>
          <a:r>
            <a:rPr lang="tr-TR" sz="1400" dirty="0" err="1" smtClean="0">
              <a:latin typeface="Times New Roman" panose="02020603050405020304" pitchFamily="18" charset="0"/>
              <a:cs typeface="Times New Roman" panose="02020603050405020304" pitchFamily="18" charset="0"/>
            </a:rPr>
            <a:t>Long</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Short-Term</a:t>
          </a:r>
          <a:r>
            <a:rPr lang="tr-TR" sz="1400" dirty="0" smtClean="0">
              <a:latin typeface="Times New Roman" panose="02020603050405020304" pitchFamily="18" charset="0"/>
              <a:cs typeface="Times New Roman" panose="02020603050405020304" pitchFamily="18" charset="0"/>
            </a:rPr>
            <a:t> Memory (LSTM)</a:t>
          </a:r>
          <a:endParaRPr lang="tr-TR" sz="1400" dirty="0">
            <a:latin typeface="Times New Roman" panose="02020603050405020304" pitchFamily="18" charset="0"/>
            <a:cs typeface="Times New Roman" panose="02020603050405020304" pitchFamily="18" charset="0"/>
          </a:endParaRPr>
        </a:p>
      </dgm:t>
    </dgm:pt>
    <dgm:pt modelId="{2308134C-7B59-43EB-9B1C-5CEF4E519A03}" type="parTrans" cxnId="{156EF28F-6C48-4816-91F5-D610B7E466BA}">
      <dgm:prSet/>
      <dgm:spPr/>
      <dgm:t>
        <a:bodyPr/>
        <a:lstStyle/>
        <a:p>
          <a:pPr algn="ctr"/>
          <a:endParaRPr lang="tr-TR"/>
        </a:p>
      </dgm:t>
    </dgm:pt>
    <dgm:pt modelId="{C0D63ED0-E0CD-4057-829B-19EE6B3B38EE}" type="sibTrans" cxnId="{156EF28F-6C48-4816-91F5-D610B7E466BA}">
      <dgm:prSet/>
      <dgm:spPr/>
      <dgm:t>
        <a:bodyPr/>
        <a:lstStyle/>
        <a:p>
          <a:pPr algn="ctr"/>
          <a:endParaRPr lang="tr-TR"/>
        </a:p>
      </dgm:t>
    </dgm:pt>
    <dgm:pt modelId="{5A3E17FA-67C3-4FAC-B237-6141B02354D5}">
      <dgm:prSet phldrT="[Metin]" custT="1"/>
      <dgm:spPr/>
      <dgm:t>
        <a:bodyPr/>
        <a:lstStyle/>
        <a:p>
          <a:pPr algn="ctr"/>
          <a:r>
            <a:rPr lang="tr-TR" sz="1400" dirty="0" err="1" smtClean="0">
              <a:latin typeface="Times New Roman" panose="02020603050405020304" pitchFamily="18" charset="0"/>
              <a:cs typeface="Times New Roman" panose="02020603050405020304" pitchFamily="18" charset="0"/>
            </a:rPr>
            <a:t>Convolutional</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Neural</a:t>
          </a:r>
          <a:r>
            <a:rPr lang="tr-TR" sz="1400" dirty="0" smtClean="0">
              <a:latin typeface="Times New Roman" panose="02020603050405020304" pitchFamily="18" charset="0"/>
              <a:cs typeface="Times New Roman" panose="02020603050405020304" pitchFamily="18" charset="0"/>
            </a:rPr>
            <a:t> Networks (CNN) </a:t>
          </a:r>
          <a:endParaRPr lang="tr-TR" sz="1400" dirty="0">
            <a:latin typeface="Times New Roman" panose="02020603050405020304" pitchFamily="18" charset="0"/>
            <a:cs typeface="Times New Roman" panose="02020603050405020304" pitchFamily="18" charset="0"/>
          </a:endParaRPr>
        </a:p>
      </dgm:t>
    </dgm:pt>
    <dgm:pt modelId="{75F9DD2E-8E03-48C4-8C95-734B70ECC08D}" type="sibTrans" cxnId="{923795E9-DD0E-4730-B835-EC8F3C207525}">
      <dgm:prSet/>
      <dgm:spPr/>
      <dgm:t>
        <a:bodyPr/>
        <a:lstStyle/>
        <a:p>
          <a:pPr algn="ctr"/>
          <a:endParaRPr lang="tr-TR"/>
        </a:p>
      </dgm:t>
    </dgm:pt>
    <dgm:pt modelId="{03A6099D-9B98-44A6-B0C4-83DD71303C36}" type="parTrans" cxnId="{923795E9-DD0E-4730-B835-EC8F3C207525}">
      <dgm:prSet/>
      <dgm:spPr/>
      <dgm:t>
        <a:bodyPr/>
        <a:lstStyle/>
        <a:p>
          <a:pPr algn="ctr"/>
          <a:endParaRPr lang="tr-TR"/>
        </a:p>
      </dgm:t>
    </dgm:pt>
    <dgm:pt modelId="{2EF8BA60-85E2-4EE8-9828-63D5CCCCBF49}" type="pres">
      <dgm:prSet presAssocID="{3D3DDE27-A741-4388-9692-02B25FEF1585}" presName="diagram" presStyleCnt="0">
        <dgm:presLayoutVars>
          <dgm:chPref val="1"/>
          <dgm:dir/>
          <dgm:animOne val="branch"/>
          <dgm:animLvl val="lvl"/>
          <dgm:resizeHandles/>
        </dgm:presLayoutVars>
      </dgm:prSet>
      <dgm:spPr/>
      <dgm:t>
        <a:bodyPr/>
        <a:lstStyle/>
        <a:p>
          <a:endParaRPr lang="tr-TR"/>
        </a:p>
      </dgm:t>
    </dgm:pt>
    <dgm:pt modelId="{415D9BCB-E610-412A-B883-4C62A1653075}" type="pres">
      <dgm:prSet presAssocID="{33163759-E98C-4975-B8E5-9038DE796365}" presName="root" presStyleCnt="0"/>
      <dgm:spPr/>
    </dgm:pt>
    <dgm:pt modelId="{2D54DDFD-1895-4C08-B618-E5F82A74B239}" type="pres">
      <dgm:prSet presAssocID="{33163759-E98C-4975-B8E5-9038DE796365}" presName="rootComposite" presStyleCnt="0"/>
      <dgm:spPr/>
    </dgm:pt>
    <dgm:pt modelId="{93F46C58-D7F3-4D2A-B6EA-E40D5A34BE62}" type="pres">
      <dgm:prSet presAssocID="{33163759-E98C-4975-B8E5-9038DE796365}" presName="rootText" presStyleLbl="node1" presStyleIdx="0" presStyleCnt="3"/>
      <dgm:spPr/>
      <dgm:t>
        <a:bodyPr/>
        <a:lstStyle/>
        <a:p>
          <a:endParaRPr lang="tr-TR"/>
        </a:p>
      </dgm:t>
    </dgm:pt>
    <dgm:pt modelId="{59B87F73-43A9-4E2B-A18B-2E0BAE2F01AD}" type="pres">
      <dgm:prSet presAssocID="{33163759-E98C-4975-B8E5-9038DE796365}" presName="rootConnector" presStyleLbl="node1" presStyleIdx="0" presStyleCnt="3"/>
      <dgm:spPr/>
      <dgm:t>
        <a:bodyPr/>
        <a:lstStyle/>
        <a:p>
          <a:endParaRPr lang="tr-TR"/>
        </a:p>
      </dgm:t>
    </dgm:pt>
    <dgm:pt modelId="{A89605EE-E351-4A22-9916-62EB6CCD85B6}" type="pres">
      <dgm:prSet presAssocID="{33163759-E98C-4975-B8E5-9038DE796365}" presName="childShape" presStyleCnt="0"/>
      <dgm:spPr/>
    </dgm:pt>
    <dgm:pt modelId="{E0B1CDA5-ADAC-43DD-8292-34D8D4A01FD5}" type="pres">
      <dgm:prSet presAssocID="{9184867E-9C2E-42C2-A966-8F80F112B98D}" presName="Name13" presStyleLbl="parChTrans1D2" presStyleIdx="0" presStyleCnt="6"/>
      <dgm:spPr/>
      <dgm:t>
        <a:bodyPr/>
        <a:lstStyle/>
        <a:p>
          <a:endParaRPr lang="tr-TR"/>
        </a:p>
      </dgm:t>
    </dgm:pt>
    <dgm:pt modelId="{BCB04F4D-0621-4D0B-9076-510E612326FD}" type="pres">
      <dgm:prSet presAssocID="{46E72AE4-9EE5-4796-BC52-0D2E2E03E5AE}" presName="childText" presStyleLbl="bgAcc1" presStyleIdx="0" presStyleCnt="6">
        <dgm:presLayoutVars>
          <dgm:bulletEnabled val="1"/>
        </dgm:presLayoutVars>
      </dgm:prSet>
      <dgm:spPr/>
      <dgm:t>
        <a:bodyPr/>
        <a:lstStyle/>
        <a:p>
          <a:endParaRPr lang="tr-TR"/>
        </a:p>
      </dgm:t>
    </dgm:pt>
    <dgm:pt modelId="{33D2F70F-77CE-4853-9552-C92C70B02FF6}" type="pres">
      <dgm:prSet presAssocID="{BF77E46A-F1BF-46FE-B083-499F61820D31}" presName="Name13" presStyleLbl="parChTrans1D2" presStyleIdx="1" presStyleCnt="6"/>
      <dgm:spPr/>
      <dgm:t>
        <a:bodyPr/>
        <a:lstStyle/>
        <a:p>
          <a:endParaRPr lang="tr-TR"/>
        </a:p>
      </dgm:t>
    </dgm:pt>
    <dgm:pt modelId="{0B26F2FD-F646-4BE3-A0D0-05207B445F70}" type="pres">
      <dgm:prSet presAssocID="{A1E5376F-046A-451A-ABCA-00AA29AECF0B}" presName="childText" presStyleLbl="bgAcc1" presStyleIdx="1" presStyleCnt="6">
        <dgm:presLayoutVars>
          <dgm:bulletEnabled val="1"/>
        </dgm:presLayoutVars>
      </dgm:prSet>
      <dgm:spPr/>
      <dgm:t>
        <a:bodyPr/>
        <a:lstStyle/>
        <a:p>
          <a:endParaRPr lang="tr-TR"/>
        </a:p>
      </dgm:t>
    </dgm:pt>
    <dgm:pt modelId="{0BFCCDF0-DD8F-4A48-91EE-91F8D5D72F33}" type="pres">
      <dgm:prSet presAssocID="{7D64FDE4-08C1-4B4A-9481-72110CE2F431}" presName="Name13" presStyleLbl="parChTrans1D2" presStyleIdx="2" presStyleCnt="6"/>
      <dgm:spPr/>
      <dgm:t>
        <a:bodyPr/>
        <a:lstStyle/>
        <a:p>
          <a:endParaRPr lang="tr-TR"/>
        </a:p>
      </dgm:t>
    </dgm:pt>
    <dgm:pt modelId="{B81B9B71-DAFE-44F5-B40B-AD156418217A}" type="pres">
      <dgm:prSet presAssocID="{0940DE55-39C8-48FE-AAFC-4FF5CAE325F8}" presName="childText" presStyleLbl="bgAcc1" presStyleIdx="2" presStyleCnt="6">
        <dgm:presLayoutVars>
          <dgm:bulletEnabled val="1"/>
        </dgm:presLayoutVars>
      </dgm:prSet>
      <dgm:spPr/>
      <dgm:t>
        <a:bodyPr/>
        <a:lstStyle/>
        <a:p>
          <a:endParaRPr lang="tr-TR"/>
        </a:p>
      </dgm:t>
    </dgm:pt>
    <dgm:pt modelId="{4F916DB4-F816-46EA-B2F1-43A413D1E50C}" type="pres">
      <dgm:prSet presAssocID="{F4A7BE44-F2FB-4C7F-A435-B67B73560834}" presName="root" presStyleCnt="0"/>
      <dgm:spPr/>
    </dgm:pt>
    <dgm:pt modelId="{44BDD51E-6A32-4031-834D-5B882C926B6B}" type="pres">
      <dgm:prSet presAssocID="{F4A7BE44-F2FB-4C7F-A435-B67B73560834}" presName="rootComposite" presStyleCnt="0"/>
      <dgm:spPr/>
    </dgm:pt>
    <dgm:pt modelId="{9F5B45FE-FEA9-4F62-A695-6769BB1E4D57}" type="pres">
      <dgm:prSet presAssocID="{F4A7BE44-F2FB-4C7F-A435-B67B73560834}" presName="rootText" presStyleLbl="node1" presStyleIdx="1" presStyleCnt="3"/>
      <dgm:spPr/>
      <dgm:t>
        <a:bodyPr/>
        <a:lstStyle/>
        <a:p>
          <a:endParaRPr lang="tr-TR"/>
        </a:p>
      </dgm:t>
    </dgm:pt>
    <dgm:pt modelId="{9C7C936D-AF47-4F6D-BEEA-51E2AFCF28A1}" type="pres">
      <dgm:prSet presAssocID="{F4A7BE44-F2FB-4C7F-A435-B67B73560834}" presName="rootConnector" presStyleLbl="node1" presStyleIdx="1" presStyleCnt="3"/>
      <dgm:spPr/>
      <dgm:t>
        <a:bodyPr/>
        <a:lstStyle/>
        <a:p>
          <a:endParaRPr lang="tr-TR"/>
        </a:p>
      </dgm:t>
    </dgm:pt>
    <dgm:pt modelId="{9141F076-5D77-4BD9-BE9F-8D0A83E574B5}" type="pres">
      <dgm:prSet presAssocID="{F4A7BE44-F2FB-4C7F-A435-B67B73560834}" presName="childShape" presStyleCnt="0"/>
      <dgm:spPr/>
    </dgm:pt>
    <dgm:pt modelId="{B1017131-4D70-4E17-BA1F-70366E9B1D6D}" type="pres">
      <dgm:prSet presAssocID="{03A6099D-9B98-44A6-B0C4-83DD71303C36}" presName="Name13" presStyleLbl="parChTrans1D2" presStyleIdx="3" presStyleCnt="6"/>
      <dgm:spPr/>
      <dgm:t>
        <a:bodyPr/>
        <a:lstStyle/>
        <a:p>
          <a:endParaRPr lang="tr-TR"/>
        </a:p>
      </dgm:t>
    </dgm:pt>
    <dgm:pt modelId="{9ED9818D-A46F-4C52-9524-BEA2D81E537B}" type="pres">
      <dgm:prSet presAssocID="{5A3E17FA-67C3-4FAC-B237-6141B02354D5}" presName="childText" presStyleLbl="bgAcc1" presStyleIdx="3" presStyleCnt="6">
        <dgm:presLayoutVars>
          <dgm:bulletEnabled val="1"/>
        </dgm:presLayoutVars>
      </dgm:prSet>
      <dgm:spPr/>
      <dgm:t>
        <a:bodyPr/>
        <a:lstStyle/>
        <a:p>
          <a:endParaRPr lang="tr-TR"/>
        </a:p>
      </dgm:t>
    </dgm:pt>
    <dgm:pt modelId="{5300FF56-8213-463F-BAE7-B3606C64A686}" type="pres">
      <dgm:prSet presAssocID="{2308134C-7B59-43EB-9B1C-5CEF4E519A03}" presName="Name13" presStyleLbl="parChTrans1D2" presStyleIdx="4" presStyleCnt="6"/>
      <dgm:spPr/>
      <dgm:t>
        <a:bodyPr/>
        <a:lstStyle/>
        <a:p>
          <a:endParaRPr lang="tr-TR"/>
        </a:p>
      </dgm:t>
    </dgm:pt>
    <dgm:pt modelId="{01C004B9-CB59-4F10-A996-E5CD1F03BD10}" type="pres">
      <dgm:prSet presAssocID="{2290F4D8-3530-4F43-BC0E-04A14CDA4EF5}" presName="childText" presStyleLbl="bgAcc1" presStyleIdx="4" presStyleCnt="6">
        <dgm:presLayoutVars>
          <dgm:bulletEnabled val="1"/>
        </dgm:presLayoutVars>
      </dgm:prSet>
      <dgm:spPr/>
      <dgm:t>
        <a:bodyPr/>
        <a:lstStyle/>
        <a:p>
          <a:endParaRPr lang="tr-TR"/>
        </a:p>
      </dgm:t>
    </dgm:pt>
    <dgm:pt modelId="{94059379-4753-49FF-AA9F-49BDE127768F}" type="pres">
      <dgm:prSet presAssocID="{D03360F2-1438-4C8C-A32D-2719E0A67E3E}" presName="root" presStyleCnt="0"/>
      <dgm:spPr/>
    </dgm:pt>
    <dgm:pt modelId="{84177149-702E-46D2-9C5F-EA8EAC546669}" type="pres">
      <dgm:prSet presAssocID="{D03360F2-1438-4C8C-A32D-2719E0A67E3E}" presName="rootComposite" presStyleCnt="0"/>
      <dgm:spPr/>
    </dgm:pt>
    <dgm:pt modelId="{AE4644D1-708C-459B-9F33-8DE342455F49}" type="pres">
      <dgm:prSet presAssocID="{D03360F2-1438-4C8C-A32D-2719E0A67E3E}" presName="rootText" presStyleLbl="node1" presStyleIdx="2" presStyleCnt="3"/>
      <dgm:spPr/>
      <dgm:t>
        <a:bodyPr/>
        <a:lstStyle/>
        <a:p>
          <a:endParaRPr lang="tr-TR"/>
        </a:p>
      </dgm:t>
    </dgm:pt>
    <dgm:pt modelId="{397265D6-9A43-4304-8C5A-F8E94A79691B}" type="pres">
      <dgm:prSet presAssocID="{D03360F2-1438-4C8C-A32D-2719E0A67E3E}" presName="rootConnector" presStyleLbl="node1" presStyleIdx="2" presStyleCnt="3"/>
      <dgm:spPr/>
      <dgm:t>
        <a:bodyPr/>
        <a:lstStyle/>
        <a:p>
          <a:endParaRPr lang="tr-TR"/>
        </a:p>
      </dgm:t>
    </dgm:pt>
    <dgm:pt modelId="{96122BFD-0DAE-453C-BAA7-DFB629D10419}" type="pres">
      <dgm:prSet presAssocID="{D03360F2-1438-4C8C-A32D-2719E0A67E3E}" presName="childShape" presStyleCnt="0"/>
      <dgm:spPr/>
    </dgm:pt>
    <dgm:pt modelId="{F66134BE-70CC-4A8D-9263-A77C5F05773C}" type="pres">
      <dgm:prSet presAssocID="{AE4AFDE8-083D-4F1F-81ED-151F6A871F74}" presName="Name13" presStyleLbl="parChTrans1D2" presStyleIdx="5" presStyleCnt="6"/>
      <dgm:spPr/>
      <dgm:t>
        <a:bodyPr/>
        <a:lstStyle/>
        <a:p>
          <a:endParaRPr lang="tr-TR"/>
        </a:p>
      </dgm:t>
    </dgm:pt>
    <dgm:pt modelId="{42EEB227-6F53-4D30-9083-7800C868B84D}" type="pres">
      <dgm:prSet presAssocID="{0A4915D7-58C1-4387-892F-F6ED33178007}" presName="childText" presStyleLbl="bgAcc1" presStyleIdx="5" presStyleCnt="6" custScaleX="112826">
        <dgm:presLayoutVars>
          <dgm:bulletEnabled val="1"/>
        </dgm:presLayoutVars>
      </dgm:prSet>
      <dgm:spPr/>
      <dgm:t>
        <a:bodyPr/>
        <a:lstStyle/>
        <a:p>
          <a:endParaRPr lang="tr-TR"/>
        </a:p>
      </dgm:t>
    </dgm:pt>
  </dgm:ptLst>
  <dgm:cxnLst>
    <dgm:cxn modelId="{AF5B57B3-AE3E-444F-A543-E302A90E8206}" type="presOf" srcId="{03A6099D-9B98-44A6-B0C4-83DD71303C36}" destId="{B1017131-4D70-4E17-BA1F-70366E9B1D6D}" srcOrd="0" destOrd="0" presId="urn:microsoft.com/office/officeart/2005/8/layout/hierarchy3"/>
    <dgm:cxn modelId="{5E224E29-1374-4CB0-B051-3A2C0264A864}" srcId="{33163759-E98C-4975-B8E5-9038DE796365}" destId="{A1E5376F-046A-451A-ABCA-00AA29AECF0B}" srcOrd="1" destOrd="0" parTransId="{BF77E46A-F1BF-46FE-B083-499F61820D31}" sibTransId="{72F9F0B2-4AC9-4B47-B046-1ECEFFA70EA2}"/>
    <dgm:cxn modelId="{47AB2A1B-BBBE-4DC0-A50F-28F9C9277B0F}" type="presOf" srcId="{A1E5376F-046A-451A-ABCA-00AA29AECF0B}" destId="{0B26F2FD-F646-4BE3-A0D0-05207B445F70}" srcOrd="0" destOrd="0" presId="urn:microsoft.com/office/officeart/2005/8/layout/hierarchy3"/>
    <dgm:cxn modelId="{0E74E89D-B9ED-4F85-B02C-5CFFC9818AE2}" type="presOf" srcId="{46E72AE4-9EE5-4796-BC52-0D2E2E03E5AE}" destId="{BCB04F4D-0621-4D0B-9076-510E612326FD}" srcOrd="0" destOrd="0" presId="urn:microsoft.com/office/officeart/2005/8/layout/hierarchy3"/>
    <dgm:cxn modelId="{5AA0095F-5E79-4562-B694-217B50D54F45}" type="presOf" srcId="{7D64FDE4-08C1-4B4A-9481-72110CE2F431}" destId="{0BFCCDF0-DD8F-4A48-91EE-91F8D5D72F33}" srcOrd="0" destOrd="0" presId="urn:microsoft.com/office/officeart/2005/8/layout/hierarchy3"/>
    <dgm:cxn modelId="{CF8868E8-E697-4332-A3CA-B2BFFB353038}" type="presOf" srcId="{F4A7BE44-F2FB-4C7F-A435-B67B73560834}" destId="{9F5B45FE-FEA9-4F62-A695-6769BB1E4D57}" srcOrd="0" destOrd="0" presId="urn:microsoft.com/office/officeart/2005/8/layout/hierarchy3"/>
    <dgm:cxn modelId="{923795E9-DD0E-4730-B835-EC8F3C207525}" srcId="{F4A7BE44-F2FB-4C7F-A435-B67B73560834}" destId="{5A3E17FA-67C3-4FAC-B237-6141B02354D5}" srcOrd="0" destOrd="0" parTransId="{03A6099D-9B98-44A6-B0C4-83DD71303C36}" sibTransId="{75F9DD2E-8E03-48C4-8C95-734B70ECC08D}"/>
    <dgm:cxn modelId="{F5882C70-D818-4139-9F90-22F8958E2CB0}" type="presOf" srcId="{3D3DDE27-A741-4388-9692-02B25FEF1585}" destId="{2EF8BA60-85E2-4EE8-9828-63D5CCCCBF49}" srcOrd="0" destOrd="0" presId="urn:microsoft.com/office/officeart/2005/8/layout/hierarchy3"/>
    <dgm:cxn modelId="{420DC0AD-B1DE-48AE-ADBA-362A6325256F}" type="presOf" srcId="{0A4915D7-58C1-4387-892F-F6ED33178007}" destId="{42EEB227-6F53-4D30-9083-7800C868B84D}" srcOrd="0" destOrd="0" presId="urn:microsoft.com/office/officeart/2005/8/layout/hierarchy3"/>
    <dgm:cxn modelId="{AD4EE1EA-86AD-4902-94C7-ED5E5593F1B4}" type="presOf" srcId="{F4A7BE44-F2FB-4C7F-A435-B67B73560834}" destId="{9C7C936D-AF47-4F6D-BEEA-51E2AFCF28A1}" srcOrd="1" destOrd="0" presId="urn:microsoft.com/office/officeart/2005/8/layout/hierarchy3"/>
    <dgm:cxn modelId="{C30F3BFD-6A30-4820-B37B-54E50C647080}" type="presOf" srcId="{2308134C-7B59-43EB-9B1C-5CEF4E519A03}" destId="{5300FF56-8213-463F-BAE7-B3606C64A686}" srcOrd="0" destOrd="0" presId="urn:microsoft.com/office/officeart/2005/8/layout/hierarchy3"/>
    <dgm:cxn modelId="{F3687908-4C1D-4E64-B499-11CE8680B70D}" type="presOf" srcId="{2290F4D8-3530-4F43-BC0E-04A14CDA4EF5}" destId="{01C004B9-CB59-4F10-A996-E5CD1F03BD10}" srcOrd="0" destOrd="0" presId="urn:microsoft.com/office/officeart/2005/8/layout/hierarchy3"/>
    <dgm:cxn modelId="{C55A5E2D-2430-4AC7-AA25-7F5079564331}" type="presOf" srcId="{9184867E-9C2E-42C2-A966-8F80F112B98D}" destId="{E0B1CDA5-ADAC-43DD-8292-34D8D4A01FD5}" srcOrd="0" destOrd="0" presId="urn:microsoft.com/office/officeart/2005/8/layout/hierarchy3"/>
    <dgm:cxn modelId="{F077B0BF-B685-4982-809A-0D3419634D60}" type="presOf" srcId="{D03360F2-1438-4C8C-A32D-2719E0A67E3E}" destId="{AE4644D1-708C-459B-9F33-8DE342455F49}" srcOrd="0" destOrd="0" presId="urn:microsoft.com/office/officeart/2005/8/layout/hierarchy3"/>
    <dgm:cxn modelId="{8D47EA68-7F75-4BC7-AC0D-2E50F905439F}" srcId="{33163759-E98C-4975-B8E5-9038DE796365}" destId="{46E72AE4-9EE5-4796-BC52-0D2E2E03E5AE}" srcOrd="0" destOrd="0" parTransId="{9184867E-9C2E-42C2-A966-8F80F112B98D}" sibTransId="{F07D79D7-61F9-4248-AB3F-A50C1A305D74}"/>
    <dgm:cxn modelId="{156EF28F-6C48-4816-91F5-D610B7E466BA}" srcId="{F4A7BE44-F2FB-4C7F-A435-B67B73560834}" destId="{2290F4D8-3530-4F43-BC0E-04A14CDA4EF5}" srcOrd="1" destOrd="0" parTransId="{2308134C-7B59-43EB-9B1C-5CEF4E519A03}" sibTransId="{C0D63ED0-E0CD-4057-829B-19EE6B3B38EE}"/>
    <dgm:cxn modelId="{6474817B-0600-41E0-9989-FB0C31BDF29B}" type="presOf" srcId="{5A3E17FA-67C3-4FAC-B237-6141B02354D5}" destId="{9ED9818D-A46F-4C52-9524-BEA2D81E537B}" srcOrd="0" destOrd="0" presId="urn:microsoft.com/office/officeart/2005/8/layout/hierarchy3"/>
    <dgm:cxn modelId="{22498D56-ADFC-480D-BC25-AA33D1455DF0}" type="presOf" srcId="{D03360F2-1438-4C8C-A32D-2719E0A67E3E}" destId="{397265D6-9A43-4304-8C5A-F8E94A79691B}" srcOrd="1" destOrd="0" presId="urn:microsoft.com/office/officeart/2005/8/layout/hierarchy3"/>
    <dgm:cxn modelId="{AD875B61-65C6-47A0-AD5A-75B81D7D4025}" srcId="{3D3DDE27-A741-4388-9692-02B25FEF1585}" destId="{D03360F2-1438-4C8C-A32D-2719E0A67E3E}" srcOrd="2" destOrd="0" parTransId="{7ED9D55E-8CD5-4F8F-9D19-5FD21D2C74A8}" sibTransId="{C217C965-F999-4D71-8C6C-529EF3AA303D}"/>
    <dgm:cxn modelId="{649C19DB-8F71-4057-8F0F-21E026AE8B2E}" srcId="{D03360F2-1438-4C8C-A32D-2719E0A67E3E}" destId="{0A4915D7-58C1-4387-892F-F6ED33178007}" srcOrd="0" destOrd="0" parTransId="{AE4AFDE8-083D-4F1F-81ED-151F6A871F74}" sibTransId="{BAC1E2AE-30C5-4F39-B1F2-B11D1C4F480F}"/>
    <dgm:cxn modelId="{05ED912B-4C9C-490D-A999-309D5FF0AA47}" type="presOf" srcId="{33163759-E98C-4975-B8E5-9038DE796365}" destId="{59B87F73-43A9-4E2B-A18B-2E0BAE2F01AD}" srcOrd="1" destOrd="0" presId="urn:microsoft.com/office/officeart/2005/8/layout/hierarchy3"/>
    <dgm:cxn modelId="{58743691-CDBC-4C78-9EBE-FEF9799F9A13}" srcId="{3D3DDE27-A741-4388-9692-02B25FEF1585}" destId="{33163759-E98C-4975-B8E5-9038DE796365}" srcOrd="0" destOrd="0" parTransId="{6A7040F8-E4EF-4372-A093-96D17E3DD4C2}" sibTransId="{DED9B059-74AE-4EA6-98CD-DD288BBEFEB4}"/>
    <dgm:cxn modelId="{318FFB68-04EA-41E3-A313-6B5609706151}" srcId="{3D3DDE27-A741-4388-9692-02B25FEF1585}" destId="{F4A7BE44-F2FB-4C7F-A435-B67B73560834}" srcOrd="1" destOrd="0" parTransId="{DDE85586-27AD-40F4-8C0B-EECABD54B509}" sibTransId="{41AAE5D2-916B-457D-939B-85657E2DFA4F}"/>
    <dgm:cxn modelId="{3B1E13BC-9A71-4170-8E19-777259168E7E}" type="presOf" srcId="{AE4AFDE8-083D-4F1F-81ED-151F6A871F74}" destId="{F66134BE-70CC-4A8D-9263-A77C5F05773C}" srcOrd="0" destOrd="0" presId="urn:microsoft.com/office/officeart/2005/8/layout/hierarchy3"/>
    <dgm:cxn modelId="{8C35E48C-E518-4258-8820-CEC84DFD33FC}" type="presOf" srcId="{33163759-E98C-4975-B8E5-9038DE796365}" destId="{93F46C58-D7F3-4D2A-B6EA-E40D5A34BE62}" srcOrd="0" destOrd="0" presId="urn:microsoft.com/office/officeart/2005/8/layout/hierarchy3"/>
    <dgm:cxn modelId="{F46957A4-F3D8-4DD3-835A-70BD01A8CD3F}" srcId="{33163759-E98C-4975-B8E5-9038DE796365}" destId="{0940DE55-39C8-48FE-AAFC-4FF5CAE325F8}" srcOrd="2" destOrd="0" parTransId="{7D64FDE4-08C1-4B4A-9481-72110CE2F431}" sibTransId="{578AA202-1A10-4125-B14C-3479F0E1B4A8}"/>
    <dgm:cxn modelId="{D40A335E-8D78-46AA-BF12-095D03EB7FDD}" type="presOf" srcId="{BF77E46A-F1BF-46FE-B083-499F61820D31}" destId="{33D2F70F-77CE-4853-9552-C92C70B02FF6}" srcOrd="0" destOrd="0" presId="urn:microsoft.com/office/officeart/2005/8/layout/hierarchy3"/>
    <dgm:cxn modelId="{099CF75D-FF4F-479F-B20E-373811088071}" type="presOf" srcId="{0940DE55-39C8-48FE-AAFC-4FF5CAE325F8}" destId="{B81B9B71-DAFE-44F5-B40B-AD156418217A}" srcOrd="0" destOrd="0" presId="urn:microsoft.com/office/officeart/2005/8/layout/hierarchy3"/>
    <dgm:cxn modelId="{43CB8E87-D994-40D5-87A3-EB6DE45C5438}" type="presParOf" srcId="{2EF8BA60-85E2-4EE8-9828-63D5CCCCBF49}" destId="{415D9BCB-E610-412A-B883-4C62A1653075}" srcOrd="0" destOrd="0" presId="urn:microsoft.com/office/officeart/2005/8/layout/hierarchy3"/>
    <dgm:cxn modelId="{DBEEBD20-4B03-45DD-AEA9-11393FE6F333}" type="presParOf" srcId="{415D9BCB-E610-412A-B883-4C62A1653075}" destId="{2D54DDFD-1895-4C08-B618-E5F82A74B239}" srcOrd="0" destOrd="0" presId="urn:microsoft.com/office/officeart/2005/8/layout/hierarchy3"/>
    <dgm:cxn modelId="{3F3970A2-CB34-4501-B195-2E02C1BD677B}" type="presParOf" srcId="{2D54DDFD-1895-4C08-B618-E5F82A74B239}" destId="{93F46C58-D7F3-4D2A-B6EA-E40D5A34BE62}" srcOrd="0" destOrd="0" presId="urn:microsoft.com/office/officeart/2005/8/layout/hierarchy3"/>
    <dgm:cxn modelId="{BA043FE4-3B68-455D-B90C-3FE1F8F6AC59}" type="presParOf" srcId="{2D54DDFD-1895-4C08-B618-E5F82A74B239}" destId="{59B87F73-43A9-4E2B-A18B-2E0BAE2F01AD}" srcOrd="1" destOrd="0" presId="urn:microsoft.com/office/officeart/2005/8/layout/hierarchy3"/>
    <dgm:cxn modelId="{FE263BBF-3A63-4A19-8614-519FDCD4EFBF}" type="presParOf" srcId="{415D9BCB-E610-412A-B883-4C62A1653075}" destId="{A89605EE-E351-4A22-9916-62EB6CCD85B6}" srcOrd="1" destOrd="0" presId="urn:microsoft.com/office/officeart/2005/8/layout/hierarchy3"/>
    <dgm:cxn modelId="{2618EAB9-5C10-47DF-807A-3E0119E09A61}" type="presParOf" srcId="{A89605EE-E351-4A22-9916-62EB6CCD85B6}" destId="{E0B1CDA5-ADAC-43DD-8292-34D8D4A01FD5}" srcOrd="0" destOrd="0" presId="urn:microsoft.com/office/officeart/2005/8/layout/hierarchy3"/>
    <dgm:cxn modelId="{E0984A59-15F2-4998-A0C8-9D89F5856F30}" type="presParOf" srcId="{A89605EE-E351-4A22-9916-62EB6CCD85B6}" destId="{BCB04F4D-0621-4D0B-9076-510E612326FD}" srcOrd="1" destOrd="0" presId="urn:microsoft.com/office/officeart/2005/8/layout/hierarchy3"/>
    <dgm:cxn modelId="{90735F34-DA65-4EFF-B684-9BDF2A37170E}" type="presParOf" srcId="{A89605EE-E351-4A22-9916-62EB6CCD85B6}" destId="{33D2F70F-77CE-4853-9552-C92C70B02FF6}" srcOrd="2" destOrd="0" presId="urn:microsoft.com/office/officeart/2005/8/layout/hierarchy3"/>
    <dgm:cxn modelId="{3AFFDAF1-C527-4A21-A501-064C50A9218C}" type="presParOf" srcId="{A89605EE-E351-4A22-9916-62EB6CCD85B6}" destId="{0B26F2FD-F646-4BE3-A0D0-05207B445F70}" srcOrd="3" destOrd="0" presId="urn:microsoft.com/office/officeart/2005/8/layout/hierarchy3"/>
    <dgm:cxn modelId="{4B3D9727-2231-49F9-A96D-9048201559B8}" type="presParOf" srcId="{A89605EE-E351-4A22-9916-62EB6CCD85B6}" destId="{0BFCCDF0-DD8F-4A48-91EE-91F8D5D72F33}" srcOrd="4" destOrd="0" presId="urn:microsoft.com/office/officeart/2005/8/layout/hierarchy3"/>
    <dgm:cxn modelId="{81D642AD-DBD6-4EE1-8A98-435DD533CF3D}" type="presParOf" srcId="{A89605EE-E351-4A22-9916-62EB6CCD85B6}" destId="{B81B9B71-DAFE-44F5-B40B-AD156418217A}" srcOrd="5" destOrd="0" presId="urn:microsoft.com/office/officeart/2005/8/layout/hierarchy3"/>
    <dgm:cxn modelId="{AC2544D9-6F36-4398-95F3-E4E54F466A72}" type="presParOf" srcId="{2EF8BA60-85E2-4EE8-9828-63D5CCCCBF49}" destId="{4F916DB4-F816-46EA-B2F1-43A413D1E50C}" srcOrd="1" destOrd="0" presId="urn:microsoft.com/office/officeart/2005/8/layout/hierarchy3"/>
    <dgm:cxn modelId="{40AD154B-DC34-408F-BC62-9E24546447B4}" type="presParOf" srcId="{4F916DB4-F816-46EA-B2F1-43A413D1E50C}" destId="{44BDD51E-6A32-4031-834D-5B882C926B6B}" srcOrd="0" destOrd="0" presId="urn:microsoft.com/office/officeart/2005/8/layout/hierarchy3"/>
    <dgm:cxn modelId="{14293515-9C30-4F78-87B5-1A5C8FF0DF2D}" type="presParOf" srcId="{44BDD51E-6A32-4031-834D-5B882C926B6B}" destId="{9F5B45FE-FEA9-4F62-A695-6769BB1E4D57}" srcOrd="0" destOrd="0" presId="urn:microsoft.com/office/officeart/2005/8/layout/hierarchy3"/>
    <dgm:cxn modelId="{9BBE9745-0EDB-45FD-8581-12B8BBEE728F}" type="presParOf" srcId="{44BDD51E-6A32-4031-834D-5B882C926B6B}" destId="{9C7C936D-AF47-4F6D-BEEA-51E2AFCF28A1}" srcOrd="1" destOrd="0" presId="urn:microsoft.com/office/officeart/2005/8/layout/hierarchy3"/>
    <dgm:cxn modelId="{CF79723D-C9E5-4E2C-A27A-B4E4D6C09BA7}" type="presParOf" srcId="{4F916DB4-F816-46EA-B2F1-43A413D1E50C}" destId="{9141F076-5D77-4BD9-BE9F-8D0A83E574B5}" srcOrd="1" destOrd="0" presId="urn:microsoft.com/office/officeart/2005/8/layout/hierarchy3"/>
    <dgm:cxn modelId="{AD0A3D33-77DF-4633-B9CF-29264EA80B99}" type="presParOf" srcId="{9141F076-5D77-4BD9-BE9F-8D0A83E574B5}" destId="{B1017131-4D70-4E17-BA1F-70366E9B1D6D}" srcOrd="0" destOrd="0" presId="urn:microsoft.com/office/officeart/2005/8/layout/hierarchy3"/>
    <dgm:cxn modelId="{9F8C7579-DAB2-4645-A17A-9DAE37637865}" type="presParOf" srcId="{9141F076-5D77-4BD9-BE9F-8D0A83E574B5}" destId="{9ED9818D-A46F-4C52-9524-BEA2D81E537B}" srcOrd="1" destOrd="0" presId="urn:microsoft.com/office/officeart/2005/8/layout/hierarchy3"/>
    <dgm:cxn modelId="{422F67AB-B0AC-4B5F-85C0-41515986F752}" type="presParOf" srcId="{9141F076-5D77-4BD9-BE9F-8D0A83E574B5}" destId="{5300FF56-8213-463F-BAE7-B3606C64A686}" srcOrd="2" destOrd="0" presId="urn:microsoft.com/office/officeart/2005/8/layout/hierarchy3"/>
    <dgm:cxn modelId="{3E7C676B-31B3-420A-A930-6576675FBCB6}" type="presParOf" srcId="{9141F076-5D77-4BD9-BE9F-8D0A83E574B5}" destId="{01C004B9-CB59-4F10-A996-E5CD1F03BD10}" srcOrd="3" destOrd="0" presId="urn:microsoft.com/office/officeart/2005/8/layout/hierarchy3"/>
    <dgm:cxn modelId="{41780A2C-F656-4DD8-AFFF-FBD13BDF9BE7}" type="presParOf" srcId="{2EF8BA60-85E2-4EE8-9828-63D5CCCCBF49}" destId="{94059379-4753-49FF-AA9F-49BDE127768F}" srcOrd="2" destOrd="0" presId="urn:microsoft.com/office/officeart/2005/8/layout/hierarchy3"/>
    <dgm:cxn modelId="{53B27453-51B2-4C37-BC52-C291B2C3E8E8}" type="presParOf" srcId="{94059379-4753-49FF-AA9F-49BDE127768F}" destId="{84177149-702E-46D2-9C5F-EA8EAC546669}" srcOrd="0" destOrd="0" presId="urn:microsoft.com/office/officeart/2005/8/layout/hierarchy3"/>
    <dgm:cxn modelId="{6E6CEF0D-0570-4083-BAB2-0DFD08B1BDA4}" type="presParOf" srcId="{84177149-702E-46D2-9C5F-EA8EAC546669}" destId="{AE4644D1-708C-459B-9F33-8DE342455F49}" srcOrd="0" destOrd="0" presId="urn:microsoft.com/office/officeart/2005/8/layout/hierarchy3"/>
    <dgm:cxn modelId="{4DC1B190-6EF6-4A5C-9A37-119579B07787}" type="presParOf" srcId="{84177149-702E-46D2-9C5F-EA8EAC546669}" destId="{397265D6-9A43-4304-8C5A-F8E94A79691B}" srcOrd="1" destOrd="0" presId="urn:microsoft.com/office/officeart/2005/8/layout/hierarchy3"/>
    <dgm:cxn modelId="{DDFCFEA0-01C1-4DFF-A1BB-EA928AF2F8F9}" type="presParOf" srcId="{94059379-4753-49FF-AA9F-49BDE127768F}" destId="{96122BFD-0DAE-453C-BAA7-DFB629D10419}" srcOrd="1" destOrd="0" presId="urn:microsoft.com/office/officeart/2005/8/layout/hierarchy3"/>
    <dgm:cxn modelId="{48FBBEFC-90FF-46EA-B4BA-06777876A921}" type="presParOf" srcId="{96122BFD-0DAE-453C-BAA7-DFB629D10419}" destId="{F66134BE-70CC-4A8D-9263-A77C5F05773C}" srcOrd="0" destOrd="0" presId="urn:microsoft.com/office/officeart/2005/8/layout/hierarchy3"/>
    <dgm:cxn modelId="{9D845664-AC41-4953-900C-8426A0D22E1D}" type="presParOf" srcId="{96122BFD-0DAE-453C-BAA7-DFB629D10419}" destId="{42EEB227-6F53-4D30-9083-7800C868B84D}" srcOrd="1"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5A7A503-C509-4CAA-9D68-A9FE6E013F37}" type="doc">
      <dgm:prSet loTypeId="urn:microsoft.com/office/officeart/2005/8/layout/vList6" loCatId="list" qsTypeId="urn:microsoft.com/office/officeart/2005/8/quickstyle/3d1" qsCatId="3D" csTypeId="urn:microsoft.com/office/officeart/2005/8/colors/colorful2" csCatId="colorful" phldr="1"/>
      <dgm:spPr/>
      <dgm:t>
        <a:bodyPr/>
        <a:lstStyle/>
        <a:p>
          <a:endParaRPr lang="tr-TR"/>
        </a:p>
      </dgm:t>
    </dgm:pt>
    <dgm:pt modelId="{565AFFAD-61CE-4F6C-9B1C-CBE8D54C4024}">
      <dgm:prSet phldrT="[Metin]" custT="1"/>
      <dgm:spPr/>
      <dgm:t>
        <a:bodyPr/>
        <a:lstStyle/>
        <a:p>
          <a:r>
            <a:rPr lang="tr-TR" sz="2000" b="1" u="sng" dirty="0" smtClean="0">
              <a:solidFill>
                <a:schemeClr val="tx1"/>
              </a:solidFill>
              <a:latin typeface="Times New Roman" panose="02020603050405020304" pitchFamily="18" charset="0"/>
              <a:cs typeface="Times New Roman" panose="02020603050405020304" pitchFamily="18" charset="0"/>
            </a:rPr>
            <a:t>Ortak Ayarlar</a:t>
          </a:r>
          <a:endParaRPr lang="tr-TR" sz="2000" b="1" u="sng" dirty="0">
            <a:solidFill>
              <a:schemeClr val="tx1"/>
            </a:solidFill>
            <a:latin typeface="Times New Roman" panose="02020603050405020304" pitchFamily="18" charset="0"/>
            <a:cs typeface="Times New Roman" panose="02020603050405020304" pitchFamily="18" charset="0"/>
          </a:endParaRPr>
        </a:p>
      </dgm:t>
    </dgm:pt>
    <dgm:pt modelId="{CFFACB15-1113-475F-B2C9-E29C575767C4}" type="parTrans" cxnId="{F5853369-12B3-4551-A15F-4B39C00176EC}">
      <dgm:prSet/>
      <dgm:spPr/>
      <dgm:t>
        <a:bodyPr/>
        <a:lstStyle/>
        <a:p>
          <a:endParaRPr lang="tr-TR"/>
        </a:p>
      </dgm:t>
    </dgm:pt>
    <dgm:pt modelId="{9CF0259A-FA06-41CA-ABFD-B460A53338A1}" type="sibTrans" cxnId="{F5853369-12B3-4551-A15F-4B39C00176EC}">
      <dgm:prSet/>
      <dgm:spPr/>
      <dgm:t>
        <a:bodyPr/>
        <a:lstStyle/>
        <a:p>
          <a:endParaRPr lang="tr-TR"/>
        </a:p>
      </dgm:t>
    </dgm:pt>
    <dgm:pt modelId="{B1E2FA8D-A34B-4DE5-94FB-A606085F31AE}">
      <dgm:prSet phldrT="[Metin]" custT="1"/>
      <dgm:spPr/>
      <dgm:t>
        <a:bodyPr/>
        <a:lstStyle/>
        <a:p>
          <a:r>
            <a:rPr lang="tr-TR" sz="1800" b="1" i="1" dirty="0" err="1" smtClean="0">
              <a:latin typeface="Times New Roman" panose="02020603050405020304" pitchFamily="18" charset="0"/>
              <a:cs typeface="Times New Roman" panose="02020603050405020304" pitchFamily="18" charset="0"/>
            </a:rPr>
            <a:t>Max</a:t>
          </a:r>
          <a:r>
            <a:rPr lang="tr-TR" sz="1800" b="1" i="1" dirty="0" smtClean="0">
              <a:latin typeface="Times New Roman" panose="02020603050405020304" pitchFamily="18" charset="0"/>
              <a:cs typeface="Times New Roman" panose="02020603050405020304" pitchFamily="18" charset="0"/>
            </a:rPr>
            <a:t> </a:t>
          </a:r>
          <a:r>
            <a:rPr lang="tr-TR" sz="1800" b="1" i="1" dirty="0" err="1" smtClean="0">
              <a:latin typeface="Times New Roman" panose="02020603050405020304" pitchFamily="18" charset="0"/>
              <a:cs typeface="Times New Roman" panose="02020603050405020304" pitchFamily="18" charset="0"/>
            </a:rPr>
            <a:t>sequence</a:t>
          </a:r>
          <a:r>
            <a:rPr lang="tr-TR" sz="1800" b="1" i="1" dirty="0" smtClean="0">
              <a:latin typeface="Times New Roman" panose="02020603050405020304" pitchFamily="18" charset="0"/>
              <a:cs typeface="Times New Roman" panose="02020603050405020304" pitchFamily="18" charset="0"/>
            </a:rPr>
            <a:t> </a:t>
          </a:r>
          <a:r>
            <a:rPr lang="tr-TR" sz="1800" b="1" i="1" dirty="0" err="1" smtClean="0">
              <a:latin typeface="Times New Roman" panose="02020603050405020304" pitchFamily="18" charset="0"/>
              <a:cs typeface="Times New Roman" panose="02020603050405020304" pitchFamily="18" charset="0"/>
            </a:rPr>
            <a:t>length</a:t>
          </a:r>
          <a:r>
            <a:rPr lang="tr-TR" sz="1800" b="1" i="1" dirty="0" smtClean="0">
              <a:latin typeface="Times New Roman" panose="02020603050405020304" pitchFamily="18" charset="0"/>
              <a:cs typeface="Times New Roman" panose="02020603050405020304" pitchFamily="18" charset="0"/>
            </a:rPr>
            <a:t> : 256</a:t>
          </a:r>
          <a:endParaRPr lang="tr-TR" sz="1800" b="1" i="1" dirty="0">
            <a:latin typeface="Times New Roman" panose="02020603050405020304" pitchFamily="18" charset="0"/>
            <a:cs typeface="Times New Roman" panose="02020603050405020304" pitchFamily="18" charset="0"/>
          </a:endParaRPr>
        </a:p>
      </dgm:t>
    </dgm:pt>
    <dgm:pt modelId="{E13F600C-4F3A-4C61-981A-0D6ECDDA8256}" type="parTrans" cxnId="{ADAA3D3D-A882-44C8-8CA6-A7738BF4E310}">
      <dgm:prSet/>
      <dgm:spPr/>
      <dgm:t>
        <a:bodyPr/>
        <a:lstStyle/>
        <a:p>
          <a:endParaRPr lang="tr-TR"/>
        </a:p>
      </dgm:t>
    </dgm:pt>
    <dgm:pt modelId="{96D07F20-8670-432D-9654-26C21B9CDBAE}" type="sibTrans" cxnId="{ADAA3D3D-A882-44C8-8CA6-A7738BF4E310}">
      <dgm:prSet/>
      <dgm:spPr/>
      <dgm:t>
        <a:bodyPr/>
        <a:lstStyle/>
        <a:p>
          <a:endParaRPr lang="tr-TR"/>
        </a:p>
      </dgm:t>
    </dgm:pt>
    <dgm:pt modelId="{45324722-0FBC-4B11-9694-2D4D852A7959}">
      <dgm:prSet phldrT="[Metin]" custT="1"/>
      <dgm:spPr/>
      <dgm:t>
        <a:bodyPr/>
        <a:lstStyle/>
        <a:p>
          <a:r>
            <a:rPr lang="tr-TR" sz="1800" b="1" i="1" dirty="0" err="1" smtClean="0">
              <a:latin typeface="Times New Roman" panose="02020603050405020304" pitchFamily="18" charset="0"/>
              <a:cs typeface="Times New Roman" panose="02020603050405020304" pitchFamily="18" charset="0"/>
            </a:rPr>
            <a:t>Epoch</a:t>
          </a:r>
          <a:r>
            <a:rPr lang="tr-TR" sz="1800" b="1" i="1" dirty="0" smtClean="0">
              <a:latin typeface="Times New Roman" panose="02020603050405020304" pitchFamily="18" charset="0"/>
              <a:cs typeface="Times New Roman" panose="02020603050405020304" pitchFamily="18" charset="0"/>
            </a:rPr>
            <a:t>: 5</a:t>
          </a:r>
          <a:endParaRPr lang="tr-TR" sz="1800" b="1" i="1" dirty="0">
            <a:latin typeface="Times New Roman" panose="02020603050405020304" pitchFamily="18" charset="0"/>
            <a:cs typeface="Times New Roman" panose="02020603050405020304" pitchFamily="18" charset="0"/>
          </a:endParaRPr>
        </a:p>
      </dgm:t>
    </dgm:pt>
    <dgm:pt modelId="{9A43D440-2444-40EB-B8BA-702453FAF5B3}" type="parTrans" cxnId="{AFE884E4-FE85-410F-8CB9-1764B3B2098E}">
      <dgm:prSet/>
      <dgm:spPr/>
      <dgm:t>
        <a:bodyPr/>
        <a:lstStyle/>
        <a:p>
          <a:endParaRPr lang="tr-TR"/>
        </a:p>
      </dgm:t>
    </dgm:pt>
    <dgm:pt modelId="{809B9BD2-54DD-4CE2-9B38-59AA79200C62}" type="sibTrans" cxnId="{AFE884E4-FE85-410F-8CB9-1764B3B2098E}">
      <dgm:prSet/>
      <dgm:spPr/>
      <dgm:t>
        <a:bodyPr/>
        <a:lstStyle/>
        <a:p>
          <a:endParaRPr lang="tr-TR"/>
        </a:p>
      </dgm:t>
    </dgm:pt>
    <dgm:pt modelId="{F483ECFD-403E-4B5B-B44E-03F1EC7D3DC9}">
      <dgm:prSet phldrT="[Metin]" custT="1"/>
      <dgm:spPr/>
      <dgm:t>
        <a:bodyPr/>
        <a:lstStyle/>
        <a:p>
          <a:r>
            <a:rPr lang="tr-TR" sz="2000" b="1" dirty="0" smtClean="0">
              <a:solidFill>
                <a:schemeClr val="tx1"/>
              </a:solidFill>
              <a:latin typeface="Times New Roman" panose="02020603050405020304" pitchFamily="18" charset="0"/>
              <a:cs typeface="Times New Roman" panose="02020603050405020304" pitchFamily="18" charset="0"/>
            </a:rPr>
            <a:t>Derin Öğrenme </a:t>
          </a:r>
          <a:r>
            <a:rPr lang="tr-TR" sz="2000" b="1" u="sng" dirty="0" smtClean="0">
              <a:solidFill>
                <a:schemeClr val="tx1"/>
              </a:solidFill>
              <a:latin typeface="Times New Roman" panose="02020603050405020304" pitchFamily="18" charset="0"/>
              <a:cs typeface="Times New Roman" panose="02020603050405020304" pitchFamily="18" charset="0"/>
            </a:rPr>
            <a:t>Modelleri</a:t>
          </a:r>
          <a:endParaRPr lang="tr-TR" sz="2000" b="1" u="sng" dirty="0">
            <a:solidFill>
              <a:schemeClr val="tx1"/>
            </a:solidFill>
            <a:latin typeface="Times New Roman" panose="02020603050405020304" pitchFamily="18" charset="0"/>
            <a:cs typeface="Times New Roman" panose="02020603050405020304" pitchFamily="18" charset="0"/>
          </a:endParaRPr>
        </a:p>
      </dgm:t>
    </dgm:pt>
    <dgm:pt modelId="{48B0A2F0-CA49-44A1-9C3A-09171351CF56}" type="parTrans" cxnId="{6D437625-CA26-42E9-882F-3242B7F159EC}">
      <dgm:prSet/>
      <dgm:spPr/>
      <dgm:t>
        <a:bodyPr/>
        <a:lstStyle/>
        <a:p>
          <a:endParaRPr lang="tr-TR"/>
        </a:p>
      </dgm:t>
    </dgm:pt>
    <dgm:pt modelId="{D062D956-48F5-4C2E-BB9D-40DD362B4291}" type="sibTrans" cxnId="{6D437625-CA26-42E9-882F-3242B7F159EC}">
      <dgm:prSet/>
      <dgm:spPr/>
      <dgm:t>
        <a:bodyPr/>
        <a:lstStyle/>
        <a:p>
          <a:endParaRPr lang="tr-TR"/>
        </a:p>
      </dgm:t>
    </dgm:pt>
    <dgm:pt modelId="{D45E429A-66E9-40FF-ADA3-073F4E78523E}">
      <dgm:prSet phldrT="[Metin]" custT="1"/>
      <dgm:spPr/>
      <dgm:t>
        <a:bodyPr/>
        <a:lstStyle/>
        <a:p>
          <a:r>
            <a:rPr lang="tr-TR" sz="1800" b="1" i="1" dirty="0" err="1" smtClean="0">
              <a:solidFill>
                <a:schemeClr val="tx1"/>
              </a:solidFill>
              <a:latin typeface="Times New Roman" panose="02020603050405020304" pitchFamily="18" charset="0"/>
              <a:cs typeface="Times New Roman" panose="02020603050405020304" pitchFamily="18" charset="0"/>
            </a:rPr>
            <a:t>Vocabulary</a:t>
          </a:r>
          <a:r>
            <a:rPr lang="tr-TR" sz="1800" b="1" i="1" dirty="0" smtClean="0">
              <a:solidFill>
                <a:schemeClr val="tx1"/>
              </a:solidFill>
              <a:latin typeface="Times New Roman" panose="02020603050405020304" pitchFamily="18" charset="0"/>
              <a:cs typeface="Times New Roman" panose="02020603050405020304" pitchFamily="18" charset="0"/>
            </a:rPr>
            <a:t> size: 50,000</a:t>
          </a:r>
          <a:endParaRPr lang="tr-TR" sz="1800" b="1" i="1" dirty="0">
            <a:solidFill>
              <a:schemeClr val="tx1"/>
            </a:solidFill>
            <a:latin typeface="Times New Roman" panose="02020603050405020304" pitchFamily="18" charset="0"/>
            <a:cs typeface="Times New Roman" panose="02020603050405020304" pitchFamily="18" charset="0"/>
          </a:endParaRPr>
        </a:p>
      </dgm:t>
    </dgm:pt>
    <dgm:pt modelId="{82E3A097-C520-43ED-9481-0A933DFFBC2E}" type="parTrans" cxnId="{5B6ADE75-C6D2-4925-93AE-D052C79EDEFF}">
      <dgm:prSet/>
      <dgm:spPr/>
      <dgm:t>
        <a:bodyPr/>
        <a:lstStyle/>
        <a:p>
          <a:endParaRPr lang="tr-TR"/>
        </a:p>
      </dgm:t>
    </dgm:pt>
    <dgm:pt modelId="{B44F3914-2658-494D-A004-47E205951D98}" type="sibTrans" cxnId="{5B6ADE75-C6D2-4925-93AE-D052C79EDEFF}">
      <dgm:prSet/>
      <dgm:spPr/>
      <dgm:t>
        <a:bodyPr/>
        <a:lstStyle/>
        <a:p>
          <a:endParaRPr lang="tr-TR"/>
        </a:p>
      </dgm:t>
    </dgm:pt>
    <dgm:pt modelId="{9E49EF31-C070-4841-AC75-C63B199EF584}">
      <dgm:prSet phldrT="[Metin]" custT="1"/>
      <dgm:spPr/>
      <dgm:t>
        <a:bodyPr/>
        <a:lstStyle/>
        <a:p>
          <a:r>
            <a:rPr lang="tr-TR" sz="1800" b="1" i="1" dirty="0" err="1" smtClean="0">
              <a:solidFill>
                <a:schemeClr val="tx1"/>
              </a:solidFill>
              <a:latin typeface="Times New Roman" panose="02020603050405020304" pitchFamily="18" charset="0"/>
              <a:cs typeface="Times New Roman" panose="02020603050405020304" pitchFamily="18" charset="0"/>
            </a:rPr>
            <a:t>Embedding</a:t>
          </a:r>
          <a:r>
            <a:rPr lang="tr-TR" sz="1800" b="1" i="1" dirty="0" smtClean="0">
              <a:solidFill>
                <a:schemeClr val="tx1"/>
              </a:solidFill>
              <a:latin typeface="Times New Roman" panose="02020603050405020304" pitchFamily="18" charset="0"/>
              <a:cs typeface="Times New Roman" panose="02020603050405020304" pitchFamily="18" charset="0"/>
            </a:rPr>
            <a:t> </a:t>
          </a:r>
          <a:r>
            <a:rPr lang="tr-TR" sz="1800" b="1" i="1" dirty="0" err="1" smtClean="0">
              <a:solidFill>
                <a:schemeClr val="tx1"/>
              </a:solidFill>
              <a:latin typeface="Times New Roman" panose="02020603050405020304" pitchFamily="18" charset="0"/>
              <a:cs typeface="Times New Roman" panose="02020603050405020304" pitchFamily="18" charset="0"/>
            </a:rPr>
            <a:t>dim</a:t>
          </a:r>
          <a:r>
            <a:rPr lang="tr-TR" sz="1800" b="1" i="1" dirty="0" smtClean="0">
              <a:solidFill>
                <a:schemeClr val="tx1"/>
              </a:solidFill>
              <a:latin typeface="Times New Roman" panose="02020603050405020304" pitchFamily="18" charset="0"/>
              <a:cs typeface="Times New Roman" panose="02020603050405020304" pitchFamily="18" charset="0"/>
            </a:rPr>
            <a:t>: 128</a:t>
          </a:r>
          <a:endParaRPr lang="tr-TR" sz="1800" b="1" i="1" dirty="0">
            <a:solidFill>
              <a:schemeClr val="tx1"/>
            </a:solidFill>
            <a:latin typeface="Times New Roman" panose="02020603050405020304" pitchFamily="18" charset="0"/>
            <a:cs typeface="Times New Roman" panose="02020603050405020304" pitchFamily="18" charset="0"/>
          </a:endParaRPr>
        </a:p>
      </dgm:t>
    </dgm:pt>
    <dgm:pt modelId="{CF36DB4E-01B6-48D3-B6C7-6DE7FC357C7B}" type="parTrans" cxnId="{3EC9056E-C928-4836-A2C9-B1994B0F3EEF}">
      <dgm:prSet/>
      <dgm:spPr/>
      <dgm:t>
        <a:bodyPr/>
        <a:lstStyle/>
        <a:p>
          <a:endParaRPr lang="tr-TR"/>
        </a:p>
      </dgm:t>
    </dgm:pt>
    <dgm:pt modelId="{554A9278-A277-44BE-84D4-512E2CBFA9A4}" type="sibTrans" cxnId="{3EC9056E-C928-4836-A2C9-B1994B0F3EEF}">
      <dgm:prSet/>
      <dgm:spPr/>
      <dgm:t>
        <a:bodyPr/>
        <a:lstStyle/>
        <a:p>
          <a:endParaRPr lang="tr-TR"/>
        </a:p>
      </dgm:t>
    </dgm:pt>
    <dgm:pt modelId="{43853C7F-24AA-4EE9-830D-EFF7ECEF5293}">
      <dgm:prSet phldrT="[Metin]" custT="1"/>
      <dgm:spPr/>
      <dgm:t>
        <a:bodyPr/>
        <a:lstStyle/>
        <a:p>
          <a:r>
            <a:rPr lang="tr-TR" sz="2000" b="1" u="sng" dirty="0" smtClean="0">
              <a:solidFill>
                <a:schemeClr val="tx1"/>
              </a:solidFill>
              <a:latin typeface="Times New Roman" panose="02020603050405020304" pitchFamily="18" charset="0"/>
              <a:cs typeface="Times New Roman" panose="02020603050405020304" pitchFamily="18" charset="0"/>
            </a:rPr>
            <a:t>BERT</a:t>
          </a:r>
          <a:endParaRPr lang="tr-TR" sz="2000" b="1" u="sng" dirty="0">
            <a:solidFill>
              <a:schemeClr val="tx1"/>
            </a:solidFill>
            <a:latin typeface="Times New Roman" panose="02020603050405020304" pitchFamily="18" charset="0"/>
            <a:cs typeface="Times New Roman" panose="02020603050405020304" pitchFamily="18" charset="0"/>
          </a:endParaRPr>
        </a:p>
      </dgm:t>
    </dgm:pt>
    <dgm:pt modelId="{28175E9C-B332-4A1F-B7EA-50CAE6A8CE14}" type="parTrans" cxnId="{F22E2623-2ED3-412C-A579-E0E714F1A554}">
      <dgm:prSet/>
      <dgm:spPr/>
      <dgm:t>
        <a:bodyPr/>
        <a:lstStyle/>
        <a:p>
          <a:endParaRPr lang="tr-TR"/>
        </a:p>
      </dgm:t>
    </dgm:pt>
    <dgm:pt modelId="{81340552-C3C2-461B-8A20-B07B696CD7EE}" type="sibTrans" cxnId="{F22E2623-2ED3-412C-A579-E0E714F1A554}">
      <dgm:prSet/>
      <dgm:spPr/>
      <dgm:t>
        <a:bodyPr/>
        <a:lstStyle/>
        <a:p>
          <a:endParaRPr lang="tr-TR"/>
        </a:p>
      </dgm:t>
    </dgm:pt>
    <dgm:pt modelId="{6DD5F6B8-0E4D-4354-BD1F-832AC4D662D4}">
      <dgm:prSet phldrT="[Metin]" custT="1"/>
      <dgm:spPr/>
      <dgm:t>
        <a:bodyPr/>
        <a:lstStyle/>
        <a:p>
          <a:r>
            <a:rPr lang="tr-TR" sz="1800" b="1" i="1" dirty="0" smtClean="0">
              <a:solidFill>
                <a:schemeClr val="tx1"/>
              </a:solidFill>
              <a:latin typeface="Times New Roman" panose="02020603050405020304" pitchFamily="18" charset="0"/>
              <a:cs typeface="Times New Roman" panose="02020603050405020304" pitchFamily="18" charset="0"/>
            </a:rPr>
            <a:t>Model: bert-</a:t>
          </a:r>
          <a:r>
            <a:rPr lang="tr-TR" sz="1800" b="1" i="1" dirty="0" err="1" smtClean="0">
              <a:solidFill>
                <a:schemeClr val="tx1"/>
              </a:solidFill>
              <a:latin typeface="Times New Roman" panose="02020603050405020304" pitchFamily="18" charset="0"/>
              <a:cs typeface="Times New Roman" panose="02020603050405020304" pitchFamily="18" charset="0"/>
            </a:rPr>
            <a:t>base</a:t>
          </a:r>
          <a:r>
            <a:rPr lang="tr-TR" sz="1800" b="1" i="1" dirty="0" smtClean="0">
              <a:solidFill>
                <a:schemeClr val="tx1"/>
              </a:solidFill>
              <a:latin typeface="Times New Roman" panose="02020603050405020304" pitchFamily="18" charset="0"/>
              <a:cs typeface="Times New Roman" panose="02020603050405020304" pitchFamily="18" charset="0"/>
            </a:rPr>
            <a:t>-</a:t>
          </a:r>
          <a:r>
            <a:rPr lang="tr-TR" sz="1800" b="1" i="1" dirty="0" err="1" smtClean="0">
              <a:solidFill>
                <a:schemeClr val="tx1"/>
              </a:solidFill>
              <a:latin typeface="Times New Roman" panose="02020603050405020304" pitchFamily="18" charset="0"/>
              <a:cs typeface="Times New Roman" panose="02020603050405020304" pitchFamily="18" charset="0"/>
            </a:rPr>
            <a:t>turkish-cased</a:t>
          </a:r>
          <a:endParaRPr lang="tr-TR" sz="1800" b="1" i="1" dirty="0">
            <a:solidFill>
              <a:schemeClr val="tx1"/>
            </a:solidFill>
            <a:latin typeface="Times New Roman" panose="02020603050405020304" pitchFamily="18" charset="0"/>
            <a:cs typeface="Times New Roman" panose="02020603050405020304" pitchFamily="18" charset="0"/>
          </a:endParaRPr>
        </a:p>
      </dgm:t>
    </dgm:pt>
    <dgm:pt modelId="{5A8F03DA-DFD6-4AD5-9F0A-8DEE5C92684D}" type="parTrans" cxnId="{119B131E-9B7B-4615-AE4E-65F4E00BFD01}">
      <dgm:prSet/>
      <dgm:spPr/>
      <dgm:t>
        <a:bodyPr/>
        <a:lstStyle/>
        <a:p>
          <a:endParaRPr lang="tr-TR"/>
        </a:p>
      </dgm:t>
    </dgm:pt>
    <dgm:pt modelId="{794FA6A8-F1FB-44D7-B849-D4D1373CB440}" type="sibTrans" cxnId="{119B131E-9B7B-4615-AE4E-65F4E00BFD01}">
      <dgm:prSet/>
      <dgm:spPr/>
      <dgm:t>
        <a:bodyPr/>
        <a:lstStyle/>
        <a:p>
          <a:endParaRPr lang="tr-TR"/>
        </a:p>
      </dgm:t>
    </dgm:pt>
    <dgm:pt modelId="{7FBDEBA6-A3F7-4E08-9104-90F4B8F212D9}">
      <dgm:prSet phldrT="[Metin]" custT="1"/>
      <dgm:spPr/>
      <dgm:t>
        <a:bodyPr/>
        <a:lstStyle/>
        <a:p>
          <a:r>
            <a:rPr lang="tr-TR" sz="1800" b="1" i="1" dirty="0" err="1" smtClean="0">
              <a:solidFill>
                <a:schemeClr val="tx1"/>
              </a:solidFill>
              <a:latin typeface="Times New Roman" panose="02020603050405020304" pitchFamily="18" charset="0"/>
              <a:cs typeface="Times New Roman" panose="02020603050405020304" pitchFamily="18" charset="0"/>
            </a:rPr>
            <a:t>Batch</a:t>
          </a:r>
          <a:r>
            <a:rPr lang="tr-TR" sz="1800" b="1" i="1" dirty="0" smtClean="0">
              <a:solidFill>
                <a:schemeClr val="tx1"/>
              </a:solidFill>
              <a:latin typeface="Times New Roman" panose="02020603050405020304" pitchFamily="18" charset="0"/>
              <a:cs typeface="Times New Roman" panose="02020603050405020304" pitchFamily="18" charset="0"/>
            </a:rPr>
            <a:t>-size: 32</a:t>
          </a:r>
          <a:endParaRPr lang="tr-TR" sz="1800" b="1" i="1" dirty="0">
            <a:solidFill>
              <a:schemeClr val="tx1"/>
            </a:solidFill>
            <a:latin typeface="Times New Roman" panose="02020603050405020304" pitchFamily="18" charset="0"/>
            <a:cs typeface="Times New Roman" panose="02020603050405020304" pitchFamily="18" charset="0"/>
          </a:endParaRPr>
        </a:p>
      </dgm:t>
    </dgm:pt>
    <dgm:pt modelId="{8A293825-6B54-4AB4-A390-B383B6FD57A7}" type="parTrans" cxnId="{BF9D1857-DEB2-412D-9803-4DE10590AFBF}">
      <dgm:prSet/>
      <dgm:spPr/>
      <dgm:t>
        <a:bodyPr/>
        <a:lstStyle/>
        <a:p>
          <a:endParaRPr lang="tr-TR"/>
        </a:p>
      </dgm:t>
    </dgm:pt>
    <dgm:pt modelId="{898BC2EC-0AC3-4072-86F0-3E78E7D5A851}" type="sibTrans" cxnId="{BF9D1857-DEB2-412D-9803-4DE10590AFBF}">
      <dgm:prSet/>
      <dgm:spPr/>
      <dgm:t>
        <a:bodyPr/>
        <a:lstStyle/>
        <a:p>
          <a:endParaRPr lang="tr-TR"/>
        </a:p>
      </dgm:t>
    </dgm:pt>
    <dgm:pt modelId="{8845ADA8-FC80-41AF-ADC7-2340B18B18FA}">
      <dgm:prSet phldrT="[Metin]" custT="1"/>
      <dgm:spPr/>
      <dgm:t>
        <a:bodyPr/>
        <a:lstStyle/>
        <a:p>
          <a:r>
            <a:rPr lang="tr-TR" sz="1800" b="1" i="1" dirty="0" smtClean="0">
              <a:latin typeface="Times New Roman" panose="02020603050405020304" pitchFamily="18" charset="0"/>
              <a:cs typeface="Times New Roman" panose="02020603050405020304" pitchFamily="18" charset="0"/>
            </a:rPr>
            <a:t>Cross-</a:t>
          </a:r>
          <a:r>
            <a:rPr lang="tr-TR" sz="1800" b="1" i="1" dirty="0" err="1" smtClean="0">
              <a:latin typeface="Times New Roman" panose="02020603050405020304" pitchFamily="18" charset="0"/>
              <a:cs typeface="Times New Roman" panose="02020603050405020304" pitchFamily="18" charset="0"/>
            </a:rPr>
            <a:t>validation</a:t>
          </a:r>
          <a:r>
            <a:rPr lang="tr-TR" sz="1800" b="1" i="1" dirty="0" smtClean="0">
              <a:latin typeface="Times New Roman" panose="02020603050405020304" pitchFamily="18" charset="0"/>
              <a:cs typeface="Times New Roman" panose="02020603050405020304" pitchFamily="18" charset="0"/>
            </a:rPr>
            <a:t>: 5-Fold</a:t>
          </a:r>
          <a:endParaRPr lang="tr-TR" sz="1800" b="1" i="1" dirty="0">
            <a:latin typeface="Times New Roman" panose="02020603050405020304" pitchFamily="18" charset="0"/>
            <a:cs typeface="Times New Roman" panose="02020603050405020304" pitchFamily="18" charset="0"/>
          </a:endParaRPr>
        </a:p>
      </dgm:t>
    </dgm:pt>
    <dgm:pt modelId="{B60BCF7D-A5C7-45B5-B856-02C11B5606BB}" type="parTrans" cxnId="{0F13F1FC-7908-495F-8CC3-41D94DDE9D65}">
      <dgm:prSet/>
      <dgm:spPr/>
      <dgm:t>
        <a:bodyPr/>
        <a:lstStyle/>
        <a:p>
          <a:endParaRPr lang="tr-TR"/>
        </a:p>
      </dgm:t>
    </dgm:pt>
    <dgm:pt modelId="{A71DA026-1044-43FD-B1F0-2E76F0B584E3}" type="sibTrans" cxnId="{0F13F1FC-7908-495F-8CC3-41D94DDE9D65}">
      <dgm:prSet/>
      <dgm:spPr/>
      <dgm:t>
        <a:bodyPr/>
        <a:lstStyle/>
        <a:p>
          <a:endParaRPr lang="tr-TR"/>
        </a:p>
      </dgm:t>
    </dgm:pt>
    <dgm:pt modelId="{770EEFE8-D7FA-4894-8F51-8173D7B7A2F3}">
      <dgm:prSet phldrT="[Metin]" custT="1"/>
      <dgm:spPr/>
      <dgm:t>
        <a:bodyPr/>
        <a:lstStyle/>
        <a:p>
          <a:r>
            <a:rPr lang="tr-TR" sz="1800" b="1" i="1" dirty="0" err="1" smtClean="0">
              <a:solidFill>
                <a:schemeClr val="tx1"/>
              </a:solidFill>
              <a:latin typeface="Times New Roman" panose="02020603050405020304" pitchFamily="18" charset="0"/>
              <a:cs typeface="Times New Roman" panose="02020603050405020304" pitchFamily="18" charset="0"/>
            </a:rPr>
            <a:t>Batch</a:t>
          </a:r>
          <a:r>
            <a:rPr lang="tr-TR" sz="1800" b="1" i="1" dirty="0" smtClean="0">
              <a:solidFill>
                <a:schemeClr val="tx1"/>
              </a:solidFill>
              <a:latin typeface="Times New Roman" panose="02020603050405020304" pitchFamily="18" charset="0"/>
              <a:cs typeface="Times New Roman" panose="02020603050405020304" pitchFamily="18" charset="0"/>
            </a:rPr>
            <a:t> size: 64</a:t>
          </a:r>
          <a:endParaRPr lang="tr-TR" sz="1800" b="1" i="1" dirty="0">
            <a:solidFill>
              <a:schemeClr val="tx1"/>
            </a:solidFill>
            <a:latin typeface="Times New Roman" panose="02020603050405020304" pitchFamily="18" charset="0"/>
            <a:cs typeface="Times New Roman" panose="02020603050405020304" pitchFamily="18" charset="0"/>
          </a:endParaRPr>
        </a:p>
      </dgm:t>
    </dgm:pt>
    <dgm:pt modelId="{B705AFA5-6F64-4EE7-9E5E-D4B3E2C3F6B8}" type="parTrans" cxnId="{D595862D-BD50-4047-AC93-B36190A75353}">
      <dgm:prSet/>
      <dgm:spPr/>
      <dgm:t>
        <a:bodyPr/>
        <a:lstStyle/>
        <a:p>
          <a:endParaRPr lang="tr-TR"/>
        </a:p>
      </dgm:t>
    </dgm:pt>
    <dgm:pt modelId="{893293B4-85EC-4637-B26B-40C917DC4989}" type="sibTrans" cxnId="{D595862D-BD50-4047-AC93-B36190A75353}">
      <dgm:prSet/>
      <dgm:spPr/>
      <dgm:t>
        <a:bodyPr/>
        <a:lstStyle/>
        <a:p>
          <a:endParaRPr lang="tr-TR"/>
        </a:p>
      </dgm:t>
    </dgm:pt>
    <dgm:pt modelId="{AC0FE964-CCE6-4676-A7D2-2272231C6345}">
      <dgm:prSet phldrT="[Metin]" custT="1"/>
      <dgm:spPr/>
      <dgm:t>
        <a:bodyPr/>
        <a:lstStyle/>
        <a:p>
          <a:r>
            <a:rPr lang="tr-TR" sz="2000" b="1" dirty="0" smtClean="0">
              <a:solidFill>
                <a:schemeClr val="tx1"/>
              </a:solidFill>
              <a:latin typeface="Times New Roman" panose="02020603050405020304" pitchFamily="18" charset="0"/>
              <a:cs typeface="Times New Roman" panose="02020603050405020304" pitchFamily="18" charset="0"/>
            </a:rPr>
            <a:t>Geleneksel </a:t>
          </a:r>
          <a:r>
            <a:rPr lang="tr-TR" sz="2000" b="1" u="sng" dirty="0" smtClean="0">
              <a:solidFill>
                <a:schemeClr val="tx1"/>
              </a:solidFill>
              <a:latin typeface="Times New Roman" panose="02020603050405020304" pitchFamily="18" charset="0"/>
              <a:cs typeface="Times New Roman" panose="02020603050405020304" pitchFamily="18" charset="0"/>
            </a:rPr>
            <a:t>Modeller</a:t>
          </a:r>
          <a:endParaRPr lang="tr-TR" sz="2000" b="1" u="sng" dirty="0">
            <a:solidFill>
              <a:schemeClr val="tx1"/>
            </a:solidFill>
            <a:latin typeface="Times New Roman" panose="02020603050405020304" pitchFamily="18" charset="0"/>
            <a:cs typeface="Times New Roman" panose="02020603050405020304" pitchFamily="18" charset="0"/>
          </a:endParaRPr>
        </a:p>
      </dgm:t>
    </dgm:pt>
    <dgm:pt modelId="{6C10B987-7062-46C5-B175-E2849DB07876}" type="parTrans" cxnId="{B8D423B6-8ACB-4DBC-9EB0-6EE9BCC5F17F}">
      <dgm:prSet/>
      <dgm:spPr/>
      <dgm:t>
        <a:bodyPr/>
        <a:lstStyle/>
        <a:p>
          <a:endParaRPr lang="tr-TR"/>
        </a:p>
      </dgm:t>
    </dgm:pt>
    <dgm:pt modelId="{559D11A6-E76B-46DE-9389-685B27B2FDAD}" type="sibTrans" cxnId="{B8D423B6-8ACB-4DBC-9EB0-6EE9BCC5F17F}">
      <dgm:prSet/>
      <dgm:spPr/>
      <dgm:t>
        <a:bodyPr/>
        <a:lstStyle/>
        <a:p>
          <a:endParaRPr lang="tr-TR"/>
        </a:p>
      </dgm:t>
    </dgm:pt>
    <dgm:pt modelId="{D5FED471-6558-4893-803E-CDA3B384C30E}">
      <dgm:prSet custT="1"/>
      <dgm:spPr/>
      <dgm:t>
        <a:bodyPr/>
        <a:lstStyle/>
        <a:p>
          <a:r>
            <a:rPr lang="tr-TR" sz="1800" b="1" i="1" dirty="0" err="1" smtClean="0">
              <a:latin typeface="Times New Roman" panose="02020603050405020304" pitchFamily="18" charset="0"/>
              <a:cs typeface="Times New Roman" panose="02020603050405020304" pitchFamily="18" charset="0"/>
            </a:rPr>
            <a:t>Feature</a:t>
          </a:r>
          <a:r>
            <a:rPr lang="tr-TR" sz="1800" b="1" i="1" dirty="0" smtClean="0">
              <a:latin typeface="Times New Roman" panose="02020603050405020304" pitchFamily="18" charset="0"/>
              <a:cs typeface="Times New Roman" panose="02020603050405020304" pitchFamily="18" charset="0"/>
            </a:rPr>
            <a:t> </a:t>
          </a:r>
          <a:r>
            <a:rPr lang="tr-TR" sz="1800" b="1" i="1" dirty="0" err="1" smtClean="0">
              <a:latin typeface="Times New Roman" panose="02020603050405020304" pitchFamily="18" charset="0"/>
              <a:cs typeface="Times New Roman" panose="02020603050405020304" pitchFamily="18" charset="0"/>
            </a:rPr>
            <a:t>Extraction</a:t>
          </a:r>
          <a:r>
            <a:rPr lang="tr-TR" sz="1800" b="1" i="1" dirty="0" smtClean="0">
              <a:latin typeface="Times New Roman" panose="02020603050405020304" pitchFamily="18" charset="0"/>
              <a:cs typeface="Times New Roman" panose="02020603050405020304" pitchFamily="18" charset="0"/>
            </a:rPr>
            <a:t>: TF-IDF</a:t>
          </a:r>
          <a:endParaRPr lang="tr-TR" sz="1800" b="1" i="1" dirty="0">
            <a:latin typeface="Times New Roman" panose="02020603050405020304" pitchFamily="18" charset="0"/>
            <a:cs typeface="Times New Roman" panose="02020603050405020304" pitchFamily="18" charset="0"/>
          </a:endParaRPr>
        </a:p>
      </dgm:t>
    </dgm:pt>
    <dgm:pt modelId="{50A7BA9B-D98E-43C1-9C4B-1B92603FFB6B}" type="parTrans" cxnId="{A0EACB7F-25AA-4AF5-B979-518D6A0F5B8F}">
      <dgm:prSet/>
      <dgm:spPr/>
      <dgm:t>
        <a:bodyPr/>
        <a:lstStyle/>
        <a:p>
          <a:endParaRPr lang="tr-TR"/>
        </a:p>
      </dgm:t>
    </dgm:pt>
    <dgm:pt modelId="{800B152E-BBAD-4F12-ABF5-1FA41DD308BC}" type="sibTrans" cxnId="{A0EACB7F-25AA-4AF5-B979-518D6A0F5B8F}">
      <dgm:prSet/>
      <dgm:spPr/>
      <dgm:t>
        <a:bodyPr/>
        <a:lstStyle/>
        <a:p>
          <a:endParaRPr lang="tr-TR"/>
        </a:p>
      </dgm:t>
    </dgm:pt>
    <dgm:pt modelId="{51E4DD85-2A91-4C38-873A-06DDB2FF4E3A}">
      <dgm:prSet custT="1"/>
      <dgm:spPr/>
      <dgm:t>
        <a:bodyPr/>
        <a:lstStyle/>
        <a:p>
          <a:r>
            <a:rPr lang="tr-TR" sz="1800" b="1" i="1" dirty="0" err="1" smtClean="0">
              <a:latin typeface="Times New Roman" panose="02020603050405020304" pitchFamily="18" charset="0"/>
              <a:cs typeface="Times New Roman" panose="02020603050405020304" pitchFamily="18" charset="0"/>
            </a:rPr>
            <a:t>Max</a:t>
          </a:r>
          <a:r>
            <a:rPr lang="tr-TR" sz="1800" b="1" i="1" dirty="0" smtClean="0">
              <a:latin typeface="Times New Roman" panose="02020603050405020304" pitchFamily="18" charset="0"/>
              <a:cs typeface="Times New Roman" panose="02020603050405020304" pitchFamily="18" charset="0"/>
            </a:rPr>
            <a:t> </a:t>
          </a:r>
          <a:r>
            <a:rPr lang="tr-TR" sz="1800" b="1" i="1" dirty="0" err="1" smtClean="0">
              <a:latin typeface="Times New Roman" panose="02020603050405020304" pitchFamily="18" charset="0"/>
              <a:cs typeface="Times New Roman" panose="02020603050405020304" pitchFamily="18" charset="0"/>
            </a:rPr>
            <a:t>features</a:t>
          </a:r>
          <a:r>
            <a:rPr lang="tr-TR" sz="1800" b="1" i="1" dirty="0" smtClean="0">
              <a:latin typeface="Times New Roman" panose="02020603050405020304" pitchFamily="18" charset="0"/>
              <a:cs typeface="Times New Roman" panose="02020603050405020304" pitchFamily="18" charset="0"/>
            </a:rPr>
            <a:t>: 50,000</a:t>
          </a:r>
          <a:endParaRPr lang="tr-TR" sz="1800" b="1" i="1" dirty="0">
            <a:latin typeface="Times New Roman" panose="02020603050405020304" pitchFamily="18" charset="0"/>
            <a:cs typeface="Times New Roman" panose="02020603050405020304" pitchFamily="18" charset="0"/>
          </a:endParaRPr>
        </a:p>
      </dgm:t>
    </dgm:pt>
    <dgm:pt modelId="{46CAA925-F0E1-4EEF-B390-5BA4CD0F0F65}" type="parTrans" cxnId="{D6CF01B2-CD21-41DC-9CCA-413971290C90}">
      <dgm:prSet/>
      <dgm:spPr/>
      <dgm:t>
        <a:bodyPr/>
        <a:lstStyle/>
        <a:p>
          <a:endParaRPr lang="tr-TR"/>
        </a:p>
      </dgm:t>
    </dgm:pt>
    <dgm:pt modelId="{5C5418E2-68F6-4104-B27C-E31685D39F75}" type="sibTrans" cxnId="{D6CF01B2-CD21-41DC-9CCA-413971290C90}">
      <dgm:prSet/>
      <dgm:spPr/>
      <dgm:t>
        <a:bodyPr/>
        <a:lstStyle/>
        <a:p>
          <a:endParaRPr lang="tr-TR"/>
        </a:p>
      </dgm:t>
    </dgm:pt>
    <dgm:pt modelId="{6706FD63-5454-4EE0-9526-B155902BE5C2}" type="pres">
      <dgm:prSet presAssocID="{C5A7A503-C509-4CAA-9D68-A9FE6E013F37}" presName="Name0" presStyleCnt="0">
        <dgm:presLayoutVars>
          <dgm:dir/>
          <dgm:animLvl val="lvl"/>
          <dgm:resizeHandles/>
        </dgm:presLayoutVars>
      </dgm:prSet>
      <dgm:spPr/>
      <dgm:t>
        <a:bodyPr/>
        <a:lstStyle/>
        <a:p>
          <a:endParaRPr lang="tr-TR"/>
        </a:p>
      </dgm:t>
    </dgm:pt>
    <dgm:pt modelId="{BF007C95-2D88-4863-BCF7-1E45411C64F0}" type="pres">
      <dgm:prSet presAssocID="{565AFFAD-61CE-4F6C-9B1C-CBE8D54C4024}" presName="linNode" presStyleCnt="0"/>
      <dgm:spPr/>
    </dgm:pt>
    <dgm:pt modelId="{6F854120-F413-46EF-BAA4-77C5A094D886}" type="pres">
      <dgm:prSet presAssocID="{565AFFAD-61CE-4F6C-9B1C-CBE8D54C4024}" presName="parentShp" presStyleLbl="node1" presStyleIdx="0" presStyleCnt="4">
        <dgm:presLayoutVars>
          <dgm:bulletEnabled val="1"/>
        </dgm:presLayoutVars>
      </dgm:prSet>
      <dgm:spPr/>
      <dgm:t>
        <a:bodyPr/>
        <a:lstStyle/>
        <a:p>
          <a:endParaRPr lang="tr-TR"/>
        </a:p>
      </dgm:t>
    </dgm:pt>
    <dgm:pt modelId="{55B61EB8-3E83-45E5-918C-742687238102}" type="pres">
      <dgm:prSet presAssocID="{565AFFAD-61CE-4F6C-9B1C-CBE8D54C4024}" presName="childShp" presStyleLbl="bgAccFollowNode1" presStyleIdx="0" presStyleCnt="4">
        <dgm:presLayoutVars>
          <dgm:bulletEnabled val="1"/>
        </dgm:presLayoutVars>
      </dgm:prSet>
      <dgm:spPr/>
      <dgm:t>
        <a:bodyPr/>
        <a:lstStyle/>
        <a:p>
          <a:endParaRPr lang="tr-TR"/>
        </a:p>
      </dgm:t>
    </dgm:pt>
    <dgm:pt modelId="{468FC3D2-2824-4636-9BCD-7C27685EF0A7}" type="pres">
      <dgm:prSet presAssocID="{9CF0259A-FA06-41CA-ABFD-B460A53338A1}" presName="spacing" presStyleCnt="0"/>
      <dgm:spPr/>
    </dgm:pt>
    <dgm:pt modelId="{55E897F9-359A-429B-901C-B7558DA66BCA}" type="pres">
      <dgm:prSet presAssocID="{F483ECFD-403E-4B5B-B44E-03F1EC7D3DC9}" presName="linNode" presStyleCnt="0"/>
      <dgm:spPr/>
    </dgm:pt>
    <dgm:pt modelId="{7007D63E-17FE-48FC-A460-61394B7AA434}" type="pres">
      <dgm:prSet presAssocID="{F483ECFD-403E-4B5B-B44E-03F1EC7D3DC9}" presName="parentShp" presStyleLbl="node1" presStyleIdx="1" presStyleCnt="4">
        <dgm:presLayoutVars>
          <dgm:bulletEnabled val="1"/>
        </dgm:presLayoutVars>
      </dgm:prSet>
      <dgm:spPr/>
      <dgm:t>
        <a:bodyPr/>
        <a:lstStyle/>
        <a:p>
          <a:endParaRPr lang="tr-TR"/>
        </a:p>
      </dgm:t>
    </dgm:pt>
    <dgm:pt modelId="{E8C26569-2147-420A-9531-8389040CDA0D}" type="pres">
      <dgm:prSet presAssocID="{F483ECFD-403E-4B5B-B44E-03F1EC7D3DC9}" presName="childShp" presStyleLbl="bgAccFollowNode1" presStyleIdx="1" presStyleCnt="4">
        <dgm:presLayoutVars>
          <dgm:bulletEnabled val="1"/>
        </dgm:presLayoutVars>
      </dgm:prSet>
      <dgm:spPr/>
      <dgm:t>
        <a:bodyPr/>
        <a:lstStyle/>
        <a:p>
          <a:endParaRPr lang="tr-TR"/>
        </a:p>
      </dgm:t>
    </dgm:pt>
    <dgm:pt modelId="{A1D54D93-22AB-4428-B807-43B1A50E81BE}" type="pres">
      <dgm:prSet presAssocID="{D062D956-48F5-4C2E-BB9D-40DD362B4291}" presName="spacing" presStyleCnt="0"/>
      <dgm:spPr/>
    </dgm:pt>
    <dgm:pt modelId="{8C1B8218-365B-435B-85C7-0571A961DEAC}" type="pres">
      <dgm:prSet presAssocID="{43853C7F-24AA-4EE9-830D-EFF7ECEF5293}" presName="linNode" presStyleCnt="0"/>
      <dgm:spPr/>
    </dgm:pt>
    <dgm:pt modelId="{433C8555-8100-4A5B-8BBE-33C4FEDB5892}" type="pres">
      <dgm:prSet presAssocID="{43853C7F-24AA-4EE9-830D-EFF7ECEF5293}" presName="parentShp" presStyleLbl="node1" presStyleIdx="2" presStyleCnt="4">
        <dgm:presLayoutVars>
          <dgm:bulletEnabled val="1"/>
        </dgm:presLayoutVars>
      </dgm:prSet>
      <dgm:spPr/>
      <dgm:t>
        <a:bodyPr/>
        <a:lstStyle/>
        <a:p>
          <a:endParaRPr lang="tr-TR"/>
        </a:p>
      </dgm:t>
    </dgm:pt>
    <dgm:pt modelId="{86FE1F5E-B734-41D4-9CF5-6444EC0493DC}" type="pres">
      <dgm:prSet presAssocID="{43853C7F-24AA-4EE9-830D-EFF7ECEF5293}" presName="childShp" presStyleLbl="bgAccFollowNode1" presStyleIdx="2" presStyleCnt="4">
        <dgm:presLayoutVars>
          <dgm:bulletEnabled val="1"/>
        </dgm:presLayoutVars>
      </dgm:prSet>
      <dgm:spPr/>
      <dgm:t>
        <a:bodyPr/>
        <a:lstStyle/>
        <a:p>
          <a:endParaRPr lang="tr-TR"/>
        </a:p>
      </dgm:t>
    </dgm:pt>
    <dgm:pt modelId="{D4A3BE1A-45BD-4339-910F-C642301B2EC5}" type="pres">
      <dgm:prSet presAssocID="{81340552-C3C2-461B-8A20-B07B696CD7EE}" presName="spacing" presStyleCnt="0"/>
      <dgm:spPr/>
    </dgm:pt>
    <dgm:pt modelId="{DA901BC2-8B0D-410E-B703-E017F816CF56}" type="pres">
      <dgm:prSet presAssocID="{AC0FE964-CCE6-4676-A7D2-2272231C6345}" presName="linNode" presStyleCnt="0"/>
      <dgm:spPr/>
    </dgm:pt>
    <dgm:pt modelId="{ECD5A541-A13A-4CF8-AD8B-FCBB990F61E8}" type="pres">
      <dgm:prSet presAssocID="{AC0FE964-CCE6-4676-A7D2-2272231C6345}" presName="parentShp" presStyleLbl="node1" presStyleIdx="3" presStyleCnt="4">
        <dgm:presLayoutVars>
          <dgm:bulletEnabled val="1"/>
        </dgm:presLayoutVars>
      </dgm:prSet>
      <dgm:spPr/>
      <dgm:t>
        <a:bodyPr/>
        <a:lstStyle/>
        <a:p>
          <a:endParaRPr lang="tr-TR"/>
        </a:p>
      </dgm:t>
    </dgm:pt>
    <dgm:pt modelId="{8D489790-A53A-4828-A9C0-BF1D8A8379B7}" type="pres">
      <dgm:prSet presAssocID="{AC0FE964-CCE6-4676-A7D2-2272231C6345}" presName="childShp" presStyleLbl="bgAccFollowNode1" presStyleIdx="3" presStyleCnt="4">
        <dgm:presLayoutVars>
          <dgm:bulletEnabled val="1"/>
        </dgm:presLayoutVars>
      </dgm:prSet>
      <dgm:spPr/>
      <dgm:t>
        <a:bodyPr/>
        <a:lstStyle/>
        <a:p>
          <a:endParaRPr lang="tr-TR"/>
        </a:p>
      </dgm:t>
    </dgm:pt>
  </dgm:ptLst>
  <dgm:cxnLst>
    <dgm:cxn modelId="{D595862D-BD50-4047-AC93-B36190A75353}" srcId="{F483ECFD-403E-4B5B-B44E-03F1EC7D3DC9}" destId="{770EEFE8-D7FA-4894-8F51-8173D7B7A2F3}" srcOrd="2" destOrd="0" parTransId="{B705AFA5-6F64-4EE7-9E5E-D4B3E2C3F6B8}" sibTransId="{893293B4-85EC-4637-B26B-40C917DC4989}"/>
    <dgm:cxn modelId="{119B131E-9B7B-4615-AE4E-65F4E00BFD01}" srcId="{43853C7F-24AA-4EE9-830D-EFF7ECEF5293}" destId="{6DD5F6B8-0E4D-4354-BD1F-832AC4D662D4}" srcOrd="0" destOrd="0" parTransId="{5A8F03DA-DFD6-4AD5-9F0A-8DEE5C92684D}" sibTransId="{794FA6A8-F1FB-44D7-B849-D4D1373CB440}"/>
    <dgm:cxn modelId="{25737BD7-789F-477A-9593-E5105063410C}" type="presOf" srcId="{43853C7F-24AA-4EE9-830D-EFF7ECEF5293}" destId="{433C8555-8100-4A5B-8BBE-33C4FEDB5892}" srcOrd="0" destOrd="0" presId="urn:microsoft.com/office/officeart/2005/8/layout/vList6"/>
    <dgm:cxn modelId="{B8D423B6-8ACB-4DBC-9EB0-6EE9BCC5F17F}" srcId="{C5A7A503-C509-4CAA-9D68-A9FE6E013F37}" destId="{AC0FE964-CCE6-4676-A7D2-2272231C6345}" srcOrd="3" destOrd="0" parTransId="{6C10B987-7062-46C5-B175-E2849DB07876}" sibTransId="{559D11A6-E76B-46DE-9389-685B27B2FDAD}"/>
    <dgm:cxn modelId="{AFE884E4-FE85-410F-8CB9-1764B3B2098E}" srcId="{565AFFAD-61CE-4F6C-9B1C-CBE8D54C4024}" destId="{45324722-0FBC-4B11-9694-2D4D852A7959}" srcOrd="1" destOrd="0" parTransId="{9A43D440-2444-40EB-B8BA-702453FAF5B3}" sibTransId="{809B9BD2-54DD-4CE2-9B38-59AA79200C62}"/>
    <dgm:cxn modelId="{ADAA3D3D-A882-44C8-8CA6-A7738BF4E310}" srcId="{565AFFAD-61CE-4F6C-9B1C-CBE8D54C4024}" destId="{B1E2FA8D-A34B-4DE5-94FB-A606085F31AE}" srcOrd="0" destOrd="0" parTransId="{E13F600C-4F3A-4C61-981A-0D6ECDDA8256}" sibTransId="{96D07F20-8670-432D-9654-26C21B9CDBAE}"/>
    <dgm:cxn modelId="{1DF95AC9-B270-4C41-B2A9-F02C0F1540D8}" type="presOf" srcId="{565AFFAD-61CE-4F6C-9B1C-CBE8D54C4024}" destId="{6F854120-F413-46EF-BAA4-77C5A094D886}" srcOrd="0" destOrd="0" presId="urn:microsoft.com/office/officeart/2005/8/layout/vList6"/>
    <dgm:cxn modelId="{F22E2623-2ED3-412C-A579-E0E714F1A554}" srcId="{C5A7A503-C509-4CAA-9D68-A9FE6E013F37}" destId="{43853C7F-24AA-4EE9-830D-EFF7ECEF5293}" srcOrd="2" destOrd="0" parTransId="{28175E9C-B332-4A1F-B7EA-50CAE6A8CE14}" sibTransId="{81340552-C3C2-461B-8A20-B07B696CD7EE}"/>
    <dgm:cxn modelId="{5734B961-496B-42C6-BBA3-29B2E5906B8A}" type="presOf" srcId="{D45E429A-66E9-40FF-ADA3-073F4E78523E}" destId="{E8C26569-2147-420A-9531-8389040CDA0D}" srcOrd="0" destOrd="0" presId="urn:microsoft.com/office/officeart/2005/8/layout/vList6"/>
    <dgm:cxn modelId="{59C06A29-7FC2-4C51-85DA-A1F55F42B181}" type="presOf" srcId="{AC0FE964-CCE6-4676-A7D2-2272231C6345}" destId="{ECD5A541-A13A-4CF8-AD8B-FCBB990F61E8}" srcOrd="0" destOrd="0" presId="urn:microsoft.com/office/officeart/2005/8/layout/vList6"/>
    <dgm:cxn modelId="{5B6ADE75-C6D2-4925-93AE-D052C79EDEFF}" srcId="{F483ECFD-403E-4B5B-B44E-03F1EC7D3DC9}" destId="{D45E429A-66E9-40FF-ADA3-073F4E78523E}" srcOrd="0" destOrd="0" parTransId="{82E3A097-C520-43ED-9481-0A933DFFBC2E}" sibTransId="{B44F3914-2658-494D-A004-47E205951D98}"/>
    <dgm:cxn modelId="{6D437625-CA26-42E9-882F-3242B7F159EC}" srcId="{C5A7A503-C509-4CAA-9D68-A9FE6E013F37}" destId="{F483ECFD-403E-4B5B-B44E-03F1EC7D3DC9}" srcOrd="1" destOrd="0" parTransId="{48B0A2F0-CA49-44A1-9C3A-09171351CF56}" sibTransId="{D062D956-48F5-4C2E-BB9D-40DD362B4291}"/>
    <dgm:cxn modelId="{E1481C78-5C0A-4A44-986A-966BE9C28E4E}" type="presOf" srcId="{51E4DD85-2A91-4C38-873A-06DDB2FF4E3A}" destId="{8D489790-A53A-4828-A9C0-BF1D8A8379B7}" srcOrd="0" destOrd="1" presId="urn:microsoft.com/office/officeart/2005/8/layout/vList6"/>
    <dgm:cxn modelId="{A6F01C09-A706-4C7B-8FC3-14AE6D5B7895}" type="presOf" srcId="{8845ADA8-FC80-41AF-ADC7-2340B18B18FA}" destId="{55B61EB8-3E83-45E5-918C-742687238102}" srcOrd="0" destOrd="2" presId="urn:microsoft.com/office/officeart/2005/8/layout/vList6"/>
    <dgm:cxn modelId="{A9802D03-F8E2-4DC3-9100-4BBFBF5A4B38}" type="presOf" srcId="{C5A7A503-C509-4CAA-9D68-A9FE6E013F37}" destId="{6706FD63-5454-4EE0-9526-B155902BE5C2}" srcOrd="0" destOrd="0" presId="urn:microsoft.com/office/officeart/2005/8/layout/vList6"/>
    <dgm:cxn modelId="{E1880858-ED2B-4C4A-BEFB-3E25CEA5142F}" type="presOf" srcId="{7FBDEBA6-A3F7-4E08-9104-90F4B8F212D9}" destId="{86FE1F5E-B734-41D4-9CF5-6444EC0493DC}" srcOrd="0" destOrd="1" presId="urn:microsoft.com/office/officeart/2005/8/layout/vList6"/>
    <dgm:cxn modelId="{8F5468B0-C852-45F1-BFC6-A167985F1C84}" type="presOf" srcId="{770EEFE8-D7FA-4894-8F51-8173D7B7A2F3}" destId="{E8C26569-2147-420A-9531-8389040CDA0D}" srcOrd="0" destOrd="2" presId="urn:microsoft.com/office/officeart/2005/8/layout/vList6"/>
    <dgm:cxn modelId="{3EC9056E-C928-4836-A2C9-B1994B0F3EEF}" srcId="{F483ECFD-403E-4B5B-B44E-03F1EC7D3DC9}" destId="{9E49EF31-C070-4841-AC75-C63B199EF584}" srcOrd="1" destOrd="0" parTransId="{CF36DB4E-01B6-48D3-B6C7-6DE7FC357C7B}" sibTransId="{554A9278-A277-44BE-84D4-512E2CBFA9A4}"/>
    <dgm:cxn modelId="{527D1FF0-6C20-4FBF-8098-2EA25BD65893}" type="presOf" srcId="{9E49EF31-C070-4841-AC75-C63B199EF584}" destId="{E8C26569-2147-420A-9531-8389040CDA0D}" srcOrd="0" destOrd="1" presId="urn:microsoft.com/office/officeart/2005/8/layout/vList6"/>
    <dgm:cxn modelId="{A0EACB7F-25AA-4AF5-B979-518D6A0F5B8F}" srcId="{AC0FE964-CCE6-4676-A7D2-2272231C6345}" destId="{D5FED471-6558-4893-803E-CDA3B384C30E}" srcOrd="0" destOrd="0" parTransId="{50A7BA9B-D98E-43C1-9C4B-1B92603FFB6B}" sibTransId="{800B152E-BBAD-4F12-ABF5-1FA41DD308BC}"/>
    <dgm:cxn modelId="{D6CF01B2-CD21-41DC-9CCA-413971290C90}" srcId="{AC0FE964-CCE6-4676-A7D2-2272231C6345}" destId="{51E4DD85-2A91-4C38-873A-06DDB2FF4E3A}" srcOrd="1" destOrd="0" parTransId="{46CAA925-F0E1-4EEF-B390-5BA4CD0F0F65}" sibTransId="{5C5418E2-68F6-4104-B27C-E31685D39F75}"/>
    <dgm:cxn modelId="{156B497F-8C56-4BF2-9CF8-083FB986325D}" type="presOf" srcId="{6DD5F6B8-0E4D-4354-BD1F-832AC4D662D4}" destId="{86FE1F5E-B734-41D4-9CF5-6444EC0493DC}" srcOrd="0" destOrd="0" presId="urn:microsoft.com/office/officeart/2005/8/layout/vList6"/>
    <dgm:cxn modelId="{0F13F1FC-7908-495F-8CC3-41D94DDE9D65}" srcId="{565AFFAD-61CE-4F6C-9B1C-CBE8D54C4024}" destId="{8845ADA8-FC80-41AF-ADC7-2340B18B18FA}" srcOrd="2" destOrd="0" parTransId="{B60BCF7D-A5C7-45B5-B856-02C11B5606BB}" sibTransId="{A71DA026-1044-43FD-B1F0-2E76F0B584E3}"/>
    <dgm:cxn modelId="{671C8C7C-6973-4D55-BF03-6EC8CD1E03EB}" type="presOf" srcId="{D5FED471-6558-4893-803E-CDA3B384C30E}" destId="{8D489790-A53A-4828-A9C0-BF1D8A8379B7}" srcOrd="0" destOrd="0" presId="urn:microsoft.com/office/officeart/2005/8/layout/vList6"/>
    <dgm:cxn modelId="{F5853369-12B3-4551-A15F-4B39C00176EC}" srcId="{C5A7A503-C509-4CAA-9D68-A9FE6E013F37}" destId="{565AFFAD-61CE-4F6C-9B1C-CBE8D54C4024}" srcOrd="0" destOrd="0" parTransId="{CFFACB15-1113-475F-B2C9-E29C575767C4}" sibTransId="{9CF0259A-FA06-41CA-ABFD-B460A53338A1}"/>
    <dgm:cxn modelId="{1B7AAEC8-2459-408D-BFA6-91F5D6DD075B}" type="presOf" srcId="{B1E2FA8D-A34B-4DE5-94FB-A606085F31AE}" destId="{55B61EB8-3E83-45E5-918C-742687238102}" srcOrd="0" destOrd="0" presId="urn:microsoft.com/office/officeart/2005/8/layout/vList6"/>
    <dgm:cxn modelId="{461B7479-306B-4DFE-BA0A-B4289ADA1D98}" type="presOf" srcId="{45324722-0FBC-4B11-9694-2D4D852A7959}" destId="{55B61EB8-3E83-45E5-918C-742687238102}" srcOrd="0" destOrd="1" presId="urn:microsoft.com/office/officeart/2005/8/layout/vList6"/>
    <dgm:cxn modelId="{4903B2EE-ED85-4160-ACDD-A55D0032423B}" type="presOf" srcId="{F483ECFD-403E-4B5B-B44E-03F1EC7D3DC9}" destId="{7007D63E-17FE-48FC-A460-61394B7AA434}" srcOrd="0" destOrd="0" presId="urn:microsoft.com/office/officeart/2005/8/layout/vList6"/>
    <dgm:cxn modelId="{BF9D1857-DEB2-412D-9803-4DE10590AFBF}" srcId="{43853C7F-24AA-4EE9-830D-EFF7ECEF5293}" destId="{7FBDEBA6-A3F7-4E08-9104-90F4B8F212D9}" srcOrd="1" destOrd="0" parTransId="{8A293825-6B54-4AB4-A390-B383B6FD57A7}" sibTransId="{898BC2EC-0AC3-4072-86F0-3E78E7D5A851}"/>
    <dgm:cxn modelId="{A82A6985-B6AA-4310-9D9F-5811CEFD32C3}" type="presParOf" srcId="{6706FD63-5454-4EE0-9526-B155902BE5C2}" destId="{BF007C95-2D88-4863-BCF7-1E45411C64F0}" srcOrd="0" destOrd="0" presId="urn:microsoft.com/office/officeart/2005/8/layout/vList6"/>
    <dgm:cxn modelId="{1DD11CDE-80CD-4EE2-B619-49887BA82F3C}" type="presParOf" srcId="{BF007C95-2D88-4863-BCF7-1E45411C64F0}" destId="{6F854120-F413-46EF-BAA4-77C5A094D886}" srcOrd="0" destOrd="0" presId="urn:microsoft.com/office/officeart/2005/8/layout/vList6"/>
    <dgm:cxn modelId="{8E166376-F38E-458A-BF74-C6C1BD5501AA}" type="presParOf" srcId="{BF007C95-2D88-4863-BCF7-1E45411C64F0}" destId="{55B61EB8-3E83-45E5-918C-742687238102}" srcOrd="1" destOrd="0" presId="urn:microsoft.com/office/officeart/2005/8/layout/vList6"/>
    <dgm:cxn modelId="{E60B8DAB-F0EA-4715-92E4-82C2EA16F0DD}" type="presParOf" srcId="{6706FD63-5454-4EE0-9526-B155902BE5C2}" destId="{468FC3D2-2824-4636-9BCD-7C27685EF0A7}" srcOrd="1" destOrd="0" presId="urn:microsoft.com/office/officeart/2005/8/layout/vList6"/>
    <dgm:cxn modelId="{5115040F-0B93-4C7F-AA99-16E7CF32F770}" type="presParOf" srcId="{6706FD63-5454-4EE0-9526-B155902BE5C2}" destId="{55E897F9-359A-429B-901C-B7558DA66BCA}" srcOrd="2" destOrd="0" presId="urn:microsoft.com/office/officeart/2005/8/layout/vList6"/>
    <dgm:cxn modelId="{86C0E23A-3C9C-423C-8DED-C52086D88C14}" type="presParOf" srcId="{55E897F9-359A-429B-901C-B7558DA66BCA}" destId="{7007D63E-17FE-48FC-A460-61394B7AA434}" srcOrd="0" destOrd="0" presId="urn:microsoft.com/office/officeart/2005/8/layout/vList6"/>
    <dgm:cxn modelId="{7C540D97-C9EC-4E18-BA65-D64851A4383A}" type="presParOf" srcId="{55E897F9-359A-429B-901C-B7558DA66BCA}" destId="{E8C26569-2147-420A-9531-8389040CDA0D}" srcOrd="1" destOrd="0" presId="urn:microsoft.com/office/officeart/2005/8/layout/vList6"/>
    <dgm:cxn modelId="{C370BD72-42A0-4E6C-A3FF-44F7392D9DE9}" type="presParOf" srcId="{6706FD63-5454-4EE0-9526-B155902BE5C2}" destId="{A1D54D93-22AB-4428-B807-43B1A50E81BE}" srcOrd="3" destOrd="0" presId="urn:microsoft.com/office/officeart/2005/8/layout/vList6"/>
    <dgm:cxn modelId="{4E22F232-6998-4807-BAD4-A48654BA19B5}" type="presParOf" srcId="{6706FD63-5454-4EE0-9526-B155902BE5C2}" destId="{8C1B8218-365B-435B-85C7-0571A961DEAC}" srcOrd="4" destOrd="0" presId="urn:microsoft.com/office/officeart/2005/8/layout/vList6"/>
    <dgm:cxn modelId="{6E0C1F9F-FB08-4CF4-AEB7-7A6A2D79FF52}" type="presParOf" srcId="{8C1B8218-365B-435B-85C7-0571A961DEAC}" destId="{433C8555-8100-4A5B-8BBE-33C4FEDB5892}" srcOrd="0" destOrd="0" presId="urn:microsoft.com/office/officeart/2005/8/layout/vList6"/>
    <dgm:cxn modelId="{313B1F14-8BE4-4E01-98F3-34ACC621E0F2}" type="presParOf" srcId="{8C1B8218-365B-435B-85C7-0571A961DEAC}" destId="{86FE1F5E-B734-41D4-9CF5-6444EC0493DC}" srcOrd="1" destOrd="0" presId="urn:microsoft.com/office/officeart/2005/8/layout/vList6"/>
    <dgm:cxn modelId="{8514E493-5CFF-4F6B-A17F-ECCD6A02BDAC}" type="presParOf" srcId="{6706FD63-5454-4EE0-9526-B155902BE5C2}" destId="{D4A3BE1A-45BD-4339-910F-C642301B2EC5}" srcOrd="5" destOrd="0" presId="urn:microsoft.com/office/officeart/2005/8/layout/vList6"/>
    <dgm:cxn modelId="{E4DEA2FA-7D67-4CC8-BC8D-1A54DBCB32C2}" type="presParOf" srcId="{6706FD63-5454-4EE0-9526-B155902BE5C2}" destId="{DA901BC2-8B0D-410E-B703-E017F816CF56}" srcOrd="6" destOrd="0" presId="urn:microsoft.com/office/officeart/2005/8/layout/vList6"/>
    <dgm:cxn modelId="{14800210-DDEA-429F-8BF3-21D50B07B7C1}" type="presParOf" srcId="{DA901BC2-8B0D-410E-B703-E017F816CF56}" destId="{ECD5A541-A13A-4CF8-AD8B-FCBB990F61E8}" srcOrd="0" destOrd="0" presId="urn:microsoft.com/office/officeart/2005/8/layout/vList6"/>
    <dgm:cxn modelId="{2711A6A4-D114-400A-BF9D-E1C8ADEC8F48}" type="presParOf" srcId="{DA901BC2-8B0D-410E-B703-E017F816CF56}" destId="{8D489790-A53A-4828-A9C0-BF1D8A8379B7}" srcOrd="1" destOrd="0" presId="urn:microsoft.com/office/officeart/2005/8/layout/v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7DE780-AA5C-4B6E-9DE0-BB6DF40AD9D6}">
      <dsp:nvSpPr>
        <dsp:cNvPr id="0" name=""/>
        <dsp:cNvSpPr/>
      </dsp:nvSpPr>
      <dsp:spPr>
        <a:xfrm>
          <a:off x="0" y="318834"/>
          <a:ext cx="4888293" cy="5292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AA6A1B3E-0853-47C1-8A9F-F45001026AD4}">
      <dsp:nvSpPr>
        <dsp:cNvPr id="0" name=""/>
        <dsp:cNvSpPr/>
      </dsp:nvSpPr>
      <dsp:spPr>
        <a:xfrm>
          <a:off x="244414" y="8874"/>
          <a:ext cx="3421805" cy="61992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9336" tIns="0" rIns="129336" bIns="0" numCol="1" spcCol="1270" anchor="ctr" anchorCtr="0">
          <a:noAutofit/>
        </a:bodyPr>
        <a:lstStyle/>
        <a:p>
          <a:pPr lvl="0" algn="l" defTabSz="711200">
            <a:lnSpc>
              <a:spcPct val="90000"/>
            </a:lnSpc>
            <a:spcBef>
              <a:spcPct val="0"/>
            </a:spcBef>
            <a:spcAft>
              <a:spcPct val="35000"/>
            </a:spcAft>
          </a:pPr>
          <a:r>
            <a:rPr lang="tr-TR" sz="1600" b="1" kern="1200" dirty="0" smtClean="0">
              <a:solidFill>
                <a:schemeClr val="tx1"/>
              </a:solidFill>
              <a:latin typeface="Times New Roman" panose="02020603050405020304" pitchFamily="18" charset="0"/>
              <a:cs typeface="Times New Roman" panose="02020603050405020304" pitchFamily="18" charset="0"/>
            </a:rPr>
            <a:t>Giriş ve Motivasyon</a:t>
          </a:r>
          <a:endParaRPr lang="tr-TR" sz="1600" b="1" kern="1200" dirty="0">
            <a:solidFill>
              <a:schemeClr val="tx1"/>
            </a:solidFill>
            <a:latin typeface="Times New Roman" panose="02020603050405020304" pitchFamily="18" charset="0"/>
            <a:cs typeface="Times New Roman" panose="02020603050405020304" pitchFamily="18" charset="0"/>
          </a:endParaRPr>
        </a:p>
      </dsp:txBody>
      <dsp:txXfrm>
        <a:off x="274676" y="39136"/>
        <a:ext cx="3361281" cy="559396"/>
      </dsp:txXfrm>
    </dsp:sp>
    <dsp:sp modelId="{3C87EFAC-633E-4700-84F0-BE7ED7F872F6}">
      <dsp:nvSpPr>
        <dsp:cNvPr id="0" name=""/>
        <dsp:cNvSpPr/>
      </dsp:nvSpPr>
      <dsp:spPr>
        <a:xfrm>
          <a:off x="0" y="1271394"/>
          <a:ext cx="4888293" cy="529200"/>
        </a:xfrm>
        <a:prstGeom prst="rect">
          <a:avLst/>
        </a:prstGeom>
        <a:solidFill>
          <a:schemeClr val="lt1">
            <a:alpha val="90000"/>
            <a:hueOff val="0"/>
            <a:satOff val="0"/>
            <a:lumOff val="0"/>
            <a:alphaOff val="0"/>
          </a:schemeClr>
        </a:solidFill>
        <a:ln w="6350" cap="flat" cmpd="sng" algn="ctr">
          <a:solidFill>
            <a:schemeClr val="accent3">
              <a:hueOff val="677650"/>
              <a:satOff val="25000"/>
              <a:lumOff val="-3676"/>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66688647-E4A9-4131-B06B-939564764CC2}">
      <dsp:nvSpPr>
        <dsp:cNvPr id="0" name=""/>
        <dsp:cNvSpPr/>
      </dsp:nvSpPr>
      <dsp:spPr>
        <a:xfrm>
          <a:off x="244414" y="961434"/>
          <a:ext cx="3421805" cy="619920"/>
        </a:xfrm>
        <a:prstGeom prst="roundRect">
          <a:avLst/>
        </a:prstGeom>
        <a:gradFill rotWithShape="0">
          <a:gsLst>
            <a:gs pos="0">
              <a:schemeClr val="accent3">
                <a:hueOff val="677650"/>
                <a:satOff val="25000"/>
                <a:lumOff val="-3676"/>
                <a:alphaOff val="0"/>
                <a:satMod val="103000"/>
                <a:lumMod val="102000"/>
                <a:tint val="94000"/>
              </a:schemeClr>
            </a:gs>
            <a:gs pos="50000">
              <a:schemeClr val="accent3">
                <a:hueOff val="677650"/>
                <a:satOff val="25000"/>
                <a:lumOff val="-3676"/>
                <a:alphaOff val="0"/>
                <a:satMod val="110000"/>
                <a:lumMod val="100000"/>
                <a:shade val="100000"/>
              </a:schemeClr>
            </a:gs>
            <a:gs pos="100000">
              <a:schemeClr val="accent3">
                <a:hueOff val="677650"/>
                <a:satOff val="25000"/>
                <a:lumOff val="-367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9336" tIns="0" rIns="129336" bIns="0" numCol="1" spcCol="1270" anchor="ctr" anchorCtr="0">
          <a:noAutofit/>
        </a:bodyPr>
        <a:lstStyle/>
        <a:p>
          <a:pPr lvl="0" algn="l" defTabSz="711200">
            <a:lnSpc>
              <a:spcPct val="90000"/>
            </a:lnSpc>
            <a:spcBef>
              <a:spcPct val="0"/>
            </a:spcBef>
            <a:spcAft>
              <a:spcPct val="35000"/>
            </a:spcAft>
          </a:pPr>
          <a:r>
            <a:rPr lang="tr-TR" sz="1600" b="1" kern="1200" dirty="0" smtClean="0">
              <a:solidFill>
                <a:schemeClr val="tx1"/>
              </a:solidFill>
              <a:latin typeface="Times New Roman" panose="02020603050405020304" pitchFamily="18" charset="0"/>
              <a:cs typeface="Times New Roman" panose="02020603050405020304" pitchFamily="18" charset="0"/>
            </a:rPr>
            <a:t>Literatür Özeti</a:t>
          </a:r>
          <a:endParaRPr lang="tr-TR" sz="1600" b="1" kern="1200" dirty="0">
            <a:solidFill>
              <a:schemeClr val="tx1"/>
            </a:solidFill>
            <a:latin typeface="Times New Roman" panose="02020603050405020304" pitchFamily="18" charset="0"/>
            <a:cs typeface="Times New Roman" panose="02020603050405020304" pitchFamily="18" charset="0"/>
          </a:endParaRPr>
        </a:p>
      </dsp:txBody>
      <dsp:txXfrm>
        <a:off x="274676" y="991696"/>
        <a:ext cx="3361281" cy="559396"/>
      </dsp:txXfrm>
    </dsp:sp>
    <dsp:sp modelId="{81657EAB-E9D3-419B-AC44-BF88F7150198}">
      <dsp:nvSpPr>
        <dsp:cNvPr id="0" name=""/>
        <dsp:cNvSpPr/>
      </dsp:nvSpPr>
      <dsp:spPr>
        <a:xfrm>
          <a:off x="0" y="2223954"/>
          <a:ext cx="4888293" cy="529200"/>
        </a:xfrm>
        <a:prstGeom prst="rect">
          <a:avLst/>
        </a:prstGeom>
        <a:solidFill>
          <a:schemeClr val="lt1">
            <a:alpha val="90000"/>
            <a:hueOff val="0"/>
            <a:satOff val="0"/>
            <a:lumOff val="0"/>
            <a:alphaOff val="0"/>
          </a:schemeClr>
        </a:solidFill>
        <a:ln w="6350" cap="flat" cmpd="sng" algn="ctr">
          <a:solidFill>
            <a:schemeClr val="accent3">
              <a:hueOff val="1355300"/>
              <a:satOff val="50000"/>
              <a:lumOff val="-7353"/>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9DF2B1EB-204E-4F44-9057-7CFD161712EF}">
      <dsp:nvSpPr>
        <dsp:cNvPr id="0" name=""/>
        <dsp:cNvSpPr/>
      </dsp:nvSpPr>
      <dsp:spPr>
        <a:xfrm>
          <a:off x="244414" y="1913994"/>
          <a:ext cx="3421805" cy="619920"/>
        </a:xfrm>
        <a:prstGeom prst="roundRect">
          <a:avLst/>
        </a:prstGeom>
        <a:gradFill rotWithShape="0">
          <a:gsLst>
            <a:gs pos="0">
              <a:schemeClr val="accent3">
                <a:hueOff val="1355300"/>
                <a:satOff val="50000"/>
                <a:lumOff val="-7353"/>
                <a:alphaOff val="0"/>
                <a:satMod val="103000"/>
                <a:lumMod val="102000"/>
                <a:tint val="94000"/>
              </a:schemeClr>
            </a:gs>
            <a:gs pos="50000">
              <a:schemeClr val="accent3">
                <a:hueOff val="1355300"/>
                <a:satOff val="50000"/>
                <a:lumOff val="-7353"/>
                <a:alphaOff val="0"/>
                <a:satMod val="110000"/>
                <a:lumMod val="100000"/>
                <a:shade val="100000"/>
              </a:schemeClr>
            </a:gs>
            <a:gs pos="100000">
              <a:schemeClr val="accent3">
                <a:hueOff val="1355300"/>
                <a:satOff val="50000"/>
                <a:lumOff val="-735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9336" tIns="0" rIns="129336" bIns="0" numCol="1" spcCol="1270" anchor="ctr" anchorCtr="0">
          <a:noAutofit/>
        </a:bodyPr>
        <a:lstStyle/>
        <a:p>
          <a:pPr lvl="0" algn="l" defTabSz="711200">
            <a:lnSpc>
              <a:spcPct val="90000"/>
            </a:lnSpc>
            <a:spcBef>
              <a:spcPct val="0"/>
            </a:spcBef>
            <a:spcAft>
              <a:spcPct val="35000"/>
            </a:spcAft>
          </a:pPr>
          <a:r>
            <a:rPr lang="tr-TR" sz="1600" b="1" kern="1200" dirty="0" smtClean="0">
              <a:solidFill>
                <a:schemeClr val="tx1"/>
              </a:solidFill>
              <a:latin typeface="Times New Roman" panose="02020603050405020304" pitchFamily="18" charset="0"/>
              <a:cs typeface="Times New Roman" panose="02020603050405020304" pitchFamily="18" charset="0"/>
            </a:rPr>
            <a:t>Materyal ve </a:t>
          </a:r>
          <a:r>
            <a:rPr lang="tr-TR" sz="1600" b="1" kern="1200" dirty="0" err="1" smtClean="0">
              <a:solidFill>
                <a:schemeClr val="tx1"/>
              </a:solidFill>
              <a:latin typeface="Times New Roman" panose="02020603050405020304" pitchFamily="18" charset="0"/>
              <a:cs typeface="Times New Roman" panose="02020603050405020304" pitchFamily="18" charset="0"/>
            </a:rPr>
            <a:t>Method</a:t>
          </a:r>
          <a:endParaRPr lang="tr-TR" sz="1600" b="1" kern="1200" dirty="0">
            <a:solidFill>
              <a:schemeClr val="tx1"/>
            </a:solidFill>
            <a:latin typeface="Times New Roman" panose="02020603050405020304" pitchFamily="18" charset="0"/>
            <a:cs typeface="Times New Roman" panose="02020603050405020304" pitchFamily="18" charset="0"/>
          </a:endParaRPr>
        </a:p>
      </dsp:txBody>
      <dsp:txXfrm>
        <a:off x="274676" y="1944256"/>
        <a:ext cx="3361281" cy="559396"/>
      </dsp:txXfrm>
    </dsp:sp>
    <dsp:sp modelId="{93BEE057-39D4-4898-8E4F-B2054F4EA1F4}">
      <dsp:nvSpPr>
        <dsp:cNvPr id="0" name=""/>
        <dsp:cNvSpPr/>
      </dsp:nvSpPr>
      <dsp:spPr>
        <a:xfrm>
          <a:off x="0" y="3176515"/>
          <a:ext cx="4888293" cy="529200"/>
        </a:xfrm>
        <a:prstGeom prst="rect">
          <a:avLst/>
        </a:prstGeom>
        <a:solidFill>
          <a:schemeClr val="lt1">
            <a:alpha val="90000"/>
            <a:hueOff val="0"/>
            <a:satOff val="0"/>
            <a:lumOff val="0"/>
            <a:alphaOff val="0"/>
          </a:schemeClr>
        </a:solidFill>
        <a:ln w="6350" cap="flat" cmpd="sng" algn="ctr">
          <a:solidFill>
            <a:schemeClr val="accent3">
              <a:hueOff val="2032949"/>
              <a:satOff val="75000"/>
              <a:lumOff val="-11029"/>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93F715B3-AAF3-434A-932C-B374CD5AD284}">
      <dsp:nvSpPr>
        <dsp:cNvPr id="0" name=""/>
        <dsp:cNvSpPr/>
      </dsp:nvSpPr>
      <dsp:spPr>
        <a:xfrm>
          <a:off x="244414" y="2866555"/>
          <a:ext cx="3421805" cy="619920"/>
        </a:xfrm>
        <a:prstGeom prst="roundRect">
          <a:avLst/>
        </a:prstGeom>
        <a:gradFill rotWithShape="0">
          <a:gsLst>
            <a:gs pos="0">
              <a:schemeClr val="accent3">
                <a:hueOff val="2032949"/>
                <a:satOff val="75000"/>
                <a:lumOff val="-11029"/>
                <a:alphaOff val="0"/>
                <a:satMod val="103000"/>
                <a:lumMod val="102000"/>
                <a:tint val="94000"/>
              </a:schemeClr>
            </a:gs>
            <a:gs pos="50000">
              <a:schemeClr val="accent3">
                <a:hueOff val="2032949"/>
                <a:satOff val="75000"/>
                <a:lumOff val="-11029"/>
                <a:alphaOff val="0"/>
                <a:satMod val="110000"/>
                <a:lumMod val="100000"/>
                <a:shade val="100000"/>
              </a:schemeClr>
            </a:gs>
            <a:gs pos="100000">
              <a:schemeClr val="accent3">
                <a:hueOff val="2032949"/>
                <a:satOff val="75000"/>
                <a:lumOff val="-11029"/>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9336" tIns="0" rIns="129336" bIns="0" numCol="1" spcCol="1270" anchor="ctr" anchorCtr="0">
          <a:noAutofit/>
        </a:bodyPr>
        <a:lstStyle/>
        <a:p>
          <a:pPr lvl="0" algn="l" defTabSz="711200">
            <a:lnSpc>
              <a:spcPct val="90000"/>
            </a:lnSpc>
            <a:spcBef>
              <a:spcPct val="0"/>
            </a:spcBef>
            <a:spcAft>
              <a:spcPct val="35000"/>
            </a:spcAft>
          </a:pPr>
          <a:r>
            <a:rPr lang="tr-TR" sz="1600" b="1" kern="1200" dirty="0" smtClean="0">
              <a:solidFill>
                <a:schemeClr val="tx1"/>
              </a:solidFill>
              <a:latin typeface="Times New Roman" panose="02020603050405020304" pitchFamily="18" charset="0"/>
              <a:cs typeface="Times New Roman" panose="02020603050405020304" pitchFamily="18" charset="0"/>
            </a:rPr>
            <a:t>Deneyler ve Bulgular</a:t>
          </a:r>
          <a:endParaRPr lang="tr-TR" sz="1600" b="1" kern="1200" dirty="0">
            <a:solidFill>
              <a:schemeClr val="tx1"/>
            </a:solidFill>
            <a:latin typeface="Times New Roman" panose="02020603050405020304" pitchFamily="18" charset="0"/>
            <a:cs typeface="Times New Roman" panose="02020603050405020304" pitchFamily="18" charset="0"/>
          </a:endParaRPr>
        </a:p>
      </dsp:txBody>
      <dsp:txXfrm>
        <a:off x="274676" y="2896817"/>
        <a:ext cx="3361281" cy="559396"/>
      </dsp:txXfrm>
    </dsp:sp>
    <dsp:sp modelId="{24BB7810-6C07-4DB1-9AF4-81FAD1EA75DD}">
      <dsp:nvSpPr>
        <dsp:cNvPr id="0" name=""/>
        <dsp:cNvSpPr/>
      </dsp:nvSpPr>
      <dsp:spPr>
        <a:xfrm>
          <a:off x="0" y="4129075"/>
          <a:ext cx="4888293" cy="529200"/>
        </a:xfrm>
        <a:prstGeom prst="rect">
          <a:avLst/>
        </a:prstGeom>
        <a:solidFill>
          <a:schemeClr val="lt1">
            <a:alpha val="90000"/>
            <a:hueOff val="0"/>
            <a:satOff val="0"/>
            <a:lumOff val="0"/>
            <a:alphaOff val="0"/>
          </a:schemeClr>
        </a:solidFill>
        <a:ln w="6350" cap="flat" cmpd="sng" algn="ctr">
          <a:solidFill>
            <a:schemeClr val="accent3">
              <a:hueOff val="2710599"/>
              <a:satOff val="100000"/>
              <a:lumOff val="-14706"/>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33AA38EE-7FC9-4F40-8AB7-880F1147CD8A}">
      <dsp:nvSpPr>
        <dsp:cNvPr id="0" name=""/>
        <dsp:cNvSpPr/>
      </dsp:nvSpPr>
      <dsp:spPr>
        <a:xfrm>
          <a:off x="244414" y="3819115"/>
          <a:ext cx="3421805" cy="619920"/>
        </a:xfrm>
        <a:prstGeom prst="roundRect">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9336" tIns="0" rIns="129336" bIns="0" numCol="1" spcCol="1270" anchor="ctr" anchorCtr="0">
          <a:noAutofit/>
        </a:bodyPr>
        <a:lstStyle/>
        <a:p>
          <a:pPr lvl="0" algn="l" defTabSz="711200">
            <a:lnSpc>
              <a:spcPct val="90000"/>
            </a:lnSpc>
            <a:spcBef>
              <a:spcPct val="0"/>
            </a:spcBef>
            <a:spcAft>
              <a:spcPct val="35000"/>
            </a:spcAft>
          </a:pPr>
          <a:r>
            <a:rPr lang="tr-TR" sz="1600" b="1" kern="1200" dirty="0" smtClean="0">
              <a:solidFill>
                <a:schemeClr val="tx1"/>
              </a:solidFill>
              <a:latin typeface="Times New Roman" panose="02020603050405020304" pitchFamily="18" charset="0"/>
              <a:cs typeface="Times New Roman" panose="02020603050405020304" pitchFamily="18" charset="0"/>
            </a:rPr>
            <a:t>Sonuç ve Gelecek Çalışmalar</a:t>
          </a:r>
          <a:endParaRPr lang="tr-TR" sz="1600" b="1" kern="1200" dirty="0">
            <a:solidFill>
              <a:schemeClr val="tx1"/>
            </a:solidFill>
            <a:latin typeface="Times New Roman" panose="02020603050405020304" pitchFamily="18" charset="0"/>
            <a:cs typeface="Times New Roman" panose="02020603050405020304" pitchFamily="18" charset="0"/>
          </a:endParaRPr>
        </a:p>
      </dsp:txBody>
      <dsp:txXfrm>
        <a:off x="274676" y="3849377"/>
        <a:ext cx="3361281" cy="559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E17DCA-1BFF-4CCC-B30C-EF6470DAD08D}">
      <dsp:nvSpPr>
        <dsp:cNvPr id="0" name=""/>
        <dsp:cNvSpPr/>
      </dsp:nvSpPr>
      <dsp:spPr>
        <a:xfrm>
          <a:off x="28" y="15406"/>
          <a:ext cx="2773557" cy="1109423"/>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tr-TR" sz="3200" kern="1200" dirty="0" smtClean="0"/>
            <a:t>GPT -4o</a:t>
          </a:r>
          <a:endParaRPr lang="tr-TR" sz="3200" kern="1200" dirty="0"/>
        </a:p>
      </dsp:txBody>
      <dsp:txXfrm>
        <a:off x="28" y="15406"/>
        <a:ext cx="2773557" cy="1109423"/>
      </dsp:txXfrm>
    </dsp:sp>
    <dsp:sp modelId="{F0787A9E-CCD3-4354-9C80-239EAFACC7F0}">
      <dsp:nvSpPr>
        <dsp:cNvPr id="0" name=""/>
        <dsp:cNvSpPr/>
      </dsp:nvSpPr>
      <dsp:spPr>
        <a:xfrm>
          <a:off x="28" y="1124830"/>
          <a:ext cx="2773557" cy="27669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150000"/>
            </a:lnSpc>
            <a:spcBef>
              <a:spcPct val="0"/>
            </a:spcBef>
            <a:spcAft>
              <a:spcPct val="15000"/>
            </a:spcAft>
            <a:buChar char="••"/>
          </a:pPr>
          <a:r>
            <a:rPr lang="tr-TR" sz="1600" b="1" kern="1200" dirty="0" smtClean="0">
              <a:latin typeface="Times New Roman" panose="02020603050405020304" pitchFamily="18" charset="0"/>
              <a:cs typeface="Times New Roman" panose="02020603050405020304" pitchFamily="18" charset="0"/>
            </a:rPr>
            <a:t>Çok dilli üretim kapasitesi</a:t>
          </a:r>
          <a:endParaRPr lang="tr-TR" sz="1600" b="1" kern="1200" dirty="0">
            <a:latin typeface="Times New Roman" panose="02020603050405020304" pitchFamily="18" charset="0"/>
            <a:cs typeface="Times New Roman" panose="02020603050405020304" pitchFamily="18" charset="0"/>
          </a:endParaRPr>
        </a:p>
        <a:p>
          <a:pPr marL="171450" lvl="1" indent="-171450" algn="l" defTabSz="711200">
            <a:lnSpc>
              <a:spcPct val="150000"/>
            </a:lnSpc>
            <a:spcBef>
              <a:spcPct val="0"/>
            </a:spcBef>
            <a:spcAft>
              <a:spcPct val="15000"/>
            </a:spcAft>
            <a:buChar char="••"/>
          </a:pPr>
          <a:r>
            <a:rPr lang="tr-TR" sz="1600" b="1" kern="1200" dirty="0" smtClean="0">
              <a:latin typeface="Times New Roman" panose="02020603050405020304" pitchFamily="18" charset="0"/>
              <a:cs typeface="Times New Roman" panose="02020603050405020304" pitchFamily="18" charset="0"/>
            </a:rPr>
            <a:t>Yüksek bağlamsal tutarlılık</a:t>
          </a:r>
          <a:endParaRPr lang="tr-TR" sz="1600" b="1" kern="1200" dirty="0">
            <a:latin typeface="Times New Roman" panose="02020603050405020304" pitchFamily="18" charset="0"/>
            <a:cs typeface="Times New Roman" panose="02020603050405020304" pitchFamily="18" charset="0"/>
          </a:endParaRPr>
        </a:p>
        <a:p>
          <a:pPr marL="171450" lvl="1" indent="-171450" algn="l" defTabSz="711200">
            <a:lnSpc>
              <a:spcPct val="150000"/>
            </a:lnSpc>
            <a:spcBef>
              <a:spcPct val="0"/>
            </a:spcBef>
            <a:spcAft>
              <a:spcPct val="15000"/>
            </a:spcAft>
            <a:buChar char="••"/>
          </a:pPr>
          <a:r>
            <a:rPr lang="tr-TR" sz="1600" b="1" kern="1200" dirty="0" smtClean="0">
              <a:latin typeface="Times New Roman" panose="02020603050405020304" pitchFamily="18" charset="0"/>
              <a:cs typeface="Times New Roman" panose="02020603050405020304" pitchFamily="18" charset="0"/>
            </a:rPr>
            <a:t>Doğal metin üretimi</a:t>
          </a:r>
          <a:endParaRPr lang="tr-TR" sz="1600" b="1" kern="1200" dirty="0">
            <a:latin typeface="Times New Roman" panose="02020603050405020304" pitchFamily="18" charset="0"/>
            <a:cs typeface="Times New Roman" panose="02020603050405020304" pitchFamily="18" charset="0"/>
          </a:endParaRPr>
        </a:p>
        <a:p>
          <a:pPr marL="171450" lvl="1" indent="-171450" algn="l" defTabSz="711200">
            <a:lnSpc>
              <a:spcPct val="150000"/>
            </a:lnSpc>
            <a:spcBef>
              <a:spcPct val="0"/>
            </a:spcBef>
            <a:spcAft>
              <a:spcPct val="15000"/>
            </a:spcAft>
            <a:buChar char="••"/>
          </a:pPr>
          <a:r>
            <a:rPr lang="tr-TR" sz="1600" b="1" kern="1200" dirty="0" smtClean="0">
              <a:latin typeface="Times New Roman" panose="02020603050405020304" pitchFamily="18" charset="0"/>
              <a:cs typeface="Times New Roman" panose="02020603050405020304" pitchFamily="18" charset="0"/>
            </a:rPr>
            <a:t>SA görevlerine uygunluk</a:t>
          </a:r>
          <a:endParaRPr lang="tr-TR" sz="1600" b="1" kern="1200" dirty="0">
            <a:latin typeface="Times New Roman" panose="02020603050405020304" pitchFamily="18" charset="0"/>
            <a:cs typeface="Times New Roman" panose="02020603050405020304" pitchFamily="18" charset="0"/>
          </a:endParaRPr>
        </a:p>
      </dsp:txBody>
      <dsp:txXfrm>
        <a:off x="28" y="1124830"/>
        <a:ext cx="2773557" cy="2766960"/>
      </dsp:txXfrm>
    </dsp:sp>
    <dsp:sp modelId="{9DD6CECC-FA45-44A7-B533-2CB80B822519}">
      <dsp:nvSpPr>
        <dsp:cNvPr id="0" name=""/>
        <dsp:cNvSpPr/>
      </dsp:nvSpPr>
      <dsp:spPr>
        <a:xfrm>
          <a:off x="3161885" y="15406"/>
          <a:ext cx="2773557" cy="1109423"/>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tr-TR" sz="3200" kern="1200" dirty="0" err="1" smtClean="0"/>
            <a:t>Claude</a:t>
          </a:r>
          <a:r>
            <a:rPr lang="tr-TR" sz="3200" kern="1200" dirty="0" smtClean="0"/>
            <a:t> 3</a:t>
          </a:r>
          <a:endParaRPr lang="tr-TR" sz="3200" kern="1200" dirty="0"/>
        </a:p>
      </dsp:txBody>
      <dsp:txXfrm>
        <a:off x="3161885" y="15406"/>
        <a:ext cx="2773557" cy="1109423"/>
      </dsp:txXfrm>
    </dsp:sp>
    <dsp:sp modelId="{246823C0-1F61-4B2A-8067-87A0DCDE6825}">
      <dsp:nvSpPr>
        <dsp:cNvPr id="0" name=""/>
        <dsp:cNvSpPr/>
      </dsp:nvSpPr>
      <dsp:spPr>
        <a:xfrm>
          <a:off x="3161885" y="1124830"/>
          <a:ext cx="2773557" cy="2766960"/>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200000"/>
            </a:lnSpc>
            <a:spcBef>
              <a:spcPct val="0"/>
            </a:spcBef>
            <a:spcAft>
              <a:spcPct val="15000"/>
            </a:spcAft>
            <a:buChar char="••"/>
          </a:pPr>
          <a:r>
            <a:rPr lang="tr-TR" sz="1600" b="1" kern="1200" dirty="0" smtClean="0">
              <a:latin typeface="Times New Roman" panose="02020603050405020304" pitchFamily="18" charset="0"/>
              <a:cs typeface="Times New Roman" panose="02020603050405020304" pitchFamily="18" charset="0"/>
            </a:rPr>
            <a:t>Talimat uyumu yüksek</a:t>
          </a:r>
          <a:endParaRPr lang="tr-TR" sz="1600" b="1" kern="1200" dirty="0">
            <a:latin typeface="Times New Roman" panose="02020603050405020304" pitchFamily="18" charset="0"/>
            <a:cs typeface="Times New Roman" panose="02020603050405020304" pitchFamily="18" charset="0"/>
          </a:endParaRPr>
        </a:p>
        <a:p>
          <a:pPr marL="171450" lvl="1" indent="-171450" algn="l" defTabSz="711200">
            <a:lnSpc>
              <a:spcPct val="200000"/>
            </a:lnSpc>
            <a:spcBef>
              <a:spcPct val="0"/>
            </a:spcBef>
            <a:spcAft>
              <a:spcPct val="15000"/>
            </a:spcAft>
            <a:buChar char="••"/>
          </a:pPr>
          <a:r>
            <a:rPr lang="tr-TR" sz="1600" b="1" kern="1200" dirty="0" smtClean="0">
              <a:latin typeface="Times New Roman" panose="02020603050405020304" pitchFamily="18" charset="0"/>
              <a:cs typeface="Times New Roman" panose="02020603050405020304" pitchFamily="18" charset="0"/>
            </a:rPr>
            <a:t>Daha kontrollü üretim</a:t>
          </a:r>
          <a:endParaRPr lang="tr-TR" sz="1600" b="1" kern="1200" dirty="0">
            <a:latin typeface="Times New Roman" panose="02020603050405020304" pitchFamily="18" charset="0"/>
            <a:cs typeface="Times New Roman" panose="02020603050405020304" pitchFamily="18" charset="0"/>
          </a:endParaRPr>
        </a:p>
        <a:p>
          <a:pPr marL="171450" lvl="1" indent="-171450" algn="l" defTabSz="711200">
            <a:lnSpc>
              <a:spcPct val="200000"/>
            </a:lnSpc>
            <a:spcBef>
              <a:spcPct val="0"/>
            </a:spcBef>
            <a:spcAft>
              <a:spcPct val="15000"/>
            </a:spcAft>
            <a:buChar char="••"/>
          </a:pPr>
          <a:r>
            <a:rPr lang="tr-TR" sz="1600" b="1" kern="1200" dirty="0" smtClean="0">
              <a:latin typeface="Times New Roman" panose="02020603050405020304" pitchFamily="18" charset="0"/>
              <a:cs typeface="Times New Roman" panose="02020603050405020304" pitchFamily="18" charset="0"/>
            </a:rPr>
            <a:t>Tutarlı çıktı yapısı</a:t>
          </a:r>
          <a:endParaRPr lang="tr-TR" sz="1600" b="1" kern="1200" dirty="0">
            <a:latin typeface="Times New Roman" panose="02020603050405020304" pitchFamily="18" charset="0"/>
            <a:cs typeface="Times New Roman" panose="02020603050405020304" pitchFamily="18" charset="0"/>
          </a:endParaRPr>
        </a:p>
        <a:p>
          <a:pPr marL="171450" lvl="1" indent="-171450" algn="l" defTabSz="711200">
            <a:lnSpc>
              <a:spcPct val="200000"/>
            </a:lnSpc>
            <a:spcBef>
              <a:spcPct val="0"/>
            </a:spcBef>
            <a:spcAft>
              <a:spcPct val="15000"/>
            </a:spcAft>
            <a:buChar char="••"/>
          </a:pPr>
          <a:r>
            <a:rPr lang="tr-TR" sz="1600" b="1" kern="1200" dirty="0" smtClean="0">
              <a:latin typeface="Times New Roman" panose="02020603050405020304" pitchFamily="18" charset="0"/>
              <a:cs typeface="Times New Roman" panose="02020603050405020304" pitchFamily="18" charset="0"/>
            </a:rPr>
            <a:t>SA görevlerine uygunluk</a:t>
          </a:r>
          <a:endParaRPr lang="tr-TR" sz="1600" b="1" kern="1200" dirty="0">
            <a:latin typeface="Times New Roman" panose="02020603050405020304" pitchFamily="18" charset="0"/>
            <a:cs typeface="Times New Roman" panose="02020603050405020304" pitchFamily="18" charset="0"/>
          </a:endParaRPr>
        </a:p>
      </dsp:txBody>
      <dsp:txXfrm>
        <a:off x="3161885" y="1124830"/>
        <a:ext cx="2773557" cy="27669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46C58-D7F3-4D2A-B6EA-E40D5A34BE62}">
      <dsp:nvSpPr>
        <dsp:cNvPr id="0" name=""/>
        <dsp:cNvSpPr/>
      </dsp:nvSpPr>
      <dsp:spPr>
        <a:xfrm>
          <a:off x="761282" y="1695"/>
          <a:ext cx="1866011" cy="9330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tr-TR" sz="1900" b="1" u="none" kern="1200" dirty="0" smtClean="0">
              <a:solidFill>
                <a:schemeClr val="tx1"/>
              </a:solidFill>
              <a:effectLst/>
            </a:rPr>
            <a:t>Geleneksel ML Modelleri</a:t>
          </a:r>
          <a:endParaRPr lang="tr-TR" sz="1900" b="1" u="none" kern="1200" dirty="0">
            <a:solidFill>
              <a:schemeClr val="tx1"/>
            </a:solidFill>
            <a:effectLst/>
          </a:endParaRPr>
        </a:p>
      </dsp:txBody>
      <dsp:txXfrm>
        <a:off x="788609" y="29022"/>
        <a:ext cx="1811357" cy="878351"/>
      </dsp:txXfrm>
    </dsp:sp>
    <dsp:sp modelId="{E0B1CDA5-ADAC-43DD-8292-34D8D4A01FD5}">
      <dsp:nvSpPr>
        <dsp:cNvPr id="0" name=""/>
        <dsp:cNvSpPr/>
      </dsp:nvSpPr>
      <dsp:spPr>
        <a:xfrm>
          <a:off x="947883" y="934701"/>
          <a:ext cx="186601" cy="699754"/>
        </a:xfrm>
        <a:custGeom>
          <a:avLst/>
          <a:gdLst/>
          <a:ahLst/>
          <a:cxnLst/>
          <a:rect l="0" t="0" r="0" b="0"/>
          <a:pathLst>
            <a:path>
              <a:moveTo>
                <a:pt x="0" y="0"/>
              </a:moveTo>
              <a:lnTo>
                <a:pt x="0" y="699754"/>
              </a:lnTo>
              <a:lnTo>
                <a:pt x="186601" y="699754"/>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CB04F4D-0621-4D0B-9076-510E612326FD}">
      <dsp:nvSpPr>
        <dsp:cNvPr id="0" name=""/>
        <dsp:cNvSpPr/>
      </dsp:nvSpPr>
      <dsp:spPr>
        <a:xfrm>
          <a:off x="1134485" y="1167952"/>
          <a:ext cx="1492809" cy="9330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tr-TR" sz="1400" kern="1200" dirty="0" err="1" smtClean="0">
              <a:latin typeface="Times New Roman" panose="02020603050405020304" pitchFamily="18" charset="0"/>
              <a:cs typeface="Times New Roman" panose="02020603050405020304" pitchFamily="18" charset="0"/>
            </a:rPr>
            <a:t>Naive</a:t>
          </a:r>
          <a:r>
            <a:rPr lang="tr-TR" sz="1400" kern="1200" dirty="0" smtClean="0">
              <a:latin typeface="Times New Roman" panose="02020603050405020304" pitchFamily="18" charset="0"/>
              <a:cs typeface="Times New Roman" panose="02020603050405020304" pitchFamily="18" charset="0"/>
            </a:rPr>
            <a:t> </a:t>
          </a:r>
          <a:r>
            <a:rPr lang="tr-TR" sz="1400" kern="1200" dirty="0" err="1" smtClean="0">
              <a:latin typeface="Times New Roman" panose="02020603050405020304" pitchFamily="18" charset="0"/>
              <a:cs typeface="Times New Roman" panose="02020603050405020304" pitchFamily="18" charset="0"/>
            </a:rPr>
            <a:t>Bayes</a:t>
          </a:r>
          <a:r>
            <a:rPr lang="tr-TR" sz="1400" kern="1200" dirty="0" smtClean="0">
              <a:latin typeface="Times New Roman" panose="02020603050405020304" pitchFamily="18" charset="0"/>
              <a:cs typeface="Times New Roman" panose="02020603050405020304" pitchFamily="18" charset="0"/>
            </a:rPr>
            <a:t>(NB)</a:t>
          </a:r>
          <a:endParaRPr lang="tr-TR" sz="1400" kern="1200" dirty="0">
            <a:latin typeface="Times New Roman" panose="02020603050405020304" pitchFamily="18" charset="0"/>
            <a:cs typeface="Times New Roman" panose="02020603050405020304" pitchFamily="18" charset="0"/>
          </a:endParaRPr>
        </a:p>
      </dsp:txBody>
      <dsp:txXfrm>
        <a:off x="1161812" y="1195279"/>
        <a:ext cx="1438155" cy="878351"/>
      </dsp:txXfrm>
    </dsp:sp>
    <dsp:sp modelId="{33D2F70F-77CE-4853-9552-C92C70B02FF6}">
      <dsp:nvSpPr>
        <dsp:cNvPr id="0" name=""/>
        <dsp:cNvSpPr/>
      </dsp:nvSpPr>
      <dsp:spPr>
        <a:xfrm>
          <a:off x="947883" y="934701"/>
          <a:ext cx="186601" cy="1866011"/>
        </a:xfrm>
        <a:custGeom>
          <a:avLst/>
          <a:gdLst/>
          <a:ahLst/>
          <a:cxnLst/>
          <a:rect l="0" t="0" r="0" b="0"/>
          <a:pathLst>
            <a:path>
              <a:moveTo>
                <a:pt x="0" y="0"/>
              </a:moveTo>
              <a:lnTo>
                <a:pt x="0" y="1866011"/>
              </a:lnTo>
              <a:lnTo>
                <a:pt x="186601" y="1866011"/>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B26F2FD-F646-4BE3-A0D0-05207B445F70}">
      <dsp:nvSpPr>
        <dsp:cNvPr id="0" name=""/>
        <dsp:cNvSpPr/>
      </dsp:nvSpPr>
      <dsp:spPr>
        <a:xfrm>
          <a:off x="1134485" y="2334210"/>
          <a:ext cx="1492809" cy="9330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291073"/>
              <a:satOff val="-16786"/>
              <a:lumOff val="1726"/>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tr-TR" sz="1400" kern="1200" dirty="0" err="1" smtClean="0">
              <a:latin typeface="Times New Roman" panose="02020603050405020304" pitchFamily="18" charset="0"/>
              <a:cs typeface="Times New Roman" panose="02020603050405020304" pitchFamily="18" charset="0"/>
            </a:rPr>
            <a:t>Support</a:t>
          </a:r>
          <a:r>
            <a:rPr lang="tr-TR" sz="1400" kern="1200" dirty="0" smtClean="0">
              <a:latin typeface="Times New Roman" panose="02020603050405020304" pitchFamily="18" charset="0"/>
              <a:cs typeface="Times New Roman" panose="02020603050405020304" pitchFamily="18" charset="0"/>
            </a:rPr>
            <a:t> </a:t>
          </a:r>
          <a:r>
            <a:rPr lang="tr-TR" sz="1400" kern="1200" dirty="0" err="1" smtClean="0">
              <a:latin typeface="Times New Roman" panose="02020603050405020304" pitchFamily="18" charset="0"/>
              <a:cs typeface="Times New Roman" panose="02020603050405020304" pitchFamily="18" charset="0"/>
            </a:rPr>
            <a:t>Vector</a:t>
          </a:r>
          <a:r>
            <a:rPr lang="tr-TR" sz="1400" kern="1200" dirty="0" smtClean="0">
              <a:latin typeface="Times New Roman" panose="02020603050405020304" pitchFamily="18" charset="0"/>
              <a:cs typeface="Times New Roman" panose="02020603050405020304" pitchFamily="18" charset="0"/>
            </a:rPr>
            <a:t> </a:t>
          </a:r>
          <a:r>
            <a:rPr lang="tr-TR" sz="1400" kern="1200" dirty="0" err="1" smtClean="0">
              <a:latin typeface="Times New Roman" panose="02020603050405020304" pitchFamily="18" charset="0"/>
              <a:cs typeface="Times New Roman" panose="02020603050405020304" pitchFamily="18" charset="0"/>
            </a:rPr>
            <a:t>Machines</a:t>
          </a:r>
          <a:r>
            <a:rPr lang="tr-TR" sz="1400" kern="1200" dirty="0" smtClean="0">
              <a:latin typeface="Times New Roman" panose="02020603050405020304" pitchFamily="18" charset="0"/>
              <a:cs typeface="Times New Roman" panose="02020603050405020304" pitchFamily="18" charset="0"/>
            </a:rPr>
            <a:t>(SVM)</a:t>
          </a:r>
          <a:endParaRPr lang="tr-TR" sz="1400" kern="1200" dirty="0">
            <a:latin typeface="Times New Roman" panose="02020603050405020304" pitchFamily="18" charset="0"/>
            <a:cs typeface="Times New Roman" panose="02020603050405020304" pitchFamily="18" charset="0"/>
          </a:endParaRPr>
        </a:p>
      </dsp:txBody>
      <dsp:txXfrm>
        <a:off x="1161812" y="2361537"/>
        <a:ext cx="1438155" cy="878351"/>
      </dsp:txXfrm>
    </dsp:sp>
    <dsp:sp modelId="{0BFCCDF0-DD8F-4A48-91EE-91F8D5D72F33}">
      <dsp:nvSpPr>
        <dsp:cNvPr id="0" name=""/>
        <dsp:cNvSpPr/>
      </dsp:nvSpPr>
      <dsp:spPr>
        <a:xfrm>
          <a:off x="947883" y="934701"/>
          <a:ext cx="186601" cy="3032268"/>
        </a:xfrm>
        <a:custGeom>
          <a:avLst/>
          <a:gdLst/>
          <a:ahLst/>
          <a:cxnLst/>
          <a:rect l="0" t="0" r="0" b="0"/>
          <a:pathLst>
            <a:path>
              <a:moveTo>
                <a:pt x="0" y="0"/>
              </a:moveTo>
              <a:lnTo>
                <a:pt x="0" y="3032268"/>
              </a:lnTo>
              <a:lnTo>
                <a:pt x="186601" y="3032268"/>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81B9B71-DAFE-44F5-B40B-AD156418217A}">
      <dsp:nvSpPr>
        <dsp:cNvPr id="0" name=""/>
        <dsp:cNvSpPr/>
      </dsp:nvSpPr>
      <dsp:spPr>
        <a:xfrm>
          <a:off x="1134485" y="3500467"/>
          <a:ext cx="1492809" cy="9330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582145"/>
              <a:satOff val="-33571"/>
              <a:lumOff val="3451"/>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tr-TR" sz="1400" kern="1200" dirty="0" err="1" smtClean="0">
              <a:latin typeface="Times New Roman" panose="02020603050405020304" pitchFamily="18" charset="0"/>
              <a:cs typeface="Times New Roman" panose="02020603050405020304" pitchFamily="18" charset="0"/>
            </a:rPr>
            <a:t>Logistic</a:t>
          </a:r>
          <a:r>
            <a:rPr lang="tr-TR" sz="1400" kern="1200" dirty="0" smtClean="0">
              <a:latin typeface="Times New Roman" panose="02020603050405020304" pitchFamily="18" charset="0"/>
              <a:cs typeface="Times New Roman" panose="02020603050405020304" pitchFamily="18" charset="0"/>
            </a:rPr>
            <a:t> </a:t>
          </a:r>
          <a:r>
            <a:rPr lang="tr-TR" sz="1400" kern="1200" dirty="0" err="1" smtClean="0">
              <a:latin typeface="Times New Roman" panose="02020603050405020304" pitchFamily="18" charset="0"/>
              <a:cs typeface="Times New Roman" panose="02020603050405020304" pitchFamily="18" charset="0"/>
            </a:rPr>
            <a:t>Regression</a:t>
          </a:r>
          <a:r>
            <a:rPr lang="tr-TR" sz="1400" kern="1200" dirty="0" smtClean="0">
              <a:latin typeface="Times New Roman" panose="02020603050405020304" pitchFamily="18" charset="0"/>
              <a:cs typeface="Times New Roman" panose="02020603050405020304" pitchFamily="18" charset="0"/>
            </a:rPr>
            <a:t>(LR)</a:t>
          </a:r>
          <a:endParaRPr lang="tr-TR" sz="1400" kern="1200" dirty="0">
            <a:latin typeface="Times New Roman" panose="02020603050405020304" pitchFamily="18" charset="0"/>
            <a:cs typeface="Times New Roman" panose="02020603050405020304" pitchFamily="18" charset="0"/>
          </a:endParaRPr>
        </a:p>
      </dsp:txBody>
      <dsp:txXfrm>
        <a:off x="1161812" y="3527794"/>
        <a:ext cx="1438155" cy="878351"/>
      </dsp:txXfrm>
    </dsp:sp>
    <dsp:sp modelId="{9F5B45FE-FEA9-4F62-A695-6769BB1E4D57}">
      <dsp:nvSpPr>
        <dsp:cNvPr id="0" name=""/>
        <dsp:cNvSpPr/>
      </dsp:nvSpPr>
      <dsp:spPr>
        <a:xfrm>
          <a:off x="3093797" y="1695"/>
          <a:ext cx="1866011" cy="933005"/>
        </a:xfrm>
        <a:prstGeom prst="roundRect">
          <a:avLst>
            <a:gd name="adj" fmla="val 10000"/>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tr-TR" sz="1900" b="1" kern="1200" dirty="0" smtClean="0">
              <a:solidFill>
                <a:schemeClr val="tx1"/>
              </a:solidFill>
            </a:rPr>
            <a:t>Derin Öğrenme Tabanlı Modeller</a:t>
          </a:r>
          <a:endParaRPr lang="tr-TR" sz="1900" b="1" kern="1200" dirty="0">
            <a:solidFill>
              <a:schemeClr val="tx1"/>
            </a:solidFill>
          </a:endParaRPr>
        </a:p>
      </dsp:txBody>
      <dsp:txXfrm>
        <a:off x="3121124" y="29022"/>
        <a:ext cx="1811357" cy="878351"/>
      </dsp:txXfrm>
    </dsp:sp>
    <dsp:sp modelId="{B1017131-4D70-4E17-BA1F-70366E9B1D6D}">
      <dsp:nvSpPr>
        <dsp:cNvPr id="0" name=""/>
        <dsp:cNvSpPr/>
      </dsp:nvSpPr>
      <dsp:spPr>
        <a:xfrm>
          <a:off x="3280398" y="934701"/>
          <a:ext cx="186601" cy="699754"/>
        </a:xfrm>
        <a:custGeom>
          <a:avLst/>
          <a:gdLst/>
          <a:ahLst/>
          <a:cxnLst/>
          <a:rect l="0" t="0" r="0" b="0"/>
          <a:pathLst>
            <a:path>
              <a:moveTo>
                <a:pt x="0" y="0"/>
              </a:moveTo>
              <a:lnTo>
                <a:pt x="0" y="699754"/>
              </a:lnTo>
              <a:lnTo>
                <a:pt x="186601" y="699754"/>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ED9818D-A46F-4C52-9524-BEA2D81E537B}">
      <dsp:nvSpPr>
        <dsp:cNvPr id="0" name=""/>
        <dsp:cNvSpPr/>
      </dsp:nvSpPr>
      <dsp:spPr>
        <a:xfrm>
          <a:off x="3466999" y="1167952"/>
          <a:ext cx="1492809" cy="9330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873218"/>
              <a:satOff val="-50357"/>
              <a:lumOff val="5177"/>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tr-TR" sz="1400" kern="1200" dirty="0" err="1" smtClean="0">
              <a:latin typeface="Times New Roman" panose="02020603050405020304" pitchFamily="18" charset="0"/>
              <a:cs typeface="Times New Roman" panose="02020603050405020304" pitchFamily="18" charset="0"/>
            </a:rPr>
            <a:t>Convolutional</a:t>
          </a:r>
          <a:r>
            <a:rPr lang="tr-TR" sz="1400" kern="1200" dirty="0" smtClean="0">
              <a:latin typeface="Times New Roman" panose="02020603050405020304" pitchFamily="18" charset="0"/>
              <a:cs typeface="Times New Roman" panose="02020603050405020304" pitchFamily="18" charset="0"/>
            </a:rPr>
            <a:t> </a:t>
          </a:r>
          <a:r>
            <a:rPr lang="tr-TR" sz="1400" kern="1200" dirty="0" err="1" smtClean="0">
              <a:latin typeface="Times New Roman" panose="02020603050405020304" pitchFamily="18" charset="0"/>
              <a:cs typeface="Times New Roman" panose="02020603050405020304" pitchFamily="18" charset="0"/>
            </a:rPr>
            <a:t>Neural</a:t>
          </a:r>
          <a:r>
            <a:rPr lang="tr-TR" sz="1400" kern="1200" dirty="0" smtClean="0">
              <a:latin typeface="Times New Roman" panose="02020603050405020304" pitchFamily="18" charset="0"/>
              <a:cs typeface="Times New Roman" panose="02020603050405020304" pitchFamily="18" charset="0"/>
            </a:rPr>
            <a:t> Networks (CNN) </a:t>
          </a:r>
          <a:endParaRPr lang="tr-TR" sz="1400" kern="1200" dirty="0">
            <a:latin typeface="Times New Roman" panose="02020603050405020304" pitchFamily="18" charset="0"/>
            <a:cs typeface="Times New Roman" panose="02020603050405020304" pitchFamily="18" charset="0"/>
          </a:endParaRPr>
        </a:p>
      </dsp:txBody>
      <dsp:txXfrm>
        <a:off x="3494326" y="1195279"/>
        <a:ext cx="1438155" cy="878351"/>
      </dsp:txXfrm>
    </dsp:sp>
    <dsp:sp modelId="{5300FF56-8213-463F-BAE7-B3606C64A686}">
      <dsp:nvSpPr>
        <dsp:cNvPr id="0" name=""/>
        <dsp:cNvSpPr/>
      </dsp:nvSpPr>
      <dsp:spPr>
        <a:xfrm>
          <a:off x="3280398" y="934701"/>
          <a:ext cx="186601" cy="1866011"/>
        </a:xfrm>
        <a:custGeom>
          <a:avLst/>
          <a:gdLst/>
          <a:ahLst/>
          <a:cxnLst/>
          <a:rect l="0" t="0" r="0" b="0"/>
          <a:pathLst>
            <a:path>
              <a:moveTo>
                <a:pt x="0" y="0"/>
              </a:moveTo>
              <a:lnTo>
                <a:pt x="0" y="1866011"/>
              </a:lnTo>
              <a:lnTo>
                <a:pt x="186601" y="1866011"/>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1C004B9-CB59-4F10-A996-E5CD1F03BD10}">
      <dsp:nvSpPr>
        <dsp:cNvPr id="0" name=""/>
        <dsp:cNvSpPr/>
      </dsp:nvSpPr>
      <dsp:spPr>
        <a:xfrm>
          <a:off x="3466999" y="2334210"/>
          <a:ext cx="1492809" cy="9330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1164290"/>
              <a:satOff val="-67142"/>
              <a:lumOff val="6902"/>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tr-TR" sz="1400" kern="1200" dirty="0" err="1" smtClean="0">
              <a:latin typeface="Times New Roman" panose="02020603050405020304" pitchFamily="18" charset="0"/>
              <a:cs typeface="Times New Roman" panose="02020603050405020304" pitchFamily="18" charset="0"/>
            </a:rPr>
            <a:t>Long</a:t>
          </a:r>
          <a:r>
            <a:rPr lang="tr-TR" sz="1400" kern="1200" dirty="0" smtClean="0">
              <a:latin typeface="Times New Roman" panose="02020603050405020304" pitchFamily="18" charset="0"/>
              <a:cs typeface="Times New Roman" panose="02020603050405020304" pitchFamily="18" charset="0"/>
            </a:rPr>
            <a:t> </a:t>
          </a:r>
          <a:r>
            <a:rPr lang="tr-TR" sz="1400" kern="1200" dirty="0" err="1" smtClean="0">
              <a:latin typeface="Times New Roman" panose="02020603050405020304" pitchFamily="18" charset="0"/>
              <a:cs typeface="Times New Roman" panose="02020603050405020304" pitchFamily="18" charset="0"/>
            </a:rPr>
            <a:t>Short-Term</a:t>
          </a:r>
          <a:r>
            <a:rPr lang="tr-TR" sz="1400" kern="1200" dirty="0" smtClean="0">
              <a:latin typeface="Times New Roman" panose="02020603050405020304" pitchFamily="18" charset="0"/>
              <a:cs typeface="Times New Roman" panose="02020603050405020304" pitchFamily="18" charset="0"/>
            </a:rPr>
            <a:t> Memory (LSTM)</a:t>
          </a:r>
          <a:endParaRPr lang="tr-TR" sz="1400" kern="1200" dirty="0">
            <a:latin typeface="Times New Roman" panose="02020603050405020304" pitchFamily="18" charset="0"/>
            <a:cs typeface="Times New Roman" panose="02020603050405020304" pitchFamily="18" charset="0"/>
          </a:endParaRPr>
        </a:p>
      </dsp:txBody>
      <dsp:txXfrm>
        <a:off x="3494326" y="2361537"/>
        <a:ext cx="1438155" cy="878351"/>
      </dsp:txXfrm>
    </dsp:sp>
    <dsp:sp modelId="{AE4644D1-708C-459B-9F33-8DE342455F49}">
      <dsp:nvSpPr>
        <dsp:cNvPr id="0" name=""/>
        <dsp:cNvSpPr/>
      </dsp:nvSpPr>
      <dsp:spPr>
        <a:xfrm>
          <a:off x="5426311" y="1695"/>
          <a:ext cx="1866011" cy="933005"/>
        </a:xfrm>
        <a:prstGeom prst="roundRect">
          <a:avLst>
            <a:gd name="adj" fmla="val 10000"/>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tr-TR" sz="1900" b="1" kern="1200" dirty="0" err="1" smtClean="0">
              <a:solidFill>
                <a:schemeClr val="tx1"/>
              </a:solidFill>
            </a:rPr>
            <a:t>Transformer</a:t>
          </a:r>
          <a:r>
            <a:rPr lang="tr-TR" sz="1900" b="1" kern="1200" dirty="0" smtClean="0">
              <a:solidFill>
                <a:schemeClr val="tx1"/>
              </a:solidFill>
            </a:rPr>
            <a:t> Tabanlı Model</a:t>
          </a:r>
          <a:endParaRPr lang="tr-TR" sz="1900" b="1" kern="1200" dirty="0">
            <a:solidFill>
              <a:schemeClr val="tx1"/>
            </a:solidFill>
          </a:endParaRPr>
        </a:p>
      </dsp:txBody>
      <dsp:txXfrm>
        <a:off x="5453638" y="29022"/>
        <a:ext cx="1811357" cy="878351"/>
      </dsp:txXfrm>
    </dsp:sp>
    <dsp:sp modelId="{F66134BE-70CC-4A8D-9263-A77C5F05773C}">
      <dsp:nvSpPr>
        <dsp:cNvPr id="0" name=""/>
        <dsp:cNvSpPr/>
      </dsp:nvSpPr>
      <dsp:spPr>
        <a:xfrm>
          <a:off x="5612913" y="934701"/>
          <a:ext cx="186601" cy="699754"/>
        </a:xfrm>
        <a:custGeom>
          <a:avLst/>
          <a:gdLst/>
          <a:ahLst/>
          <a:cxnLst/>
          <a:rect l="0" t="0" r="0" b="0"/>
          <a:pathLst>
            <a:path>
              <a:moveTo>
                <a:pt x="0" y="0"/>
              </a:moveTo>
              <a:lnTo>
                <a:pt x="0" y="699754"/>
              </a:lnTo>
              <a:lnTo>
                <a:pt x="186601" y="699754"/>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2EEB227-6F53-4D30-9083-7800C868B84D}">
      <dsp:nvSpPr>
        <dsp:cNvPr id="0" name=""/>
        <dsp:cNvSpPr/>
      </dsp:nvSpPr>
      <dsp:spPr>
        <a:xfrm>
          <a:off x="5799514" y="1167952"/>
          <a:ext cx="1684277" cy="9330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tr-TR" sz="1400" kern="1200" dirty="0" err="1" smtClean="0">
              <a:latin typeface="Times New Roman" panose="02020603050405020304" pitchFamily="18" charset="0"/>
              <a:cs typeface="Times New Roman" panose="02020603050405020304" pitchFamily="18" charset="0"/>
            </a:rPr>
            <a:t>Bidirectional</a:t>
          </a:r>
          <a:r>
            <a:rPr lang="tr-TR" sz="1400" kern="1200" dirty="0" smtClean="0">
              <a:latin typeface="Times New Roman" panose="02020603050405020304" pitchFamily="18" charset="0"/>
              <a:cs typeface="Times New Roman" panose="02020603050405020304" pitchFamily="18" charset="0"/>
            </a:rPr>
            <a:t> Encoder </a:t>
          </a:r>
          <a:r>
            <a:rPr lang="tr-TR" sz="1400" kern="1200" dirty="0" err="1" smtClean="0">
              <a:latin typeface="Times New Roman" panose="02020603050405020304" pitchFamily="18" charset="0"/>
              <a:cs typeface="Times New Roman" panose="02020603050405020304" pitchFamily="18" charset="0"/>
            </a:rPr>
            <a:t>Representations</a:t>
          </a:r>
          <a:r>
            <a:rPr lang="tr-TR" sz="1400" kern="1200" dirty="0" smtClean="0">
              <a:latin typeface="Times New Roman" panose="02020603050405020304" pitchFamily="18" charset="0"/>
              <a:cs typeface="Times New Roman" panose="02020603050405020304" pitchFamily="18" charset="0"/>
            </a:rPr>
            <a:t> </a:t>
          </a:r>
          <a:r>
            <a:rPr lang="tr-TR" sz="1400" kern="1200" dirty="0" err="1" smtClean="0">
              <a:latin typeface="Times New Roman" panose="02020603050405020304" pitchFamily="18" charset="0"/>
              <a:cs typeface="Times New Roman" panose="02020603050405020304" pitchFamily="18" charset="0"/>
            </a:rPr>
            <a:t>from</a:t>
          </a:r>
          <a:r>
            <a:rPr lang="tr-TR" sz="1400" kern="1200" dirty="0" smtClean="0">
              <a:latin typeface="Times New Roman" panose="02020603050405020304" pitchFamily="18" charset="0"/>
              <a:cs typeface="Times New Roman" panose="02020603050405020304" pitchFamily="18" charset="0"/>
            </a:rPr>
            <a:t> </a:t>
          </a:r>
          <a:r>
            <a:rPr lang="tr-TR" sz="1400" kern="1200" dirty="0" err="1" smtClean="0">
              <a:latin typeface="Times New Roman" panose="02020603050405020304" pitchFamily="18" charset="0"/>
              <a:cs typeface="Times New Roman" panose="02020603050405020304" pitchFamily="18" charset="0"/>
            </a:rPr>
            <a:t>Transformers</a:t>
          </a:r>
          <a:r>
            <a:rPr lang="tr-TR" sz="1400" kern="1200" dirty="0" smtClean="0">
              <a:latin typeface="Times New Roman" panose="02020603050405020304" pitchFamily="18" charset="0"/>
              <a:cs typeface="Times New Roman" panose="02020603050405020304" pitchFamily="18" charset="0"/>
            </a:rPr>
            <a:t> (BERT) </a:t>
          </a:r>
          <a:endParaRPr lang="tr-TR" sz="1400" kern="1200" dirty="0">
            <a:latin typeface="Times New Roman" panose="02020603050405020304" pitchFamily="18" charset="0"/>
            <a:cs typeface="Times New Roman" panose="02020603050405020304" pitchFamily="18" charset="0"/>
          </a:endParaRPr>
        </a:p>
      </dsp:txBody>
      <dsp:txXfrm>
        <a:off x="5826841" y="1195279"/>
        <a:ext cx="1629623" cy="8783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B61EB8-3E83-45E5-918C-742687238102}">
      <dsp:nvSpPr>
        <dsp:cNvPr id="0" name=""/>
        <dsp:cNvSpPr/>
      </dsp:nvSpPr>
      <dsp:spPr>
        <a:xfrm>
          <a:off x="2973628" y="1358"/>
          <a:ext cx="4460443" cy="1077509"/>
        </a:xfrm>
        <a:prstGeom prst="rightArrow">
          <a:avLst>
            <a:gd name="adj1" fmla="val 75000"/>
            <a:gd name="adj2" fmla="val 50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tr-TR" sz="1800" b="1" i="1" kern="1200" dirty="0" err="1" smtClean="0">
              <a:latin typeface="Times New Roman" panose="02020603050405020304" pitchFamily="18" charset="0"/>
              <a:cs typeface="Times New Roman" panose="02020603050405020304" pitchFamily="18" charset="0"/>
            </a:rPr>
            <a:t>Max</a:t>
          </a:r>
          <a:r>
            <a:rPr lang="tr-TR" sz="1800" b="1" i="1" kern="1200" dirty="0" smtClean="0">
              <a:latin typeface="Times New Roman" panose="02020603050405020304" pitchFamily="18" charset="0"/>
              <a:cs typeface="Times New Roman" panose="02020603050405020304" pitchFamily="18" charset="0"/>
            </a:rPr>
            <a:t> </a:t>
          </a:r>
          <a:r>
            <a:rPr lang="tr-TR" sz="1800" b="1" i="1" kern="1200" dirty="0" err="1" smtClean="0">
              <a:latin typeface="Times New Roman" panose="02020603050405020304" pitchFamily="18" charset="0"/>
              <a:cs typeface="Times New Roman" panose="02020603050405020304" pitchFamily="18" charset="0"/>
            </a:rPr>
            <a:t>sequence</a:t>
          </a:r>
          <a:r>
            <a:rPr lang="tr-TR" sz="1800" b="1" i="1" kern="1200" dirty="0" smtClean="0">
              <a:latin typeface="Times New Roman" panose="02020603050405020304" pitchFamily="18" charset="0"/>
              <a:cs typeface="Times New Roman" panose="02020603050405020304" pitchFamily="18" charset="0"/>
            </a:rPr>
            <a:t> </a:t>
          </a:r>
          <a:r>
            <a:rPr lang="tr-TR" sz="1800" b="1" i="1" kern="1200" dirty="0" err="1" smtClean="0">
              <a:latin typeface="Times New Roman" panose="02020603050405020304" pitchFamily="18" charset="0"/>
              <a:cs typeface="Times New Roman" panose="02020603050405020304" pitchFamily="18" charset="0"/>
            </a:rPr>
            <a:t>length</a:t>
          </a:r>
          <a:r>
            <a:rPr lang="tr-TR" sz="1800" b="1" i="1" kern="1200" dirty="0" smtClean="0">
              <a:latin typeface="Times New Roman" panose="02020603050405020304" pitchFamily="18" charset="0"/>
              <a:cs typeface="Times New Roman" panose="02020603050405020304" pitchFamily="18" charset="0"/>
            </a:rPr>
            <a:t> : 256</a:t>
          </a:r>
          <a:endParaRPr lang="tr-TR" sz="1800" b="1" i="1" kern="1200" dirty="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tr-TR" sz="1800" b="1" i="1" kern="1200" dirty="0" err="1" smtClean="0">
              <a:latin typeface="Times New Roman" panose="02020603050405020304" pitchFamily="18" charset="0"/>
              <a:cs typeface="Times New Roman" panose="02020603050405020304" pitchFamily="18" charset="0"/>
            </a:rPr>
            <a:t>Epoch</a:t>
          </a:r>
          <a:r>
            <a:rPr lang="tr-TR" sz="1800" b="1" i="1" kern="1200" dirty="0" smtClean="0">
              <a:latin typeface="Times New Roman" panose="02020603050405020304" pitchFamily="18" charset="0"/>
              <a:cs typeface="Times New Roman" panose="02020603050405020304" pitchFamily="18" charset="0"/>
            </a:rPr>
            <a:t>: 5</a:t>
          </a:r>
          <a:endParaRPr lang="tr-TR" sz="1800" b="1" i="1" kern="1200" dirty="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tr-TR" sz="1800" b="1" i="1" kern="1200" dirty="0" smtClean="0">
              <a:latin typeface="Times New Roman" panose="02020603050405020304" pitchFamily="18" charset="0"/>
              <a:cs typeface="Times New Roman" panose="02020603050405020304" pitchFamily="18" charset="0"/>
            </a:rPr>
            <a:t>Cross-</a:t>
          </a:r>
          <a:r>
            <a:rPr lang="tr-TR" sz="1800" b="1" i="1" kern="1200" dirty="0" err="1" smtClean="0">
              <a:latin typeface="Times New Roman" panose="02020603050405020304" pitchFamily="18" charset="0"/>
              <a:cs typeface="Times New Roman" panose="02020603050405020304" pitchFamily="18" charset="0"/>
            </a:rPr>
            <a:t>validation</a:t>
          </a:r>
          <a:r>
            <a:rPr lang="tr-TR" sz="1800" b="1" i="1" kern="1200" dirty="0" smtClean="0">
              <a:latin typeface="Times New Roman" panose="02020603050405020304" pitchFamily="18" charset="0"/>
              <a:cs typeface="Times New Roman" panose="02020603050405020304" pitchFamily="18" charset="0"/>
            </a:rPr>
            <a:t>: 5-Fold</a:t>
          </a:r>
          <a:endParaRPr lang="tr-TR" sz="1800" b="1" i="1" kern="1200" dirty="0">
            <a:latin typeface="Times New Roman" panose="02020603050405020304" pitchFamily="18" charset="0"/>
            <a:cs typeface="Times New Roman" panose="02020603050405020304" pitchFamily="18" charset="0"/>
          </a:endParaRPr>
        </a:p>
      </dsp:txBody>
      <dsp:txXfrm>
        <a:off x="2973628" y="136047"/>
        <a:ext cx="4056377" cy="808131"/>
      </dsp:txXfrm>
    </dsp:sp>
    <dsp:sp modelId="{6F854120-F413-46EF-BAA4-77C5A094D886}">
      <dsp:nvSpPr>
        <dsp:cNvPr id="0" name=""/>
        <dsp:cNvSpPr/>
      </dsp:nvSpPr>
      <dsp:spPr>
        <a:xfrm>
          <a:off x="0" y="1358"/>
          <a:ext cx="2973628" cy="107750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tr-TR" sz="2000" b="1" u="sng" kern="1200" dirty="0" smtClean="0">
              <a:solidFill>
                <a:schemeClr val="tx1"/>
              </a:solidFill>
              <a:latin typeface="Times New Roman" panose="02020603050405020304" pitchFamily="18" charset="0"/>
              <a:cs typeface="Times New Roman" panose="02020603050405020304" pitchFamily="18" charset="0"/>
            </a:rPr>
            <a:t>Ortak Ayarlar</a:t>
          </a:r>
          <a:endParaRPr lang="tr-TR" sz="2000" b="1" u="sng" kern="1200" dirty="0">
            <a:solidFill>
              <a:schemeClr val="tx1"/>
            </a:solidFill>
            <a:latin typeface="Times New Roman" panose="02020603050405020304" pitchFamily="18" charset="0"/>
            <a:cs typeface="Times New Roman" panose="02020603050405020304" pitchFamily="18" charset="0"/>
          </a:endParaRPr>
        </a:p>
      </dsp:txBody>
      <dsp:txXfrm>
        <a:off x="52600" y="53958"/>
        <a:ext cx="2868428" cy="972309"/>
      </dsp:txXfrm>
    </dsp:sp>
    <dsp:sp modelId="{E8C26569-2147-420A-9531-8389040CDA0D}">
      <dsp:nvSpPr>
        <dsp:cNvPr id="0" name=""/>
        <dsp:cNvSpPr/>
      </dsp:nvSpPr>
      <dsp:spPr>
        <a:xfrm>
          <a:off x="2973628" y="1186618"/>
          <a:ext cx="4460443" cy="1077509"/>
        </a:xfrm>
        <a:prstGeom prst="rightArrow">
          <a:avLst>
            <a:gd name="adj1" fmla="val 75000"/>
            <a:gd name="adj2" fmla="val 50000"/>
          </a:avLst>
        </a:prstGeom>
        <a:solidFill>
          <a:schemeClr val="accent2">
            <a:tint val="40000"/>
            <a:alpha val="90000"/>
            <a:hueOff val="-283075"/>
            <a:satOff val="-25115"/>
            <a:lumOff val="-256"/>
            <a:alphaOff val="0"/>
          </a:schemeClr>
        </a:solidFill>
        <a:ln w="6350" cap="flat" cmpd="sng" algn="ctr">
          <a:solidFill>
            <a:schemeClr val="accent2">
              <a:tint val="40000"/>
              <a:alpha val="90000"/>
              <a:hueOff val="-283075"/>
              <a:satOff val="-25115"/>
              <a:lumOff val="-256"/>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tr-TR" sz="1800" b="1" i="1" kern="1200" dirty="0" err="1" smtClean="0">
              <a:solidFill>
                <a:schemeClr val="tx1"/>
              </a:solidFill>
              <a:latin typeface="Times New Roman" panose="02020603050405020304" pitchFamily="18" charset="0"/>
              <a:cs typeface="Times New Roman" panose="02020603050405020304" pitchFamily="18" charset="0"/>
            </a:rPr>
            <a:t>Vocabulary</a:t>
          </a:r>
          <a:r>
            <a:rPr lang="tr-TR" sz="1800" b="1" i="1" kern="1200" dirty="0" smtClean="0">
              <a:solidFill>
                <a:schemeClr val="tx1"/>
              </a:solidFill>
              <a:latin typeface="Times New Roman" panose="02020603050405020304" pitchFamily="18" charset="0"/>
              <a:cs typeface="Times New Roman" panose="02020603050405020304" pitchFamily="18" charset="0"/>
            </a:rPr>
            <a:t> size: 50,000</a:t>
          </a:r>
          <a:endParaRPr lang="tr-TR" sz="1800" b="1" i="1" kern="1200" dirty="0">
            <a:solidFill>
              <a:schemeClr val="tx1"/>
            </a:solidFill>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tr-TR" sz="1800" b="1" i="1" kern="1200" dirty="0" err="1" smtClean="0">
              <a:solidFill>
                <a:schemeClr val="tx1"/>
              </a:solidFill>
              <a:latin typeface="Times New Roman" panose="02020603050405020304" pitchFamily="18" charset="0"/>
              <a:cs typeface="Times New Roman" panose="02020603050405020304" pitchFamily="18" charset="0"/>
            </a:rPr>
            <a:t>Embedding</a:t>
          </a:r>
          <a:r>
            <a:rPr lang="tr-TR" sz="1800" b="1" i="1" kern="1200" dirty="0" smtClean="0">
              <a:solidFill>
                <a:schemeClr val="tx1"/>
              </a:solidFill>
              <a:latin typeface="Times New Roman" panose="02020603050405020304" pitchFamily="18" charset="0"/>
              <a:cs typeface="Times New Roman" panose="02020603050405020304" pitchFamily="18" charset="0"/>
            </a:rPr>
            <a:t> </a:t>
          </a:r>
          <a:r>
            <a:rPr lang="tr-TR" sz="1800" b="1" i="1" kern="1200" dirty="0" err="1" smtClean="0">
              <a:solidFill>
                <a:schemeClr val="tx1"/>
              </a:solidFill>
              <a:latin typeface="Times New Roman" panose="02020603050405020304" pitchFamily="18" charset="0"/>
              <a:cs typeface="Times New Roman" panose="02020603050405020304" pitchFamily="18" charset="0"/>
            </a:rPr>
            <a:t>dim</a:t>
          </a:r>
          <a:r>
            <a:rPr lang="tr-TR" sz="1800" b="1" i="1" kern="1200" dirty="0" smtClean="0">
              <a:solidFill>
                <a:schemeClr val="tx1"/>
              </a:solidFill>
              <a:latin typeface="Times New Roman" panose="02020603050405020304" pitchFamily="18" charset="0"/>
              <a:cs typeface="Times New Roman" panose="02020603050405020304" pitchFamily="18" charset="0"/>
            </a:rPr>
            <a:t>: 128</a:t>
          </a:r>
          <a:endParaRPr lang="tr-TR" sz="1800" b="1" i="1" kern="1200" dirty="0">
            <a:solidFill>
              <a:schemeClr val="tx1"/>
            </a:solidFill>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tr-TR" sz="1800" b="1" i="1" kern="1200" dirty="0" err="1" smtClean="0">
              <a:solidFill>
                <a:schemeClr val="tx1"/>
              </a:solidFill>
              <a:latin typeface="Times New Roman" panose="02020603050405020304" pitchFamily="18" charset="0"/>
              <a:cs typeface="Times New Roman" panose="02020603050405020304" pitchFamily="18" charset="0"/>
            </a:rPr>
            <a:t>Batch</a:t>
          </a:r>
          <a:r>
            <a:rPr lang="tr-TR" sz="1800" b="1" i="1" kern="1200" dirty="0" smtClean="0">
              <a:solidFill>
                <a:schemeClr val="tx1"/>
              </a:solidFill>
              <a:latin typeface="Times New Roman" panose="02020603050405020304" pitchFamily="18" charset="0"/>
              <a:cs typeface="Times New Roman" panose="02020603050405020304" pitchFamily="18" charset="0"/>
            </a:rPr>
            <a:t> size: 64</a:t>
          </a:r>
          <a:endParaRPr lang="tr-TR" sz="1800" b="1" i="1" kern="1200" dirty="0">
            <a:solidFill>
              <a:schemeClr val="tx1"/>
            </a:solidFill>
            <a:latin typeface="Times New Roman" panose="02020603050405020304" pitchFamily="18" charset="0"/>
            <a:cs typeface="Times New Roman" panose="02020603050405020304" pitchFamily="18" charset="0"/>
          </a:endParaRPr>
        </a:p>
      </dsp:txBody>
      <dsp:txXfrm>
        <a:off x="2973628" y="1321307"/>
        <a:ext cx="4056377" cy="808131"/>
      </dsp:txXfrm>
    </dsp:sp>
    <dsp:sp modelId="{7007D63E-17FE-48FC-A460-61394B7AA434}">
      <dsp:nvSpPr>
        <dsp:cNvPr id="0" name=""/>
        <dsp:cNvSpPr/>
      </dsp:nvSpPr>
      <dsp:spPr>
        <a:xfrm>
          <a:off x="0" y="1186618"/>
          <a:ext cx="2973628" cy="1077509"/>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tr-TR" sz="2000" b="1" kern="1200" dirty="0" smtClean="0">
              <a:solidFill>
                <a:schemeClr val="tx1"/>
              </a:solidFill>
              <a:latin typeface="Times New Roman" panose="02020603050405020304" pitchFamily="18" charset="0"/>
              <a:cs typeface="Times New Roman" panose="02020603050405020304" pitchFamily="18" charset="0"/>
            </a:rPr>
            <a:t>Derin Öğrenme </a:t>
          </a:r>
          <a:r>
            <a:rPr lang="tr-TR" sz="2000" b="1" u="sng" kern="1200" dirty="0" smtClean="0">
              <a:solidFill>
                <a:schemeClr val="tx1"/>
              </a:solidFill>
              <a:latin typeface="Times New Roman" panose="02020603050405020304" pitchFamily="18" charset="0"/>
              <a:cs typeface="Times New Roman" panose="02020603050405020304" pitchFamily="18" charset="0"/>
            </a:rPr>
            <a:t>Modelleri</a:t>
          </a:r>
          <a:endParaRPr lang="tr-TR" sz="2000" b="1" u="sng" kern="1200" dirty="0">
            <a:solidFill>
              <a:schemeClr val="tx1"/>
            </a:solidFill>
            <a:latin typeface="Times New Roman" panose="02020603050405020304" pitchFamily="18" charset="0"/>
            <a:cs typeface="Times New Roman" panose="02020603050405020304" pitchFamily="18" charset="0"/>
          </a:endParaRPr>
        </a:p>
      </dsp:txBody>
      <dsp:txXfrm>
        <a:off x="52600" y="1239218"/>
        <a:ext cx="2868428" cy="972309"/>
      </dsp:txXfrm>
    </dsp:sp>
    <dsp:sp modelId="{86FE1F5E-B734-41D4-9CF5-6444EC0493DC}">
      <dsp:nvSpPr>
        <dsp:cNvPr id="0" name=""/>
        <dsp:cNvSpPr/>
      </dsp:nvSpPr>
      <dsp:spPr>
        <a:xfrm>
          <a:off x="2973628" y="2371879"/>
          <a:ext cx="4460443" cy="1077509"/>
        </a:xfrm>
        <a:prstGeom prst="rightArrow">
          <a:avLst>
            <a:gd name="adj1" fmla="val 75000"/>
            <a:gd name="adj2" fmla="val 50000"/>
          </a:avLst>
        </a:prstGeom>
        <a:solidFill>
          <a:schemeClr val="accent2">
            <a:tint val="40000"/>
            <a:alpha val="90000"/>
            <a:hueOff val="-566151"/>
            <a:satOff val="-50231"/>
            <a:lumOff val="-513"/>
            <a:alphaOff val="0"/>
          </a:schemeClr>
        </a:solidFill>
        <a:ln w="6350" cap="flat" cmpd="sng" algn="ctr">
          <a:solidFill>
            <a:schemeClr val="accent2">
              <a:tint val="40000"/>
              <a:alpha val="90000"/>
              <a:hueOff val="-566151"/>
              <a:satOff val="-50231"/>
              <a:lumOff val="-513"/>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tr-TR" sz="1800" b="1" i="1" kern="1200" dirty="0" smtClean="0">
              <a:solidFill>
                <a:schemeClr val="tx1"/>
              </a:solidFill>
              <a:latin typeface="Times New Roman" panose="02020603050405020304" pitchFamily="18" charset="0"/>
              <a:cs typeface="Times New Roman" panose="02020603050405020304" pitchFamily="18" charset="0"/>
            </a:rPr>
            <a:t>Model: bert-</a:t>
          </a:r>
          <a:r>
            <a:rPr lang="tr-TR" sz="1800" b="1" i="1" kern="1200" dirty="0" err="1" smtClean="0">
              <a:solidFill>
                <a:schemeClr val="tx1"/>
              </a:solidFill>
              <a:latin typeface="Times New Roman" panose="02020603050405020304" pitchFamily="18" charset="0"/>
              <a:cs typeface="Times New Roman" panose="02020603050405020304" pitchFamily="18" charset="0"/>
            </a:rPr>
            <a:t>base</a:t>
          </a:r>
          <a:r>
            <a:rPr lang="tr-TR" sz="1800" b="1" i="1" kern="1200" dirty="0" smtClean="0">
              <a:solidFill>
                <a:schemeClr val="tx1"/>
              </a:solidFill>
              <a:latin typeface="Times New Roman" panose="02020603050405020304" pitchFamily="18" charset="0"/>
              <a:cs typeface="Times New Roman" panose="02020603050405020304" pitchFamily="18" charset="0"/>
            </a:rPr>
            <a:t>-</a:t>
          </a:r>
          <a:r>
            <a:rPr lang="tr-TR" sz="1800" b="1" i="1" kern="1200" dirty="0" err="1" smtClean="0">
              <a:solidFill>
                <a:schemeClr val="tx1"/>
              </a:solidFill>
              <a:latin typeface="Times New Roman" panose="02020603050405020304" pitchFamily="18" charset="0"/>
              <a:cs typeface="Times New Roman" panose="02020603050405020304" pitchFamily="18" charset="0"/>
            </a:rPr>
            <a:t>turkish-cased</a:t>
          </a:r>
          <a:endParaRPr lang="tr-TR" sz="1800" b="1" i="1" kern="1200" dirty="0">
            <a:solidFill>
              <a:schemeClr val="tx1"/>
            </a:solidFill>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tr-TR" sz="1800" b="1" i="1" kern="1200" dirty="0" err="1" smtClean="0">
              <a:solidFill>
                <a:schemeClr val="tx1"/>
              </a:solidFill>
              <a:latin typeface="Times New Roman" panose="02020603050405020304" pitchFamily="18" charset="0"/>
              <a:cs typeface="Times New Roman" panose="02020603050405020304" pitchFamily="18" charset="0"/>
            </a:rPr>
            <a:t>Batch</a:t>
          </a:r>
          <a:r>
            <a:rPr lang="tr-TR" sz="1800" b="1" i="1" kern="1200" dirty="0" smtClean="0">
              <a:solidFill>
                <a:schemeClr val="tx1"/>
              </a:solidFill>
              <a:latin typeface="Times New Roman" panose="02020603050405020304" pitchFamily="18" charset="0"/>
              <a:cs typeface="Times New Roman" panose="02020603050405020304" pitchFamily="18" charset="0"/>
            </a:rPr>
            <a:t>-size: 32</a:t>
          </a:r>
          <a:endParaRPr lang="tr-TR" sz="1800" b="1" i="1" kern="1200" dirty="0">
            <a:solidFill>
              <a:schemeClr val="tx1"/>
            </a:solidFill>
            <a:latin typeface="Times New Roman" panose="02020603050405020304" pitchFamily="18" charset="0"/>
            <a:cs typeface="Times New Roman" panose="02020603050405020304" pitchFamily="18" charset="0"/>
          </a:endParaRPr>
        </a:p>
      </dsp:txBody>
      <dsp:txXfrm>
        <a:off x="2973628" y="2506568"/>
        <a:ext cx="4056377" cy="808131"/>
      </dsp:txXfrm>
    </dsp:sp>
    <dsp:sp modelId="{433C8555-8100-4A5B-8BBE-33C4FEDB5892}">
      <dsp:nvSpPr>
        <dsp:cNvPr id="0" name=""/>
        <dsp:cNvSpPr/>
      </dsp:nvSpPr>
      <dsp:spPr>
        <a:xfrm>
          <a:off x="0" y="2371879"/>
          <a:ext cx="2973628" cy="1077509"/>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tr-TR" sz="2000" b="1" u="sng" kern="1200" dirty="0" smtClean="0">
              <a:solidFill>
                <a:schemeClr val="tx1"/>
              </a:solidFill>
              <a:latin typeface="Times New Roman" panose="02020603050405020304" pitchFamily="18" charset="0"/>
              <a:cs typeface="Times New Roman" panose="02020603050405020304" pitchFamily="18" charset="0"/>
            </a:rPr>
            <a:t>BERT</a:t>
          </a:r>
          <a:endParaRPr lang="tr-TR" sz="2000" b="1" u="sng" kern="1200" dirty="0">
            <a:solidFill>
              <a:schemeClr val="tx1"/>
            </a:solidFill>
            <a:latin typeface="Times New Roman" panose="02020603050405020304" pitchFamily="18" charset="0"/>
            <a:cs typeface="Times New Roman" panose="02020603050405020304" pitchFamily="18" charset="0"/>
          </a:endParaRPr>
        </a:p>
      </dsp:txBody>
      <dsp:txXfrm>
        <a:off x="52600" y="2424479"/>
        <a:ext cx="2868428" cy="972309"/>
      </dsp:txXfrm>
    </dsp:sp>
    <dsp:sp modelId="{8D489790-A53A-4828-A9C0-BF1D8A8379B7}">
      <dsp:nvSpPr>
        <dsp:cNvPr id="0" name=""/>
        <dsp:cNvSpPr/>
      </dsp:nvSpPr>
      <dsp:spPr>
        <a:xfrm>
          <a:off x="2973628" y="3557140"/>
          <a:ext cx="4460443" cy="1077509"/>
        </a:xfrm>
        <a:prstGeom prst="rightArrow">
          <a:avLst>
            <a:gd name="adj1" fmla="val 75000"/>
            <a:gd name="adj2" fmla="val 50000"/>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tr-TR" sz="1800" b="1" i="1" kern="1200" dirty="0" err="1" smtClean="0">
              <a:latin typeface="Times New Roman" panose="02020603050405020304" pitchFamily="18" charset="0"/>
              <a:cs typeface="Times New Roman" panose="02020603050405020304" pitchFamily="18" charset="0"/>
            </a:rPr>
            <a:t>Feature</a:t>
          </a:r>
          <a:r>
            <a:rPr lang="tr-TR" sz="1800" b="1" i="1" kern="1200" dirty="0" smtClean="0">
              <a:latin typeface="Times New Roman" panose="02020603050405020304" pitchFamily="18" charset="0"/>
              <a:cs typeface="Times New Roman" panose="02020603050405020304" pitchFamily="18" charset="0"/>
            </a:rPr>
            <a:t> </a:t>
          </a:r>
          <a:r>
            <a:rPr lang="tr-TR" sz="1800" b="1" i="1" kern="1200" dirty="0" err="1" smtClean="0">
              <a:latin typeface="Times New Roman" panose="02020603050405020304" pitchFamily="18" charset="0"/>
              <a:cs typeface="Times New Roman" panose="02020603050405020304" pitchFamily="18" charset="0"/>
            </a:rPr>
            <a:t>Extraction</a:t>
          </a:r>
          <a:r>
            <a:rPr lang="tr-TR" sz="1800" b="1" i="1" kern="1200" dirty="0" smtClean="0">
              <a:latin typeface="Times New Roman" panose="02020603050405020304" pitchFamily="18" charset="0"/>
              <a:cs typeface="Times New Roman" panose="02020603050405020304" pitchFamily="18" charset="0"/>
            </a:rPr>
            <a:t>: TF-IDF</a:t>
          </a:r>
          <a:endParaRPr lang="tr-TR" sz="1800" b="1" i="1" kern="1200" dirty="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tr-TR" sz="1800" b="1" i="1" kern="1200" dirty="0" err="1" smtClean="0">
              <a:latin typeface="Times New Roman" panose="02020603050405020304" pitchFamily="18" charset="0"/>
              <a:cs typeface="Times New Roman" panose="02020603050405020304" pitchFamily="18" charset="0"/>
            </a:rPr>
            <a:t>Max</a:t>
          </a:r>
          <a:r>
            <a:rPr lang="tr-TR" sz="1800" b="1" i="1" kern="1200" dirty="0" smtClean="0">
              <a:latin typeface="Times New Roman" panose="02020603050405020304" pitchFamily="18" charset="0"/>
              <a:cs typeface="Times New Roman" panose="02020603050405020304" pitchFamily="18" charset="0"/>
            </a:rPr>
            <a:t> </a:t>
          </a:r>
          <a:r>
            <a:rPr lang="tr-TR" sz="1800" b="1" i="1" kern="1200" dirty="0" err="1" smtClean="0">
              <a:latin typeface="Times New Roman" panose="02020603050405020304" pitchFamily="18" charset="0"/>
              <a:cs typeface="Times New Roman" panose="02020603050405020304" pitchFamily="18" charset="0"/>
            </a:rPr>
            <a:t>features</a:t>
          </a:r>
          <a:r>
            <a:rPr lang="tr-TR" sz="1800" b="1" i="1" kern="1200" dirty="0" smtClean="0">
              <a:latin typeface="Times New Roman" panose="02020603050405020304" pitchFamily="18" charset="0"/>
              <a:cs typeface="Times New Roman" panose="02020603050405020304" pitchFamily="18" charset="0"/>
            </a:rPr>
            <a:t>: 50,000</a:t>
          </a:r>
          <a:endParaRPr lang="tr-TR" sz="1800" b="1" i="1" kern="1200" dirty="0">
            <a:latin typeface="Times New Roman" panose="02020603050405020304" pitchFamily="18" charset="0"/>
            <a:cs typeface="Times New Roman" panose="02020603050405020304" pitchFamily="18" charset="0"/>
          </a:endParaRPr>
        </a:p>
      </dsp:txBody>
      <dsp:txXfrm>
        <a:off x="2973628" y="3691829"/>
        <a:ext cx="4056377" cy="808131"/>
      </dsp:txXfrm>
    </dsp:sp>
    <dsp:sp modelId="{ECD5A541-A13A-4CF8-AD8B-FCBB990F61E8}">
      <dsp:nvSpPr>
        <dsp:cNvPr id="0" name=""/>
        <dsp:cNvSpPr/>
      </dsp:nvSpPr>
      <dsp:spPr>
        <a:xfrm>
          <a:off x="0" y="3557140"/>
          <a:ext cx="2973628" cy="1077509"/>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tr-TR" sz="2000" b="1" kern="1200" dirty="0" smtClean="0">
              <a:solidFill>
                <a:schemeClr val="tx1"/>
              </a:solidFill>
              <a:latin typeface="Times New Roman" panose="02020603050405020304" pitchFamily="18" charset="0"/>
              <a:cs typeface="Times New Roman" panose="02020603050405020304" pitchFamily="18" charset="0"/>
            </a:rPr>
            <a:t>Geleneksel </a:t>
          </a:r>
          <a:r>
            <a:rPr lang="tr-TR" sz="2000" b="1" u="sng" kern="1200" dirty="0" smtClean="0">
              <a:solidFill>
                <a:schemeClr val="tx1"/>
              </a:solidFill>
              <a:latin typeface="Times New Roman" panose="02020603050405020304" pitchFamily="18" charset="0"/>
              <a:cs typeface="Times New Roman" panose="02020603050405020304" pitchFamily="18" charset="0"/>
            </a:rPr>
            <a:t>Modeller</a:t>
          </a:r>
          <a:endParaRPr lang="tr-TR" sz="2000" b="1" u="sng" kern="1200" dirty="0">
            <a:solidFill>
              <a:schemeClr val="tx1"/>
            </a:solidFill>
            <a:latin typeface="Times New Roman" panose="02020603050405020304" pitchFamily="18" charset="0"/>
            <a:cs typeface="Times New Roman" panose="02020603050405020304" pitchFamily="18" charset="0"/>
          </a:endParaRPr>
        </a:p>
      </dsp:txBody>
      <dsp:txXfrm>
        <a:off x="52600" y="3609740"/>
        <a:ext cx="2868428" cy="97230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72B7F-2136-4C83-B167-4277AE8BC50C}" type="datetimeFigureOut">
              <a:rPr lang="tr-TR" smtClean="0"/>
              <a:t>27.04.2026</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F1655-0007-4B8F-B21B-22A39B59BE28}" type="slidenum">
              <a:rPr lang="tr-TR" smtClean="0"/>
              <a:t>‹#›</a:t>
            </a:fld>
            <a:endParaRPr lang="tr-TR"/>
          </a:p>
        </p:txBody>
      </p:sp>
    </p:spTree>
    <p:extLst>
      <p:ext uri="{BB962C8B-B14F-4D97-AF65-F5344CB8AC3E}">
        <p14:creationId xmlns:p14="http://schemas.microsoft.com/office/powerpoint/2010/main" val="121933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Günümüzde dijitalleşmenin etkisiyle insanlar her gün milyonlarca metin üretmektedir.</a:t>
            </a:r>
            <a:br>
              <a:rPr lang="tr-TR" dirty="0" smtClean="0"/>
            </a:br>
            <a:r>
              <a:rPr lang="tr-TR" dirty="0" smtClean="0"/>
              <a:t>Sosyal medya paylaşımları, ürün yorumları, </a:t>
            </a:r>
            <a:r>
              <a:rPr lang="tr-TR" dirty="0" err="1" smtClean="0"/>
              <a:t>blog</a:t>
            </a:r>
            <a:r>
              <a:rPr lang="tr-TR" dirty="0" smtClean="0"/>
              <a:t> yazıları ve müşteri geri bildirimleri bu veri akışının temel kaynaklarını oluşturmaktadır.</a:t>
            </a:r>
          </a:p>
          <a:p>
            <a:r>
              <a:rPr lang="tr-TR" dirty="0" smtClean="0"/>
              <a:t>Bu kadar büyük miktardaki metin verisi, yalnızca yüzeysel olarak değil; aynı zamanda </a:t>
            </a:r>
            <a:r>
              <a:rPr lang="tr-TR" b="1" dirty="0" smtClean="0"/>
              <a:t>duygusal ve anlamsal açıdan da analiz edilmesi gereken bir yapıdadır</a:t>
            </a:r>
            <a:r>
              <a:rPr lang="tr-TR" dirty="0" smtClean="0"/>
              <a:t>.</a:t>
            </a:r>
          </a:p>
          <a:p>
            <a:r>
              <a:rPr lang="tr-TR" dirty="0" smtClean="0"/>
              <a:t>Çünkü bir metni anlamak, sadece kelimeleri tek tek incelemekten ibaret değildir.</a:t>
            </a:r>
            <a:br>
              <a:rPr lang="tr-TR" dirty="0" smtClean="0"/>
            </a:br>
            <a:r>
              <a:rPr lang="tr-TR" dirty="0" smtClean="0"/>
              <a:t>Bağlam, tonlama, ima ve hatta kültürel referanslar da bu sürecin önemli parçalarıdır.</a:t>
            </a:r>
          </a:p>
          <a:p>
            <a:r>
              <a:rPr lang="tr-TR" dirty="0" smtClean="0"/>
              <a:t>İşte bu noktada </a:t>
            </a:r>
            <a:r>
              <a:rPr lang="tr-TR" b="1" dirty="0" smtClean="0"/>
              <a:t>Doğal Dil İşleme yani NLP</a:t>
            </a:r>
            <a:r>
              <a:rPr lang="tr-TR" dirty="0" smtClean="0"/>
              <a:t>, bilgisayarların insan dilini anlayabilmesini sağlamak amacıyla ortaya çıkmıştır.</a:t>
            </a:r>
          </a:p>
          <a:p>
            <a:r>
              <a:rPr lang="tr-TR" dirty="0" smtClean="0"/>
              <a:t>NLP alanı zaman içerisinde önemli bir dönüşüm geçirmiştir.</a:t>
            </a:r>
            <a:br>
              <a:rPr lang="tr-TR" dirty="0" smtClean="0"/>
            </a:br>
            <a:r>
              <a:rPr lang="tr-TR" dirty="0" smtClean="0"/>
              <a:t>İlk başlarda kurallara dayalı sistemler kullanılırken, daha sonra istatistiksel yöntemler geliştirilmiş, günümüzde ise derin öğrenme ve </a:t>
            </a:r>
            <a:r>
              <a:rPr lang="tr-TR" dirty="0" err="1" smtClean="0"/>
              <a:t>transformer</a:t>
            </a:r>
            <a:r>
              <a:rPr lang="tr-TR" dirty="0" smtClean="0"/>
              <a:t> tabanlı modeller ön plana çıkmıştır.</a:t>
            </a:r>
          </a:p>
          <a:p>
            <a:r>
              <a:rPr lang="tr-TR" dirty="0" smtClean="0"/>
              <a:t>Bu gelişim sürecinin en önemli uygulama alanlarından biri ise </a:t>
            </a:r>
            <a:r>
              <a:rPr lang="tr-TR" b="1" dirty="0" smtClean="0"/>
              <a:t>duygu analizidir</a:t>
            </a:r>
            <a:r>
              <a:rPr lang="tr-TR" dirty="0" smtClean="0"/>
              <a:t>.</a:t>
            </a:r>
          </a:p>
          <a:p>
            <a:r>
              <a:rPr lang="tr-TR" dirty="0" smtClean="0"/>
              <a:t>Duygu analizi, metinlerde ifade edilen görüşlerin </a:t>
            </a:r>
            <a:r>
              <a:rPr lang="tr-TR" b="1" dirty="0" smtClean="0"/>
              <a:t>pozitif, negatif veya nötr</a:t>
            </a:r>
            <a:r>
              <a:rPr lang="tr-TR" dirty="0" smtClean="0"/>
              <a:t> olarak sınıflandırılmasını sağlar ve özellikle kullanıcı yorumlarının analizinde yaygın olarak kullanılmaktadır.</a:t>
            </a:r>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3</a:t>
            </a:fld>
            <a:endParaRPr lang="tr-TR"/>
          </a:p>
        </p:txBody>
      </p:sp>
    </p:spTree>
    <p:extLst>
      <p:ext uri="{BB962C8B-B14F-4D97-AF65-F5344CB8AC3E}">
        <p14:creationId xmlns:p14="http://schemas.microsoft.com/office/powerpoint/2010/main" val="1083641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4</a:t>
            </a:fld>
            <a:endParaRPr lang="tr-TR"/>
          </a:p>
        </p:txBody>
      </p:sp>
    </p:spTree>
    <p:extLst>
      <p:ext uri="{BB962C8B-B14F-4D97-AF65-F5344CB8AC3E}">
        <p14:creationId xmlns:p14="http://schemas.microsoft.com/office/powerpoint/2010/main" val="665729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Bir önceki slaytta </a:t>
            </a:r>
            <a:r>
              <a:rPr lang="tr-TR" dirty="0" err="1" smtClean="0"/>
              <a:t>NLP’nin</a:t>
            </a:r>
            <a:r>
              <a:rPr lang="tr-TR" dirty="0" smtClean="0"/>
              <a:t> tarihsel gelişiminden bahsettik.</a:t>
            </a:r>
            <a:br>
              <a:rPr lang="tr-TR" dirty="0" smtClean="0"/>
            </a:br>
            <a:r>
              <a:rPr lang="tr-TR" dirty="0" smtClean="0"/>
              <a:t>Bu gelişmeler sayesinde artık metinleri sadece yapısal olarak değil, anlamsal ve bağlamsal olarak da analiz edebiliyoruz.</a:t>
            </a:r>
          </a:p>
          <a:p>
            <a:r>
              <a:rPr lang="tr-TR" dirty="0" smtClean="0"/>
              <a:t>Günümüzde dijital platformlarda kullanıcılar sürekli olarak görüşlerini, deneyimlerini ve memnuniyetlerini ifade etmektedir.</a:t>
            </a:r>
          </a:p>
          <a:p>
            <a:r>
              <a:rPr lang="tr-TR" dirty="0" smtClean="0"/>
              <a:t>Bu içerikler, işletmeler ve araştırmacılar için oldukça değerli bilgiler içermektedir.</a:t>
            </a:r>
          </a:p>
          <a:p>
            <a:r>
              <a:rPr lang="tr-TR" dirty="0" smtClean="0"/>
              <a:t>Ancak bu kadar büyük veriyi manuel olarak analiz etmek mümkün değildir.</a:t>
            </a:r>
          </a:p>
          <a:p>
            <a:r>
              <a:rPr lang="tr-TR" dirty="0" smtClean="0"/>
              <a:t>Bu noktada duygu analizi, yani </a:t>
            </a:r>
            <a:r>
              <a:rPr lang="tr-TR" dirty="0" err="1" smtClean="0"/>
              <a:t>sentiment</a:t>
            </a:r>
            <a:r>
              <a:rPr lang="tr-TR" dirty="0" smtClean="0"/>
              <a:t> </a:t>
            </a:r>
            <a:r>
              <a:rPr lang="tr-TR" dirty="0" err="1" smtClean="0"/>
              <a:t>analysis</a:t>
            </a:r>
            <a:r>
              <a:rPr lang="tr-TR" dirty="0" smtClean="0"/>
              <a:t>, metinlerde ifade edilen duygusal yönelimi otomatik olarak belirleyerek önemli bir çözüm sunmaktadır.</a:t>
            </a:r>
          </a:p>
          <a:p>
            <a:r>
              <a:rPr lang="tr-TR" dirty="0" smtClean="0"/>
              <a:t>Bu nedenle </a:t>
            </a:r>
            <a:r>
              <a:rPr lang="tr-TR" dirty="0" err="1" smtClean="0"/>
              <a:t>sentiment</a:t>
            </a:r>
            <a:r>
              <a:rPr lang="tr-TR" dirty="0" smtClean="0"/>
              <a:t> </a:t>
            </a:r>
            <a:r>
              <a:rPr lang="tr-TR" dirty="0" err="1" smtClean="0"/>
              <a:t>analysis</a:t>
            </a:r>
            <a:r>
              <a:rPr lang="tr-TR" dirty="0" smtClean="0"/>
              <a:t>, </a:t>
            </a:r>
            <a:r>
              <a:rPr lang="tr-TR" dirty="0" err="1" smtClean="0"/>
              <a:t>NLP’nin</a:t>
            </a:r>
            <a:r>
              <a:rPr lang="tr-TR" dirty="0" smtClean="0"/>
              <a:t> en önemli ve en yaygın uygulama alanlarından biri haline gelmiştir.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5</a:t>
            </a:fld>
            <a:endParaRPr lang="tr-TR"/>
          </a:p>
        </p:txBody>
      </p:sp>
    </p:spTree>
    <p:extLst>
      <p:ext uri="{BB962C8B-B14F-4D97-AF65-F5344CB8AC3E}">
        <p14:creationId xmlns:p14="http://schemas.microsoft.com/office/powerpoint/2010/main" val="364461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6</a:t>
            </a:fld>
            <a:endParaRPr lang="tr-TR"/>
          </a:p>
        </p:txBody>
      </p:sp>
    </p:spTree>
    <p:extLst>
      <p:ext uri="{BB962C8B-B14F-4D97-AF65-F5344CB8AC3E}">
        <p14:creationId xmlns:p14="http://schemas.microsoft.com/office/powerpoint/2010/main" val="2958672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7</a:t>
            </a:fld>
            <a:endParaRPr lang="tr-TR"/>
          </a:p>
        </p:txBody>
      </p:sp>
    </p:spTree>
    <p:extLst>
      <p:ext uri="{BB962C8B-B14F-4D97-AF65-F5344CB8AC3E}">
        <p14:creationId xmlns:p14="http://schemas.microsoft.com/office/powerpoint/2010/main" val="3518097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Geri çeviri yönteminde bir cümle önce başka bir dile çevrilmekte, </a:t>
            </a:r>
            <a:r>
              <a:rPr lang="en-US" sz="1200" kern="1200" dirty="0" err="1" smtClean="0">
                <a:solidFill>
                  <a:schemeClr val="tx1"/>
                </a:solidFill>
                <a:effectLst/>
                <a:latin typeface="+mn-lt"/>
                <a:ea typeface="+mn-ea"/>
                <a:cs typeface="+mn-cs"/>
              </a:rPr>
              <a:t>ardından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tekrar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özgün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dile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aktarılmak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suretiyle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doğal</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ifade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çeşitliliği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elde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edilmektedir</a:t>
            </a:r>
            <a:r>
              <a:rPr lang="en-US" sz="1200" kern="1200" dirty="0" smtClean="0">
                <a:solidFill>
                  <a:schemeClr val="tx1"/>
                </a:solidFill>
                <a:effectLst/>
                <a:latin typeface="+mn-lt"/>
                <a:ea typeface="+mn-ea"/>
                <a:cs typeface="+mn-cs"/>
              </a:rPr>
              <a:t>. </a:t>
            </a:r>
            <a:r>
              <a:rPr lang="tr-TR" sz="1200" kern="1200" dirty="0" smtClean="0">
                <a:solidFill>
                  <a:schemeClr val="tx1"/>
                </a:solidFill>
                <a:effectLst/>
                <a:latin typeface="+mn-lt"/>
                <a:ea typeface="+mn-ea"/>
                <a:cs typeface="+mn-cs"/>
              </a:rPr>
              <a:t>Bu yaklaşımın SA görevlerinde performans iyileştirmesi sağlayabildiği gösterilmiştir (Body vd., 2021). </a:t>
            </a:r>
            <a:r>
              <a:rPr lang="en-US" sz="1200" kern="1200" dirty="0" err="1" smtClean="0">
                <a:solidFill>
                  <a:schemeClr val="tx1"/>
                </a:solidFill>
                <a:effectLst/>
                <a:latin typeface="+mn-lt"/>
                <a:ea typeface="+mn-ea"/>
                <a:cs typeface="+mn-cs"/>
              </a:rPr>
              <a:t>Parafraz</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üretimi</a:t>
            </a:r>
            <a:r>
              <a:rPr lang="en-US" sz="1200"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cümle</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yapısını</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değiştirirken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temel</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anlamın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korunmasını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amaçlamakta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anlamsal</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çeşitlilik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üretiminde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etkili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bir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yöntem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olarak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kabul</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edilmektedir</a:t>
            </a:r>
            <a:r>
              <a:rPr lang="en-US" sz="1200" kern="1200" dirty="0" smtClean="0">
                <a:solidFill>
                  <a:schemeClr val="tx1"/>
                </a:solidFill>
                <a:effectLst/>
                <a:latin typeface="+mn-lt"/>
                <a:ea typeface="+mn-ea"/>
                <a:cs typeface="+mn-cs"/>
              </a:rPr>
              <a:t> (Thompson &amp; Post, 2020). </a:t>
            </a:r>
            <a:r>
              <a:rPr lang="tr-TR" sz="1200" kern="1200" dirty="0" smtClean="0">
                <a:solidFill>
                  <a:schemeClr val="tx1"/>
                </a:solidFill>
                <a:effectLst/>
                <a:latin typeface="+mn-lt"/>
                <a:ea typeface="+mn-ea"/>
                <a:cs typeface="+mn-cs"/>
              </a:rPr>
              <a:t> Bu tür teknikler yüzeysel yöntemlere kıyasla daha yüksek anlamsal tutarlılık sağlayabilmektedir; ancak hesaplama maliyeti daha yüksektir ve kontrol mekanizmaları gerektirmektedir. Yüzeysel yöntemlerin anlamsal riskleri ve anlamsal yöntemlerin hesaplama ile kontrol sınırlılıkları göz önünde bulundurulduğunda, daha esnek ve bağlama duyarlı üretim mekanizmalarına ihtiyaç duyulduğu </a:t>
            </a:r>
            <a:r>
              <a:rPr lang="tr-TR" sz="1200" kern="1200" dirty="0" err="1" smtClean="0">
                <a:solidFill>
                  <a:schemeClr val="tx1"/>
                </a:solidFill>
                <a:effectLst/>
                <a:latin typeface="+mn-lt"/>
                <a:ea typeface="+mn-ea"/>
                <a:cs typeface="+mn-cs"/>
              </a:rPr>
              <a:t>görülmektedi</a:t>
            </a:r>
            <a:r>
              <a:rPr lang="tr-TR" dirty="0" smtClean="0"/>
              <a:t>.</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8</a:t>
            </a:fld>
            <a:endParaRPr lang="tr-TR"/>
          </a:p>
        </p:txBody>
      </p:sp>
    </p:spTree>
    <p:extLst>
      <p:ext uri="{BB962C8B-B14F-4D97-AF65-F5344CB8AC3E}">
        <p14:creationId xmlns:p14="http://schemas.microsoft.com/office/powerpoint/2010/main" val="3754844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9</a:t>
            </a:fld>
            <a:endParaRPr lang="tr-TR"/>
          </a:p>
        </p:txBody>
      </p:sp>
    </p:spTree>
    <p:extLst>
      <p:ext uri="{BB962C8B-B14F-4D97-AF65-F5344CB8AC3E}">
        <p14:creationId xmlns:p14="http://schemas.microsoft.com/office/powerpoint/2010/main" val="60526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10</a:t>
            </a:fld>
            <a:endParaRPr lang="tr-TR"/>
          </a:p>
        </p:txBody>
      </p:sp>
    </p:spTree>
    <p:extLst>
      <p:ext uri="{BB962C8B-B14F-4D97-AF65-F5344CB8AC3E}">
        <p14:creationId xmlns:p14="http://schemas.microsoft.com/office/powerpoint/2010/main" val="3524180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11</a:t>
            </a:fld>
            <a:endParaRPr lang="tr-TR"/>
          </a:p>
        </p:txBody>
      </p:sp>
    </p:spTree>
    <p:extLst>
      <p:ext uri="{BB962C8B-B14F-4D97-AF65-F5344CB8AC3E}">
        <p14:creationId xmlns:p14="http://schemas.microsoft.com/office/powerpoint/2010/main" val="716935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12</a:t>
            </a:fld>
            <a:endParaRPr lang="tr-TR"/>
          </a:p>
        </p:txBody>
      </p:sp>
    </p:spTree>
    <p:extLst>
      <p:ext uri="{BB962C8B-B14F-4D97-AF65-F5344CB8AC3E}">
        <p14:creationId xmlns:p14="http://schemas.microsoft.com/office/powerpoint/2010/main" val="1036846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Bu çalışmanın temel amacı, büyük dil modelleri kullanılarak üretilen sentetik verinin Türkçe duygu analizi üzerindeki etkisini incelemektir.</a:t>
            </a:r>
          </a:p>
          <a:p>
            <a:r>
              <a:rPr lang="tr-TR" dirty="0" smtClean="0"/>
              <a:t>Bu kapsamda, GPT ve </a:t>
            </a:r>
            <a:r>
              <a:rPr lang="tr-TR" dirty="0" err="1" smtClean="0"/>
              <a:t>Claude</a:t>
            </a:r>
            <a:r>
              <a:rPr lang="tr-TR" dirty="0" smtClean="0"/>
              <a:t> modelleri kullanılarak üretilen sentetik veri kümeleri; gerçek veri, sentetik veri ve </a:t>
            </a:r>
            <a:r>
              <a:rPr lang="tr-TR" dirty="0" err="1" smtClean="0"/>
              <a:t>hibrit</a:t>
            </a:r>
            <a:r>
              <a:rPr lang="tr-TR" dirty="0" smtClean="0"/>
              <a:t> veri senaryoları altında değerlendirilmiştir.</a:t>
            </a:r>
          </a:p>
          <a:p>
            <a:r>
              <a:rPr lang="tr-TR" dirty="0" smtClean="0"/>
              <a:t>Deneysel süreçte, makine öğrenmesi, derin öğrenme ve </a:t>
            </a:r>
            <a:r>
              <a:rPr lang="tr-TR" dirty="0" err="1" smtClean="0"/>
              <a:t>transformer</a:t>
            </a:r>
            <a:r>
              <a:rPr lang="tr-TR" dirty="0" smtClean="0"/>
              <a:t> tabanlı modeller birlikte ele alınarak kapsamlı bir karşılaştırma yapılmıştır.</a:t>
            </a:r>
          </a:p>
          <a:p>
            <a:r>
              <a:rPr lang="tr-TR" dirty="0" smtClean="0"/>
              <a:t>Bu çalışma, yeni bir veri artırma yöntemi önermekten ziyade, LLM tabanlı sentetik verinin hangi koşullarda gerçek veriyi tamamlayabildiğini deneysel olarak analiz etmeyi amaçlamaktadır.</a:t>
            </a:r>
          </a:p>
          <a:p>
            <a:r>
              <a:rPr lang="tr-TR" dirty="0" smtClean="0"/>
              <a:t>Ayrıca sentetik veri kalitesi, duygu etiketi tutarlılığı ve anlamsal benzerlik gibi farklı açılardan değerlendirilmiştir.</a:t>
            </a:r>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13</a:t>
            </a:fld>
            <a:endParaRPr lang="tr-TR"/>
          </a:p>
        </p:txBody>
      </p:sp>
    </p:spTree>
    <p:extLst>
      <p:ext uri="{BB962C8B-B14F-4D97-AF65-F5344CB8AC3E}">
        <p14:creationId xmlns:p14="http://schemas.microsoft.com/office/powerpoint/2010/main" val="3184961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14</a:t>
            </a:fld>
            <a:endParaRPr lang="tr-TR"/>
          </a:p>
        </p:txBody>
      </p:sp>
    </p:spTree>
    <p:extLst>
      <p:ext uri="{BB962C8B-B14F-4D97-AF65-F5344CB8AC3E}">
        <p14:creationId xmlns:p14="http://schemas.microsoft.com/office/powerpoint/2010/main" val="1694119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Süreç, ham veri kümesi ile başlamaktadır. Bu çalışmada, Türkçe duygu analizi için yaygın olarak kullanılan HUMIR veri seti kullanılmıştır.</a:t>
            </a:r>
          </a:p>
          <a:p>
            <a:r>
              <a:rPr lang="tr-TR" dirty="0" smtClean="0"/>
              <a:t>İlk aşamada veri seti çeşitli ön işleme adımlarından geçirilmiştir. Bu kapsamda metin temizleme, küçük harfe dönüştürme, özel karakterlerin kaldırılması ve </a:t>
            </a:r>
            <a:r>
              <a:rPr lang="tr-TR" dirty="0" err="1" smtClean="0"/>
              <a:t>tokenizasyon</a:t>
            </a:r>
            <a:r>
              <a:rPr lang="tr-TR" dirty="0" smtClean="0"/>
              <a:t> işlemleri uygulanmıştır.</a:t>
            </a:r>
          </a:p>
          <a:p>
            <a:r>
              <a:rPr lang="tr-TR" dirty="0" smtClean="0"/>
              <a:t>Ardından, veri kısıtlılığı problemini ele almak amacıyla büyük dil modelleri kullanılarak sentetik veri üretimi gerçekleştirilmiştir.</a:t>
            </a:r>
          </a:p>
          <a:p>
            <a:r>
              <a:rPr lang="tr-TR" dirty="0" smtClean="0"/>
              <a:t>Bu aşamada GPT-4o ve </a:t>
            </a:r>
            <a:r>
              <a:rPr lang="tr-TR" dirty="0" err="1" smtClean="0"/>
              <a:t>Claude</a:t>
            </a:r>
            <a:r>
              <a:rPr lang="tr-TR" dirty="0" smtClean="0"/>
              <a:t> modelleri kullanılmış ve veri üretimi </a:t>
            </a:r>
            <a:r>
              <a:rPr lang="tr-TR" dirty="0" err="1" smtClean="0"/>
              <a:t>zero-shot</a:t>
            </a:r>
            <a:r>
              <a:rPr lang="tr-TR" dirty="0" smtClean="0"/>
              <a:t> </a:t>
            </a:r>
            <a:r>
              <a:rPr lang="tr-TR" dirty="0" err="1" smtClean="0"/>
              <a:t>prompting</a:t>
            </a:r>
            <a:r>
              <a:rPr lang="tr-TR" dirty="0" smtClean="0"/>
              <a:t> yaklaşımı ile yapılmıştır. Yani modele herhangi bir örnek verilmeden, yalnızca görev tanımı üzerinden veri üretilmiştir.</a:t>
            </a:r>
          </a:p>
          <a:p>
            <a:r>
              <a:rPr lang="tr-TR" dirty="0" smtClean="0"/>
              <a:t>Üretilen sentetik veriler ile birlikte farklı veri seti yapılandırmaları oluşturulmuştur. Bunlar; yalnızca gerçek veri, yalnızca sentetik veri ve bu verilerin birleşiminden oluşan </a:t>
            </a:r>
            <a:r>
              <a:rPr lang="tr-TR" dirty="0" err="1" smtClean="0"/>
              <a:t>hibrit</a:t>
            </a:r>
            <a:r>
              <a:rPr lang="tr-TR" dirty="0" smtClean="0"/>
              <a:t> veri setleridir.</a:t>
            </a:r>
          </a:p>
          <a:p>
            <a:r>
              <a:rPr lang="tr-TR" dirty="0" smtClean="0"/>
              <a:t>Daha sonra bu veri setleri üzerinde farklı model türleri eğitilmiştir. Bu kapsamda hem geleneksel makine öğrenmesi yöntemleri hem de derin öğrenme ve </a:t>
            </a:r>
            <a:r>
              <a:rPr lang="tr-TR" dirty="0" err="1" smtClean="0"/>
              <a:t>transformer</a:t>
            </a:r>
            <a:r>
              <a:rPr lang="tr-TR" dirty="0" smtClean="0"/>
              <a:t> tabanlı modeller birlikte değerlendirilmiştir.</a:t>
            </a:r>
          </a:p>
          <a:p>
            <a:r>
              <a:rPr lang="tr-TR" dirty="0" smtClean="0"/>
              <a:t>Son aşamada ise model performansları yalnızca temel metriklerle değil, aynı zamanda detaylı analizlerle kapsamlı bir şekilde incelenmiştir.</a:t>
            </a:r>
          </a:p>
          <a:p>
            <a:r>
              <a:rPr lang="tr-TR" dirty="0" smtClean="0"/>
              <a:t>Bu yapı sayesinde, LLM tabanlı sentetik verinin farklı veri senaryoları altında model performansına etkisi sistematik olarak analiz edilmiştir.</a:t>
            </a:r>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15</a:t>
            </a:fld>
            <a:endParaRPr lang="tr-TR"/>
          </a:p>
        </p:txBody>
      </p:sp>
    </p:spTree>
    <p:extLst>
      <p:ext uri="{BB962C8B-B14F-4D97-AF65-F5344CB8AC3E}">
        <p14:creationId xmlns:p14="http://schemas.microsoft.com/office/powerpoint/2010/main" val="2612804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Bu özellikler, veri setinin hem gerçek kullanıcı dilini yansıtmasını hem de ön işleme gereksinimini ortaya koymaktadır.</a:t>
            </a:r>
          </a:p>
          <a:p>
            <a:r>
              <a:rPr lang="tr-TR" b="1" dirty="0" smtClean="0"/>
              <a:t>🔗 GEÇİŞ (SONRAKİ SLAYT)</a:t>
            </a:r>
          </a:p>
          <a:p>
            <a:r>
              <a:rPr lang="tr-TR" dirty="0" smtClean="0"/>
              <a:t>Bu nedenle veri seti, model eğitimi öncesinde çeşitli ön işleme adımlarından geçirilmiştir.</a:t>
            </a:r>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16</a:t>
            </a:fld>
            <a:endParaRPr lang="tr-TR"/>
          </a:p>
        </p:txBody>
      </p:sp>
    </p:spTree>
    <p:extLst>
      <p:ext uri="{BB962C8B-B14F-4D97-AF65-F5344CB8AC3E}">
        <p14:creationId xmlns:p14="http://schemas.microsoft.com/office/powerpoint/2010/main" val="3417589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Ön işleme süreci, sıralı bir metin temizleme ve </a:t>
            </a:r>
            <a:r>
              <a:rPr lang="tr-TR" dirty="0" err="1" smtClean="0"/>
              <a:t>normalizasyon</a:t>
            </a:r>
            <a:r>
              <a:rPr lang="tr-TR" dirty="0" smtClean="0"/>
              <a:t> akışı şeklinde uygulanmıştır.</a:t>
            </a:r>
          </a:p>
          <a:p>
            <a:r>
              <a:rPr lang="tr-TR" dirty="0" smtClean="0"/>
              <a:t>İlk olarak tüm metinler küçük harfe dönüştürülerek aynı kelimenin farklı yazım biçimlerinden kaynaklanan varyasyonlar giderilmiştir.</a:t>
            </a:r>
          </a:p>
          <a:p>
            <a:r>
              <a:rPr lang="tr-TR" dirty="0" smtClean="0"/>
              <a:t>Ardından noktalama işaretleri, özel karakterler ve anlamsal katkısı düşük yapılar temizlenerek metinler </a:t>
            </a:r>
            <a:r>
              <a:rPr lang="tr-TR" dirty="0" err="1" smtClean="0"/>
              <a:t>normalize</a:t>
            </a:r>
            <a:r>
              <a:rPr lang="tr-TR" dirty="0" smtClean="0"/>
              <a:t> edilmiştir.</a:t>
            </a:r>
          </a:p>
          <a:p>
            <a:r>
              <a:rPr lang="tr-TR" dirty="0" smtClean="0"/>
              <a:t>Bu süreçte tekrar eden yorumlar veri setinden çıkarılmış ve tamamen boş kalan kayıtlar silinmiştir.</a:t>
            </a:r>
          </a:p>
          <a:p>
            <a:r>
              <a:rPr lang="tr-TR" dirty="0" smtClean="0"/>
              <a:t>Bu işlem sonucunda veri seti yalnızca anlamlı metinlerden oluşacak şekilde düzenlenmiştir.</a:t>
            </a:r>
          </a:p>
          <a:p>
            <a:r>
              <a:rPr lang="tr-TR" dirty="0" smtClean="0"/>
              <a:t>Ayrıca </a:t>
            </a:r>
            <a:r>
              <a:rPr lang="tr-TR" dirty="0" err="1" smtClean="0"/>
              <a:t>stopword</a:t>
            </a:r>
            <a:r>
              <a:rPr lang="tr-TR" dirty="0" smtClean="0"/>
              <a:t> filtreleme uygulanmış, ancak </a:t>
            </a:r>
            <a:r>
              <a:rPr lang="tr-TR" dirty="0" err="1" smtClean="0"/>
              <a:t>stopword</a:t>
            </a:r>
            <a:r>
              <a:rPr lang="tr-TR" dirty="0" smtClean="0"/>
              <a:t> oranındaki sınırlı değişim veri setinin doğal dil yapısının büyük ölçüde korunduğunu göstermiştir.</a:t>
            </a:r>
          </a:p>
          <a:p>
            <a:r>
              <a:rPr lang="tr-TR" dirty="0" smtClean="0"/>
              <a:t>Bu durum, özellikle derin öğrenme modelleri açısından metinlerin anlamsal bütünlüğünün korunması açısından önemlidir.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17</a:t>
            </a:fld>
            <a:endParaRPr lang="tr-TR"/>
          </a:p>
        </p:txBody>
      </p:sp>
    </p:spTree>
    <p:extLst>
      <p:ext uri="{BB962C8B-B14F-4D97-AF65-F5344CB8AC3E}">
        <p14:creationId xmlns:p14="http://schemas.microsoft.com/office/powerpoint/2010/main" val="35543289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18</a:t>
            </a:fld>
            <a:endParaRPr lang="tr-TR"/>
          </a:p>
        </p:txBody>
      </p:sp>
    </p:spTree>
    <p:extLst>
      <p:ext uri="{BB962C8B-B14F-4D97-AF65-F5344CB8AC3E}">
        <p14:creationId xmlns:p14="http://schemas.microsoft.com/office/powerpoint/2010/main" val="39400500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Aynı </a:t>
            </a:r>
            <a:r>
              <a:rPr lang="tr-TR" dirty="0" err="1" smtClean="0"/>
              <a:t>prompt</a:t>
            </a:r>
            <a:r>
              <a:rPr lang="tr-TR" dirty="0" smtClean="0"/>
              <a:t> kullanılarak her iki modelden çıktı alınmıştır.</a:t>
            </a:r>
          </a:p>
          <a:p>
            <a:r>
              <a:rPr lang="tr-TR" dirty="0" smtClean="0"/>
              <a:t>GPT modeli daha akıcı, detaylı ve yaratıcı ifadeler üretirken,</a:t>
            </a:r>
            <a:br>
              <a:rPr lang="tr-TR" dirty="0" smtClean="0"/>
            </a:br>
            <a:r>
              <a:rPr lang="tr-TR" dirty="0" err="1" smtClean="0"/>
              <a:t>Claude</a:t>
            </a:r>
            <a:r>
              <a:rPr lang="tr-TR" dirty="0" smtClean="0"/>
              <a:t> modeli daha dengeli, kontrollü ve tutarlı bir dil kullanmaktadır.</a:t>
            </a:r>
          </a:p>
          <a:p>
            <a:r>
              <a:rPr lang="tr-TR" dirty="0" smtClean="0"/>
              <a:t>Bu fark, sentetik veri üretiminde model davranışının önemli bir rol oynadığını göstermektedir.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19</a:t>
            </a:fld>
            <a:endParaRPr lang="tr-TR"/>
          </a:p>
        </p:txBody>
      </p:sp>
    </p:spTree>
    <p:extLst>
      <p:ext uri="{BB962C8B-B14F-4D97-AF65-F5344CB8AC3E}">
        <p14:creationId xmlns:p14="http://schemas.microsoft.com/office/powerpoint/2010/main" val="22776007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Bu çalışmada farklı model türlerinin performansını karşılaştırabilmek amacıyla, geleneksel makine öğrenmesi, derin öğrenme ve </a:t>
            </a:r>
            <a:r>
              <a:rPr lang="tr-TR" dirty="0" err="1" smtClean="0"/>
              <a:t>transformer</a:t>
            </a:r>
            <a:r>
              <a:rPr lang="tr-TR" dirty="0" smtClean="0"/>
              <a:t> tabanlı modeller birlikte kullanılmıştır.</a:t>
            </a:r>
          </a:p>
          <a:p>
            <a:r>
              <a:rPr lang="tr-TR" dirty="0" smtClean="0"/>
              <a:t>Böylece veri artırma yönteminin farklı model mimarileri üzerindeki etkisi sistematik olarak analiz edilmiştir. Ayrıca bu modeller literatürde duygu analizi çalışmalarında yaygın olarak kullanılan ve performansı kanıtlanmış yöntemlerdir.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20</a:t>
            </a:fld>
            <a:endParaRPr lang="tr-TR"/>
          </a:p>
        </p:txBody>
      </p:sp>
    </p:spTree>
    <p:extLst>
      <p:ext uri="{BB962C8B-B14F-4D97-AF65-F5344CB8AC3E}">
        <p14:creationId xmlns:p14="http://schemas.microsoft.com/office/powerpoint/2010/main" val="4124619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NB: </a:t>
            </a:r>
            <a:r>
              <a:rPr lang="tr-TR" sz="1200" kern="1200" dirty="0" err="1" smtClean="0">
                <a:solidFill>
                  <a:schemeClr val="tx1"/>
                </a:solidFill>
                <a:effectLst/>
                <a:latin typeface="+mn-lt"/>
                <a:ea typeface="+mn-ea"/>
                <a:cs typeface="+mn-cs"/>
              </a:rPr>
              <a:t>Bayes</a:t>
            </a:r>
            <a:r>
              <a:rPr lang="tr-TR" sz="1200" kern="1200" dirty="0" smtClean="0">
                <a:solidFill>
                  <a:schemeClr val="tx1"/>
                </a:solidFill>
                <a:effectLst/>
                <a:latin typeface="+mn-lt"/>
                <a:ea typeface="+mn-ea"/>
                <a:cs typeface="+mn-cs"/>
              </a:rPr>
              <a:t> teoremine dayanan </a:t>
            </a:r>
            <a:r>
              <a:rPr lang="tr-TR" sz="1200" kern="1200" dirty="0" err="1" smtClean="0">
                <a:solidFill>
                  <a:schemeClr val="tx1"/>
                </a:solidFill>
                <a:effectLst/>
                <a:latin typeface="+mn-lt"/>
                <a:ea typeface="+mn-ea"/>
                <a:cs typeface="+mn-cs"/>
              </a:rPr>
              <a:t>olasılıksal</a:t>
            </a:r>
            <a:r>
              <a:rPr lang="tr-TR" sz="1200" kern="1200" dirty="0" smtClean="0">
                <a:solidFill>
                  <a:schemeClr val="tx1"/>
                </a:solidFill>
                <a:effectLst/>
                <a:latin typeface="+mn-lt"/>
                <a:ea typeface="+mn-ea"/>
                <a:cs typeface="+mn-cs"/>
              </a:rPr>
              <a:t> bir sınıflandırma yöntemidir (</a:t>
            </a:r>
            <a:r>
              <a:rPr lang="tr-TR" sz="1200" kern="1200" dirty="0" err="1" smtClean="0">
                <a:solidFill>
                  <a:schemeClr val="tx1"/>
                </a:solidFill>
                <a:effectLst/>
                <a:latin typeface="+mn-lt"/>
                <a:ea typeface="+mn-ea"/>
                <a:cs typeface="+mn-cs"/>
              </a:rPr>
              <a:t>McCallum</a:t>
            </a:r>
            <a:r>
              <a:rPr lang="tr-TR" sz="1200" kern="1200" dirty="0" smtClean="0">
                <a:solidFill>
                  <a:schemeClr val="tx1"/>
                </a:solidFill>
                <a:effectLst/>
                <a:latin typeface="+mn-lt"/>
                <a:ea typeface="+mn-ea"/>
                <a:cs typeface="+mn-cs"/>
              </a:rPr>
              <a:t> &amp; </a:t>
            </a:r>
            <a:r>
              <a:rPr lang="tr-TR" sz="1200" kern="1200" dirty="0" err="1" smtClean="0">
                <a:solidFill>
                  <a:schemeClr val="tx1"/>
                </a:solidFill>
                <a:effectLst/>
                <a:latin typeface="+mn-lt"/>
                <a:ea typeface="+mn-ea"/>
                <a:cs typeface="+mn-cs"/>
              </a:rPr>
              <a:t>Nigam</a:t>
            </a:r>
            <a:r>
              <a:rPr lang="tr-TR" sz="1200" kern="1200" dirty="0" smtClean="0">
                <a:solidFill>
                  <a:schemeClr val="tx1"/>
                </a:solidFill>
                <a:effectLst/>
                <a:latin typeface="+mn-lt"/>
                <a:ea typeface="+mn-ea"/>
                <a:cs typeface="+mn-cs"/>
              </a:rPr>
              <a:t>, 1998). Model, özelliklerin sınıfa koşullu olarak bağımsız olduğu varsayımını yapar. </a:t>
            </a:r>
            <a:r>
              <a:rPr lang="tr-TR" sz="1200" kern="1200" smtClean="0">
                <a:solidFill>
                  <a:schemeClr val="tx1"/>
                </a:solidFill>
                <a:effectLst/>
                <a:latin typeface="+mn-lt"/>
                <a:ea typeface="+mn-ea"/>
                <a:cs typeface="+mn-cs"/>
              </a:rPr>
              <a:t>Metin sınıflandırma görevlerinde hızlı, hesaplama açısından verimli ve yüksek boyutlu veriyle uyumlu olması nedeniyle sıklıkla tercih edilmektedir </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21</a:t>
            </a:fld>
            <a:endParaRPr lang="tr-TR"/>
          </a:p>
        </p:txBody>
      </p:sp>
    </p:spTree>
    <p:extLst>
      <p:ext uri="{BB962C8B-B14F-4D97-AF65-F5344CB8AC3E}">
        <p14:creationId xmlns:p14="http://schemas.microsoft.com/office/powerpoint/2010/main" val="14739586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CNN, metindeki n-gram benzeri yapıları otomatik olarak öğrenmektedir.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22</a:t>
            </a:fld>
            <a:endParaRPr lang="tr-TR"/>
          </a:p>
        </p:txBody>
      </p:sp>
    </p:spTree>
    <p:extLst>
      <p:ext uri="{BB962C8B-B14F-4D97-AF65-F5344CB8AC3E}">
        <p14:creationId xmlns:p14="http://schemas.microsoft.com/office/powerpoint/2010/main" val="7625606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LSTM </a:t>
            </a:r>
            <a:r>
              <a:rPr lang="tr-TR" sz="1200" kern="1200" dirty="0" smtClean="0">
                <a:solidFill>
                  <a:schemeClr val="tx1"/>
                </a:solidFill>
                <a:effectLst/>
                <a:latin typeface="+mn-lt"/>
                <a:ea typeface="+mn-ea"/>
                <a:cs typeface="+mn-cs"/>
              </a:rPr>
              <a:t>her zaman adımında bir hücre durumu 𝐶</a:t>
            </a:r>
            <a:r>
              <a:rPr lang="tr-TR" sz="1200" kern="1200" baseline="-25000" dirty="0" smtClean="0">
                <a:solidFill>
                  <a:schemeClr val="tx1"/>
                </a:solidFill>
                <a:effectLst/>
                <a:latin typeface="+mn-lt"/>
                <a:ea typeface="+mn-ea"/>
                <a:cs typeface="+mn-cs"/>
              </a:rPr>
              <a:t>𝑡</a:t>
            </a:r>
            <a:r>
              <a:rPr lang="tr-TR" sz="1200" kern="1200" dirty="0" smtClean="0">
                <a:solidFill>
                  <a:schemeClr val="tx1"/>
                </a:solidFill>
                <a:effectLst/>
                <a:latin typeface="+mn-lt"/>
                <a:ea typeface="+mn-ea"/>
                <a:cs typeface="+mn-cs"/>
              </a:rPr>
              <a:t> ve bir gizli durum ℎ</a:t>
            </a:r>
            <a:r>
              <a:rPr lang="tr-TR" sz="1200" kern="1200" baseline="-25000" dirty="0" smtClean="0">
                <a:solidFill>
                  <a:schemeClr val="tx1"/>
                </a:solidFill>
                <a:effectLst/>
                <a:latin typeface="+mn-lt"/>
                <a:ea typeface="+mn-ea"/>
                <a:cs typeface="+mn-cs"/>
              </a:rPr>
              <a:t>𝑡</a:t>
            </a:r>
            <a:r>
              <a:rPr lang="tr-TR" sz="1200" kern="1200" dirty="0" smtClean="0">
                <a:solidFill>
                  <a:schemeClr val="tx1"/>
                </a:solidFill>
                <a:effectLst/>
                <a:latin typeface="+mn-lt"/>
                <a:ea typeface="+mn-ea"/>
                <a:cs typeface="+mn-cs"/>
              </a:rPr>
              <a:t> tutarak bilgi akışını düzenleyen bir tekrarlayan sinir ağı mimarisidir. Model, bilgiyi kontrol etmek amacıyla unutma, giriş ve çıkış kapılarından oluşan bir kapı mekanizması kullanmaktadır. Kapı mekanizması sayesinde LSTM, hangi bilginin saklanacağına, hangi bilginin unutulacağına ve hangi bilginin çıktı olarak aktarılacağına karar verebilmektedir. Burada 𝑥</a:t>
            </a:r>
            <a:r>
              <a:rPr lang="tr-TR" sz="1200" kern="1200" baseline="-25000" dirty="0" smtClean="0">
                <a:solidFill>
                  <a:schemeClr val="tx1"/>
                </a:solidFill>
                <a:effectLst/>
                <a:latin typeface="+mn-lt"/>
                <a:ea typeface="+mn-ea"/>
                <a:cs typeface="+mn-cs"/>
              </a:rPr>
              <a:t>𝑡</a:t>
            </a:r>
            <a:r>
              <a:rPr lang="tr-TR" sz="1200" kern="1200" dirty="0" smtClean="0">
                <a:solidFill>
                  <a:schemeClr val="tx1"/>
                </a:solidFill>
                <a:effectLst/>
                <a:latin typeface="+mn-lt"/>
                <a:ea typeface="+mn-ea"/>
                <a:cs typeface="+mn-cs"/>
              </a:rPr>
              <a:t> giriş vektörünü, 𝐶</a:t>
            </a:r>
            <a:r>
              <a:rPr lang="tr-TR" sz="1200" kern="1200" baseline="-25000" dirty="0" smtClean="0">
                <a:solidFill>
                  <a:schemeClr val="tx1"/>
                </a:solidFill>
                <a:effectLst/>
                <a:latin typeface="+mn-lt"/>
                <a:ea typeface="+mn-ea"/>
                <a:cs typeface="+mn-cs"/>
              </a:rPr>
              <a:t>𝑡</a:t>
            </a:r>
            <a:r>
              <a:rPr lang="tr-TR" sz="1200" kern="1200" dirty="0" smtClean="0">
                <a:solidFill>
                  <a:schemeClr val="tx1"/>
                </a:solidFill>
                <a:effectLst/>
                <a:latin typeface="+mn-lt"/>
                <a:ea typeface="+mn-ea"/>
                <a:cs typeface="+mn-cs"/>
              </a:rPr>
              <a:t> hücre durumunu, ℎ</a:t>
            </a:r>
            <a:r>
              <a:rPr lang="tr-TR" sz="1200" kern="1200" baseline="-25000" dirty="0" smtClean="0">
                <a:solidFill>
                  <a:schemeClr val="tx1"/>
                </a:solidFill>
                <a:effectLst/>
                <a:latin typeface="+mn-lt"/>
                <a:ea typeface="+mn-ea"/>
                <a:cs typeface="+mn-cs"/>
              </a:rPr>
              <a:t>𝑡</a:t>
            </a:r>
            <a:r>
              <a:rPr lang="tr-TR" sz="1200" kern="1200" dirty="0" err="1" smtClean="0">
                <a:solidFill>
                  <a:schemeClr val="tx1"/>
                </a:solidFill>
                <a:effectLst/>
                <a:latin typeface="+mn-lt"/>
                <a:ea typeface="+mn-ea"/>
                <a:cs typeface="+mn-cs"/>
              </a:rPr>
              <a:t>ngizli</a:t>
            </a:r>
            <a:r>
              <a:rPr lang="tr-TR" sz="1200" kern="1200" dirty="0" smtClean="0">
                <a:solidFill>
                  <a:schemeClr val="tx1"/>
                </a:solidFill>
                <a:effectLst/>
                <a:latin typeface="+mn-lt"/>
                <a:ea typeface="+mn-ea"/>
                <a:cs typeface="+mn-cs"/>
              </a:rPr>
              <a:t> durumu, σ sigmoid fonksiyonunu ve ⊙ eleman bazlı çarpımı ifade etmektedir.</a:t>
            </a:r>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23</a:t>
            </a:fld>
            <a:endParaRPr lang="tr-TR"/>
          </a:p>
        </p:txBody>
      </p:sp>
    </p:spTree>
    <p:extLst>
      <p:ext uri="{BB962C8B-B14F-4D97-AF65-F5344CB8AC3E}">
        <p14:creationId xmlns:p14="http://schemas.microsoft.com/office/powerpoint/2010/main" val="2493483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24</a:t>
            </a:fld>
            <a:endParaRPr lang="tr-TR"/>
          </a:p>
        </p:txBody>
      </p:sp>
    </p:spTree>
    <p:extLst>
      <p:ext uri="{BB962C8B-B14F-4D97-AF65-F5344CB8AC3E}">
        <p14:creationId xmlns:p14="http://schemas.microsoft.com/office/powerpoint/2010/main" val="984174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285750" indent="-285750" algn="just">
              <a:lnSpc>
                <a:spcPct val="150000"/>
              </a:lnSpc>
              <a:buFont typeface="Wingdings" panose="05000000000000000000" pitchFamily="2" charset="2"/>
              <a:buChar char="q"/>
            </a:pPr>
            <a:r>
              <a:rPr lang="tr-TR" sz="1200" dirty="0" smtClean="0">
                <a:latin typeface="Times New Roman" panose="02020603050405020304" pitchFamily="18" charset="0"/>
                <a:cs typeface="Times New Roman" panose="02020603050405020304" pitchFamily="18" charset="0"/>
              </a:rPr>
              <a:t>Sentetik veri üretim süreci, duygu yönelimi ve domain bilgisi temelinde tanımlanan kontrollü bir üretim protokolü çerçevesinde gerçekleştirilmiştir.</a:t>
            </a:r>
          </a:p>
          <a:p>
            <a:pPr marL="285750" indent="-285750" algn="just">
              <a:lnSpc>
                <a:spcPct val="150000"/>
              </a:lnSpc>
              <a:buFont typeface="Wingdings" panose="05000000000000000000" pitchFamily="2" charset="2"/>
              <a:buChar char="q"/>
            </a:pPr>
            <a:r>
              <a:rPr lang="tr-TR" sz="1200" dirty="0" smtClean="0">
                <a:latin typeface="Times New Roman" panose="02020603050405020304" pitchFamily="18" charset="0"/>
                <a:cs typeface="Times New Roman" panose="02020603050405020304" pitchFamily="18" charset="0"/>
              </a:rPr>
              <a:t>Bu kapsamda dört farklı yorum grubu oluşturulmuştur: pozitif ve negatif olmak üzere otel ve film yorumları.</a:t>
            </a:r>
          </a:p>
          <a:p>
            <a:r>
              <a:rPr lang="tr-TR" sz="1200" dirty="0" smtClean="0">
                <a:latin typeface="Times New Roman" panose="02020603050405020304" pitchFamily="18" charset="0"/>
                <a:cs typeface="Times New Roman" panose="02020603050405020304" pitchFamily="18" charset="0"/>
              </a:rPr>
              <a:t>Üretim süreci </a:t>
            </a:r>
            <a:r>
              <a:rPr lang="tr-TR" sz="1200" dirty="0" err="1" smtClean="0">
                <a:latin typeface="Times New Roman" panose="02020603050405020304" pitchFamily="18" charset="0"/>
                <a:cs typeface="Times New Roman" panose="02020603050405020304" pitchFamily="18" charset="0"/>
              </a:rPr>
              <a:t>zero-shot</a:t>
            </a:r>
            <a:r>
              <a:rPr lang="tr-TR" sz="1200" dirty="0" smtClean="0">
                <a:latin typeface="Times New Roman" panose="02020603050405020304" pitchFamily="18" charset="0"/>
                <a:cs typeface="Times New Roman" panose="02020603050405020304" pitchFamily="18" charset="0"/>
              </a:rPr>
              <a:t> </a:t>
            </a:r>
            <a:r>
              <a:rPr lang="tr-TR" sz="1200" dirty="0" err="1" smtClean="0">
                <a:latin typeface="Times New Roman" panose="02020603050405020304" pitchFamily="18" charset="0"/>
                <a:cs typeface="Times New Roman" panose="02020603050405020304" pitchFamily="18" charset="0"/>
              </a:rPr>
              <a:t>prompting</a:t>
            </a:r>
            <a:r>
              <a:rPr lang="tr-TR" sz="1200" dirty="0" smtClean="0">
                <a:latin typeface="Times New Roman" panose="02020603050405020304" pitchFamily="18" charset="0"/>
                <a:cs typeface="Times New Roman" panose="02020603050405020304" pitchFamily="18" charset="0"/>
              </a:rPr>
              <a:t> yaklaşımı ile yürütülmüş ve veri üretimi </a:t>
            </a:r>
            <a:r>
              <a:rPr lang="tr-TR" sz="1200" dirty="0" err="1" smtClean="0">
                <a:latin typeface="Times New Roman" panose="02020603050405020304" pitchFamily="18" charset="0"/>
                <a:cs typeface="Times New Roman" panose="02020603050405020304" pitchFamily="18" charset="0"/>
              </a:rPr>
              <a:t>iteratif</a:t>
            </a:r>
            <a:r>
              <a:rPr lang="tr-TR" sz="1200" dirty="0" smtClean="0">
                <a:latin typeface="Times New Roman" panose="02020603050405020304" pitchFamily="18" charset="0"/>
                <a:cs typeface="Times New Roman" panose="02020603050405020304" pitchFamily="18" charset="0"/>
              </a:rPr>
              <a:t> bir yapı ile gerçekleştirilmiştir. </a:t>
            </a:r>
            <a:r>
              <a:rPr lang="tr-TR" sz="1200" dirty="0" err="1" smtClean="0">
                <a:latin typeface="Times New Roman" panose="02020603050405020304" pitchFamily="18" charset="0"/>
                <a:cs typeface="Times New Roman" panose="02020603050405020304" pitchFamily="18" charset="0"/>
              </a:rPr>
              <a:t>İteratif</a:t>
            </a:r>
            <a:r>
              <a:rPr lang="tr-TR" sz="1200" dirty="0" smtClean="0">
                <a:latin typeface="Times New Roman" panose="02020603050405020304" pitchFamily="18" charset="0"/>
                <a:cs typeface="Times New Roman" panose="02020603050405020304" pitchFamily="18" charset="0"/>
              </a:rPr>
              <a:t> üretim: Hedeflenen toplam veri miktarına ulaşılana kadar süreç tekrarlanır.</a:t>
            </a:r>
            <a:r>
              <a:rPr lang="tr-TR" sz="1200" baseline="0" dirty="0" smtClean="0">
                <a:latin typeface="Times New Roman" panose="02020603050405020304" pitchFamily="18" charset="0"/>
                <a:cs typeface="Times New Roman" panose="02020603050405020304" pitchFamily="18" charset="0"/>
              </a:rPr>
              <a:t> </a:t>
            </a:r>
            <a:r>
              <a:rPr lang="tr-TR" dirty="0" smtClean="0"/>
              <a:t>Sentetik veri üretim süreci, </a:t>
            </a:r>
            <a:r>
              <a:rPr lang="tr-TR" dirty="0" err="1" smtClean="0"/>
              <a:t>batch</a:t>
            </a:r>
            <a:r>
              <a:rPr lang="tr-TR" dirty="0" smtClean="0"/>
              <a:t> tabanlı ve </a:t>
            </a:r>
            <a:r>
              <a:rPr lang="tr-TR" dirty="0" err="1" smtClean="0"/>
              <a:t>iteratif</a:t>
            </a:r>
            <a:r>
              <a:rPr lang="tr-TR" dirty="0" smtClean="0"/>
              <a:t> bir yapı ile gerçekleştirilmiştir.</a:t>
            </a:r>
          </a:p>
          <a:p>
            <a:r>
              <a:rPr lang="tr-TR" dirty="0" smtClean="0"/>
              <a:t>Bu süreçte iki temel parametre tanımlanmıştır: </a:t>
            </a:r>
            <a:r>
              <a:rPr lang="tr-TR" dirty="0" err="1" smtClean="0"/>
              <a:t>batch</a:t>
            </a:r>
            <a:r>
              <a:rPr lang="tr-TR" dirty="0" smtClean="0"/>
              <a:t> size ve total </a:t>
            </a:r>
            <a:r>
              <a:rPr lang="tr-TR" dirty="0" err="1" smtClean="0"/>
              <a:t>reviews</a:t>
            </a:r>
            <a:r>
              <a:rPr lang="tr-TR" dirty="0" smtClean="0"/>
              <a:t>.</a:t>
            </a:r>
          </a:p>
          <a:p>
            <a:r>
              <a:rPr lang="tr-TR" dirty="0" err="1" smtClean="0"/>
              <a:t>Batch</a:t>
            </a:r>
            <a:r>
              <a:rPr lang="tr-TR" dirty="0" smtClean="0"/>
              <a:t> size, her API çağrısında üretilen yorum sayısını; total </a:t>
            </a:r>
            <a:r>
              <a:rPr lang="tr-TR" dirty="0" err="1" smtClean="0"/>
              <a:t>reviews</a:t>
            </a:r>
            <a:r>
              <a:rPr lang="tr-TR" dirty="0" smtClean="0"/>
              <a:t> ise hedeflenen toplam veri miktarını ifade etmektedir.</a:t>
            </a:r>
          </a:p>
          <a:p>
            <a:r>
              <a:rPr lang="tr-TR" dirty="0" smtClean="0"/>
              <a:t>Veri üretimi, hedeflenen sayıya ulaşılana kadar modele tekrar tekrar istek gönderilerek gerçekleştirilmiştir. Bu süreç, </a:t>
            </a:r>
            <a:r>
              <a:rPr lang="tr-TR" dirty="0" err="1" smtClean="0"/>
              <a:t>Python</a:t>
            </a:r>
            <a:r>
              <a:rPr lang="tr-TR" dirty="0" smtClean="0"/>
              <a:t> tabanlı otomatik </a:t>
            </a:r>
            <a:r>
              <a:rPr lang="tr-TR" dirty="0" err="1" smtClean="0"/>
              <a:t>scriptler</a:t>
            </a:r>
            <a:r>
              <a:rPr lang="tr-TR" dirty="0" smtClean="0"/>
              <a:t> aracılığıyla yürütülmüştür.</a:t>
            </a:r>
          </a:p>
          <a:p>
            <a:pPr marL="285750" indent="-285750" algn="just">
              <a:lnSpc>
                <a:spcPct val="150000"/>
              </a:lnSpc>
              <a:buFont typeface="Wingdings" panose="05000000000000000000" pitchFamily="2" charset="2"/>
              <a:buChar char="q"/>
            </a:pPr>
            <a:endParaRPr lang="tr-TR" sz="1200" dirty="0" smtClean="0">
              <a:latin typeface="Times New Roman" panose="02020603050405020304" pitchFamily="18" charset="0"/>
              <a:cs typeface="Times New Roman" panose="02020603050405020304" pitchFamily="18" charset="0"/>
            </a:endParaRPr>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25</a:t>
            </a:fld>
            <a:endParaRPr lang="tr-TR"/>
          </a:p>
        </p:txBody>
      </p:sp>
    </p:spTree>
    <p:extLst>
      <p:ext uri="{BB962C8B-B14F-4D97-AF65-F5344CB8AC3E}">
        <p14:creationId xmlns:p14="http://schemas.microsoft.com/office/powerpoint/2010/main" val="17388532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Bu algoritma, </a:t>
            </a:r>
            <a:r>
              <a:rPr lang="tr-TR" dirty="0" err="1" smtClean="0"/>
              <a:t>LLM’den</a:t>
            </a:r>
            <a:r>
              <a:rPr lang="tr-TR" dirty="0" smtClean="0"/>
              <a:t> kontrollü ve tekrarlı şekilde veri üreterek, temizleyip veri setine ekleyen otomatik bir üretim sürecini tanımlamaktadır. </a:t>
            </a:r>
            <a:r>
              <a:rPr lang="tr-TR" sz="1200" kern="1200" dirty="0" err="1" smtClean="0">
                <a:solidFill>
                  <a:schemeClr val="tx1"/>
                </a:solidFill>
                <a:effectLst/>
                <a:latin typeface="+mn-lt"/>
                <a:ea typeface="+mn-ea"/>
                <a:cs typeface="+mn-cs"/>
              </a:rPr>
              <a:t>Python</a:t>
            </a:r>
            <a:r>
              <a:rPr lang="tr-TR" sz="1200" kern="1200" dirty="0" smtClean="0">
                <a:solidFill>
                  <a:schemeClr val="tx1"/>
                </a:solidFill>
                <a:effectLst/>
                <a:latin typeface="+mn-lt"/>
                <a:ea typeface="+mn-ea"/>
                <a:cs typeface="+mn-cs"/>
              </a:rPr>
              <a:t> </a:t>
            </a:r>
            <a:r>
              <a:rPr lang="tr-TR" sz="1200" kern="1200" dirty="0" smtClean="0">
                <a:solidFill>
                  <a:schemeClr val="tx1"/>
                </a:solidFill>
                <a:effectLst/>
                <a:latin typeface="+mn-lt"/>
                <a:ea typeface="+mn-ea"/>
                <a:cs typeface="+mn-cs"/>
              </a:rPr>
              <a:t>ortamında geliştirilen otomatik betikler aracılığıyla yürütülmüş ve API üzerinden her istekte belirli sayıda (örneğin 50 adet) yorum üretilmiştir. Üretim işlemi alt partiler hâlinde gerçekleştirilmiş ve her 500 yorum üretiminden sonra veriler </a:t>
            </a:r>
            <a:r>
              <a:rPr lang="tr-TR" sz="1200" i="1" kern="1200" dirty="0" smtClean="0">
                <a:solidFill>
                  <a:schemeClr val="tx1"/>
                </a:solidFill>
                <a:effectLst/>
                <a:latin typeface="+mn-lt"/>
                <a:ea typeface="+mn-ea"/>
                <a:cs typeface="+mn-cs"/>
              </a:rPr>
              <a:t>.</a:t>
            </a:r>
            <a:r>
              <a:rPr lang="tr-TR" sz="1200" i="1" kern="1200" dirty="0" err="1" smtClean="0">
                <a:solidFill>
                  <a:schemeClr val="tx1"/>
                </a:solidFill>
                <a:effectLst/>
                <a:latin typeface="+mn-lt"/>
                <a:ea typeface="+mn-ea"/>
                <a:cs typeface="+mn-cs"/>
              </a:rPr>
              <a:t>csv</a:t>
            </a:r>
            <a:r>
              <a:rPr lang="tr-TR" sz="1200" kern="1200" dirty="0" smtClean="0">
                <a:solidFill>
                  <a:schemeClr val="tx1"/>
                </a:solidFill>
                <a:effectLst/>
                <a:latin typeface="+mn-lt"/>
                <a:ea typeface="+mn-ea"/>
                <a:cs typeface="+mn-cs"/>
              </a:rPr>
              <a:t> formatında kaydedilerek olası veri kaybı riski minimize edilmiştir. Üretilen çıktılar çok aşamalı bir veri temizleme sürecinden geçirilmiştir. </a:t>
            </a:r>
          </a:p>
          <a:p>
            <a:r>
              <a:rPr lang="tr-TR" dirty="0" smtClean="0"/>
              <a:t>Bu kapsamda boş ve tekrar eden içerikler kaldırılmış, metinler </a:t>
            </a:r>
            <a:r>
              <a:rPr lang="tr-TR" dirty="0" err="1" smtClean="0"/>
              <a:t>normalize</a:t>
            </a:r>
            <a:r>
              <a:rPr lang="tr-TR" dirty="0" smtClean="0"/>
              <a:t> edilmiştir.</a:t>
            </a:r>
          </a:p>
          <a:p>
            <a:r>
              <a:rPr lang="tr-TR" dirty="0" smtClean="0"/>
              <a:t>Ayrıca rastgele örnekleme yöntemi ile manuel kontrol yapılarak tutarsız örnekler veri setinden çıkarılmıştır.</a:t>
            </a:r>
          </a:p>
          <a:p>
            <a:r>
              <a:rPr lang="tr-TR" dirty="0" smtClean="0"/>
              <a:t>Her model için 10 bin pozitif ve 10 bin negatif olmak üzere toplam 20 bin sentetik veri üretilmiştir</a:t>
            </a:r>
            <a:r>
              <a:rPr lang="tr-TR" dirty="0" smtClean="0"/>
              <a:t>.</a:t>
            </a:r>
          </a:p>
          <a:p>
            <a:r>
              <a:rPr lang="tr-TR" dirty="0" smtClean="0"/>
              <a:t>Bu yapı sayesinde veri üretimi hem ölçeklenebilir hem de kontrol edilebilir hale getirilmiştir.</a:t>
            </a:r>
          </a:p>
          <a:p>
            <a:r>
              <a:rPr lang="tr-TR" dirty="0" smtClean="0"/>
              <a:t>Bu algoritma şunu gösteriyor:</a:t>
            </a:r>
          </a:p>
          <a:p>
            <a:r>
              <a:rPr lang="tr-TR" smtClean="0"/>
              <a:t>👉 Veri </a:t>
            </a:r>
            <a:r>
              <a:rPr lang="tr-TR" b="1" smtClean="0"/>
              <a:t>rastgele üretilmedi</a:t>
            </a:r>
            <a:r>
              <a:rPr lang="tr-TR" smtClean="0"/>
              <a:t/>
            </a:r>
            <a:br>
              <a:rPr lang="tr-TR" smtClean="0"/>
            </a:br>
            <a:r>
              <a:rPr lang="tr-TR" smtClean="0"/>
              <a:t>👉 </a:t>
            </a:r>
            <a:r>
              <a:rPr lang="tr-TR" b="1" smtClean="0"/>
              <a:t>kontrollü, temizlenmiş ve sistematik şekilde üretildi</a:t>
            </a:r>
            <a:endParaRPr lang="tr-TR" smtClean="0"/>
          </a:p>
          <a:p>
            <a:endParaRPr lang="tr-TR" dirty="0" smtClean="0"/>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26</a:t>
            </a:fld>
            <a:endParaRPr lang="tr-TR"/>
          </a:p>
        </p:txBody>
      </p:sp>
    </p:spTree>
    <p:extLst>
      <p:ext uri="{BB962C8B-B14F-4D97-AF65-F5344CB8AC3E}">
        <p14:creationId xmlns:p14="http://schemas.microsoft.com/office/powerpoint/2010/main" val="23371785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Özellikle </a:t>
            </a:r>
            <a:r>
              <a:rPr lang="tr-TR" dirty="0" err="1" smtClean="0"/>
              <a:t>hibrit</a:t>
            </a:r>
            <a:r>
              <a:rPr lang="tr-TR" dirty="0" smtClean="0"/>
              <a:t> veri setleri, sentetik verinin gerçek veri ile birlikte kullanımının etkisini değerlendirmek açısından kritik bir rol oynamıştır.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27</a:t>
            </a:fld>
            <a:endParaRPr lang="tr-TR"/>
          </a:p>
        </p:txBody>
      </p:sp>
    </p:spTree>
    <p:extLst>
      <p:ext uri="{BB962C8B-B14F-4D97-AF65-F5344CB8AC3E}">
        <p14:creationId xmlns:p14="http://schemas.microsoft.com/office/powerpoint/2010/main" val="27229213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Tüm deneyler Google </a:t>
            </a:r>
            <a:r>
              <a:rPr lang="tr-TR" dirty="0" err="1" smtClean="0"/>
              <a:t>Colab</a:t>
            </a:r>
            <a:r>
              <a:rPr lang="tr-TR" dirty="0" smtClean="0"/>
              <a:t> Pro+ ortamında gerçekleştirilmiştir.</a:t>
            </a:r>
          </a:p>
          <a:p>
            <a:r>
              <a:rPr lang="tr-TR" sz="1200" kern="1200" dirty="0" smtClean="0">
                <a:solidFill>
                  <a:schemeClr val="tx1"/>
                </a:solidFill>
                <a:effectLst/>
                <a:latin typeface="+mn-lt"/>
                <a:ea typeface="+mn-ea"/>
                <a:cs typeface="+mn-cs"/>
              </a:rPr>
              <a:t>Deneysel süreç, hem sentetik veri üretimini hem de model eğitimi ve değerlendirme aşamalarını kapsayacak şekilde tek bir bütünleşik </a:t>
            </a:r>
            <a:r>
              <a:rPr lang="tr-TR" sz="1200" kern="1200" dirty="0" err="1" smtClean="0">
                <a:solidFill>
                  <a:schemeClr val="tx1"/>
                </a:solidFill>
                <a:effectLst/>
                <a:latin typeface="+mn-lt"/>
                <a:ea typeface="+mn-ea"/>
                <a:cs typeface="+mn-cs"/>
              </a:rPr>
              <a:t>Python</a:t>
            </a:r>
            <a:r>
              <a:rPr lang="tr-TR" sz="1200" kern="1200" dirty="0" smtClean="0">
                <a:solidFill>
                  <a:schemeClr val="tx1"/>
                </a:solidFill>
                <a:effectLst/>
                <a:latin typeface="+mn-lt"/>
                <a:ea typeface="+mn-ea"/>
                <a:cs typeface="+mn-cs"/>
              </a:rPr>
              <a:t> ortamında gerçekleştirilmiştir. Sentetik veri üretimi </a:t>
            </a:r>
            <a:r>
              <a:rPr lang="en-US" sz="1200" kern="1200" dirty="0" err="1" smtClean="0">
                <a:solidFill>
                  <a:schemeClr val="tx1"/>
                </a:solidFill>
                <a:effectLst/>
                <a:latin typeface="+mn-lt"/>
                <a:ea typeface="+mn-ea"/>
                <a:cs typeface="+mn-cs"/>
              </a:rPr>
              <a:t>ilgili</a:t>
            </a:r>
            <a:r>
              <a:rPr lang="en-US" sz="1200" kern="1200" dirty="0" smtClean="0">
                <a:solidFill>
                  <a:schemeClr val="tx1"/>
                </a:solidFill>
                <a:effectLst/>
                <a:latin typeface="+mn-lt"/>
                <a:ea typeface="+mn-ea"/>
                <a:cs typeface="+mn-cs"/>
              </a:rPr>
              <a:t> LLM </a:t>
            </a:r>
            <a:r>
              <a:rPr lang="en-US" sz="1200" kern="1200" dirty="0" err="1" smtClean="0">
                <a:solidFill>
                  <a:schemeClr val="tx1"/>
                </a:solidFill>
                <a:effectLst/>
                <a:latin typeface="+mn-lt"/>
                <a:ea typeface="+mn-ea"/>
                <a:cs typeface="+mn-cs"/>
              </a:rPr>
              <a:t>servislerine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gönderilen</a:t>
            </a:r>
            <a:r>
              <a:rPr lang="en-US" sz="1200" kern="1200" dirty="0" smtClean="0">
                <a:solidFill>
                  <a:schemeClr val="tx1"/>
                </a:solidFill>
                <a:effectLst/>
                <a:latin typeface="+mn-lt"/>
                <a:ea typeface="+mn-ea"/>
                <a:cs typeface="+mn-cs"/>
              </a:rPr>
              <a:t> API </a:t>
            </a:r>
            <a:r>
              <a:rPr lang="en-US" sz="1200" kern="1200" dirty="0" err="1" smtClean="0">
                <a:solidFill>
                  <a:schemeClr val="tx1"/>
                </a:solidFill>
                <a:effectLst/>
                <a:latin typeface="+mn-lt"/>
                <a:ea typeface="+mn-ea"/>
                <a:cs typeface="+mn-cs"/>
              </a:rPr>
              <a:t>çağrıları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aracılığıyla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gerçekleştirilmiştir</a:t>
            </a:r>
            <a:r>
              <a:rPr lang="en-US" sz="1200" kern="1200" dirty="0" smtClean="0">
                <a:solidFill>
                  <a:schemeClr val="tx1"/>
                </a:solidFill>
                <a:effectLst/>
                <a:latin typeface="+mn-lt"/>
                <a:ea typeface="+mn-ea"/>
                <a:cs typeface="+mn-cs"/>
              </a:rPr>
              <a:t>. </a:t>
            </a:r>
            <a:r>
              <a:rPr lang="tr-TR" sz="1200" kern="1200" dirty="0" smtClean="0">
                <a:solidFill>
                  <a:schemeClr val="tx1"/>
                </a:solidFill>
                <a:effectLst/>
                <a:latin typeface="+mn-lt"/>
                <a:ea typeface="+mn-ea"/>
                <a:cs typeface="+mn-cs"/>
              </a:rPr>
              <a:t>Bu kapsamda GPT-4o ve </a:t>
            </a:r>
            <a:r>
              <a:rPr lang="tr-TR" sz="1200" kern="1200" dirty="0" err="1" smtClean="0">
                <a:solidFill>
                  <a:schemeClr val="tx1"/>
                </a:solidFill>
                <a:effectLst/>
                <a:latin typeface="+mn-lt"/>
                <a:ea typeface="+mn-ea"/>
                <a:cs typeface="+mn-cs"/>
              </a:rPr>
              <a:t>Claude</a:t>
            </a:r>
            <a:r>
              <a:rPr lang="tr-TR" sz="1200" kern="1200" dirty="0" smtClean="0">
                <a:solidFill>
                  <a:schemeClr val="tx1"/>
                </a:solidFill>
                <a:effectLst/>
                <a:latin typeface="+mn-lt"/>
                <a:ea typeface="+mn-ea"/>
                <a:cs typeface="+mn-cs"/>
              </a:rPr>
              <a:t> 3 modelleri kullanılmış; üretim işlemleri </a:t>
            </a:r>
            <a:r>
              <a:rPr lang="tr-TR" sz="1200" kern="1200" dirty="0" err="1" smtClean="0">
                <a:solidFill>
                  <a:schemeClr val="tx1"/>
                </a:solidFill>
                <a:effectLst/>
                <a:latin typeface="+mn-lt"/>
                <a:ea typeface="+mn-ea"/>
                <a:cs typeface="+mn-cs"/>
              </a:rPr>
              <a:t>Colab</a:t>
            </a:r>
            <a:r>
              <a:rPr lang="tr-TR" sz="1200" kern="1200" dirty="0" smtClean="0">
                <a:solidFill>
                  <a:schemeClr val="tx1"/>
                </a:solidFill>
                <a:effectLst/>
                <a:latin typeface="+mn-lt"/>
                <a:ea typeface="+mn-ea"/>
                <a:cs typeface="+mn-cs"/>
              </a:rPr>
              <a:t> ortamında geliştirilen </a:t>
            </a:r>
            <a:r>
              <a:rPr lang="tr-TR" sz="1200" kern="1200" dirty="0" err="1" smtClean="0">
                <a:solidFill>
                  <a:schemeClr val="tx1"/>
                </a:solidFill>
                <a:effectLst/>
                <a:latin typeface="+mn-lt"/>
                <a:ea typeface="+mn-ea"/>
                <a:cs typeface="+mn-cs"/>
              </a:rPr>
              <a:t>Python</a:t>
            </a:r>
            <a:r>
              <a:rPr lang="tr-TR" sz="1200" kern="1200" dirty="0" smtClean="0">
                <a:solidFill>
                  <a:schemeClr val="tx1"/>
                </a:solidFill>
                <a:effectLst/>
                <a:latin typeface="+mn-lt"/>
                <a:ea typeface="+mn-ea"/>
                <a:cs typeface="+mn-cs"/>
              </a:rPr>
              <a:t> </a:t>
            </a:r>
            <a:r>
              <a:rPr lang="tr-TR" sz="1200" kern="1200" dirty="0" err="1" smtClean="0">
                <a:solidFill>
                  <a:schemeClr val="tx1"/>
                </a:solidFill>
                <a:effectLst/>
                <a:latin typeface="+mn-lt"/>
                <a:ea typeface="+mn-ea"/>
                <a:cs typeface="+mn-cs"/>
              </a:rPr>
              <a:t>script’leri</a:t>
            </a:r>
            <a:r>
              <a:rPr lang="tr-TR" sz="1200" kern="1200" dirty="0" smtClean="0">
                <a:solidFill>
                  <a:schemeClr val="tx1"/>
                </a:solidFill>
                <a:effectLst/>
                <a:latin typeface="+mn-lt"/>
                <a:ea typeface="+mn-ea"/>
                <a:cs typeface="+mn-cs"/>
              </a:rPr>
              <a:t> aracılığıyla otomatikleştirilmiştir. API tabanlı üretim süreci, alt partiler (</a:t>
            </a:r>
            <a:r>
              <a:rPr lang="tr-TR" sz="1200" kern="1200" dirty="0" err="1" smtClean="0">
                <a:solidFill>
                  <a:schemeClr val="tx1"/>
                </a:solidFill>
                <a:effectLst/>
                <a:latin typeface="+mn-lt"/>
                <a:ea typeface="+mn-ea"/>
                <a:cs typeface="+mn-cs"/>
              </a:rPr>
              <a:t>sub-batch</a:t>
            </a:r>
            <a:r>
              <a:rPr lang="tr-TR" sz="1200" kern="1200" dirty="0" smtClean="0">
                <a:solidFill>
                  <a:schemeClr val="tx1"/>
                </a:solidFill>
                <a:effectLst/>
                <a:latin typeface="+mn-lt"/>
                <a:ea typeface="+mn-ea"/>
                <a:cs typeface="+mn-cs"/>
              </a:rPr>
              <a:t>) halinde yürütülmüş ve veri kaybını önlemek amacıyla düzenli aralıklarla ara kayıt (</a:t>
            </a:r>
            <a:r>
              <a:rPr lang="tr-TR" sz="1200" kern="1200" dirty="0" err="1" smtClean="0">
                <a:solidFill>
                  <a:schemeClr val="tx1"/>
                </a:solidFill>
                <a:effectLst/>
                <a:latin typeface="+mn-lt"/>
                <a:ea typeface="+mn-ea"/>
                <a:cs typeface="+mn-cs"/>
              </a:rPr>
              <a:t>checkpoint</a:t>
            </a:r>
            <a:r>
              <a:rPr lang="tr-TR" sz="1200" kern="1200" dirty="0" smtClean="0">
                <a:solidFill>
                  <a:schemeClr val="tx1"/>
                </a:solidFill>
                <a:effectLst/>
                <a:latin typeface="+mn-lt"/>
                <a:ea typeface="+mn-ea"/>
                <a:cs typeface="+mn-cs"/>
              </a:rPr>
              <a:t>) alınmıştır. Model eğitimi ve performans değerlendirme işlemleri, NVIDIA A100 GPU (40 GB VRAM) üzerinde gerçekleştirilmiştir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28</a:t>
            </a:fld>
            <a:endParaRPr lang="tr-TR"/>
          </a:p>
        </p:txBody>
      </p:sp>
    </p:spTree>
    <p:extLst>
      <p:ext uri="{BB962C8B-B14F-4D97-AF65-F5344CB8AC3E}">
        <p14:creationId xmlns:p14="http://schemas.microsoft.com/office/powerpoint/2010/main" val="1371393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Veri kümesi %70 eğitim ve %30 test olarak bölünmüştür.</a:t>
            </a:r>
          </a:p>
          <a:p>
            <a:r>
              <a:rPr lang="tr-TR" dirty="0" smtClean="0"/>
              <a:t>Sentetik veri üretimi yalnızca eğitim setine uygulanmış, test seti sabit tutulmuştur.</a:t>
            </a:r>
          </a:p>
          <a:p>
            <a:r>
              <a:rPr lang="tr-TR" dirty="0" smtClean="0"/>
              <a:t>Bu sayede veri sızıntısı önlenmiş ve adil karşılaştırma sağlanmıştır. Ham veri kümesi toplam 64,159 </a:t>
            </a:r>
            <a:r>
              <a:rPr lang="tr-TR" dirty="0" err="1" smtClean="0"/>
              <a:t>reviews</a:t>
            </a:r>
            <a:endParaRPr lang="tr-TR" dirty="0" smtClean="0"/>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29</a:t>
            </a:fld>
            <a:endParaRPr lang="tr-TR"/>
          </a:p>
        </p:txBody>
      </p:sp>
    </p:spTree>
    <p:extLst>
      <p:ext uri="{BB962C8B-B14F-4D97-AF65-F5344CB8AC3E}">
        <p14:creationId xmlns:p14="http://schemas.microsoft.com/office/powerpoint/2010/main" val="10884835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Cross-</a:t>
            </a:r>
            <a:r>
              <a:rPr lang="tr-TR" dirty="0" err="1" smtClean="0"/>
              <a:t>validation</a:t>
            </a:r>
            <a:r>
              <a:rPr lang="tr-TR" dirty="0" smtClean="0"/>
              <a:t>, model performansını daha güvenilir şekilde değerlendirmek için kullanılan bir yöntemdir.</a:t>
            </a:r>
          </a:p>
          <a:p>
            <a:r>
              <a:rPr lang="tr-TR" dirty="0" smtClean="0"/>
              <a:t>Bu yöntemde eğitim verisi 5 eşit parçaya bölünür.</a:t>
            </a:r>
          </a:p>
          <a:p>
            <a:r>
              <a:rPr lang="tr-TR" dirty="0" smtClean="0"/>
              <a:t>Her </a:t>
            </a:r>
            <a:r>
              <a:rPr lang="tr-TR" dirty="0" err="1" smtClean="0"/>
              <a:t>iterasyonda</a:t>
            </a:r>
            <a:r>
              <a:rPr lang="tr-TR" dirty="0" smtClean="0"/>
              <a:t> bir parça doğrulama için kullanılırken, kalan parçalar eğitim için kullanılır.</a:t>
            </a:r>
          </a:p>
          <a:p>
            <a:r>
              <a:rPr lang="tr-TR" dirty="0" smtClean="0"/>
              <a:t>Tüm </a:t>
            </a:r>
            <a:r>
              <a:rPr lang="tr-TR" dirty="0" err="1" smtClean="0"/>
              <a:t>fold’lar</a:t>
            </a:r>
            <a:r>
              <a:rPr lang="tr-TR" dirty="0" smtClean="0"/>
              <a:t> kullanıldıktan sonra performans değerlerinin ortalaması alınır.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30</a:t>
            </a:fld>
            <a:endParaRPr lang="tr-TR"/>
          </a:p>
        </p:txBody>
      </p:sp>
    </p:spTree>
    <p:extLst>
      <p:ext uri="{BB962C8B-B14F-4D97-AF65-F5344CB8AC3E}">
        <p14:creationId xmlns:p14="http://schemas.microsoft.com/office/powerpoint/2010/main" val="742415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Tüm modeller ortak bir deneysel yapı altında eğitilmiştir.</a:t>
            </a:r>
          </a:p>
          <a:p>
            <a:r>
              <a:rPr lang="tr-TR" dirty="0" smtClean="0"/>
              <a:t>Maksimum metin uzunluğu 256 olarak belirlenmiş ve tüm modeller için 5 </a:t>
            </a:r>
            <a:r>
              <a:rPr lang="tr-TR" dirty="0" err="1" smtClean="0"/>
              <a:t>epoch</a:t>
            </a:r>
            <a:r>
              <a:rPr lang="tr-TR" dirty="0" smtClean="0"/>
              <a:t> eğitim uygulanmıştır.</a:t>
            </a:r>
          </a:p>
          <a:p>
            <a:r>
              <a:rPr lang="tr-TR" dirty="0" smtClean="0"/>
              <a:t>CNN ve LSTM modellerinde kelime sözlüğü ve </a:t>
            </a:r>
            <a:r>
              <a:rPr lang="tr-TR" dirty="0" err="1" smtClean="0"/>
              <a:t>embedding</a:t>
            </a:r>
            <a:r>
              <a:rPr lang="tr-TR" dirty="0" smtClean="0"/>
              <a:t> temsili kullanılmıştır.</a:t>
            </a:r>
          </a:p>
          <a:p>
            <a:r>
              <a:rPr lang="tr-TR" dirty="0" smtClean="0"/>
              <a:t>BERT modeli ise önceden eğitilmiş Türkçe bir model olarak </a:t>
            </a:r>
            <a:r>
              <a:rPr lang="tr-TR" dirty="0" err="1" smtClean="0"/>
              <a:t>fine-tune</a:t>
            </a:r>
            <a:r>
              <a:rPr lang="tr-TR" dirty="0" smtClean="0"/>
              <a:t> edilmiştir.</a:t>
            </a:r>
          </a:p>
          <a:p>
            <a:r>
              <a:rPr lang="tr-TR" dirty="0" smtClean="0"/>
              <a:t>Geleneksel makine öğrenmesi modellerinde ise TF-IDF tabanlı özellik çıkarımı uygulanmıştır.</a:t>
            </a:r>
          </a:p>
          <a:p>
            <a:r>
              <a:rPr lang="tr-TR" dirty="0" smtClean="0"/>
              <a:t>Bu sayede tüm modeller adil koşullar altında karşılaştırılmıştır. Tüm modeller aynı veri bölme ve eğitim stratejisi ile değerlendirilmiştir. </a:t>
            </a:r>
          </a:p>
          <a:p>
            <a:r>
              <a:rPr lang="tr-TR" b="1" dirty="0" err="1" smtClean="0"/>
              <a:t>Max</a:t>
            </a:r>
            <a:r>
              <a:rPr lang="tr-TR" b="1" dirty="0" smtClean="0"/>
              <a:t> </a:t>
            </a:r>
            <a:r>
              <a:rPr lang="tr-TR" b="1" dirty="0" err="1" smtClean="0"/>
              <a:t>length</a:t>
            </a:r>
            <a:r>
              <a:rPr lang="tr-TR" b="1" dirty="0" smtClean="0"/>
              <a:t> = 256</a:t>
            </a:r>
          </a:p>
          <a:p>
            <a:r>
              <a:rPr lang="tr-TR" dirty="0" smtClean="0"/>
              <a:t>Metinlerin büyük çoğunluğu bu uzunluk altında olduğu için seçilmiştir.</a:t>
            </a:r>
          </a:p>
          <a:p>
            <a:r>
              <a:rPr lang="tr-TR" dirty="0" smtClean="0"/>
              <a:t>Bu değer, hem yeterli bağlamı korumakta hem de gereksiz hesaplama maliyetini önlemektedir.</a:t>
            </a:r>
          </a:p>
          <a:p>
            <a:r>
              <a:rPr lang="tr-TR" b="1" dirty="0" smtClean="0"/>
              <a:t>🔹 </a:t>
            </a:r>
            <a:r>
              <a:rPr lang="tr-TR" b="1" dirty="0" err="1" smtClean="0"/>
              <a:t>Batch</a:t>
            </a:r>
            <a:r>
              <a:rPr lang="tr-TR" b="1" dirty="0" smtClean="0"/>
              <a:t> size (32 / 64)</a:t>
            </a:r>
          </a:p>
          <a:p>
            <a:r>
              <a:rPr lang="tr-TR" dirty="0" smtClean="0"/>
              <a:t>Donanım kapasitesi ve model </a:t>
            </a:r>
            <a:r>
              <a:rPr lang="tr-TR" dirty="0" err="1" smtClean="0"/>
              <a:t>stabilitesi</a:t>
            </a:r>
            <a:r>
              <a:rPr lang="tr-TR" dirty="0" smtClean="0"/>
              <a:t> göz önünde bulundurularak belirlenmiştir.</a:t>
            </a:r>
          </a:p>
          <a:p>
            <a:r>
              <a:rPr lang="tr-TR" dirty="0" smtClean="0"/>
              <a:t>Daha büyük </a:t>
            </a:r>
            <a:r>
              <a:rPr lang="tr-TR" dirty="0" err="1" smtClean="0"/>
              <a:t>batch</a:t>
            </a:r>
            <a:r>
              <a:rPr lang="tr-TR" dirty="0" smtClean="0"/>
              <a:t> size eğitim süresini kısaltırken, daha küçük değerler modelin daha stabil öğrenmesini sağlar.</a:t>
            </a:r>
          </a:p>
          <a:p>
            <a:r>
              <a:rPr lang="tr-TR" b="1" dirty="0" smtClean="0"/>
              <a:t>🔹 </a:t>
            </a:r>
            <a:r>
              <a:rPr lang="tr-TR" b="1" dirty="0" err="1" smtClean="0"/>
              <a:t>Epoch</a:t>
            </a:r>
            <a:r>
              <a:rPr lang="tr-TR" b="1" dirty="0" smtClean="0"/>
              <a:t> = 5</a:t>
            </a:r>
          </a:p>
          <a:p>
            <a:r>
              <a:rPr lang="tr-TR" dirty="0" smtClean="0"/>
              <a:t>Aşırı öğrenmeyi (</a:t>
            </a:r>
            <a:r>
              <a:rPr lang="tr-TR" dirty="0" err="1" smtClean="0"/>
              <a:t>overfitting</a:t>
            </a:r>
            <a:r>
              <a:rPr lang="tr-TR" dirty="0" smtClean="0"/>
              <a:t>) önlemek ve yeterli öğrenmeyi sağlamak amacıyla sınırlı tutulmuştur.</a:t>
            </a:r>
          </a:p>
          <a:p>
            <a:r>
              <a:rPr lang="tr-TR" b="1" dirty="0" smtClean="0"/>
              <a:t>🔹 </a:t>
            </a:r>
            <a:r>
              <a:rPr lang="tr-TR" b="1" dirty="0" err="1" smtClean="0"/>
              <a:t>Embedding</a:t>
            </a:r>
            <a:r>
              <a:rPr lang="tr-TR" b="1" dirty="0" smtClean="0"/>
              <a:t> </a:t>
            </a:r>
            <a:r>
              <a:rPr lang="tr-TR" b="1" dirty="0" err="1" smtClean="0"/>
              <a:t>dim</a:t>
            </a:r>
            <a:r>
              <a:rPr lang="tr-TR" b="1" dirty="0" smtClean="0"/>
              <a:t> = 128</a:t>
            </a:r>
          </a:p>
          <a:p>
            <a:r>
              <a:rPr lang="tr-TR" dirty="0" smtClean="0"/>
              <a:t>Metin temsil gücü ile model karmaşıklığı arasında denge sağlamak için seçilmiştir.</a:t>
            </a:r>
          </a:p>
          <a:p>
            <a:r>
              <a:rPr lang="tr-TR" b="1" dirty="0" smtClean="0"/>
              <a:t>🔹 TF-IDF (50,000 </a:t>
            </a:r>
            <a:r>
              <a:rPr lang="tr-TR" b="1" dirty="0" err="1" smtClean="0"/>
              <a:t>features</a:t>
            </a:r>
            <a:r>
              <a:rPr lang="tr-TR" b="1" dirty="0" smtClean="0"/>
              <a:t>)</a:t>
            </a:r>
          </a:p>
          <a:p>
            <a:r>
              <a:rPr lang="tr-TR" dirty="0" smtClean="0"/>
              <a:t>Metin içerisindeki önemli kelimeleri temsil edebilecek yeterli bir özellik uzayı oluşturmak amacıyla belirlenmiştir.</a:t>
            </a:r>
          </a:p>
          <a:p>
            <a:r>
              <a:rPr lang="tr-TR" b="1" dirty="0" smtClean="0"/>
              <a:t>🔹 5-Fold Cross-</a:t>
            </a:r>
            <a:r>
              <a:rPr lang="tr-TR" b="1" dirty="0" err="1" smtClean="0"/>
              <a:t>Validation</a:t>
            </a:r>
            <a:endParaRPr lang="tr-TR" b="1" dirty="0" smtClean="0"/>
          </a:p>
          <a:p>
            <a:r>
              <a:rPr lang="tr-TR" dirty="0" smtClean="0"/>
              <a:t>Model performansının daha güvenilir ve </a:t>
            </a:r>
            <a:r>
              <a:rPr lang="tr-TR" dirty="0" err="1" smtClean="0"/>
              <a:t>genellenebilir</a:t>
            </a:r>
            <a:r>
              <a:rPr lang="tr-TR" dirty="0" smtClean="0"/>
              <a:t> şekilde ölçülmesi için tercih edilmiştir.</a:t>
            </a:r>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31</a:t>
            </a:fld>
            <a:endParaRPr lang="tr-TR"/>
          </a:p>
        </p:txBody>
      </p:sp>
    </p:spTree>
    <p:extLst>
      <p:ext uri="{BB962C8B-B14F-4D97-AF65-F5344CB8AC3E}">
        <p14:creationId xmlns:p14="http://schemas.microsoft.com/office/powerpoint/2010/main" val="10791531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i="1" kern="1200" dirty="0" err="1" smtClean="0">
                <a:solidFill>
                  <a:schemeClr val="tx1"/>
                </a:solidFill>
                <a:effectLst/>
                <a:latin typeface="+mn-lt"/>
                <a:ea typeface="+mn-ea"/>
                <a:cs typeface="+mn-cs"/>
              </a:rPr>
              <a:t>Accuracy</a:t>
            </a:r>
            <a:r>
              <a:rPr lang="tr-TR" sz="1200" b="1" i="1" kern="1200" dirty="0" smtClean="0">
                <a:solidFill>
                  <a:schemeClr val="tx1"/>
                </a:solidFill>
                <a:effectLst/>
                <a:latin typeface="+mn-lt"/>
                <a:ea typeface="+mn-ea"/>
                <a:cs typeface="+mn-cs"/>
              </a:rPr>
              <a:t>(Doğruluk)</a:t>
            </a:r>
            <a:r>
              <a:rPr lang="tr-TR"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tüm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örnekler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içerisindeki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doğru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tahmin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oranını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ifade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etmektedir</a:t>
            </a:r>
            <a:endParaRPr lang="tr-TR" sz="1200" kern="1200" dirty="0" smtClean="0">
              <a:solidFill>
                <a:schemeClr val="tx1"/>
              </a:solidFill>
              <a:effectLst/>
              <a:latin typeface="+mn-lt"/>
              <a:ea typeface="+mn-ea"/>
              <a:cs typeface="+mn-cs"/>
            </a:endParaRPr>
          </a:p>
          <a:p>
            <a:r>
              <a:rPr lang="tr-TR" sz="1200" b="1" i="1" kern="1200" dirty="0" smtClean="0">
                <a:solidFill>
                  <a:schemeClr val="tx1"/>
                </a:solidFill>
                <a:effectLst/>
                <a:latin typeface="+mn-lt"/>
                <a:ea typeface="+mn-ea"/>
                <a:cs typeface="+mn-cs"/>
              </a:rPr>
              <a:t>Precision(Kesinlik),</a:t>
            </a:r>
            <a:r>
              <a:rPr lang="tr-TR"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pozitif</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olarak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tahmin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edilen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örneklerin</a:t>
            </a:r>
            <a:r>
              <a:rPr lang="en-US" sz="1200" kern="1200" dirty="0" smtClean="0">
                <a:solidFill>
                  <a:schemeClr val="tx1"/>
                </a:solidFill>
                <a:effectLst/>
                <a:latin typeface="+mn-lt"/>
                <a:ea typeface="+mn-ea"/>
                <a:cs typeface="+mn-cs"/>
              </a:rPr>
              <a:t> ne </a:t>
            </a:r>
            <a:r>
              <a:rPr lang="en-US" sz="1200" kern="1200" dirty="0" err="1" smtClean="0">
                <a:solidFill>
                  <a:schemeClr val="tx1"/>
                </a:solidFill>
                <a:effectLst/>
                <a:latin typeface="+mn-lt"/>
                <a:ea typeface="+mn-ea"/>
                <a:cs typeface="+mn-cs"/>
              </a:rPr>
              <a:t>kadarının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gerçekten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pozitif</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olduğunu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ölçmektedir</a:t>
            </a:r>
            <a:r>
              <a:rPr lang="tr-TR" sz="1200" kern="1200" dirty="0" smtClean="0">
                <a:solidFill>
                  <a:schemeClr val="tx1"/>
                </a:solidFill>
                <a:effectLst/>
                <a:latin typeface="+mn-lt"/>
                <a:ea typeface="+mn-ea"/>
                <a:cs typeface="+mn-cs"/>
              </a:rPr>
              <a:t>.</a:t>
            </a:r>
          </a:p>
          <a:p>
            <a:r>
              <a:rPr lang="tr-TR" sz="1200" b="1" i="1" kern="1200" dirty="0" err="1" smtClean="0">
                <a:solidFill>
                  <a:schemeClr val="tx1"/>
                </a:solidFill>
                <a:effectLst/>
                <a:latin typeface="+mn-lt"/>
                <a:ea typeface="+mn-ea"/>
                <a:cs typeface="+mn-cs"/>
              </a:rPr>
              <a:t>Recall</a:t>
            </a:r>
            <a:r>
              <a:rPr lang="tr-TR" sz="1200" b="1" i="1" kern="1200" dirty="0" smtClean="0">
                <a:solidFill>
                  <a:schemeClr val="tx1"/>
                </a:solidFill>
                <a:effectLst/>
                <a:latin typeface="+mn-lt"/>
                <a:ea typeface="+mn-ea"/>
                <a:cs typeface="+mn-cs"/>
              </a:rPr>
              <a:t>(Duyarlılık),</a:t>
            </a:r>
            <a:r>
              <a:rPr lang="tr-TR" sz="1200" kern="1200" dirty="0" smtClean="0">
                <a:solidFill>
                  <a:schemeClr val="tx1"/>
                </a:solidFill>
                <a:effectLst/>
                <a:latin typeface="+mn-lt"/>
                <a:ea typeface="+mn-ea"/>
                <a:cs typeface="+mn-cs"/>
              </a:rPr>
              <a:t> gerçek pozitif örneklerin ne kadarının doğru biçimde yakalandığını göstermektedir.</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b="1" i="1" kern="1200" dirty="0" smtClean="0">
                <a:solidFill>
                  <a:schemeClr val="tx1"/>
                </a:solidFill>
                <a:effectLst/>
                <a:latin typeface="+mn-lt"/>
                <a:ea typeface="+mn-ea"/>
                <a:cs typeface="+mn-cs"/>
              </a:rPr>
              <a:t>F1-score,</a:t>
            </a:r>
            <a:r>
              <a:rPr lang="tr-TR" sz="1200" kern="1200" dirty="0" smtClean="0">
                <a:solidFill>
                  <a:schemeClr val="tx1"/>
                </a:solidFill>
                <a:effectLst/>
                <a:latin typeface="+mn-lt"/>
                <a:ea typeface="+mn-ea"/>
                <a:cs typeface="+mn-cs"/>
              </a:rPr>
              <a:t> </a:t>
            </a:r>
            <a:r>
              <a:rPr lang="tr-TR" sz="1200" kern="1200" dirty="0" err="1" smtClean="0">
                <a:solidFill>
                  <a:schemeClr val="tx1"/>
                </a:solidFill>
                <a:effectLst/>
                <a:latin typeface="+mn-lt"/>
                <a:ea typeface="+mn-ea"/>
                <a:cs typeface="+mn-cs"/>
              </a:rPr>
              <a:t>precision</a:t>
            </a:r>
            <a:r>
              <a:rPr lang="tr-TR" sz="1200" kern="1200" dirty="0" smtClean="0">
                <a:solidFill>
                  <a:schemeClr val="tx1"/>
                </a:solidFill>
                <a:effectLst/>
                <a:latin typeface="+mn-lt"/>
                <a:ea typeface="+mn-ea"/>
                <a:cs typeface="+mn-cs"/>
              </a:rPr>
              <a:t> ve </a:t>
            </a:r>
            <a:r>
              <a:rPr lang="tr-TR" sz="1200" kern="1200" dirty="0" err="1" smtClean="0">
                <a:solidFill>
                  <a:schemeClr val="tx1"/>
                </a:solidFill>
                <a:effectLst/>
                <a:latin typeface="+mn-lt"/>
                <a:ea typeface="+mn-ea"/>
                <a:cs typeface="+mn-cs"/>
              </a:rPr>
              <a:t>recall</a:t>
            </a:r>
            <a:r>
              <a:rPr lang="tr-TR" sz="1200" kern="1200" dirty="0" smtClean="0">
                <a:solidFill>
                  <a:schemeClr val="tx1"/>
                </a:solidFill>
                <a:effectLst/>
                <a:latin typeface="+mn-lt"/>
                <a:ea typeface="+mn-ea"/>
                <a:cs typeface="+mn-cs"/>
              </a:rPr>
              <a:t> değerlerinin </a:t>
            </a:r>
            <a:r>
              <a:rPr lang="tr-TR" sz="1200" kern="1200" dirty="0" err="1" smtClean="0">
                <a:solidFill>
                  <a:schemeClr val="tx1"/>
                </a:solidFill>
                <a:effectLst/>
                <a:latin typeface="+mn-lt"/>
                <a:ea typeface="+mn-ea"/>
                <a:cs typeface="+mn-cs"/>
              </a:rPr>
              <a:t>harmonik</a:t>
            </a:r>
            <a:r>
              <a:rPr lang="tr-TR" sz="1200" kern="1200" dirty="0" smtClean="0">
                <a:solidFill>
                  <a:schemeClr val="tx1"/>
                </a:solidFill>
                <a:effectLst/>
                <a:latin typeface="+mn-lt"/>
                <a:ea typeface="+mn-ea"/>
                <a:cs typeface="+mn-cs"/>
              </a:rPr>
              <a:t> ortalamasıdır ve iki ölçüt arasında dengeli bir performans değerlendirmesi sunar.</a:t>
            </a:r>
          </a:p>
          <a:p>
            <a:r>
              <a:rPr lang="tr-TR" dirty="0" smtClean="0"/>
              <a:t>BERT modelinin tüm metriklerde öne çıkması, bağlama duyarlı temsil öğreniminin duygu analizi görevinde önemli bir avantaj sağladığını göstermektedir.</a:t>
            </a:r>
          </a:p>
          <a:p>
            <a:r>
              <a:rPr lang="tr-TR" dirty="0" smtClean="0"/>
              <a:t>F1-score değerleri, </a:t>
            </a:r>
            <a:r>
              <a:rPr lang="tr-TR" dirty="0" err="1" smtClean="0"/>
              <a:t>precision</a:t>
            </a:r>
            <a:r>
              <a:rPr lang="tr-TR" dirty="0" smtClean="0"/>
              <a:t> ve </a:t>
            </a:r>
            <a:r>
              <a:rPr lang="tr-TR" dirty="0" err="1" smtClean="0"/>
              <a:t>recall</a:t>
            </a:r>
            <a:r>
              <a:rPr lang="tr-TR" dirty="0" smtClean="0"/>
              <a:t> dengesini yansıttığı için genel model performansını değerlendirmede daha anlamlıdır.</a:t>
            </a:r>
          </a:p>
          <a:p>
            <a:r>
              <a:rPr lang="tr-TR" dirty="0" smtClean="0"/>
              <a:t>Bu bağlamda BERT modelinin en dengeli ve yüksek performansı sunduğu görülmektedir.</a:t>
            </a:r>
          </a:p>
          <a:p>
            <a:endParaRPr lang="tr-TR" dirty="0" smtClean="0"/>
          </a:p>
          <a:p>
            <a:r>
              <a:rPr lang="tr-TR" dirty="0" smtClean="0"/>
              <a:t>Geleneksel makine öğrenmesi modelleri (</a:t>
            </a:r>
            <a:r>
              <a:rPr lang="tr-TR" dirty="0" err="1" smtClean="0"/>
              <a:t>Naive</a:t>
            </a:r>
            <a:r>
              <a:rPr lang="tr-TR" dirty="0" smtClean="0"/>
              <a:t> </a:t>
            </a:r>
            <a:r>
              <a:rPr lang="tr-TR" dirty="0" err="1" smtClean="0"/>
              <a:t>Bayes</a:t>
            </a:r>
            <a:r>
              <a:rPr lang="tr-TR" dirty="0" smtClean="0"/>
              <a:t>, SVM, </a:t>
            </a:r>
            <a:r>
              <a:rPr lang="tr-TR" dirty="0" err="1" smtClean="0"/>
              <a:t>Logistic</a:t>
            </a:r>
            <a:r>
              <a:rPr lang="tr-TR" dirty="0" smtClean="0"/>
              <a:t> </a:t>
            </a:r>
            <a:r>
              <a:rPr lang="tr-TR" dirty="0" err="1" smtClean="0"/>
              <a:t>Regression</a:t>
            </a:r>
            <a:r>
              <a:rPr lang="tr-TR" dirty="0" smtClean="0"/>
              <a:t>) daha stabil ve orta seviyede performans sergilemiştir.</a:t>
            </a:r>
          </a:p>
          <a:p>
            <a:r>
              <a:rPr lang="tr-TR" dirty="0" smtClean="0"/>
              <a:t>CNN ve LSTM modellerinin performansının daha düşük kalması, bu modellerin veri miktarına ve temsiline daha duyarlı olmasından kaynaklanabilir.</a:t>
            </a: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32</a:t>
            </a:fld>
            <a:endParaRPr lang="tr-TR"/>
          </a:p>
        </p:txBody>
      </p:sp>
    </p:spTree>
    <p:extLst>
      <p:ext uri="{BB962C8B-B14F-4D97-AF65-F5344CB8AC3E}">
        <p14:creationId xmlns:p14="http://schemas.microsoft.com/office/powerpoint/2010/main" val="27931020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33</a:t>
            </a:fld>
            <a:endParaRPr lang="tr-TR"/>
          </a:p>
        </p:txBody>
      </p:sp>
    </p:spTree>
    <p:extLst>
      <p:ext uri="{BB962C8B-B14F-4D97-AF65-F5344CB8AC3E}">
        <p14:creationId xmlns:p14="http://schemas.microsoft.com/office/powerpoint/2010/main" val="42053792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Hem GPT hem de </a:t>
            </a:r>
            <a:r>
              <a:rPr lang="tr-TR" dirty="0" err="1" smtClean="0"/>
              <a:t>Claude</a:t>
            </a:r>
            <a:r>
              <a:rPr lang="tr-TR" dirty="0" smtClean="0"/>
              <a:t> sentetik verileri ile elde edilen sonuçlar, sentetik verinin tek başına kullanımının sınırlı olduğunu ve gerçek veri ile birlikte kullanılmasının daha etkili olacağını göstermektedir.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34</a:t>
            </a:fld>
            <a:endParaRPr lang="tr-TR"/>
          </a:p>
        </p:txBody>
      </p:sp>
    </p:spTree>
    <p:extLst>
      <p:ext uri="{BB962C8B-B14F-4D97-AF65-F5344CB8AC3E}">
        <p14:creationId xmlns:p14="http://schemas.microsoft.com/office/powerpoint/2010/main" val="483201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BERT modeli yine en yüksek performansı gösterirken, diğer modellerde de genel bir iyileşme görülmektedir.</a:t>
            </a:r>
          </a:p>
          <a:p>
            <a:r>
              <a:rPr lang="tr-TR" dirty="0" smtClean="0"/>
              <a:t>Özellikle </a:t>
            </a:r>
            <a:r>
              <a:rPr lang="tr-TR" dirty="0" err="1" smtClean="0"/>
              <a:t>recall</a:t>
            </a:r>
            <a:r>
              <a:rPr lang="tr-TR" dirty="0" smtClean="0"/>
              <a:t> ve F1-score değerlerindeki artış, modelin daha fazla doğru örnek yakalayabildiğini göstermektedir.</a:t>
            </a:r>
          </a:p>
          <a:p>
            <a:r>
              <a:rPr lang="tr-TR" dirty="0" smtClean="0"/>
              <a:t>Bu sonuçlar, sentetik verinin veri çeşitliliğini artırarak öğrenme sürecine katkı sağladığını göstermektedir.</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35</a:t>
            </a:fld>
            <a:endParaRPr lang="tr-TR"/>
          </a:p>
        </p:txBody>
      </p:sp>
    </p:spTree>
    <p:extLst>
      <p:ext uri="{BB962C8B-B14F-4D97-AF65-F5344CB8AC3E}">
        <p14:creationId xmlns:p14="http://schemas.microsoft.com/office/powerpoint/2010/main" val="13596821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BERT modeli yine en yüksek performansı gösterir.</a:t>
            </a:r>
          </a:p>
          <a:p>
            <a:r>
              <a:rPr lang="tr-TR" dirty="0" smtClean="0"/>
              <a:t>Sentetik veri tek başına sınırlı performans sağlarken, gerçek veri ile birlikte kullanıldığında model performansını anlamlı şekilde artırmaktadır.</a:t>
            </a:r>
          </a:p>
        </p:txBody>
      </p:sp>
      <p:sp>
        <p:nvSpPr>
          <p:cNvPr id="4" name="Slayt Numarası Yer Tutucusu 3"/>
          <p:cNvSpPr>
            <a:spLocks noGrp="1"/>
          </p:cNvSpPr>
          <p:nvPr>
            <p:ph type="sldNum" sz="quarter" idx="10"/>
          </p:nvPr>
        </p:nvSpPr>
        <p:spPr/>
        <p:txBody>
          <a:bodyPr/>
          <a:lstStyle/>
          <a:p>
            <a:fld id="{19DF1655-0007-4B8F-B21B-22A39B59BE28}" type="slidenum">
              <a:rPr lang="tr-TR" smtClean="0"/>
              <a:t>36</a:t>
            </a:fld>
            <a:endParaRPr lang="tr-TR"/>
          </a:p>
        </p:txBody>
      </p:sp>
    </p:spTree>
    <p:extLst>
      <p:ext uri="{BB962C8B-B14F-4D97-AF65-F5344CB8AC3E}">
        <p14:creationId xmlns:p14="http://schemas.microsoft.com/office/powerpoint/2010/main" val="36222474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285750" indent="-285750" algn="just">
              <a:lnSpc>
                <a:spcPct val="150000"/>
              </a:lnSpc>
              <a:buFont typeface="Wingdings" panose="05000000000000000000" pitchFamily="2" charset="2"/>
              <a:buChar char="q"/>
            </a:pPr>
            <a:r>
              <a:rPr lang="tr-TR" sz="1200" dirty="0" smtClean="0"/>
              <a:t>Sentetik veri, tek başına yeterli performans sağlamasa da, gerçek veri ile birlikte kullanıldığında model performansını anlamlı şekilde artırmaktadır.</a:t>
            </a:r>
            <a:endParaRPr lang="tr-TR" sz="1200"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37</a:t>
            </a:fld>
            <a:endParaRPr lang="tr-TR"/>
          </a:p>
        </p:txBody>
      </p:sp>
    </p:spTree>
    <p:extLst>
      <p:ext uri="{BB962C8B-B14F-4D97-AF65-F5344CB8AC3E}">
        <p14:creationId xmlns:p14="http://schemas.microsoft.com/office/powerpoint/2010/main" val="16105379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dirty="0" smtClean="0"/>
              <a:t>Tüm modeller arasında en yüksek performansı gösteren BERT modeli, veri senaryolarına göre detaylı olarak analiz edilmiştir.</a:t>
            </a:r>
          </a:p>
        </p:txBody>
      </p:sp>
      <p:sp>
        <p:nvSpPr>
          <p:cNvPr id="4" name="Slayt Numarası Yer Tutucusu 3"/>
          <p:cNvSpPr>
            <a:spLocks noGrp="1"/>
          </p:cNvSpPr>
          <p:nvPr>
            <p:ph type="sldNum" sz="quarter" idx="10"/>
          </p:nvPr>
        </p:nvSpPr>
        <p:spPr/>
        <p:txBody>
          <a:bodyPr/>
          <a:lstStyle/>
          <a:p>
            <a:fld id="{19DF1655-0007-4B8F-B21B-22A39B59BE28}" type="slidenum">
              <a:rPr lang="tr-TR" smtClean="0"/>
              <a:t>38</a:t>
            </a:fld>
            <a:endParaRPr lang="tr-TR"/>
          </a:p>
        </p:txBody>
      </p:sp>
    </p:spTree>
    <p:extLst>
      <p:ext uri="{BB962C8B-B14F-4D97-AF65-F5344CB8AC3E}">
        <p14:creationId xmlns:p14="http://schemas.microsoft.com/office/powerpoint/2010/main" val="25713701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Model performansları arasındaki farkların rastlantısal olup olmadığını belirlemek amacıyla istatistiksel test uygulanmıştır. Bu çalışmada birden fazla model aynı veri kümeleri üzerinde karşılaştırıldığı için </a:t>
            </a:r>
            <a:r>
              <a:rPr lang="tr-TR" dirty="0" err="1" smtClean="0"/>
              <a:t>Friedman</a:t>
            </a:r>
            <a:r>
              <a:rPr lang="tr-TR" dirty="0" smtClean="0"/>
              <a:t> testi tercih edilmiştir.</a:t>
            </a:r>
          </a:p>
          <a:p>
            <a:r>
              <a:rPr lang="tr-TR" dirty="0" smtClean="0"/>
              <a:t>Bu testte her modelin ortalama sıralaması kullanılarak bir </a:t>
            </a:r>
            <a:r>
              <a:rPr lang="tr-TR" dirty="0" err="1" smtClean="0"/>
              <a:t>chi-square</a:t>
            </a:r>
            <a:r>
              <a:rPr lang="tr-TR" dirty="0" smtClean="0"/>
              <a:t> değeri hesaplanır.</a:t>
            </a:r>
          </a:p>
          <a:p>
            <a:r>
              <a:rPr lang="tr-TR" dirty="0" smtClean="0"/>
              <a:t>Burada N veri bölmesi sayısını, k model sayısını ve </a:t>
            </a:r>
            <a:r>
              <a:rPr lang="tr-TR" dirty="0" err="1" smtClean="0"/>
              <a:t>Rj</a:t>
            </a:r>
            <a:r>
              <a:rPr lang="tr-TR" dirty="0" smtClean="0"/>
              <a:t> her modelin ortalama sıralamasını ifade etmektedir. Elde edilen p-değerlerinin tüm senaryolarda 0.05’ten küçük olması, modeller arasında istatistiksel olarak anlamlı fark olduğunu göstermektedir. Ortalama sıralamalara göre BERT modelinin tüm veri senaryolarında en düşük </a:t>
            </a:r>
            <a:r>
              <a:rPr lang="tr-TR" dirty="0" err="1" smtClean="0"/>
              <a:t>rank</a:t>
            </a:r>
            <a:r>
              <a:rPr lang="tr-TR" dirty="0" smtClean="0"/>
              <a:t> değerine sahip olduğu görülmektedir.</a:t>
            </a:r>
          </a:p>
          <a:p>
            <a:r>
              <a:rPr lang="tr-TR" dirty="0" smtClean="0"/>
              <a:t>Bu da BERT modelinin sistematik olarak en yüksek performansı sergilediğini göstermektedir.</a:t>
            </a:r>
          </a:p>
          <a:p>
            <a:r>
              <a:rPr lang="tr-TR" b="1" dirty="0" smtClean="0"/>
              <a:t>4️⃣ NASIL UYGULANDI?</a:t>
            </a:r>
          </a:p>
          <a:p>
            <a:r>
              <a:rPr lang="tr-TR" dirty="0" smtClean="0"/>
              <a:t>Her </a:t>
            </a:r>
            <a:r>
              <a:rPr lang="tr-TR" dirty="0" err="1" smtClean="0"/>
              <a:t>fold’da</a:t>
            </a:r>
            <a:r>
              <a:rPr lang="tr-TR" dirty="0" smtClean="0"/>
              <a:t> modeller performanslarına göre sıralanmış, ardından bu sıralamaların ortalaması alınmıştır.</a:t>
            </a:r>
          </a:p>
          <a:p>
            <a:r>
              <a:rPr lang="tr-TR" dirty="0" smtClean="0"/>
              <a:t>Bu sıralamalar üzerinden </a:t>
            </a:r>
            <a:r>
              <a:rPr lang="tr-TR" dirty="0" err="1" smtClean="0"/>
              <a:t>chi-square</a:t>
            </a:r>
            <a:r>
              <a:rPr lang="tr-TR" dirty="0" smtClean="0"/>
              <a:t> değeri hesaplanarak modeller arasında anlamlı fark olup olmadığı test edilmiştir.</a:t>
            </a:r>
          </a:p>
          <a:p>
            <a:r>
              <a:rPr lang="tr-TR" dirty="0" smtClean="0"/>
              <a:t>Bu analiz, elde edilen performans farklarının rastlantısal olmadığını ve sonuçların istatistiksel olarak güvenilir olduğunu göstermektedir.</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Elde edilen bulgular, </a:t>
            </a:r>
            <a:r>
              <a:rPr lang="tr-TR" sz="1200" kern="1200" dirty="0" err="1" smtClean="0">
                <a:solidFill>
                  <a:schemeClr val="tx1"/>
                </a:solidFill>
                <a:effectLst/>
                <a:latin typeface="+mn-lt"/>
                <a:ea typeface="+mn-ea"/>
                <a:cs typeface="+mn-cs"/>
              </a:rPr>
              <a:t>BERT’in</a:t>
            </a:r>
            <a:r>
              <a:rPr lang="tr-TR" sz="1200" kern="1200" dirty="0" smtClean="0">
                <a:solidFill>
                  <a:schemeClr val="tx1"/>
                </a:solidFill>
                <a:effectLst/>
                <a:latin typeface="+mn-lt"/>
                <a:ea typeface="+mn-ea"/>
                <a:cs typeface="+mn-cs"/>
              </a:rPr>
              <a:t> hem sentetik veriyle zenginleştirilmiş hem de yalnızca özgün veri içeren veri kümelerinde daha istikrarlı performans sergilediğini göstermektedir. Bu nedenle çalışmanın sonraki hata analizi ve tanısal değerlendirme aşamaları BERT modeli temel alınarak yürütülmüştür.</a:t>
            </a:r>
          </a:p>
          <a:p>
            <a:endParaRPr lang="tr-TR" dirty="0" smtClean="0"/>
          </a:p>
          <a:p>
            <a:endParaRPr lang="tr-TR" sz="1200" dirty="0" smtClean="0"/>
          </a:p>
        </p:txBody>
      </p:sp>
      <p:sp>
        <p:nvSpPr>
          <p:cNvPr id="4" name="Slayt Numarası Yer Tutucusu 3"/>
          <p:cNvSpPr>
            <a:spLocks noGrp="1"/>
          </p:cNvSpPr>
          <p:nvPr>
            <p:ph type="sldNum" sz="quarter" idx="10"/>
          </p:nvPr>
        </p:nvSpPr>
        <p:spPr/>
        <p:txBody>
          <a:bodyPr/>
          <a:lstStyle/>
          <a:p>
            <a:fld id="{19DF1655-0007-4B8F-B21B-22A39B59BE28}" type="slidenum">
              <a:rPr lang="tr-TR" smtClean="0"/>
              <a:t>39</a:t>
            </a:fld>
            <a:endParaRPr lang="tr-TR"/>
          </a:p>
        </p:txBody>
      </p:sp>
    </p:spTree>
    <p:extLst>
      <p:ext uri="{BB962C8B-B14F-4D97-AF65-F5344CB8AC3E}">
        <p14:creationId xmlns:p14="http://schemas.microsoft.com/office/powerpoint/2010/main" val="38959852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Sınıflandırma modellerinin performansını daha ayrıntılı biçimde incelemek amacıyla </a:t>
            </a:r>
            <a:r>
              <a:rPr lang="tr-TR" sz="1200" kern="1200" dirty="0" err="1" smtClean="0">
                <a:solidFill>
                  <a:schemeClr val="tx1"/>
                </a:solidFill>
                <a:effectLst/>
                <a:latin typeface="+mn-lt"/>
                <a:ea typeface="+mn-ea"/>
                <a:cs typeface="+mn-cs"/>
              </a:rPr>
              <a:t>confusion</a:t>
            </a:r>
            <a:r>
              <a:rPr lang="tr-TR" sz="1200" kern="1200" dirty="0" smtClean="0">
                <a:solidFill>
                  <a:schemeClr val="tx1"/>
                </a:solidFill>
                <a:effectLst/>
                <a:latin typeface="+mn-lt"/>
                <a:ea typeface="+mn-ea"/>
                <a:cs typeface="+mn-cs"/>
              </a:rPr>
              <a:t> </a:t>
            </a:r>
            <a:r>
              <a:rPr lang="tr-TR" sz="1200" kern="1200" dirty="0" err="1" smtClean="0">
                <a:solidFill>
                  <a:schemeClr val="tx1"/>
                </a:solidFill>
                <a:effectLst/>
                <a:latin typeface="+mn-lt"/>
                <a:ea typeface="+mn-ea"/>
                <a:cs typeface="+mn-cs"/>
              </a:rPr>
              <a:t>matrix</a:t>
            </a:r>
            <a:r>
              <a:rPr lang="tr-TR" sz="1200" kern="1200" dirty="0" smtClean="0">
                <a:solidFill>
                  <a:schemeClr val="tx1"/>
                </a:solidFill>
                <a:effectLst/>
                <a:latin typeface="+mn-lt"/>
                <a:ea typeface="+mn-ea"/>
                <a:cs typeface="+mn-cs"/>
              </a:rPr>
              <a:t> (karışıklık matrisi) analizi kullanılmıştır.</a:t>
            </a:r>
          </a:p>
          <a:p>
            <a:r>
              <a:rPr lang="tr-TR" b="1" dirty="0" smtClean="0"/>
              <a:t>3️⃣ HAM VERİ YORUMU</a:t>
            </a:r>
          </a:p>
          <a:p>
            <a:r>
              <a:rPr lang="tr-TR" dirty="0" smtClean="0"/>
              <a:t>Ham veri senaryosunda doğru sınıflandırmaların oldukça yüksek olduğu ve yanlış sınıflandırmaların sınırlı kaldığı görülmektedir.</a:t>
            </a:r>
          </a:p>
          <a:p>
            <a:r>
              <a:rPr lang="tr-TR" b="1" dirty="0" smtClean="0"/>
              <a:t>4️⃣ HİBRİT VERİ (KRİTİK NOKTA)</a:t>
            </a:r>
          </a:p>
          <a:p>
            <a:r>
              <a:rPr lang="tr-TR" dirty="0" smtClean="0"/>
              <a:t>Ham + sentetik veri kullanılan senaryolarda yanlış sınıflandırmaların azaldığı ve modelin daha dengeli sonuçlar ürettiği görülmektedir.</a:t>
            </a:r>
          </a:p>
          <a:p>
            <a:r>
              <a:rPr lang="tr-TR" b="1" dirty="0" smtClean="0"/>
              <a:t>5️⃣ SENTETİK VERİ (EN KRİTİK YORUM)</a:t>
            </a:r>
          </a:p>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Buna karşılık yalnızca sentetik veri kullanılan senaryolarda özellikle pozitif sınıfın yanlış negatif olarak sınıflandırıldığı dikkat çekmektedir. Bu durum, sentetik verinin gerçek veri dağılımını tam olarak yansıtamaması nedeniyle modelin bazı örnekleri kaçırdığını göstermektedir.</a:t>
            </a:r>
          </a:p>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Genel olarak değerlendirildiğinde, </a:t>
            </a:r>
            <a:r>
              <a:rPr lang="tr-TR" dirty="0" err="1" smtClean="0"/>
              <a:t>hibrit</a:t>
            </a:r>
            <a:r>
              <a:rPr lang="tr-TR" dirty="0" smtClean="0"/>
              <a:t> veri kullanımı modelin hata oranını azaltırken, yalnızca sentetik veri kullanımı hata oranını artırmaktadır.</a:t>
            </a:r>
          </a:p>
          <a:p>
            <a:pPr marL="0" marR="0" indent="0" algn="l" defTabSz="914400" rtl="0" eaLnBrk="1" fontAlgn="auto" latinLnBrk="0" hangingPunct="1">
              <a:lnSpc>
                <a:spcPct val="100000"/>
              </a:lnSpc>
              <a:spcBef>
                <a:spcPts val="0"/>
              </a:spcBef>
              <a:spcAft>
                <a:spcPts val="0"/>
              </a:spcAft>
              <a:buClrTx/>
              <a:buSzTx/>
              <a:buFontTx/>
              <a:buNone/>
              <a:tabLst/>
              <a:defRPr/>
            </a:pPr>
            <a:r>
              <a:rPr lang="tr-TR" dirty="0" err="1" smtClean="0"/>
              <a:t>Hibrit</a:t>
            </a:r>
            <a:r>
              <a:rPr lang="tr-TR" dirty="0" smtClean="0"/>
              <a:t> veri kullanımı hataları azaltırken, sentetik veri tek başına kullanıldığında model daha fazla hata yapmaktadır.</a:t>
            </a:r>
          </a:p>
          <a:p>
            <a:endParaRPr lang="tr-TR" dirty="0" smtClean="0"/>
          </a:p>
          <a:p>
            <a:endParaRPr lang="tr-TR" dirty="0" smtClean="0"/>
          </a:p>
          <a:p>
            <a:endParaRPr lang="tr-TR" dirty="0" smtClean="0"/>
          </a:p>
          <a:p>
            <a:endParaRPr lang="tr-TR" dirty="0" smtClean="0"/>
          </a:p>
          <a:p>
            <a:endParaRPr lang="tr-TR" sz="1200" dirty="0" smtClean="0"/>
          </a:p>
        </p:txBody>
      </p:sp>
      <p:sp>
        <p:nvSpPr>
          <p:cNvPr id="4" name="Slayt Numarası Yer Tutucusu 3"/>
          <p:cNvSpPr>
            <a:spLocks noGrp="1"/>
          </p:cNvSpPr>
          <p:nvPr>
            <p:ph type="sldNum" sz="quarter" idx="10"/>
          </p:nvPr>
        </p:nvSpPr>
        <p:spPr/>
        <p:txBody>
          <a:bodyPr/>
          <a:lstStyle/>
          <a:p>
            <a:fld id="{19DF1655-0007-4B8F-B21B-22A39B59BE28}" type="slidenum">
              <a:rPr lang="tr-TR" smtClean="0"/>
              <a:t>40</a:t>
            </a:fld>
            <a:endParaRPr lang="tr-TR"/>
          </a:p>
        </p:txBody>
      </p:sp>
    </p:spTree>
    <p:extLst>
      <p:ext uri="{BB962C8B-B14F-4D97-AF65-F5344CB8AC3E}">
        <p14:creationId xmlns:p14="http://schemas.microsoft.com/office/powerpoint/2010/main" val="24785791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Toplam performans metrikleri modelin genel başarısını göstermektedir; ancak modelin neden hata yaptığını anlamak için daha detaylı bir analiz gerekmektedir.</a:t>
            </a:r>
          </a:p>
          <a:p>
            <a:r>
              <a:rPr lang="tr-TR" dirty="0" smtClean="0"/>
              <a:t>Bu yaklaşım, tek tek örnekler yerine genel hata eğilimlerini ortaya koymak amacıyla tercih edilmiştir.</a:t>
            </a:r>
          </a:p>
          <a:p>
            <a:r>
              <a:rPr lang="tr-TR" dirty="0" smtClean="0"/>
              <a:t>Analizde </a:t>
            </a:r>
            <a:r>
              <a:rPr lang="tr-TR" dirty="0" err="1" smtClean="0"/>
              <a:t>stopword</a:t>
            </a:r>
            <a:r>
              <a:rPr lang="tr-TR" dirty="0" smtClean="0"/>
              <a:t> filtrelemesi uygulanmamış, böylece modelin gerçek metin yapısı üzerindeki hataları korunmuştur.</a:t>
            </a:r>
          </a:p>
          <a:p>
            <a:r>
              <a:rPr lang="tr-TR" dirty="0" smtClean="0"/>
              <a:t>Bu sayede modelin yüzeysel kelime örüntülerine mi yoksa bağlamsal yapıya mı dayalı hata yaptığı analiz edilebilmiştir.</a:t>
            </a:r>
          </a:p>
          <a:p>
            <a:r>
              <a:rPr lang="tr-TR" dirty="0" smtClean="0"/>
              <a:t>GPT ve </a:t>
            </a:r>
            <a:r>
              <a:rPr lang="tr-TR" dirty="0" err="1" smtClean="0"/>
              <a:t>Claude</a:t>
            </a:r>
            <a:r>
              <a:rPr lang="tr-TR" dirty="0" smtClean="0"/>
              <a:t> veri kümelerinde n-gram frekanslarının belirgin şekilde daha yüksek olduğu görülmektedir. Bu durum, sentetik veri üzerinde modelin daha fazla hata yaptığını göstermektedir.</a:t>
            </a:r>
          </a:p>
          <a:p>
            <a:r>
              <a:rPr lang="tr-TR" b="1" dirty="0" smtClean="0"/>
              <a:t>FN'DE EN ÖNEMLİ BULGU</a:t>
            </a:r>
          </a:p>
          <a:p>
            <a:r>
              <a:rPr lang="tr-TR" dirty="0" smtClean="0"/>
              <a:t>Özellikle “iyi”, “çok iyi”, “en iyi” gibi açıkça pozitif ifadelerin yanlış sınıflandırıldığı görülmektedir.</a:t>
            </a:r>
          </a:p>
          <a:p>
            <a:r>
              <a:rPr lang="tr-TR" dirty="0" smtClean="0"/>
              <a:t>Ham ve </a:t>
            </a:r>
            <a:r>
              <a:rPr lang="tr-TR" dirty="0" err="1" smtClean="0"/>
              <a:t>hibrit</a:t>
            </a:r>
            <a:r>
              <a:rPr lang="tr-TR" dirty="0" smtClean="0"/>
              <a:t> veri senaryolarında n-gram frekanslarının daha düşük olduğu görülmektedir. Bu da modelin daha az hata yaptığını ve daha dengeli öğrendiğini göstermektedir.</a:t>
            </a:r>
          </a:p>
          <a:p>
            <a:r>
              <a:rPr lang="tr-TR" b="1" dirty="0" smtClean="0"/>
              <a:t>BAĞLAÇ ETKİSİ</a:t>
            </a:r>
          </a:p>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“ama”, “çok”, “film” gibi bağlaç ve nötr kelimelerin FN hatalarında sıkça yer aldığı görülmektedir. Bu tür kelimeler bağlama bağlı anlam değişimi oluşturduğu için model açısından zorlayıcıdır.</a:t>
            </a:r>
          </a:p>
          <a:p>
            <a:endParaRPr lang="tr-TR" dirty="0" smtClean="0"/>
          </a:p>
          <a:p>
            <a:endParaRPr lang="tr-TR" dirty="0" smtClean="0"/>
          </a:p>
          <a:p>
            <a:endParaRPr lang="tr-TR" sz="1200" dirty="0" smtClean="0"/>
          </a:p>
        </p:txBody>
      </p:sp>
      <p:sp>
        <p:nvSpPr>
          <p:cNvPr id="4" name="Slayt Numarası Yer Tutucusu 3"/>
          <p:cNvSpPr>
            <a:spLocks noGrp="1"/>
          </p:cNvSpPr>
          <p:nvPr>
            <p:ph type="sldNum" sz="quarter" idx="10"/>
          </p:nvPr>
        </p:nvSpPr>
        <p:spPr/>
        <p:txBody>
          <a:bodyPr/>
          <a:lstStyle/>
          <a:p>
            <a:fld id="{19DF1655-0007-4B8F-B21B-22A39B59BE28}" type="slidenum">
              <a:rPr lang="tr-TR" smtClean="0"/>
              <a:t>41</a:t>
            </a:fld>
            <a:endParaRPr lang="tr-TR"/>
          </a:p>
        </p:txBody>
      </p:sp>
    </p:spTree>
    <p:extLst>
      <p:ext uri="{BB962C8B-B14F-4D97-AF65-F5344CB8AC3E}">
        <p14:creationId xmlns:p14="http://schemas.microsoft.com/office/powerpoint/2010/main" val="26350319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FP analizinde de benzer şekilde sentetik veri kümelerinde hata frekanslarının daha yüksek olduğu görülmektedir.</a:t>
            </a:r>
          </a:p>
          <a:p>
            <a:r>
              <a:rPr lang="tr-TR" dirty="0" smtClean="0"/>
              <a:t>bir film”, “iyi bir”, “çok iyi” gibi ifadelerin yanlış pozitif sınıflandırmalara yol açtığı görülmektedir. Model bu tür ifadeleri doğrudan pozitif sinyal olarak yorumlamaktadır. Bu durum, modelin yüzeysel kelime örüntülerine aşırı bağımlı olduğunu göstermektedir.</a:t>
            </a:r>
          </a:p>
          <a:p>
            <a:r>
              <a:rPr lang="tr-TR" dirty="0" smtClean="0"/>
              <a:t>Ham ve </a:t>
            </a:r>
            <a:r>
              <a:rPr lang="tr-TR" dirty="0" err="1" smtClean="0"/>
              <a:t>hibrit</a:t>
            </a:r>
            <a:r>
              <a:rPr lang="tr-TR" dirty="0" smtClean="0"/>
              <a:t> veri senaryolarında bu tür hataların daha sınırlı olduğu görülmektedir.</a:t>
            </a:r>
          </a:p>
          <a:p>
            <a:r>
              <a:rPr lang="tr-TR" dirty="0" smtClean="0"/>
              <a:t>neden?</a:t>
            </a:r>
          </a:p>
          <a:p>
            <a:r>
              <a:rPr lang="tr-TR" dirty="0" smtClean="0"/>
              <a:t>Gerçek veri, modelin bağlamı daha doğru öğrenmesini sağlamaktadır.</a:t>
            </a:r>
          </a:p>
          <a:p>
            <a:r>
              <a:rPr lang="tr-TR" dirty="0" smtClean="0"/>
              <a:t>Sentetik veri tek başına kullanıldığında model yüzeysel dil örüntülerine daha bağımlı hale gelmekte ve hata oranı artmaktadır.</a:t>
            </a:r>
          </a:p>
          <a:p>
            <a:r>
              <a:rPr lang="tr-TR" dirty="0" smtClean="0"/>
              <a:t>Buna karşılık </a:t>
            </a:r>
            <a:r>
              <a:rPr lang="tr-TR" dirty="0" err="1" smtClean="0"/>
              <a:t>hibrit</a:t>
            </a:r>
            <a:r>
              <a:rPr lang="tr-TR" dirty="0" smtClean="0"/>
              <a:t> veri kullanımı, modelin hem bağlamsal hem de dilsel çeşitliliği öğrenmesini sağlayarak hata oranını azaltmaktadır.</a:t>
            </a:r>
          </a:p>
          <a:p>
            <a:r>
              <a:rPr lang="tr-TR" dirty="0" smtClean="0"/>
              <a:t>Model, özellikle bağlama bağlı ve yüzeysel ifadelerde hata yapmaktadır; </a:t>
            </a:r>
            <a:r>
              <a:rPr lang="tr-TR" dirty="0" err="1" smtClean="0"/>
              <a:t>hibrit</a:t>
            </a:r>
            <a:r>
              <a:rPr lang="tr-TR" dirty="0" smtClean="0"/>
              <a:t> veri bu hataları azaltmaktadır.</a:t>
            </a:r>
            <a:endParaRPr lang="tr-TR" sz="1200" dirty="0" smtClean="0"/>
          </a:p>
        </p:txBody>
      </p:sp>
      <p:sp>
        <p:nvSpPr>
          <p:cNvPr id="4" name="Slayt Numarası Yer Tutucusu 3"/>
          <p:cNvSpPr>
            <a:spLocks noGrp="1"/>
          </p:cNvSpPr>
          <p:nvPr>
            <p:ph type="sldNum" sz="quarter" idx="10"/>
          </p:nvPr>
        </p:nvSpPr>
        <p:spPr/>
        <p:txBody>
          <a:bodyPr/>
          <a:lstStyle/>
          <a:p>
            <a:fld id="{19DF1655-0007-4B8F-B21B-22A39B59BE28}" type="slidenum">
              <a:rPr lang="tr-TR" smtClean="0"/>
              <a:t>42</a:t>
            </a:fld>
            <a:endParaRPr lang="tr-TR"/>
          </a:p>
        </p:txBody>
      </p:sp>
    </p:spTree>
    <p:extLst>
      <p:ext uri="{BB962C8B-B14F-4D97-AF65-F5344CB8AC3E}">
        <p14:creationId xmlns:p14="http://schemas.microsoft.com/office/powerpoint/2010/main" val="11256282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Bu analizde, yanlış sınıflandırılan örneklerin dilsel çeşitliliği incelenmiştir. </a:t>
            </a:r>
          </a:p>
          <a:p>
            <a:r>
              <a:rPr lang="tr-TR" dirty="0" smtClean="0"/>
              <a:t>Metinler küçük harfe dönüştürülmüş ve </a:t>
            </a:r>
            <a:r>
              <a:rPr lang="tr-TR" dirty="0" err="1" smtClean="0"/>
              <a:t>tokenizasyon</a:t>
            </a:r>
            <a:r>
              <a:rPr lang="tr-TR" dirty="0" smtClean="0"/>
              <a:t> işlemi boşluk tabanlı olarak gerçekleştirilerek yüzeysel kelime örüntüleri korunmuştur.</a:t>
            </a:r>
          </a:p>
          <a:p>
            <a:endParaRPr lang="tr-TR" sz="1200" dirty="0" smtClean="0"/>
          </a:p>
        </p:txBody>
      </p:sp>
      <p:sp>
        <p:nvSpPr>
          <p:cNvPr id="4" name="Slayt Numarası Yer Tutucusu 3"/>
          <p:cNvSpPr>
            <a:spLocks noGrp="1"/>
          </p:cNvSpPr>
          <p:nvPr>
            <p:ph type="sldNum" sz="quarter" idx="10"/>
          </p:nvPr>
        </p:nvSpPr>
        <p:spPr/>
        <p:txBody>
          <a:bodyPr/>
          <a:lstStyle/>
          <a:p>
            <a:fld id="{19DF1655-0007-4B8F-B21B-22A39B59BE28}" type="slidenum">
              <a:rPr lang="tr-TR" smtClean="0"/>
              <a:t>43</a:t>
            </a:fld>
            <a:endParaRPr lang="tr-TR"/>
          </a:p>
        </p:txBody>
      </p:sp>
    </p:spTree>
    <p:extLst>
      <p:ext uri="{BB962C8B-B14F-4D97-AF65-F5344CB8AC3E}">
        <p14:creationId xmlns:p14="http://schemas.microsoft.com/office/powerpoint/2010/main" val="12493304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FN analizinde ham ve </a:t>
            </a:r>
            <a:r>
              <a:rPr lang="tr-TR" dirty="0" err="1" smtClean="0"/>
              <a:t>hibrit</a:t>
            </a:r>
            <a:r>
              <a:rPr lang="tr-TR" dirty="0" smtClean="0"/>
              <a:t> veri senaryolarında </a:t>
            </a:r>
            <a:r>
              <a:rPr lang="tr-TR" dirty="0" err="1" smtClean="0"/>
              <a:t>sözlüksel</a:t>
            </a:r>
            <a:r>
              <a:rPr lang="tr-TR" dirty="0" smtClean="0"/>
              <a:t> çeşitliliğin daha yüksek olduğu görülmektedir.</a:t>
            </a:r>
          </a:p>
          <a:p>
            <a:r>
              <a:rPr lang="tr-TR" dirty="0" smtClean="0"/>
              <a:t>Buna karşılık yalnızca sentetik veri kullanılan senaryolarda çeşitliliğin belirgin şekilde düştüğü gözlemlenmektedir.</a:t>
            </a:r>
          </a:p>
          <a:p>
            <a:r>
              <a:rPr lang="tr-TR" dirty="0" smtClean="0"/>
              <a:t>Bu durum, sentetik verinin daha sınırlı ve tekrar eden dil yapıları içerdiğini göstermektedir.</a:t>
            </a:r>
          </a:p>
          <a:p>
            <a:r>
              <a:rPr lang="tr-TR" dirty="0" smtClean="0"/>
              <a:t>FP analizinde ise sentetik veri senaryolarında </a:t>
            </a:r>
            <a:r>
              <a:rPr lang="tr-TR" dirty="0" err="1" smtClean="0"/>
              <a:t>sözlüksel</a:t>
            </a:r>
            <a:r>
              <a:rPr lang="tr-TR" dirty="0" smtClean="0"/>
              <a:t> çeşitliliğin daha yüksek olduğu görülmektedir.</a:t>
            </a:r>
          </a:p>
          <a:p>
            <a:r>
              <a:rPr lang="tr-TR" dirty="0" smtClean="0"/>
              <a:t>Bu durum, modelin daha çeşitli ancak bağlamdan kopuk ifadeleri yanlış pozitif olarak sınıflandırdığını göstermektedir.</a:t>
            </a:r>
          </a:p>
          <a:p>
            <a:r>
              <a:rPr lang="tr-TR" dirty="0" smtClean="0"/>
              <a:t>Ham ve </a:t>
            </a:r>
            <a:r>
              <a:rPr lang="tr-TR" dirty="0" err="1" smtClean="0"/>
              <a:t>hibrit</a:t>
            </a:r>
            <a:r>
              <a:rPr lang="tr-TR" dirty="0" smtClean="0"/>
              <a:t> veri senaryoları, hem dilsel çeşitlilik hem de model performansı açısından daha dengeli sonuçlar sunmaktadır.</a:t>
            </a:r>
          </a:p>
          <a:p>
            <a:r>
              <a:rPr lang="tr-TR" sz="1200" kern="1200" dirty="0" smtClean="0">
                <a:solidFill>
                  <a:schemeClr val="tx1"/>
                </a:solidFill>
                <a:effectLst/>
                <a:latin typeface="+mn-lt"/>
                <a:ea typeface="+mn-ea"/>
                <a:cs typeface="+mn-cs"/>
              </a:rPr>
              <a:t>sentetik verinin tek başına kullanıldığında gerçek veri dağılımını tam olarak yansıtamayabileceğini; ancak gerçek veri ile birlikte kullanıldığında daha dengeli bir dilsel dağılım sağlayabildiğini göstermektedir.</a:t>
            </a:r>
            <a:endParaRPr lang="tr-TR" sz="1200" dirty="0" smtClean="0"/>
          </a:p>
        </p:txBody>
      </p:sp>
      <p:sp>
        <p:nvSpPr>
          <p:cNvPr id="4" name="Slayt Numarası Yer Tutucusu 3"/>
          <p:cNvSpPr>
            <a:spLocks noGrp="1"/>
          </p:cNvSpPr>
          <p:nvPr>
            <p:ph type="sldNum" sz="quarter" idx="10"/>
          </p:nvPr>
        </p:nvSpPr>
        <p:spPr/>
        <p:txBody>
          <a:bodyPr/>
          <a:lstStyle/>
          <a:p>
            <a:fld id="{19DF1655-0007-4B8F-B21B-22A39B59BE28}" type="slidenum">
              <a:rPr lang="tr-TR" smtClean="0"/>
              <a:t>44</a:t>
            </a:fld>
            <a:endParaRPr lang="tr-TR"/>
          </a:p>
        </p:txBody>
      </p:sp>
    </p:spTree>
    <p:extLst>
      <p:ext uri="{BB962C8B-B14F-4D97-AF65-F5344CB8AC3E}">
        <p14:creationId xmlns:p14="http://schemas.microsoft.com/office/powerpoint/2010/main" val="6114932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Bu analiz, yanlış sınıflandırılan örneklerin semantik olarak hangi sınıfa daha yakın olduğunu inceleyerek model hatalarının anlamsal sınır bölgelerinde yoğunlaşıp yoğunlaşmadığını değerlendirmeyi amaçlamaktadır.</a:t>
            </a:r>
            <a:r>
              <a:rPr lang="tr-TR" sz="1200" kern="1200" baseline="0" dirty="0" smtClean="0">
                <a:solidFill>
                  <a:schemeClr val="tx1"/>
                </a:solidFill>
                <a:effectLst/>
                <a:latin typeface="+mn-lt"/>
                <a:ea typeface="+mn-ea"/>
                <a:cs typeface="+mn-cs"/>
              </a:rPr>
              <a:t> </a:t>
            </a:r>
            <a:r>
              <a:rPr lang="tr-TR" sz="1200" kern="1200" dirty="0" smtClean="0">
                <a:solidFill>
                  <a:schemeClr val="tx1"/>
                </a:solidFill>
                <a:effectLst/>
                <a:latin typeface="+mn-lt"/>
                <a:ea typeface="+mn-ea"/>
                <a:cs typeface="+mn-cs"/>
              </a:rPr>
              <a:t>Kosinüs benzerliği, metinlerin vektör uzayı temsilleri arasındaki </a:t>
            </a:r>
            <a:r>
              <a:rPr lang="tr-TR" sz="1200" kern="1200" dirty="0" err="1" smtClean="0">
                <a:solidFill>
                  <a:schemeClr val="tx1"/>
                </a:solidFill>
                <a:effectLst/>
                <a:latin typeface="+mn-lt"/>
                <a:ea typeface="+mn-ea"/>
                <a:cs typeface="+mn-cs"/>
              </a:rPr>
              <a:t>açısal</a:t>
            </a:r>
            <a:r>
              <a:rPr lang="tr-TR" sz="1200" kern="1200" dirty="0" smtClean="0">
                <a:solidFill>
                  <a:schemeClr val="tx1"/>
                </a:solidFill>
                <a:effectLst/>
                <a:latin typeface="+mn-lt"/>
                <a:ea typeface="+mn-ea"/>
                <a:cs typeface="+mn-cs"/>
              </a:rPr>
              <a:t> yakınlığı ölçen ve metin benzerliği çalışmalarında yaygın olarak kullanılan bir ölçüttür.</a:t>
            </a:r>
          </a:p>
          <a:p>
            <a:r>
              <a:rPr lang="tr-TR" dirty="0" smtClean="0"/>
              <a:t>Ham ve </a:t>
            </a:r>
            <a:r>
              <a:rPr lang="tr-TR" dirty="0" err="1" smtClean="0"/>
              <a:t>hibrit</a:t>
            </a:r>
            <a:r>
              <a:rPr lang="tr-TR" dirty="0" smtClean="0"/>
              <a:t> veri senaryolarında benzerlik değerlerinin daha dengeli olduğu görülmektedir. Model daha tutarlı semantik temsil öğrenmiştir.</a:t>
            </a:r>
          </a:p>
          <a:p>
            <a:r>
              <a:rPr lang="tr-TR" dirty="0" smtClean="0"/>
              <a:t>una karşılık yalnızca sentetik veri kullanılan senaryolarda benzerlik değerleri daha düşük kalmaktadır. Sentetik veri, semantik çeşitlilik açısından daha zayıf olabilir.</a:t>
            </a:r>
          </a:p>
          <a:p>
            <a:r>
              <a:rPr lang="en-US" sz="1200" kern="1200" dirty="0" err="1" smtClean="0">
                <a:solidFill>
                  <a:schemeClr val="tx1"/>
                </a:solidFill>
                <a:effectLst/>
                <a:latin typeface="+mn-lt"/>
                <a:ea typeface="+mn-ea"/>
                <a:cs typeface="+mn-cs"/>
              </a:rPr>
              <a:t>Genel</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olarak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değerlendirildiğinde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hibrit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veri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kümelerinde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hata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örüntülerinin</a:t>
            </a:r>
            <a:r>
              <a:rPr lang="en-US" sz="1200" kern="1200" dirty="0" smtClean="0">
                <a:solidFill>
                  <a:schemeClr val="tx1"/>
                </a:solidFill>
                <a:effectLst/>
                <a:latin typeface="+mn-lt"/>
                <a:ea typeface="+mn-ea"/>
                <a:cs typeface="+mn-cs"/>
              </a:rPr>
              <a:t> Ham </a:t>
            </a:r>
            <a:r>
              <a:rPr lang="en-US" sz="1200" kern="1200" dirty="0" err="1" smtClean="0">
                <a:solidFill>
                  <a:schemeClr val="tx1"/>
                </a:solidFill>
                <a:effectLst/>
                <a:latin typeface="+mn-lt"/>
                <a:ea typeface="+mn-ea"/>
                <a:cs typeface="+mn-cs"/>
              </a:rPr>
              <a:t>baseline’a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yakın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kaldığı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sentetik</a:t>
            </a:r>
            <a:r>
              <a:rPr lang="en-US" sz="1200" kern="1200" dirty="0" smtClean="0">
                <a:solidFill>
                  <a:schemeClr val="tx1"/>
                </a:solidFill>
                <a:effectLst/>
                <a:latin typeface="+mn-lt"/>
                <a:ea typeface="+mn-ea"/>
                <a:cs typeface="+mn-cs"/>
              </a:rPr>
              <a:t>-only </a:t>
            </a:r>
            <a:r>
              <a:rPr lang="en-US" sz="1200" kern="1200" dirty="0" err="1" smtClean="0">
                <a:solidFill>
                  <a:schemeClr val="tx1"/>
                </a:solidFill>
                <a:effectLst/>
                <a:latin typeface="+mn-lt"/>
                <a:ea typeface="+mn-ea"/>
                <a:cs typeface="+mn-cs"/>
              </a:rPr>
              <a:t>senaryolarda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ise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sınıflar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arası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anlamsal</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ayrışmanın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zayıflayabildiği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görülmektedir</a:t>
            </a:r>
            <a:r>
              <a:rPr lang="en-US" sz="1200" kern="1200" dirty="0" smtClean="0">
                <a:solidFill>
                  <a:schemeClr val="tx1"/>
                </a:solidFill>
                <a:effectLst/>
                <a:latin typeface="+mn-lt"/>
                <a:ea typeface="+mn-ea"/>
                <a:cs typeface="+mn-cs"/>
              </a:rPr>
              <a:t>. Bu </a:t>
            </a:r>
            <a:r>
              <a:rPr lang="en-US" sz="1200" kern="1200" dirty="0" err="1" smtClean="0">
                <a:solidFill>
                  <a:schemeClr val="tx1"/>
                </a:solidFill>
                <a:effectLst/>
                <a:latin typeface="+mn-lt"/>
                <a:ea typeface="+mn-ea"/>
                <a:cs typeface="+mn-cs"/>
              </a:rPr>
              <a:t>bulgular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sentetik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verinin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tek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başına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kullanıldığında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sınıf</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sınırlarını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semantik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düzeyde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belirsizleştirebileceğini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ancak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gerçek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veri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ile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birlikte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kullanıldığında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etkinin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dengelendiğini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göstermektedir</a:t>
            </a:r>
            <a:r>
              <a:rPr lang="en-US" sz="1200" kern="1200" dirty="0" smtClean="0">
                <a:solidFill>
                  <a:schemeClr val="tx1"/>
                </a:solidFill>
                <a:effectLst/>
                <a:latin typeface="+mn-lt"/>
                <a:ea typeface="+mn-ea"/>
                <a:cs typeface="+mn-cs"/>
              </a:rPr>
              <a:t>.</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19DF1655-0007-4B8F-B21B-22A39B59BE28}" type="slidenum">
              <a:rPr lang="tr-TR" smtClean="0"/>
              <a:t>45</a:t>
            </a:fld>
            <a:endParaRPr lang="tr-TR"/>
          </a:p>
        </p:txBody>
      </p:sp>
    </p:spTree>
    <p:extLst>
      <p:ext uri="{BB962C8B-B14F-4D97-AF65-F5344CB8AC3E}">
        <p14:creationId xmlns:p14="http://schemas.microsoft.com/office/powerpoint/2010/main" val="20319604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Tüm veri senaryolarında ROC eğrilerinin sol üst köşeye yakın olduğu görülmektedir.</a:t>
            </a:r>
          </a:p>
          <a:p>
            <a:r>
              <a:rPr lang="tr-TR" dirty="0" smtClean="0"/>
              <a:t>En yüksek AUC değerleri ham ve </a:t>
            </a:r>
            <a:r>
              <a:rPr lang="tr-TR" dirty="0" err="1" smtClean="0"/>
              <a:t>hibrit</a:t>
            </a:r>
            <a:r>
              <a:rPr lang="tr-TR" dirty="0" smtClean="0"/>
              <a:t> veri senaryolarında elde edilmiştir (≈0.98).</a:t>
            </a:r>
          </a:p>
          <a:p>
            <a:r>
              <a:rPr lang="tr-TR" dirty="0" smtClean="0"/>
              <a:t>Ham + sentetik veri kullanılan senaryolar, modelin ayırt edici gücünü korumaktadır.</a:t>
            </a:r>
          </a:p>
          <a:p>
            <a:r>
              <a:rPr lang="tr-TR" dirty="0" smtClean="0"/>
              <a:t>Sentetik veri performansı düşürmemekte, aksine desteklemektedir.</a:t>
            </a:r>
          </a:p>
          <a:p>
            <a:r>
              <a:rPr lang="tr-TR" dirty="0" smtClean="0"/>
              <a:t>Buna karşılık yalnızca sentetik veri kullanılan senaryolarda AUC değerlerinde düşüş gözlemlenmiştir.</a:t>
            </a:r>
          </a:p>
          <a:p>
            <a:r>
              <a:rPr lang="en-US" sz="1200" kern="1200" dirty="0" smtClean="0">
                <a:solidFill>
                  <a:schemeClr val="tx1"/>
                </a:solidFill>
                <a:effectLst/>
                <a:latin typeface="+mn-lt"/>
                <a:ea typeface="+mn-ea"/>
                <a:cs typeface="+mn-cs"/>
              </a:rPr>
              <a:t>LLM </a:t>
            </a:r>
            <a:r>
              <a:rPr lang="en-US" sz="1200" kern="1200" dirty="0" err="1" smtClean="0">
                <a:solidFill>
                  <a:schemeClr val="tx1"/>
                </a:solidFill>
                <a:effectLst/>
                <a:latin typeface="+mn-lt"/>
                <a:ea typeface="+mn-ea"/>
                <a:cs typeface="+mn-cs"/>
              </a:rPr>
              <a:t>tabanlı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DA’nın</a:t>
            </a:r>
            <a:r>
              <a:rPr lang="en-US" sz="1200" kern="1200" dirty="0" smtClean="0">
                <a:solidFill>
                  <a:schemeClr val="tx1"/>
                </a:solidFill>
                <a:effectLst/>
                <a:latin typeface="+mn-lt"/>
                <a:ea typeface="+mn-ea"/>
                <a:cs typeface="+mn-cs"/>
              </a:rPr>
              <a:t> ham </a:t>
            </a:r>
            <a:r>
              <a:rPr lang="en-US" sz="1200" kern="1200" dirty="0" err="1" smtClean="0">
                <a:solidFill>
                  <a:schemeClr val="tx1"/>
                </a:solidFill>
                <a:effectLst/>
                <a:latin typeface="+mn-lt"/>
                <a:ea typeface="+mn-ea"/>
                <a:cs typeface="+mn-cs"/>
              </a:rPr>
              <a:t>yerini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tamamen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alabilecek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bir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alternatiften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ziyade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gerçek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veri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dağılımını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destekleyen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genelleme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kapasitesini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güçlendiren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tamamlayıcı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bir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mekanizma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olarak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değerlendirilmesi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gerektiğini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göstermektedir</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19DF1655-0007-4B8F-B21B-22A39B59BE28}" type="slidenum">
              <a:rPr lang="tr-TR" smtClean="0"/>
              <a:t>46</a:t>
            </a:fld>
            <a:endParaRPr lang="tr-TR"/>
          </a:p>
        </p:txBody>
      </p:sp>
    </p:spTree>
    <p:extLst>
      <p:ext uri="{BB962C8B-B14F-4D97-AF65-F5344CB8AC3E}">
        <p14:creationId xmlns:p14="http://schemas.microsoft.com/office/powerpoint/2010/main" val="36192400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Ham ve </a:t>
            </a:r>
            <a:r>
              <a:rPr lang="tr-TR" dirty="0" err="1" smtClean="0"/>
              <a:t>hibrit</a:t>
            </a:r>
            <a:r>
              <a:rPr lang="tr-TR" dirty="0" smtClean="0"/>
              <a:t> veri senaryolarında kalibrasyon eğrilerinin ideal çizgiye oldukça yakın olduğu görülmektedir. Modelin tahminleri güvenilir ve tutarlıdır.</a:t>
            </a:r>
          </a:p>
          <a:p>
            <a:r>
              <a:rPr lang="tr-TR" dirty="0" smtClean="0"/>
              <a:t>Bu senaryolarda ECE değerlerinin düşük olması, modelin iyi kalibre edildiğini göstermektedir.</a:t>
            </a:r>
          </a:p>
          <a:p>
            <a:r>
              <a:rPr lang="tr-TR" dirty="0" smtClean="0"/>
              <a:t>Buna karşılık yalnızca sentetik veri kullanılan senaryolarda kalibrasyon eğrilerinin ideal çizgiden belirgin şekilde saptığı görülmektedir. Bu durum, modelin tahmin olasılıklarının aşırı güvenli veya yetersiz güvenli olduğunu göstermektedir.</a:t>
            </a:r>
          </a:p>
          <a:p>
            <a:r>
              <a:rPr lang="tr-TR" dirty="0" smtClean="0"/>
              <a:t>Özellikle GPT ve </a:t>
            </a:r>
            <a:r>
              <a:rPr lang="tr-TR" dirty="0" err="1" smtClean="0"/>
              <a:t>Claude</a:t>
            </a:r>
            <a:r>
              <a:rPr lang="tr-TR" dirty="0" smtClean="0"/>
              <a:t> veri kümelerinde ECE değerlerinin belirgin şekilde arttığı görülmektedir. modelin güvenilirliği düşmektedir</a:t>
            </a:r>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19DF1655-0007-4B8F-B21B-22A39B59BE28}" type="slidenum">
              <a:rPr lang="tr-TR" smtClean="0"/>
              <a:t>47</a:t>
            </a:fld>
            <a:endParaRPr lang="tr-TR"/>
          </a:p>
        </p:txBody>
      </p:sp>
    </p:spTree>
    <p:extLst>
      <p:ext uri="{BB962C8B-B14F-4D97-AF65-F5344CB8AC3E}">
        <p14:creationId xmlns:p14="http://schemas.microsoft.com/office/powerpoint/2010/main" val="9645162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Analiz, sınıflandırma katmanından elde edilen pozitif sınıfa ait tahmin olasılıkları üzerinden gerçekleştirilmiştir. TP ve TN birlikte değerlendirilmiş; ancak pozitif sınıf olasılığı esas alındığından TP örneklerinin 1’e, TN örneklerinin ise 0’a yakın bölgelerde yoğunlaşması beklenmektedir. Buna karşılık FP ve FN olasılık değerlerinin karar eşiğine daha yakın bölgelerde kümelenmesi model belirsizliğine işaret etmektedir.</a:t>
            </a:r>
          </a:p>
          <a:p>
            <a:r>
              <a:rPr lang="tr-TR" dirty="0" smtClean="0"/>
              <a:t>Ham ve </a:t>
            </a:r>
            <a:r>
              <a:rPr lang="tr-TR" dirty="0" err="1" smtClean="0"/>
              <a:t>hibrit</a:t>
            </a:r>
            <a:r>
              <a:rPr lang="tr-TR" dirty="0" smtClean="0"/>
              <a:t> veri senaryolarında doğru tahminlerin büyük ölçüde yüksek güven bölgelerinde yoğunlaştığı görülmektedir. Model doğru tahminlerde yüksek güven göstermektedir.</a:t>
            </a:r>
          </a:p>
          <a:p>
            <a:r>
              <a:rPr lang="tr-TR" dirty="0" smtClean="0"/>
              <a:t>Yanlış tahminlerin ise daha çok orta ve düşük güven bölgelerinde yer aldığı gözlemlenmektedir. Model hatalı olduğu durumlarda daha az emin davranmaktadır.</a:t>
            </a:r>
          </a:p>
          <a:p>
            <a:r>
              <a:rPr lang="tr-TR" dirty="0" smtClean="0"/>
              <a:t>Buna karşılık yalnızca sentetik veri kullanılan senaryolarda yanlış tahminlerin daha geniş bir olasılık aralığına yayıldığı görülmektedir. Bu durum, modelin hatalı tahminlerde dahi yüksek güven gösterebildiğini ortaya koymaktadır.</a:t>
            </a:r>
          </a:p>
          <a:p>
            <a:r>
              <a:rPr lang="tr-TR" dirty="0" smtClean="0"/>
              <a:t>Ham ve </a:t>
            </a:r>
            <a:r>
              <a:rPr lang="tr-TR" dirty="0" err="1" smtClean="0"/>
              <a:t>hibrit</a:t>
            </a:r>
            <a:r>
              <a:rPr lang="tr-TR" dirty="0" smtClean="0"/>
              <a:t> veri senaryoları modelin hem doğru hem de güvenilir tahminler üretmesini sağlarken, sentetik veri tek başına kullanıldığında model güvenilirliği azalmaktadır.</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19DF1655-0007-4B8F-B21B-22A39B59BE28}" type="slidenum">
              <a:rPr lang="tr-TR" smtClean="0"/>
              <a:t>48</a:t>
            </a:fld>
            <a:endParaRPr lang="tr-TR"/>
          </a:p>
        </p:txBody>
      </p:sp>
    </p:spTree>
    <p:extLst>
      <p:ext uri="{BB962C8B-B14F-4D97-AF65-F5344CB8AC3E}">
        <p14:creationId xmlns:p14="http://schemas.microsoft.com/office/powerpoint/2010/main" val="10028863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Bu bölümde, veri kümesi yapılandırmalarının model performansı üzerindeki etkisinin istatistiksel olarak anlamlı olup olmadığı değerlendirilmiştir.</a:t>
            </a:r>
          </a:p>
          <a:p>
            <a:r>
              <a:rPr lang="tr-TR" dirty="0" err="1" smtClean="0"/>
              <a:t>Friedman</a:t>
            </a:r>
            <a:r>
              <a:rPr lang="tr-TR" dirty="0" smtClean="0"/>
              <a:t> testi, altı farklı veri kümesi yapılandırmasının 5-fold çapraz doğrulama sonuçları üzerinden uygulanmıştır.</a:t>
            </a:r>
          </a:p>
          <a:p>
            <a:r>
              <a:rPr lang="tr-TR" dirty="0" smtClean="0"/>
              <a:t>Her </a:t>
            </a:r>
            <a:r>
              <a:rPr lang="tr-TR" dirty="0" err="1" smtClean="0"/>
              <a:t>fold</a:t>
            </a:r>
            <a:r>
              <a:rPr lang="tr-TR" dirty="0" smtClean="0"/>
              <a:t> içerisinde veri kümesi yapılandırmaları performanslarına göre sıralanmış ve bu sıralamaların ortalamaları kullanılarak test istatistiği hesaplanmıştır. Bu yaklaşım, veri kümeleri arasındaki performans farklarının daha güvenilir ve karşılaştırılabilir biçimde değerlendirilmesini sağlamaktadır.</a:t>
            </a:r>
          </a:p>
          <a:p>
            <a:r>
              <a:rPr lang="tr-TR" dirty="0" err="1" smtClean="0"/>
              <a:t>Friedman</a:t>
            </a:r>
            <a:r>
              <a:rPr lang="tr-TR" dirty="0" smtClean="0"/>
              <a:t> testi sonuçlarına göre </a:t>
            </a:r>
            <a:r>
              <a:rPr lang="tr-TR" dirty="0" err="1" smtClean="0"/>
              <a:t>Accuracy</a:t>
            </a:r>
            <a:r>
              <a:rPr lang="tr-TR" dirty="0" smtClean="0"/>
              <a:t>, </a:t>
            </a:r>
            <a:r>
              <a:rPr lang="tr-TR" dirty="0" err="1" smtClean="0"/>
              <a:t>Recall</a:t>
            </a:r>
            <a:r>
              <a:rPr lang="tr-TR" dirty="0" smtClean="0"/>
              <a:t> ve F1-score metriklerinde p-değerleri 0.05’ten küçüktür.</a:t>
            </a:r>
          </a:p>
          <a:p>
            <a:r>
              <a:rPr lang="tr-TR" dirty="0" smtClean="0"/>
              <a:t>Bu durum, veri kümesi yapılandırmalarının model performansı üzerinde anlamlı bir etkisi olduğunu göstermektedir.</a:t>
            </a:r>
          </a:p>
          <a:p>
            <a:r>
              <a:rPr lang="tr-TR" dirty="0" smtClean="0"/>
              <a:t>Buna karşılık Precision metriğinde anlamlı bir fark bulunmamaktadır.</a:t>
            </a:r>
          </a:p>
          <a:p>
            <a:r>
              <a:rPr lang="tr-TR" dirty="0" smtClean="0"/>
              <a:t>Bu, modelin pozitif tahmin doğruluğunun veri yapısından bağımsız olarak benzer kaldığını </a:t>
            </a:r>
            <a:r>
              <a:rPr lang="tr-TR" dirty="0" err="1" smtClean="0"/>
              <a:t>göstermektedi</a:t>
            </a:r>
            <a:endParaRPr lang="tr-TR" dirty="0" smtClean="0"/>
          </a:p>
          <a:p>
            <a:r>
              <a:rPr lang="tr-TR" dirty="0" err="1" smtClean="0"/>
              <a:t>Chi-square</a:t>
            </a:r>
            <a:r>
              <a:rPr lang="tr-TR" dirty="0" smtClean="0"/>
              <a:t> değerlerinin özellikle </a:t>
            </a:r>
            <a:r>
              <a:rPr lang="tr-TR" dirty="0" err="1" smtClean="0"/>
              <a:t>Recall</a:t>
            </a:r>
            <a:r>
              <a:rPr lang="tr-TR" dirty="0" smtClean="0"/>
              <a:t> ve F1-score metriklerinde daha yüksek olması, veri yapısının bu metrikler üzerinde daha belirgin etkili olduğunu göstermektedir.</a:t>
            </a:r>
          </a:p>
          <a:p>
            <a:r>
              <a:rPr lang="tr-TR" dirty="0" smtClean="0"/>
              <a:t>Ancak </a:t>
            </a:r>
            <a:r>
              <a:rPr lang="tr-TR" dirty="0" err="1" smtClean="0"/>
              <a:t>Friedman</a:t>
            </a:r>
            <a:r>
              <a:rPr lang="tr-TR" dirty="0" smtClean="0"/>
              <a:t> testi yalnızca genel bir fark olduğunu göstermektedir.</a:t>
            </a:r>
          </a:p>
          <a:p>
            <a:r>
              <a:rPr lang="tr-TR" dirty="0" smtClean="0"/>
              <a:t>Bu tabloda yer alan ortalama sıralamalar, 5-fold çapraz doğrulama sonuçları kullanılarak hesaplanmıştır.</a:t>
            </a:r>
          </a:p>
          <a:p>
            <a:r>
              <a:rPr lang="tr-TR" dirty="0" smtClean="0"/>
              <a:t>Her </a:t>
            </a:r>
            <a:r>
              <a:rPr lang="tr-TR" dirty="0" err="1" smtClean="0"/>
              <a:t>fold</a:t>
            </a:r>
            <a:r>
              <a:rPr lang="tr-TR" dirty="0" smtClean="0"/>
              <a:t> içerisinde veri kümesi yapılandırmaları ilgili performans metriğine göre sıralanmış ve en iyi performans 1 olacak şekilde </a:t>
            </a:r>
            <a:r>
              <a:rPr lang="tr-TR" dirty="0" err="1" smtClean="0"/>
              <a:t>rank</a:t>
            </a:r>
            <a:r>
              <a:rPr lang="tr-TR" dirty="0" smtClean="0"/>
              <a:t> atanmıştır.</a:t>
            </a:r>
          </a:p>
          <a:p>
            <a:r>
              <a:rPr lang="tr-TR" dirty="0" smtClean="0"/>
              <a:t>Daha sonra her yapılandırma için bu sıralamaların ortalaması alınarak tabloda sunulan değerler elde edilmiştir.</a:t>
            </a:r>
          </a:p>
          <a:p>
            <a:r>
              <a:rPr lang="tr-TR" dirty="0" smtClean="0"/>
              <a:t>Ortalama </a:t>
            </a:r>
            <a:r>
              <a:rPr lang="tr-TR" dirty="0" err="1" smtClean="0"/>
              <a:t>rank</a:t>
            </a:r>
            <a:r>
              <a:rPr lang="tr-TR" dirty="0" smtClean="0"/>
              <a:t> değeri ne kadar düşükse, model performansı o kadar yüksektir.</a:t>
            </a:r>
          </a:p>
          <a:p>
            <a:r>
              <a:rPr lang="tr-TR" dirty="0" smtClean="0"/>
              <a:t>Bu tablo, performansların doğrudan değil, sıralama temelli ortalamasıdır.</a:t>
            </a:r>
          </a:p>
          <a:p>
            <a:r>
              <a:rPr lang="tr-TR" dirty="0" smtClean="0"/>
              <a:t>Ham + GPT, Ham + </a:t>
            </a:r>
            <a:r>
              <a:rPr lang="tr-TR" dirty="0" err="1" smtClean="0"/>
              <a:t>Claude</a:t>
            </a:r>
            <a:r>
              <a:rPr lang="tr-TR" dirty="0" smtClean="0"/>
              <a:t> ve Ham + GPT + </a:t>
            </a:r>
            <a:r>
              <a:rPr lang="tr-TR" dirty="0" err="1" smtClean="0"/>
              <a:t>Claude</a:t>
            </a:r>
            <a:r>
              <a:rPr lang="tr-TR" dirty="0" smtClean="0"/>
              <a:t> yapılandırmalarının sıra değerleri ham veriye oldukça yakındır. Bu durum, </a:t>
            </a:r>
            <a:r>
              <a:rPr lang="tr-TR" dirty="0" err="1" smtClean="0"/>
              <a:t>hibrit</a:t>
            </a:r>
            <a:r>
              <a:rPr lang="tr-TR" dirty="0" smtClean="0"/>
              <a:t> veri kullanımının model performansını koruduğunu göstermektedir.</a:t>
            </a:r>
          </a:p>
          <a:p>
            <a:r>
              <a:rPr lang="tr-TR" dirty="0" smtClean="0"/>
              <a:t>Buna karşılık yalnızca sentetik veri içeren GPT ve </a:t>
            </a:r>
            <a:r>
              <a:rPr lang="tr-TR" dirty="0" err="1" smtClean="0"/>
              <a:t>Claude</a:t>
            </a:r>
            <a:r>
              <a:rPr lang="tr-TR" dirty="0" smtClean="0"/>
              <a:t> yapılandırmalarının en yüksek sıra değerlerine sahip olduğu görülmektedir. Bu yapılandırmalar en düşük performansı göstermektedir.</a:t>
            </a:r>
          </a:p>
          <a:p>
            <a:r>
              <a:rPr lang="tr-TR" dirty="0" smtClean="0"/>
              <a:t>Genel olarak sıralamalar, </a:t>
            </a:r>
            <a:r>
              <a:rPr lang="tr-TR" dirty="0" err="1" smtClean="0"/>
              <a:t>hibrit</a:t>
            </a:r>
            <a:r>
              <a:rPr lang="tr-TR" dirty="0" smtClean="0"/>
              <a:t> veri yapılandırmalarının ham veri ile benzer performans sergilediğini, yalnızca sentetik veri kullanımının ise performansı düşürdüğünü ortaya koymaktadır.</a:t>
            </a:r>
          </a:p>
          <a:p>
            <a:endParaRPr lang="tr-TR" dirty="0" smtClean="0"/>
          </a:p>
          <a:p>
            <a:endParaRPr lang="tr-TR" dirty="0" smtClean="0"/>
          </a:p>
          <a:p>
            <a:r>
              <a:rPr lang="tr-TR" dirty="0" smtClean="0"/>
              <a:t>Bu farkın hangi veri kümesi yapılandırmaları arasında olduğunu belirlemek için </a:t>
            </a:r>
            <a:r>
              <a:rPr lang="tr-TR" dirty="0" err="1" smtClean="0"/>
              <a:t>Nemenyi</a:t>
            </a:r>
            <a:r>
              <a:rPr lang="tr-TR" dirty="0" smtClean="0"/>
              <a:t> post-hoc testi uygulanmıştır.</a:t>
            </a:r>
          </a:p>
          <a:p>
            <a:endParaRPr lang="tr-TR" dirty="0" smtClean="0"/>
          </a:p>
          <a:p>
            <a:endParaRPr lang="tr-TR" dirty="0" smtClean="0"/>
          </a:p>
          <a:p>
            <a:endParaRPr lang="tr-TR"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19DF1655-0007-4B8F-B21B-22A39B59BE28}" type="slidenum">
              <a:rPr lang="tr-TR" smtClean="0"/>
              <a:t>49</a:t>
            </a:fld>
            <a:endParaRPr lang="tr-TR"/>
          </a:p>
        </p:txBody>
      </p:sp>
    </p:spTree>
    <p:extLst>
      <p:ext uri="{BB962C8B-B14F-4D97-AF65-F5344CB8AC3E}">
        <p14:creationId xmlns:p14="http://schemas.microsoft.com/office/powerpoint/2010/main" val="2681070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Anlamlılık düzeyi </a:t>
            </a:r>
            <a:r>
              <a:rPr lang="el-GR" dirty="0" smtClean="0"/>
              <a:t>α = 0.05, </a:t>
            </a:r>
            <a:r>
              <a:rPr lang="tr-TR" dirty="0" smtClean="0"/>
              <a:t>istatistiksel analizlerde yaygın olarak kullanılan standart bir eşik değeridir ve %5 hata payını ifade etmektedir.</a:t>
            </a:r>
          </a:p>
          <a:p>
            <a:r>
              <a:rPr lang="tr-TR" dirty="0" smtClean="0"/>
              <a:t>q değeri, </a:t>
            </a:r>
            <a:r>
              <a:rPr lang="tr-TR" b="1" dirty="0" err="1" smtClean="0"/>
              <a:t>Studentized</a:t>
            </a:r>
            <a:r>
              <a:rPr lang="tr-TR" b="1" dirty="0" smtClean="0"/>
              <a:t> </a:t>
            </a:r>
            <a:r>
              <a:rPr lang="tr-TR" b="1" dirty="0" err="1" smtClean="0"/>
              <a:t>Range</a:t>
            </a:r>
            <a:r>
              <a:rPr lang="tr-TR" b="1" dirty="0" smtClean="0"/>
              <a:t> (q dağılımı)</a:t>
            </a:r>
            <a:r>
              <a:rPr lang="tr-TR" dirty="0" smtClean="0"/>
              <a:t> olarak bilinen istatistiksel dağılımdan elde edilen kritik bir değerdir.</a:t>
            </a:r>
          </a:p>
          <a:p>
            <a:r>
              <a:rPr lang="tr-TR" dirty="0" err="1" smtClean="0"/>
              <a:t>Nemenyi</a:t>
            </a:r>
            <a:r>
              <a:rPr lang="tr-TR" dirty="0" smtClean="0"/>
              <a:t> testinde kullanılan q değeri, </a:t>
            </a:r>
            <a:r>
              <a:rPr lang="tr-TR" dirty="0" err="1" smtClean="0"/>
              <a:t>Studentized</a:t>
            </a:r>
            <a:r>
              <a:rPr lang="tr-TR" dirty="0" smtClean="0"/>
              <a:t> </a:t>
            </a:r>
            <a:r>
              <a:rPr lang="tr-TR" dirty="0" err="1" smtClean="0"/>
              <a:t>range</a:t>
            </a:r>
            <a:r>
              <a:rPr lang="tr-TR" dirty="0" smtClean="0"/>
              <a:t> dağılımından elde edilen ve literatürde tablolar halinde sunulan standart bir kritik değerdir.</a:t>
            </a:r>
          </a:p>
          <a:p>
            <a:r>
              <a:rPr lang="en-US" sz="1200" kern="1200" dirty="0" err="1" smtClean="0">
                <a:solidFill>
                  <a:schemeClr val="tx1"/>
                </a:solidFill>
                <a:effectLst/>
                <a:latin typeface="+mn-lt"/>
                <a:ea typeface="+mn-ea"/>
                <a:cs typeface="+mn-cs"/>
              </a:rPr>
              <a:t>Tablo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incelendiğinde</a:t>
            </a:r>
            <a:r>
              <a:rPr lang="en-US" sz="1200" kern="1200" dirty="0" smtClean="0">
                <a:solidFill>
                  <a:schemeClr val="tx1"/>
                </a:solidFill>
                <a:effectLst/>
                <a:latin typeface="+mn-lt"/>
                <a:ea typeface="+mn-ea"/>
                <a:cs typeface="+mn-cs"/>
              </a:rPr>
              <a:t> ham </a:t>
            </a:r>
            <a:r>
              <a:rPr lang="en-US" sz="1200" kern="1200" dirty="0" err="1" smtClean="0">
                <a:solidFill>
                  <a:schemeClr val="tx1"/>
                </a:solidFill>
                <a:effectLst/>
                <a:latin typeface="+mn-lt"/>
                <a:ea typeface="+mn-ea"/>
                <a:cs typeface="+mn-cs"/>
              </a:rPr>
              <a:t>ile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hibrit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yapılandırmalar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arasında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hiçbir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metrikte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kritik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mesafeyi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aşan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fark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bulunmamaktadır</a:t>
            </a:r>
            <a:r>
              <a:rPr lang="en-US" sz="1200" kern="1200" dirty="0" smtClean="0">
                <a:solidFill>
                  <a:schemeClr val="tx1"/>
                </a:solidFill>
                <a:effectLst/>
                <a:latin typeface="+mn-lt"/>
                <a:ea typeface="+mn-ea"/>
                <a:cs typeface="+mn-cs"/>
              </a:rPr>
              <a:t>. Buna </a:t>
            </a:r>
            <a:r>
              <a:rPr lang="en-US" sz="1200" kern="1200" dirty="0" err="1" smtClean="0">
                <a:solidFill>
                  <a:schemeClr val="tx1"/>
                </a:solidFill>
                <a:effectLst/>
                <a:latin typeface="+mn-lt"/>
                <a:ea typeface="+mn-ea"/>
                <a:cs typeface="+mn-cs"/>
              </a:rPr>
              <a:t>karşılık</a:t>
            </a:r>
            <a:r>
              <a:rPr lang="en-US" sz="1200" kern="1200" dirty="0" smtClean="0">
                <a:solidFill>
                  <a:schemeClr val="tx1"/>
                </a:solidFill>
                <a:effectLst/>
                <a:latin typeface="+mn-lt"/>
                <a:ea typeface="+mn-ea"/>
                <a:cs typeface="+mn-cs"/>
              </a:rPr>
              <a:t> ham </a:t>
            </a:r>
            <a:r>
              <a:rPr lang="en-US" sz="1200" kern="1200" dirty="0" err="1" smtClean="0">
                <a:solidFill>
                  <a:schemeClr val="tx1"/>
                </a:solidFill>
                <a:effectLst/>
                <a:latin typeface="+mn-lt"/>
                <a:ea typeface="+mn-ea"/>
                <a:cs typeface="+mn-cs"/>
              </a:rPr>
              <a:t>ile</a:t>
            </a:r>
            <a:r>
              <a:rPr lang="en-US" sz="1200" kern="1200" dirty="0" smtClean="0">
                <a:solidFill>
                  <a:schemeClr val="tx1"/>
                </a:solidFill>
                <a:effectLst/>
                <a:latin typeface="+mn-lt"/>
                <a:ea typeface="+mn-ea"/>
                <a:cs typeface="+mn-cs"/>
              </a:rPr>
              <a:t> GPT </a:t>
            </a:r>
            <a:r>
              <a:rPr lang="en-US" sz="1200" kern="1200" dirty="0" err="1" smtClean="0">
                <a:solidFill>
                  <a:schemeClr val="tx1"/>
                </a:solidFill>
                <a:effectLst/>
                <a:latin typeface="+mn-lt"/>
                <a:ea typeface="+mn-ea"/>
                <a:cs typeface="+mn-cs"/>
              </a:rPr>
              <a:t>ve</a:t>
            </a:r>
            <a:r>
              <a:rPr lang="en-US" sz="1200" kern="1200" dirty="0" smtClean="0">
                <a:solidFill>
                  <a:schemeClr val="tx1"/>
                </a:solidFill>
                <a:effectLst/>
                <a:latin typeface="+mn-lt"/>
                <a:ea typeface="+mn-ea"/>
                <a:cs typeface="+mn-cs"/>
              </a:rPr>
              <a:t> Claude </a:t>
            </a:r>
            <a:r>
              <a:rPr lang="en-US" sz="1200" kern="1200" dirty="0" err="1" smtClean="0">
                <a:solidFill>
                  <a:schemeClr val="tx1"/>
                </a:solidFill>
                <a:effectLst/>
                <a:latin typeface="+mn-lt"/>
                <a:ea typeface="+mn-ea"/>
                <a:cs typeface="+mn-cs"/>
              </a:rPr>
              <a:t>yapılandırmaları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arasındaki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farklar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özellikle</a:t>
            </a:r>
            <a:r>
              <a:rPr lang="en-US" sz="1200" kern="1200" dirty="0" smtClean="0">
                <a:solidFill>
                  <a:schemeClr val="tx1"/>
                </a:solidFill>
                <a:effectLst/>
                <a:latin typeface="+mn-lt"/>
                <a:ea typeface="+mn-ea"/>
                <a:cs typeface="+mn-cs"/>
              </a:rPr>
              <a:t> Accuracy, Recall </a:t>
            </a:r>
            <a:r>
              <a:rPr lang="en-US" sz="1200" kern="1200" dirty="0" err="1" smtClean="0">
                <a:solidFill>
                  <a:schemeClr val="tx1"/>
                </a:solidFill>
                <a:effectLst/>
                <a:latin typeface="+mn-lt"/>
                <a:ea typeface="+mn-ea"/>
                <a:cs typeface="+mn-cs"/>
              </a:rPr>
              <a:t>ve</a:t>
            </a:r>
            <a:r>
              <a:rPr lang="en-US" sz="1200" kern="1200" dirty="0" smtClean="0">
                <a:solidFill>
                  <a:schemeClr val="tx1"/>
                </a:solidFill>
                <a:effectLst/>
                <a:latin typeface="+mn-lt"/>
                <a:ea typeface="+mn-ea"/>
                <a:cs typeface="+mn-cs"/>
              </a:rPr>
              <a:t> F1-score </a:t>
            </a:r>
            <a:r>
              <a:rPr lang="en-US" sz="1200" kern="1200" dirty="0" err="1" smtClean="0">
                <a:solidFill>
                  <a:schemeClr val="tx1"/>
                </a:solidFill>
                <a:effectLst/>
                <a:latin typeface="+mn-lt"/>
                <a:ea typeface="+mn-ea"/>
                <a:cs typeface="+mn-cs"/>
              </a:rPr>
              <a:t>metriklerinde</a:t>
            </a:r>
            <a:r>
              <a:rPr lang="en-US" sz="1200" kern="1200" dirty="0" smtClean="0">
                <a:solidFill>
                  <a:schemeClr val="tx1"/>
                </a:solidFill>
                <a:effectLst/>
                <a:latin typeface="+mn-lt"/>
                <a:ea typeface="+mn-ea"/>
                <a:cs typeface="+mn-cs"/>
              </a:rPr>
              <a:t> CD </a:t>
            </a:r>
            <a:r>
              <a:rPr lang="en-US" sz="1200" kern="1200" dirty="0" err="1" smtClean="0">
                <a:solidFill>
                  <a:schemeClr val="tx1"/>
                </a:solidFill>
                <a:effectLst/>
                <a:latin typeface="+mn-lt"/>
                <a:ea typeface="+mn-ea"/>
                <a:cs typeface="+mn-cs"/>
              </a:rPr>
              <a:t>değerini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aşmaktadır</a:t>
            </a:r>
            <a:r>
              <a:rPr lang="en-US" sz="1200" kern="1200" dirty="0" smtClean="0">
                <a:solidFill>
                  <a:schemeClr val="tx1"/>
                </a:solidFill>
                <a:effectLst/>
                <a:latin typeface="+mn-lt"/>
                <a:ea typeface="+mn-ea"/>
                <a:cs typeface="+mn-cs"/>
              </a:rPr>
              <a:t>. Precision </a:t>
            </a:r>
            <a:r>
              <a:rPr lang="en-US" sz="1200" kern="1200" dirty="0" err="1" smtClean="0">
                <a:solidFill>
                  <a:schemeClr val="tx1"/>
                </a:solidFill>
                <a:effectLst/>
                <a:latin typeface="+mn-lt"/>
                <a:ea typeface="+mn-ea"/>
                <a:cs typeface="+mn-cs"/>
              </a:rPr>
              <a:t>metriğinde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ise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hiçbir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karşılaştırma</a:t>
            </a:r>
            <a:r>
              <a:rPr lang="en-US" sz="1200" kern="1200" dirty="0" smtClean="0">
                <a:solidFill>
                  <a:schemeClr val="tx1"/>
                </a:solidFill>
                <a:effectLst/>
                <a:latin typeface="+mn-lt"/>
                <a:ea typeface="+mn-ea"/>
                <a:cs typeface="+mn-cs"/>
              </a:rPr>
              <a:t> CD </a:t>
            </a:r>
            <a:r>
              <a:rPr lang="en-US" sz="1200" kern="1200" dirty="0" err="1" smtClean="0">
                <a:solidFill>
                  <a:schemeClr val="tx1"/>
                </a:solidFill>
                <a:effectLst/>
                <a:latin typeface="+mn-lt"/>
                <a:ea typeface="+mn-ea"/>
                <a:cs typeface="+mn-cs"/>
              </a:rPr>
              <a:t>değerini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aşmamaktadır</a:t>
            </a:r>
            <a:r>
              <a:rPr lang="en-US" sz="1200" kern="1200" dirty="0" smtClean="0">
                <a:solidFill>
                  <a:schemeClr val="tx1"/>
                </a:solidFill>
                <a:effectLst/>
                <a:latin typeface="+mn-lt"/>
                <a:ea typeface="+mn-ea"/>
                <a:cs typeface="+mn-cs"/>
              </a:rPr>
              <a:t>. Bu </a:t>
            </a:r>
            <a:r>
              <a:rPr lang="en-US" sz="1200" kern="1200" dirty="0" err="1" smtClean="0">
                <a:solidFill>
                  <a:schemeClr val="tx1"/>
                </a:solidFill>
                <a:effectLst/>
                <a:latin typeface="+mn-lt"/>
                <a:ea typeface="+mn-ea"/>
                <a:cs typeface="+mn-cs"/>
              </a:rPr>
              <a:t>sonuç</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sadece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sentetik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veri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kümelerinin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istatistiksel</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olarak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anlamlı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biçimde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daha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düşük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performans</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sergilediğini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ancak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hibrit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yapılandırmaların</a:t>
            </a:r>
            <a:r>
              <a:rPr lang="en-US" sz="1200" kern="1200" dirty="0" smtClean="0">
                <a:solidFill>
                  <a:schemeClr val="tx1"/>
                </a:solidFill>
                <a:effectLst/>
                <a:latin typeface="+mn-lt"/>
                <a:ea typeface="+mn-ea"/>
                <a:cs typeface="+mn-cs"/>
              </a:rPr>
              <a:t> ham </a:t>
            </a:r>
            <a:r>
              <a:rPr lang="en-US" sz="1200" kern="1200" dirty="0" err="1" smtClean="0">
                <a:solidFill>
                  <a:schemeClr val="tx1"/>
                </a:solidFill>
                <a:effectLst/>
                <a:latin typeface="+mn-lt"/>
                <a:ea typeface="+mn-ea"/>
                <a:cs typeface="+mn-cs"/>
              </a:rPr>
              <a:t>ile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istatistiksel</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olarak</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eşdeğer</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olduğunu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göstermektedir</a:t>
            </a:r>
            <a:r>
              <a:rPr lang="en-US" sz="1200" kern="1200" dirty="0" smtClean="0">
                <a:solidFill>
                  <a:schemeClr val="tx1"/>
                </a:solidFill>
                <a:effectLst/>
                <a:latin typeface="+mn-lt"/>
                <a:ea typeface="+mn-ea"/>
                <a:cs typeface="+mn-cs"/>
              </a:rPr>
              <a:t>. </a:t>
            </a:r>
            <a:endParaRPr lang="tr-TR" sz="1200" kern="1200" dirty="0" smtClean="0">
              <a:solidFill>
                <a:schemeClr val="tx1"/>
              </a:solidFill>
              <a:effectLst/>
              <a:latin typeface="+mn-lt"/>
              <a:ea typeface="+mn-ea"/>
              <a:cs typeface="+mn-cs"/>
            </a:endParaRPr>
          </a:p>
          <a:p>
            <a:r>
              <a:rPr lang="tr-TR" dirty="0" smtClean="0"/>
              <a:t>CD diyagramı F1-score metriği üzerinden sunulmuştur çünkü bu metrik Precision ve </a:t>
            </a:r>
            <a:r>
              <a:rPr lang="tr-TR" dirty="0" err="1" smtClean="0"/>
              <a:t>Recall’u</a:t>
            </a:r>
            <a:r>
              <a:rPr lang="tr-TR" dirty="0" smtClean="0"/>
              <a:t> birlikte değerlendiren dengeli bir ölçüttür. Diyagram incelendiğinde, ham ve </a:t>
            </a:r>
            <a:r>
              <a:rPr lang="tr-TR" dirty="0" err="1" smtClean="0"/>
              <a:t>hibrit</a:t>
            </a:r>
            <a:r>
              <a:rPr lang="tr-TR" dirty="0" smtClean="0"/>
              <a:t> veri yapılandırmalarının birbirine yakın konumlandığı görülmektedir. Bu yapılandırmalar aynı istatistiksel grup içinde yer almaktadır.</a:t>
            </a:r>
          </a:p>
          <a:p>
            <a:r>
              <a:rPr lang="tr-TR" dirty="0" smtClean="0"/>
              <a:t>Buna karşılık GPT ve </a:t>
            </a:r>
            <a:r>
              <a:rPr lang="tr-TR" dirty="0" err="1" smtClean="0"/>
              <a:t>Claude</a:t>
            </a:r>
            <a:r>
              <a:rPr lang="tr-TR" dirty="0" smtClean="0"/>
              <a:t> yapılandırmaları diğerlerinden belirgin şekilde ayrışmaktadır. Bu yapılandırmalar ile diğerleri arasındaki farklar istatistiksel olarak anlamlıdır.</a:t>
            </a:r>
          </a:p>
          <a:p>
            <a:r>
              <a:rPr lang="tr-TR" b="1" u="sng" dirty="0" smtClean="0"/>
              <a:t>NEDEN PRECİSIN FARKLI?</a:t>
            </a:r>
          </a:p>
          <a:p>
            <a:r>
              <a:rPr lang="tr-TR" dirty="0" smtClean="0"/>
              <a:t>Precision metriğinde yapılandırmalar arasındaki farkların kritik mesafeyi aşmadığı görülmektedir.</a:t>
            </a:r>
            <a:br>
              <a:rPr lang="tr-TR" dirty="0" smtClean="0"/>
            </a:br>
            <a:r>
              <a:rPr lang="tr-TR" dirty="0" smtClean="0"/>
              <a:t>Bu durum, veri kümesi yapılandırmaları arasında Precision açısından istatistiksel olarak anlamlı bir fark bulunmadığını göstermektedir.</a:t>
            </a:r>
          </a:p>
          <a:p>
            <a:r>
              <a:rPr lang="tr-TR" dirty="0" smtClean="0"/>
              <a:t>Bunun nedeni, </a:t>
            </a:r>
            <a:r>
              <a:rPr lang="tr-TR" dirty="0" err="1" smtClean="0"/>
              <a:t>Precision’ın</a:t>
            </a:r>
            <a:r>
              <a:rPr lang="tr-TR" dirty="0" smtClean="0"/>
              <a:t> yalnızca pozitif tahminlerin doğruluğunu ölçmesidir. Bu çalışmada modelin pozitif tahmin davranışı veri yapısından bağımsız olarak benzer kalmıştır.</a:t>
            </a:r>
          </a:p>
          <a:p>
            <a:r>
              <a:rPr lang="tr-TR" dirty="0" smtClean="0"/>
              <a:t>Buna karşılık </a:t>
            </a:r>
            <a:r>
              <a:rPr lang="tr-TR" dirty="0" err="1" smtClean="0"/>
              <a:t>Recall</a:t>
            </a:r>
            <a:r>
              <a:rPr lang="tr-TR" dirty="0" smtClean="0"/>
              <a:t> metriğinde anlamlı fark bulunması, modelin pozitif örnekleri yakalama kapasitesinin veri yapısından etkilendiğini göstermektedir. Yani model doğru dediğinde doğru demeye devam ediyor, ancak hangi örnekleri yakalayabildiği değişiyor.</a:t>
            </a:r>
          </a:p>
          <a:p>
            <a:r>
              <a:rPr lang="tr-TR" dirty="0" smtClean="0"/>
              <a:t>👉 “neden sentetikte </a:t>
            </a:r>
            <a:r>
              <a:rPr lang="tr-TR" dirty="0" err="1" smtClean="0"/>
              <a:t>precision</a:t>
            </a:r>
            <a:r>
              <a:rPr lang="tr-TR" dirty="0" smtClean="0"/>
              <a:t> iyi?”</a:t>
            </a:r>
          </a:p>
          <a:p>
            <a:r>
              <a:rPr lang="tr-TR" dirty="0" smtClean="0"/>
              <a:t>Çünkü model daha seçici davranıyor ancak bu durum bazı pozitif örnekleri kaçırmasına neden oluyor.</a:t>
            </a:r>
          </a:p>
          <a:p>
            <a:endParaRPr lang="tr-TR" dirty="0" smtClean="0"/>
          </a:p>
          <a:p>
            <a:endParaRPr lang="tr-TR" dirty="0" smtClean="0"/>
          </a:p>
          <a:p>
            <a:endParaRPr lang="tr-TR" dirty="0" smtClean="0"/>
          </a:p>
          <a:p>
            <a:endParaRPr lang="tr-TR" dirty="0" smtClean="0"/>
          </a:p>
          <a:p>
            <a:endParaRPr lang="tr-TR"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19DF1655-0007-4B8F-B21B-22A39B59BE28}" type="slidenum">
              <a:rPr lang="tr-TR" smtClean="0"/>
              <a:t>50</a:t>
            </a:fld>
            <a:endParaRPr lang="tr-TR"/>
          </a:p>
        </p:txBody>
      </p:sp>
    </p:spTree>
    <p:extLst>
      <p:ext uri="{BB962C8B-B14F-4D97-AF65-F5344CB8AC3E}">
        <p14:creationId xmlns:p14="http://schemas.microsoft.com/office/powerpoint/2010/main" val="5424601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19DF1655-0007-4B8F-B21B-22A39B59BE28}" type="slidenum">
              <a:rPr lang="tr-TR" smtClean="0"/>
              <a:t>51</a:t>
            </a:fld>
            <a:endParaRPr lang="tr-TR"/>
          </a:p>
        </p:txBody>
      </p:sp>
    </p:spTree>
    <p:extLst>
      <p:ext uri="{BB962C8B-B14F-4D97-AF65-F5344CB8AC3E}">
        <p14:creationId xmlns:p14="http://schemas.microsoft.com/office/powerpoint/2010/main" val="1379474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Önceki bölümde sentetik verinin performans düşüşüne neden olduğunu gördük.</a:t>
            </a:r>
            <a:br>
              <a:rPr lang="tr-TR" dirty="0" smtClean="0"/>
            </a:br>
            <a:r>
              <a:rPr lang="tr-TR" dirty="0" smtClean="0"/>
              <a:t>Bu nedenle burada sadece sonuçlara değil, verinin kendisine odaklandık.</a:t>
            </a:r>
          </a:p>
          <a:p>
            <a:r>
              <a:rPr lang="tr-TR" dirty="0" smtClean="0"/>
              <a:t>Sentetik verinin güvenilir olup olmadığını anlamak için iki açıdan analiz ettik:</a:t>
            </a:r>
          </a:p>
          <a:p>
            <a:r>
              <a:rPr lang="tr-TR" dirty="0" smtClean="0"/>
              <a:t>Birincisi, üretilen etiketlerin ne kadar doğru olduğu,</a:t>
            </a:r>
            <a:br>
              <a:rPr lang="tr-TR" dirty="0" smtClean="0"/>
            </a:br>
            <a:r>
              <a:rPr lang="tr-TR" dirty="0" smtClean="0"/>
              <a:t>ikincisi ise sentetik örneklerin gerçek veriyle anlamsal olarak ne kadar uyumlu olduğu.</a:t>
            </a:r>
          </a:p>
          <a:p>
            <a:r>
              <a:rPr lang="tr-TR" dirty="0" smtClean="0"/>
              <a:t>Bu sayede sentetik verinin hem kalite hem de temsil gücü değerlendirilmiştir.</a:t>
            </a: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19DF1655-0007-4B8F-B21B-22A39B59BE28}" type="slidenum">
              <a:rPr lang="tr-TR" smtClean="0"/>
              <a:t>52</a:t>
            </a:fld>
            <a:endParaRPr lang="tr-TR"/>
          </a:p>
        </p:txBody>
      </p:sp>
    </p:spTree>
    <p:extLst>
      <p:ext uri="{BB962C8B-B14F-4D97-AF65-F5344CB8AC3E}">
        <p14:creationId xmlns:p14="http://schemas.microsoft.com/office/powerpoint/2010/main" val="33610948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 “neden bu yöntem?”</a:t>
            </a:r>
          </a:p>
          <a:p>
            <a:r>
              <a:rPr lang="tr-TR" dirty="0" smtClean="0"/>
              <a:t>Çünkü sentetik veride gerçek etiket olmadığı için dolaylı bir doğrulama yapılmaktadır. Bu analiz sayesinde sentetik verinin </a:t>
            </a:r>
            <a:r>
              <a:rPr lang="tr-TR" b="1" dirty="0" smtClean="0"/>
              <a:t>etiketlerinin ne kadar güvenilir olduğu</a:t>
            </a:r>
            <a:r>
              <a:rPr lang="tr-TR" dirty="0" smtClean="0"/>
              <a:t> ölçülmüştür</a:t>
            </a:r>
          </a:p>
          <a:p>
            <a:r>
              <a:rPr lang="tr-TR" dirty="0" smtClean="0"/>
              <a:t>Yani model performansının neden düştüğünü sadece tahmin etmek yerine,</a:t>
            </a:r>
            <a:br>
              <a:rPr lang="tr-TR" dirty="0" smtClean="0"/>
            </a:br>
            <a:r>
              <a:rPr lang="tr-TR" dirty="0" smtClean="0"/>
              <a:t>doğrudan sentetik veride </a:t>
            </a:r>
            <a:r>
              <a:rPr lang="tr-TR" b="1" dirty="0" smtClean="0"/>
              <a:t>etiket hatası olup olmadığını ölçmüş olduk.</a:t>
            </a:r>
            <a:endParaRPr lang="tr-TR" dirty="0" smtClean="0"/>
          </a:p>
          <a:p>
            <a:r>
              <a:rPr lang="tr-TR" dirty="0" smtClean="0"/>
              <a:t>TABLO ANLATIMI</a:t>
            </a:r>
          </a:p>
          <a:p>
            <a:r>
              <a:rPr lang="tr-TR" dirty="0" err="1" smtClean="0"/>
              <a:t>Claude</a:t>
            </a:r>
            <a:r>
              <a:rPr lang="tr-TR" dirty="0" smtClean="0"/>
              <a:t> verisi %98.76 ile daha yüksek tutarlılık göstermektedir.</a:t>
            </a:r>
            <a:br>
              <a:rPr lang="tr-TR" dirty="0" smtClean="0"/>
            </a:br>
            <a:r>
              <a:rPr lang="tr-TR" dirty="0" smtClean="0"/>
              <a:t>GPT verisi ise özellikle negatif sınıfta daha düşük tutarlılığa sahiptir. Bu durum, </a:t>
            </a:r>
            <a:r>
              <a:rPr lang="tr-TR" dirty="0" err="1" smtClean="0"/>
              <a:t>GPT’nin</a:t>
            </a:r>
            <a:r>
              <a:rPr lang="tr-TR" dirty="0" smtClean="0"/>
              <a:t> bazı durumlarda daha belirsiz veya örtük duygu ifadeleri üretmesinden kaynaklanabilir.</a:t>
            </a:r>
          </a:p>
          <a:p>
            <a:r>
              <a:rPr lang="tr-TR" dirty="0" smtClean="0"/>
              <a:t>Ayrıca referans modelin güven skoru da </a:t>
            </a:r>
            <a:r>
              <a:rPr lang="tr-TR" dirty="0" err="1" smtClean="0"/>
              <a:t>Claude</a:t>
            </a:r>
            <a:r>
              <a:rPr lang="tr-TR" dirty="0" smtClean="0"/>
              <a:t> için daha yüksektir.</a:t>
            </a:r>
            <a:br>
              <a:rPr lang="tr-TR" dirty="0" smtClean="0"/>
            </a:br>
            <a:r>
              <a:rPr lang="tr-TR" dirty="0" smtClean="0"/>
              <a:t>Bu da etiketlerin içerikle daha uyumlu olduğunu göstermektedir.</a:t>
            </a:r>
          </a:p>
          <a:p>
            <a:r>
              <a:rPr lang="tr-TR" dirty="0" smtClean="0"/>
              <a:t>Bu bulgular, GPT veri setinde gözlenen </a:t>
            </a:r>
            <a:r>
              <a:rPr lang="tr-TR" dirty="0" err="1" smtClean="0"/>
              <a:t>Recall</a:t>
            </a:r>
            <a:r>
              <a:rPr lang="tr-TR" dirty="0" smtClean="0"/>
              <a:t> ve F1-score düşüşünü açıklamaktadır.</a:t>
            </a:r>
          </a:p>
          <a:p>
            <a:r>
              <a:rPr lang="tr-TR" dirty="0" smtClean="0"/>
              <a:t>Daha düşük etiket tutarlılığı, sentetik veri performansındaki düşüşün temel nedenlerinden biridir.</a:t>
            </a:r>
          </a:p>
          <a:p>
            <a:r>
              <a:rPr lang="tr-TR" dirty="0" smtClean="0"/>
              <a:t>Bu analiz ile sentetik verideki etiket hatalarının model performansını nasıl etkilediği ortaya konmuştur.</a:t>
            </a:r>
          </a:p>
          <a:p>
            <a:r>
              <a:rPr lang="tr-TR" dirty="0" smtClean="0"/>
              <a:t>Ancak etiket doğru olsa bile, veri gerçek dağılımı temsil etmeyebilir.</a:t>
            </a:r>
            <a:br>
              <a:rPr lang="tr-TR" dirty="0" smtClean="0"/>
            </a:br>
            <a:r>
              <a:rPr lang="tr-TR" dirty="0" smtClean="0"/>
              <a:t>Bu nedenle bir sonraki adımda semantik benzerlik analizine geçiyoruz.</a:t>
            </a:r>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53</a:t>
            </a:fld>
            <a:endParaRPr lang="tr-TR"/>
          </a:p>
        </p:txBody>
      </p:sp>
    </p:spTree>
    <p:extLst>
      <p:ext uri="{BB962C8B-B14F-4D97-AF65-F5344CB8AC3E}">
        <p14:creationId xmlns:p14="http://schemas.microsoft.com/office/powerpoint/2010/main" val="12519997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Bu amaçla sentetik ve gerçek örnekler arasındaki semantik benzerlik, </a:t>
            </a:r>
            <a:r>
              <a:rPr lang="tr-TR" sz="1200" kern="1200" dirty="0" err="1" smtClean="0">
                <a:solidFill>
                  <a:schemeClr val="tx1"/>
                </a:solidFill>
                <a:effectLst/>
                <a:latin typeface="+mn-lt"/>
                <a:ea typeface="+mn-ea"/>
                <a:cs typeface="+mn-cs"/>
              </a:rPr>
              <a:t>embedding</a:t>
            </a:r>
            <a:r>
              <a:rPr lang="tr-TR" sz="1200" kern="1200" dirty="0" smtClean="0">
                <a:solidFill>
                  <a:schemeClr val="tx1"/>
                </a:solidFill>
                <a:effectLst/>
                <a:latin typeface="+mn-lt"/>
                <a:ea typeface="+mn-ea"/>
                <a:cs typeface="+mn-cs"/>
              </a:rPr>
              <a:t> temelli bir benzerlik ölçütü ile analiz edilmiştir. Bu çalışmada semantik hizalanma ölçümü için BERTScore-F1 metriği tercih edilmiştir.</a:t>
            </a:r>
          </a:p>
          <a:p>
            <a:r>
              <a:rPr lang="tr-TR" sz="1200" kern="1200" dirty="0" err="1" smtClean="0">
                <a:solidFill>
                  <a:schemeClr val="tx1"/>
                </a:solidFill>
                <a:effectLst/>
                <a:latin typeface="+mn-lt"/>
                <a:ea typeface="+mn-ea"/>
                <a:cs typeface="+mn-cs"/>
              </a:rPr>
              <a:t>BERTScore’un</a:t>
            </a:r>
            <a:r>
              <a:rPr lang="tr-TR" sz="1200" kern="1200" dirty="0" smtClean="0">
                <a:solidFill>
                  <a:schemeClr val="tx1"/>
                </a:solidFill>
                <a:effectLst/>
                <a:latin typeface="+mn-lt"/>
                <a:ea typeface="+mn-ea"/>
                <a:cs typeface="+mn-cs"/>
              </a:rPr>
              <a:t> tercih edilmesinin temel nedeni, LLM tarafından üretilen metinlerin yüzeysel sözcük örtüşmesinden ziyade anlamsal eşdeğerlik üzerinden değerlendirilmesinin gerekliliğidir. Geleneksel otomatik değerlendirme metrikleri olan BLEU ve ROUGE, n-gram tabanlı eşleşmelere dayanmaktadır.</a:t>
            </a:r>
          </a:p>
          <a:p>
            <a:r>
              <a:rPr lang="tr-TR" sz="1200" kern="1200" dirty="0" smtClean="0">
                <a:solidFill>
                  <a:schemeClr val="tx1"/>
                </a:solidFill>
                <a:effectLst/>
                <a:latin typeface="+mn-lt"/>
                <a:ea typeface="+mn-ea"/>
                <a:cs typeface="+mn-cs"/>
              </a:rPr>
              <a:t>Bu metrikler iki metin arasındaki kelime dizilimlerinin veya ardışık </a:t>
            </a:r>
            <a:r>
              <a:rPr lang="tr-TR" sz="1200" kern="1200" dirty="0" err="1" smtClean="0">
                <a:solidFill>
                  <a:schemeClr val="tx1"/>
                </a:solidFill>
                <a:effectLst/>
                <a:latin typeface="+mn-lt"/>
                <a:ea typeface="+mn-ea"/>
                <a:cs typeface="+mn-cs"/>
              </a:rPr>
              <a:t>token</a:t>
            </a:r>
            <a:r>
              <a:rPr lang="tr-TR" sz="1200" kern="1200" dirty="0" smtClean="0">
                <a:solidFill>
                  <a:schemeClr val="tx1"/>
                </a:solidFill>
                <a:effectLst/>
                <a:latin typeface="+mn-lt"/>
                <a:ea typeface="+mn-ea"/>
                <a:cs typeface="+mn-cs"/>
              </a:rPr>
              <a:t> örtüşmelerinin oranını ölçmektedir. Ancak bu yaklaşım, özellikle üretici modeller tarafından oluşturulan metinlerde ciddi sınırlılıklar taşımaktadır. Çünkü LLM üretimleri aynı semantik içeriği farklı sözcük seçimleri ve </a:t>
            </a:r>
            <a:r>
              <a:rPr lang="en-US" sz="1200" kern="1200" dirty="0" err="1" smtClean="0">
                <a:solidFill>
                  <a:schemeClr val="tx1"/>
                </a:solidFill>
                <a:effectLst/>
                <a:latin typeface="+mn-lt"/>
                <a:ea typeface="+mn-ea"/>
                <a:cs typeface="+mn-cs"/>
              </a:rPr>
              <a:t>farklı</a:t>
            </a:r>
            <a:r>
              <a:rPr lang="en-US" sz="120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cümle</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yapıları</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aracılığıyla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ifade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edebilmektedir</a:t>
            </a:r>
            <a:r>
              <a:rPr lang="tr-TR" sz="1200" kern="1200" dirty="0" smtClean="0">
                <a:solidFill>
                  <a:schemeClr val="tx1"/>
                </a:solidFill>
                <a:effectLst/>
                <a:latin typeface="+mn-lt"/>
                <a:ea typeface="+mn-ea"/>
                <a:cs typeface="+mn-cs"/>
              </a:rPr>
              <a:t>. Bu durumda n-gram örtüşmesine dayalı metrikler, anlamsal olarak doğru ancak </a:t>
            </a:r>
            <a:r>
              <a:rPr lang="tr-TR" sz="1200" kern="1200" dirty="0" err="1" smtClean="0">
                <a:solidFill>
                  <a:schemeClr val="tx1"/>
                </a:solidFill>
                <a:effectLst/>
                <a:latin typeface="+mn-lt"/>
                <a:ea typeface="+mn-ea"/>
                <a:cs typeface="+mn-cs"/>
              </a:rPr>
              <a:t>sözcüksel</a:t>
            </a:r>
            <a:r>
              <a:rPr lang="tr-TR" sz="1200" kern="1200" dirty="0" smtClean="0">
                <a:solidFill>
                  <a:schemeClr val="tx1"/>
                </a:solidFill>
                <a:effectLst/>
                <a:latin typeface="+mn-lt"/>
                <a:ea typeface="+mn-ea"/>
                <a:cs typeface="+mn-cs"/>
              </a:rPr>
              <a:t> olarak farklı ifadeleri düşük skorla değerlendirebilmektedir.</a:t>
            </a:r>
          </a:p>
          <a:p>
            <a:r>
              <a:rPr lang="tr-TR" b="1" dirty="0" smtClean="0"/>
              <a:t>🎓 4. Bu Çalışmada Nasıl Kullanıldı?</a:t>
            </a:r>
          </a:p>
          <a:p>
            <a:r>
              <a:rPr lang="tr-TR" dirty="0" smtClean="0"/>
              <a:t>Her sentetik metin,</a:t>
            </a:r>
            <a:br>
              <a:rPr lang="tr-TR" dirty="0" smtClean="0"/>
            </a:br>
            <a:r>
              <a:rPr lang="tr-TR" dirty="0" smtClean="0"/>
              <a:t>aynı duygu sınıfındaki gerçek veri ile karşılaştırıldı.</a:t>
            </a:r>
          </a:p>
          <a:p>
            <a:r>
              <a:rPr lang="tr-TR" dirty="0" smtClean="0"/>
              <a:t>👉 Amaç:</a:t>
            </a:r>
          </a:p>
          <a:p>
            <a:r>
              <a:rPr lang="tr-TR" dirty="0" smtClean="0"/>
              <a:t>Sadece doğru etiket mi? </a:t>
            </a:r>
          </a:p>
          <a:p>
            <a:r>
              <a:rPr lang="tr-TR" dirty="0" smtClean="0"/>
              <a:t>Yoksa gerçekten o sınıfa </a:t>
            </a:r>
            <a:r>
              <a:rPr lang="tr-TR" b="1" dirty="0" smtClean="0"/>
              <a:t>anlamsal olarak uygun mu?</a:t>
            </a:r>
            <a:endParaRPr lang="tr-TR" dirty="0" smtClean="0"/>
          </a:p>
          <a:p>
            <a:r>
              <a:rPr lang="tr-TR" dirty="0" smtClean="0"/>
              <a:t>Sonuçlara göre </a:t>
            </a:r>
            <a:r>
              <a:rPr lang="tr-TR" dirty="0" err="1" smtClean="0"/>
              <a:t>Claude</a:t>
            </a:r>
            <a:r>
              <a:rPr lang="tr-TR" dirty="0" smtClean="0"/>
              <a:t> verisi, </a:t>
            </a:r>
            <a:r>
              <a:rPr lang="tr-TR" dirty="0" err="1" smtClean="0"/>
              <a:t>GPT’ye</a:t>
            </a:r>
            <a:r>
              <a:rPr lang="tr-TR" dirty="0" smtClean="0"/>
              <a:t> kıyasla daha yüksek BERTScore-F1 değerine sahiptir.</a:t>
            </a:r>
            <a:br>
              <a:rPr lang="tr-TR" dirty="0" smtClean="0"/>
            </a:br>
            <a:r>
              <a:rPr lang="tr-TR" dirty="0" smtClean="0"/>
              <a:t>Bu durum, </a:t>
            </a:r>
            <a:r>
              <a:rPr lang="tr-TR" dirty="0" err="1" smtClean="0"/>
              <a:t>Claude</a:t>
            </a:r>
            <a:r>
              <a:rPr lang="tr-TR" dirty="0" smtClean="0"/>
              <a:t> tarafından üretilen metinlerin gerçek veri ile </a:t>
            </a:r>
            <a:r>
              <a:rPr lang="tr-TR" b="1" dirty="0" smtClean="0"/>
              <a:t>anlamsal olarak daha uyumlu</a:t>
            </a:r>
            <a:r>
              <a:rPr lang="tr-TR" dirty="0" smtClean="0"/>
              <a:t> olduğunu göstermektedir. Ayrıca </a:t>
            </a:r>
            <a:r>
              <a:rPr lang="tr-TR" dirty="0" err="1" smtClean="0"/>
              <a:t>Claude’un</a:t>
            </a:r>
            <a:r>
              <a:rPr lang="tr-TR" dirty="0" smtClean="0"/>
              <a:t> standart sapma değerinin daha düşük olması, üretimlerin daha </a:t>
            </a:r>
            <a:r>
              <a:rPr lang="tr-TR" b="1" dirty="0" smtClean="0"/>
              <a:t>kararlı ve tutarlı</a:t>
            </a:r>
            <a:r>
              <a:rPr lang="tr-TR" dirty="0" smtClean="0"/>
              <a:t> olduğunu göstermektedir.</a:t>
            </a:r>
          </a:p>
          <a:p>
            <a:r>
              <a:rPr lang="tr-TR" dirty="0" smtClean="0"/>
              <a:t>Buna karşılık GPT verisi daha düşük ortalama ve daha yüksek </a:t>
            </a:r>
            <a:r>
              <a:rPr lang="tr-TR" dirty="0" err="1" smtClean="0"/>
              <a:t>varyans</a:t>
            </a:r>
            <a:r>
              <a:rPr lang="tr-TR" dirty="0" smtClean="0"/>
              <a:t> ile</a:t>
            </a:r>
            <a:br>
              <a:rPr lang="tr-TR" dirty="0" smtClean="0"/>
            </a:br>
            <a:r>
              <a:rPr lang="tr-TR" b="1" dirty="0" smtClean="0"/>
              <a:t>daha fazla semantik sapma</a:t>
            </a:r>
            <a:r>
              <a:rPr lang="tr-TR" dirty="0" smtClean="0"/>
              <a:t> içermektedir.</a:t>
            </a:r>
          </a:p>
          <a:p>
            <a:r>
              <a:rPr lang="tr-TR" dirty="0" smtClean="0"/>
              <a:t>Bu sonuç, sentetik verinin sadece doğru etiket üretmesinin yeterli olmadığını,</a:t>
            </a:r>
            <a:br>
              <a:rPr lang="tr-TR" dirty="0" smtClean="0"/>
            </a:br>
            <a:r>
              <a:rPr lang="tr-TR" dirty="0" smtClean="0"/>
              <a:t>aynı zamanda gerçek veri dağılımına </a:t>
            </a:r>
            <a:r>
              <a:rPr lang="tr-TR" b="1" dirty="0" smtClean="0"/>
              <a:t>anlamsal olarak da yakın olması gerektiğini</a:t>
            </a:r>
            <a:r>
              <a:rPr lang="tr-TR" dirty="0" smtClean="0"/>
              <a:t> göstermektedir.</a:t>
            </a:r>
          </a:p>
          <a:p>
            <a:r>
              <a:rPr lang="tr-TR" dirty="0" smtClean="0"/>
              <a:t>Bu bulgular, </a:t>
            </a:r>
            <a:r>
              <a:rPr lang="tr-TR" dirty="0" err="1" smtClean="0"/>
              <a:t>hibrit</a:t>
            </a:r>
            <a:r>
              <a:rPr lang="tr-TR" dirty="0" smtClean="0"/>
              <a:t> veri kullanımının neden daha iyi performans verdiğini açıklamaktadır.</a:t>
            </a:r>
          </a:p>
          <a:p>
            <a:r>
              <a:rPr lang="tr-TR" dirty="0" smtClean="0"/>
              <a:t>Sentetik veri tek başına kullanıldığında,</a:t>
            </a:r>
            <a:br>
              <a:rPr lang="tr-TR" dirty="0" smtClean="0"/>
            </a:br>
            <a:r>
              <a:rPr lang="tr-TR" dirty="0" smtClean="0"/>
              <a:t>etiket hataları ve semantik sapmalar model performansını düşürmektedir.</a:t>
            </a:r>
          </a:p>
          <a:p>
            <a:r>
              <a:rPr lang="tr-TR" dirty="0" smtClean="0"/>
              <a:t>Ancak </a:t>
            </a:r>
            <a:r>
              <a:rPr lang="tr-TR" dirty="0" err="1" smtClean="0"/>
              <a:t>hibrit</a:t>
            </a:r>
            <a:r>
              <a:rPr lang="tr-TR" dirty="0" smtClean="0"/>
              <a:t> kullanımda:</a:t>
            </a:r>
            <a:br>
              <a:rPr lang="tr-TR" dirty="0" smtClean="0"/>
            </a:br>
            <a:r>
              <a:rPr lang="tr-TR" dirty="0" smtClean="0"/>
              <a:t>gerçek veri bu hataları dengelemekte ve modelin genelleme kapasitesini korumaktadır.</a:t>
            </a:r>
          </a:p>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Sentetik veri, tek başına yeterli değildir;</a:t>
            </a:r>
            <a:br>
              <a:rPr lang="tr-TR" dirty="0" smtClean="0"/>
            </a:br>
            <a:r>
              <a:rPr lang="tr-TR" dirty="0" smtClean="0"/>
              <a:t>ancak gerçek veri ile birlikte kullanıldığında performansı destekleyen bir bileşen haline gelmektedir.</a:t>
            </a:r>
          </a:p>
          <a:p>
            <a:endParaRPr lang="tr-TR" dirty="0" smtClean="0"/>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54</a:t>
            </a:fld>
            <a:endParaRPr lang="tr-TR"/>
          </a:p>
        </p:txBody>
      </p:sp>
    </p:spTree>
    <p:extLst>
      <p:ext uri="{BB962C8B-B14F-4D97-AF65-F5344CB8AC3E}">
        <p14:creationId xmlns:p14="http://schemas.microsoft.com/office/powerpoint/2010/main" val="33796987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dirty="0" smtClean="0"/>
              <a:t>🎯 Neden önemli?</a:t>
            </a:r>
          </a:p>
          <a:p>
            <a:r>
              <a:rPr lang="tr-TR" dirty="0" smtClean="0"/>
              <a:t>Çünkü soru şu:</a:t>
            </a:r>
          </a:p>
          <a:p>
            <a:r>
              <a:rPr lang="tr-TR" dirty="0" smtClean="0"/>
              <a:t>👉 “Sentetik veri ne kadar kullanılmalı?”</a:t>
            </a:r>
          </a:p>
          <a:p>
            <a:r>
              <a:rPr lang="tr-TR" dirty="0" smtClean="0"/>
              <a:t>Test seti sabit tutulmuş,</a:t>
            </a:r>
            <a:br>
              <a:rPr lang="tr-TR" dirty="0" smtClean="0"/>
            </a:br>
            <a:r>
              <a:rPr lang="tr-TR" dirty="0" smtClean="0"/>
              <a:t>sadece eğitim setine %25, %50 ve %75 oranlarında sentetik veri eklenmiştir.</a:t>
            </a:r>
          </a:p>
          <a:p>
            <a:r>
              <a:rPr lang="tr-TR" dirty="0" smtClean="0"/>
              <a:t>👉 Böylece:</a:t>
            </a:r>
          </a:p>
          <a:p>
            <a:r>
              <a:rPr lang="tr-TR" dirty="0" smtClean="0"/>
              <a:t>Performans değişimi sadece </a:t>
            </a:r>
            <a:r>
              <a:rPr lang="tr-TR" b="1" dirty="0" smtClean="0"/>
              <a:t>sentetik oranından</a:t>
            </a:r>
            <a:r>
              <a:rPr lang="tr-TR" dirty="0" smtClean="0"/>
              <a:t> kaynaklanır.</a:t>
            </a:r>
          </a:p>
          <a:p>
            <a:r>
              <a:rPr lang="tr-TR" dirty="0" err="1" smtClean="0"/>
              <a:t>Claude</a:t>
            </a:r>
            <a:r>
              <a:rPr lang="tr-TR" dirty="0" smtClean="0"/>
              <a:t> verisi kaliteli olduğu için orta seviyede güçlü katkı sağlıyor</a:t>
            </a:r>
            <a:br>
              <a:rPr lang="tr-TR" dirty="0" smtClean="0"/>
            </a:br>
            <a:r>
              <a:rPr lang="tr-TR" dirty="0" smtClean="0"/>
              <a:t>ancak fazla eklendiğinde ek fayda azalıyor. GPT daha fazla çeşitlilik sağlıyor</a:t>
            </a:r>
            <a:br>
              <a:rPr lang="tr-TR" dirty="0" smtClean="0"/>
            </a:br>
            <a:r>
              <a:rPr lang="tr-TR" dirty="0" smtClean="0"/>
              <a:t>ama aynı zamanda daha fazla gürültü içeriyor</a:t>
            </a:r>
          </a:p>
          <a:p>
            <a:r>
              <a:rPr lang="tr-TR" dirty="0" smtClean="0"/>
              <a:t>Sentetik veri, gerçek veri baskın kaldığı sürece performansı destekleyen bir bileşendir;</a:t>
            </a:r>
            <a:br>
              <a:rPr lang="tr-TR" dirty="0" smtClean="0"/>
            </a:br>
            <a:r>
              <a:rPr lang="tr-TR" dirty="0" smtClean="0"/>
              <a:t>ancak tek başına kullanıldığında performansı düşürmektedir.</a:t>
            </a:r>
          </a:p>
          <a:p>
            <a:r>
              <a:rPr lang="tr-TR" dirty="0" smtClean="0"/>
              <a:t>En iyi performans, dengeli </a:t>
            </a:r>
            <a:r>
              <a:rPr lang="tr-TR" dirty="0" err="1" smtClean="0"/>
              <a:t>hibrit</a:t>
            </a:r>
            <a:r>
              <a:rPr lang="tr-TR" dirty="0" smtClean="0"/>
              <a:t> kullanımda elde edilmektedir.</a:t>
            </a:r>
          </a:p>
          <a:p>
            <a:r>
              <a:rPr lang="tr-TR" dirty="0" smtClean="0"/>
              <a:t>👉 “Neden %50 en iyi?”</a:t>
            </a:r>
          </a:p>
          <a:p>
            <a:r>
              <a:rPr lang="tr-TR" dirty="0" smtClean="0"/>
              <a:t>Cevap:</a:t>
            </a:r>
          </a:p>
          <a:p>
            <a:r>
              <a:rPr lang="tr-TR" dirty="0" smtClean="0"/>
              <a:t>Çünkü bu noktada çeşitlilik artışı ile etiket gürültüsü dengelenmektedir.</a:t>
            </a:r>
          </a:p>
          <a:p>
            <a:endParaRPr lang="tr-TR" dirty="0" smtClean="0"/>
          </a:p>
          <a:p>
            <a:r>
              <a:rPr lang="tr-TR" dirty="0" smtClean="0"/>
              <a:t>.</a:t>
            </a:r>
          </a:p>
          <a:p>
            <a:endParaRPr lang="tr-TR" dirty="0" smtClean="0"/>
          </a:p>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55</a:t>
            </a:fld>
            <a:endParaRPr lang="tr-TR"/>
          </a:p>
        </p:txBody>
      </p:sp>
    </p:spTree>
    <p:extLst>
      <p:ext uri="{BB962C8B-B14F-4D97-AF65-F5344CB8AC3E}">
        <p14:creationId xmlns:p14="http://schemas.microsoft.com/office/powerpoint/2010/main" val="10074298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56</a:t>
            </a:fld>
            <a:endParaRPr lang="tr-TR"/>
          </a:p>
        </p:txBody>
      </p:sp>
    </p:spTree>
    <p:extLst>
      <p:ext uri="{BB962C8B-B14F-4D97-AF65-F5344CB8AC3E}">
        <p14:creationId xmlns:p14="http://schemas.microsoft.com/office/powerpoint/2010/main" val="34296973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9DF1655-0007-4B8F-B21B-22A39B59BE28}" type="slidenum">
              <a:rPr lang="tr-TR" smtClean="0"/>
              <a:t>57</a:t>
            </a:fld>
            <a:endParaRPr lang="tr-TR"/>
          </a:p>
        </p:txBody>
      </p:sp>
    </p:spTree>
    <p:extLst>
      <p:ext uri="{BB962C8B-B14F-4D97-AF65-F5344CB8AC3E}">
        <p14:creationId xmlns:p14="http://schemas.microsoft.com/office/powerpoint/2010/main" val="1974625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a:extLst>
              <a:ext uri="{FF2B5EF4-FFF2-40B4-BE49-F238E27FC236}">
                <a16:creationId xmlns="" xmlns:a16="http://schemas.microsoft.com/office/drawing/2014/main" id="{AD0C4788-7D5D-134A-8820-A8014A5A4B4E}"/>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 xmlns:a16="http://schemas.microsoft.com/office/drawing/2014/main" id="{A3B4AF8C-D908-0D4F-9A33-7884A28730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 xmlns:a16="http://schemas.microsoft.com/office/drawing/2014/main" id="{1056CB73-98DC-1248-AFEB-DDD988204014}"/>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5" name="Alt Bilgi Yer Tutucusu 4">
            <a:extLst>
              <a:ext uri="{FF2B5EF4-FFF2-40B4-BE49-F238E27FC236}">
                <a16:creationId xmlns="" xmlns:a16="http://schemas.microsoft.com/office/drawing/2014/main" id="{3D153494-760E-264D-94E8-5FDA2F68D5E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 xmlns:a16="http://schemas.microsoft.com/office/drawing/2014/main" id="{6B2549A3-98AA-534C-9414-484734F24EDC}"/>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1100672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a:extLst>
              <a:ext uri="{FF2B5EF4-FFF2-40B4-BE49-F238E27FC236}">
                <a16:creationId xmlns="" xmlns:a16="http://schemas.microsoft.com/office/drawing/2014/main" id="{A08D326B-BBB6-B74D-8D69-1578CB379CB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 xmlns:a16="http://schemas.microsoft.com/office/drawing/2014/main" id="{EC66AE3D-F7D8-8F4A-937A-024074F8B5C7}"/>
              </a:ext>
            </a:extLst>
          </p:cNvPr>
          <p:cNvSpPr>
            <a:spLocks noGrp="1"/>
          </p:cNvSpPr>
          <p:nvPr>
            <p:ph idx="1"/>
          </p:nvPr>
        </p:nvSpPr>
        <p:spPr/>
        <p:txBody>
          <a:bodyPr/>
          <a:lstStyle/>
          <a:p>
            <a:r>
              <a:rPr lang="tr-TR"/>
              <a:t>Asıl metin stillerini düzenle
İkinci düzey
Üçüncü düzey
Dördüncü düzey
Beşinci düzey</a:t>
            </a:r>
          </a:p>
        </p:txBody>
      </p:sp>
      <p:sp>
        <p:nvSpPr>
          <p:cNvPr id="4" name="Veri Yer Tutucusu 3">
            <a:extLst>
              <a:ext uri="{FF2B5EF4-FFF2-40B4-BE49-F238E27FC236}">
                <a16:creationId xmlns="" xmlns:a16="http://schemas.microsoft.com/office/drawing/2014/main" id="{443394B5-BD94-2347-91DF-BAA18816353B}"/>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5" name="Alt Bilgi Yer Tutucusu 4">
            <a:extLst>
              <a:ext uri="{FF2B5EF4-FFF2-40B4-BE49-F238E27FC236}">
                <a16:creationId xmlns="" xmlns:a16="http://schemas.microsoft.com/office/drawing/2014/main" id="{5D073334-99A9-074E-96D5-43D6089E4DA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 xmlns:a16="http://schemas.microsoft.com/office/drawing/2014/main" id="{FEFA85EA-C19C-F441-A843-B6C86926ED46}"/>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1222116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Unvan 1">
            <a:extLst>
              <a:ext uri="{FF2B5EF4-FFF2-40B4-BE49-F238E27FC236}">
                <a16:creationId xmlns="" xmlns:a16="http://schemas.microsoft.com/office/drawing/2014/main" id="{F520CC87-A434-124E-9652-1480FD26F995}"/>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 xmlns:a16="http://schemas.microsoft.com/office/drawing/2014/main" id="{C0A994C4-E145-BB45-890D-61B5595E88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tr-TR"/>
              <a:t>Asıl metin stillerini düzenle
İkinci düzey
Üçüncü düzey
Dördüncü düzey
Beşinci düzey</a:t>
            </a:r>
          </a:p>
        </p:txBody>
      </p:sp>
      <p:sp>
        <p:nvSpPr>
          <p:cNvPr id="4" name="Veri Yer Tutucusu 3">
            <a:extLst>
              <a:ext uri="{FF2B5EF4-FFF2-40B4-BE49-F238E27FC236}">
                <a16:creationId xmlns="" xmlns:a16="http://schemas.microsoft.com/office/drawing/2014/main" id="{1C8A6B93-EE98-954C-9560-9261255AF8BA}"/>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5" name="Alt Bilgi Yer Tutucusu 4">
            <a:extLst>
              <a:ext uri="{FF2B5EF4-FFF2-40B4-BE49-F238E27FC236}">
                <a16:creationId xmlns="" xmlns:a16="http://schemas.microsoft.com/office/drawing/2014/main" id="{8C2C9D7D-4CA4-0741-A1F9-1A13877EB17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 xmlns:a16="http://schemas.microsoft.com/office/drawing/2014/main" id="{7A0E5C13-EDD5-4B44-9BBD-B3FBDFC7FD43}"/>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2178463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a:extLst>
              <a:ext uri="{FF2B5EF4-FFF2-40B4-BE49-F238E27FC236}">
                <a16:creationId xmlns="" xmlns:a16="http://schemas.microsoft.com/office/drawing/2014/main" id="{84BFEE0A-6760-7F42-A405-E6D78826F67D}"/>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 xmlns:a16="http://schemas.microsoft.com/office/drawing/2014/main" id="{5A479F52-B6D9-934C-9AAD-6B1E77BF0288}"/>
              </a:ext>
            </a:extLst>
          </p:cNvPr>
          <p:cNvSpPr>
            <a:spLocks noGrp="1"/>
          </p:cNvSpPr>
          <p:nvPr>
            <p:ph sz="half" idx="1"/>
          </p:nvPr>
        </p:nvSpPr>
        <p:spPr>
          <a:xfrm>
            <a:off x="838200" y="1825625"/>
            <a:ext cx="5181600" cy="4351338"/>
          </a:xfrm>
        </p:spPr>
        <p:txBody>
          <a:bodyPr/>
          <a:lstStyle/>
          <a:p>
            <a:r>
              <a:rPr lang="tr-TR"/>
              <a:t>Asıl metin stillerini düzenle
İkinci düzey
Üçüncü düzey
Dördüncü düzey
Beşinci düzey</a:t>
            </a:r>
          </a:p>
        </p:txBody>
      </p:sp>
      <p:sp>
        <p:nvSpPr>
          <p:cNvPr id="4" name="İçerik Yer Tutucusu 3">
            <a:extLst>
              <a:ext uri="{FF2B5EF4-FFF2-40B4-BE49-F238E27FC236}">
                <a16:creationId xmlns="" xmlns:a16="http://schemas.microsoft.com/office/drawing/2014/main" id="{EFB02E2A-BE8C-FA46-B60F-883B78C61A6B}"/>
              </a:ext>
            </a:extLst>
          </p:cNvPr>
          <p:cNvSpPr>
            <a:spLocks noGrp="1"/>
          </p:cNvSpPr>
          <p:nvPr>
            <p:ph sz="half" idx="2"/>
          </p:nvPr>
        </p:nvSpPr>
        <p:spPr>
          <a:xfrm>
            <a:off x="6172200" y="1825625"/>
            <a:ext cx="5181600" cy="4351338"/>
          </a:xfrm>
        </p:spPr>
        <p:txBody>
          <a:bodyPr/>
          <a:lstStyle/>
          <a:p>
            <a:r>
              <a:rPr lang="tr-TR"/>
              <a:t>Asıl metin stillerini düzenle
İkinci düzey
Üçüncü düzey
Dördüncü düzey
Beşinci düzey</a:t>
            </a:r>
          </a:p>
        </p:txBody>
      </p:sp>
      <p:sp>
        <p:nvSpPr>
          <p:cNvPr id="5" name="Veri Yer Tutucusu 4">
            <a:extLst>
              <a:ext uri="{FF2B5EF4-FFF2-40B4-BE49-F238E27FC236}">
                <a16:creationId xmlns="" xmlns:a16="http://schemas.microsoft.com/office/drawing/2014/main" id="{6AC1EEE3-15F8-0148-8095-3066273F8008}"/>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6" name="Alt Bilgi Yer Tutucusu 5">
            <a:extLst>
              <a:ext uri="{FF2B5EF4-FFF2-40B4-BE49-F238E27FC236}">
                <a16:creationId xmlns="" xmlns:a16="http://schemas.microsoft.com/office/drawing/2014/main" id="{30728831-B847-BA40-9BC2-20F09A28D31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 xmlns:a16="http://schemas.microsoft.com/office/drawing/2014/main" id="{4B86C146-586E-BF49-8C20-26DF98447D6E}"/>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3969868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a:extLst>
              <a:ext uri="{FF2B5EF4-FFF2-40B4-BE49-F238E27FC236}">
                <a16:creationId xmlns="" xmlns:a16="http://schemas.microsoft.com/office/drawing/2014/main" id="{B67D05EB-A8DB-7342-B867-34659BF44F79}"/>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 xmlns:a16="http://schemas.microsoft.com/office/drawing/2014/main" id="{B26BC90E-D40A-EC49-BA4E-B9C7907EB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tr-TR"/>
              <a:t>Asıl metin stillerini düzenle
İkinci düzey
Üçüncü düzey
Dördüncü düzey
Beşinci düzey</a:t>
            </a:r>
          </a:p>
        </p:txBody>
      </p:sp>
      <p:sp>
        <p:nvSpPr>
          <p:cNvPr id="4" name="İçerik Yer Tutucusu 3">
            <a:extLst>
              <a:ext uri="{FF2B5EF4-FFF2-40B4-BE49-F238E27FC236}">
                <a16:creationId xmlns="" xmlns:a16="http://schemas.microsoft.com/office/drawing/2014/main" id="{E797ED58-E727-FF45-925A-838534EBD429}"/>
              </a:ext>
            </a:extLst>
          </p:cNvPr>
          <p:cNvSpPr>
            <a:spLocks noGrp="1"/>
          </p:cNvSpPr>
          <p:nvPr>
            <p:ph sz="half" idx="2"/>
          </p:nvPr>
        </p:nvSpPr>
        <p:spPr>
          <a:xfrm>
            <a:off x="839788" y="2505075"/>
            <a:ext cx="5157787" cy="3684588"/>
          </a:xfrm>
        </p:spPr>
        <p:txBody>
          <a:bodyPr/>
          <a:lstStyle/>
          <a:p>
            <a:r>
              <a:rPr lang="tr-TR"/>
              <a:t>Asıl metin stillerini düzenle
İkinci düzey
Üçüncü düzey
Dördüncü düzey
Beşinci düzey</a:t>
            </a:r>
          </a:p>
        </p:txBody>
      </p:sp>
      <p:sp>
        <p:nvSpPr>
          <p:cNvPr id="5" name="Metin Yer Tutucusu 4">
            <a:extLst>
              <a:ext uri="{FF2B5EF4-FFF2-40B4-BE49-F238E27FC236}">
                <a16:creationId xmlns="" xmlns:a16="http://schemas.microsoft.com/office/drawing/2014/main" id="{E7D7AF8C-7E08-0549-845A-7161BA2342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tr-TR"/>
              <a:t>Asıl metin stillerini düzenle
İkinci düzey
Üçüncü düzey
Dördüncü düzey
Beşinci düzey</a:t>
            </a:r>
          </a:p>
        </p:txBody>
      </p:sp>
      <p:sp>
        <p:nvSpPr>
          <p:cNvPr id="6" name="İçerik Yer Tutucusu 5">
            <a:extLst>
              <a:ext uri="{FF2B5EF4-FFF2-40B4-BE49-F238E27FC236}">
                <a16:creationId xmlns="" xmlns:a16="http://schemas.microsoft.com/office/drawing/2014/main" id="{F5E8D699-5F7A-164B-9EA5-2ABE2F52D198}"/>
              </a:ext>
            </a:extLst>
          </p:cNvPr>
          <p:cNvSpPr>
            <a:spLocks noGrp="1"/>
          </p:cNvSpPr>
          <p:nvPr>
            <p:ph sz="quarter" idx="4"/>
          </p:nvPr>
        </p:nvSpPr>
        <p:spPr>
          <a:xfrm>
            <a:off x="6172200" y="2505075"/>
            <a:ext cx="5183188" cy="3684588"/>
          </a:xfrm>
        </p:spPr>
        <p:txBody>
          <a:bodyPr/>
          <a:lstStyle/>
          <a:p>
            <a:r>
              <a:rPr lang="tr-TR"/>
              <a:t>Asıl metin stillerini düzenle
İkinci düzey
Üçüncü düzey
Dördüncü düzey
Beşinci düzey</a:t>
            </a:r>
          </a:p>
        </p:txBody>
      </p:sp>
      <p:sp>
        <p:nvSpPr>
          <p:cNvPr id="7" name="Veri Yer Tutucusu 6">
            <a:extLst>
              <a:ext uri="{FF2B5EF4-FFF2-40B4-BE49-F238E27FC236}">
                <a16:creationId xmlns="" xmlns:a16="http://schemas.microsoft.com/office/drawing/2014/main" id="{EA12DB34-CB23-8545-AD1C-0D5EC5B08495}"/>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8" name="Alt Bilgi Yer Tutucusu 7">
            <a:extLst>
              <a:ext uri="{FF2B5EF4-FFF2-40B4-BE49-F238E27FC236}">
                <a16:creationId xmlns="" xmlns:a16="http://schemas.microsoft.com/office/drawing/2014/main" id="{508C2A41-F744-D441-8DF1-9FA6F68937A9}"/>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 xmlns:a16="http://schemas.microsoft.com/office/drawing/2014/main" id="{683B9885-9FBC-874E-AE3E-FAC3FABAD42D}"/>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3048487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a:extLst>
              <a:ext uri="{FF2B5EF4-FFF2-40B4-BE49-F238E27FC236}">
                <a16:creationId xmlns="" xmlns:a16="http://schemas.microsoft.com/office/drawing/2014/main" id="{9CC1FD8C-0C97-674C-A734-5E18DAC9E04B}"/>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 xmlns:a16="http://schemas.microsoft.com/office/drawing/2014/main" id="{A6D439C7-06CA-1F45-937E-B3ED746C2369}"/>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4" name="Alt Bilgi Yer Tutucusu 3">
            <a:extLst>
              <a:ext uri="{FF2B5EF4-FFF2-40B4-BE49-F238E27FC236}">
                <a16:creationId xmlns="" xmlns:a16="http://schemas.microsoft.com/office/drawing/2014/main" id="{0B054CB0-3462-504A-9F1B-2AD41B772790}"/>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 xmlns:a16="http://schemas.microsoft.com/office/drawing/2014/main" id="{76F0565D-110B-E74C-99E1-0B9ED7DA4A41}"/>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951937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 xmlns:a16="http://schemas.microsoft.com/office/drawing/2014/main" id="{AC76CFD4-DBA2-1245-8DC2-31E6FA77EDE0}"/>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3" name="Alt Bilgi Yer Tutucusu 2">
            <a:extLst>
              <a:ext uri="{FF2B5EF4-FFF2-40B4-BE49-F238E27FC236}">
                <a16:creationId xmlns="" xmlns:a16="http://schemas.microsoft.com/office/drawing/2014/main" id="{4E89D811-38DC-3D45-BE5D-5C488E5D0477}"/>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 xmlns:a16="http://schemas.microsoft.com/office/drawing/2014/main" id="{664D3600-4C56-F149-AD85-C0A569926002}"/>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1264063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a:extLst>
              <a:ext uri="{FF2B5EF4-FFF2-40B4-BE49-F238E27FC236}">
                <a16:creationId xmlns="" xmlns:a16="http://schemas.microsoft.com/office/drawing/2014/main" id="{D7F199AD-A7BA-AA41-A4C7-8300727C6179}"/>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 xmlns:a16="http://schemas.microsoft.com/office/drawing/2014/main" id="{95A41BC7-A722-7D41-BB44-2A80E8BB69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tr-TR"/>
              <a:t>Asıl metin stillerini düzenle
İkinci düzey
Üçüncü düzey
Dördüncü düzey
Beşinci düzey</a:t>
            </a:r>
          </a:p>
        </p:txBody>
      </p:sp>
      <p:sp>
        <p:nvSpPr>
          <p:cNvPr id="4" name="Metin Yer Tutucusu 3">
            <a:extLst>
              <a:ext uri="{FF2B5EF4-FFF2-40B4-BE49-F238E27FC236}">
                <a16:creationId xmlns="" xmlns:a16="http://schemas.microsoft.com/office/drawing/2014/main" id="{104A0345-9769-EC4A-BEFC-8E792E48BF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tr-TR"/>
              <a:t>Asıl metin stillerini düzenle
İkinci düzey
Üçüncü düzey
Dördüncü düzey
Beşinci düzey</a:t>
            </a:r>
          </a:p>
        </p:txBody>
      </p:sp>
      <p:sp>
        <p:nvSpPr>
          <p:cNvPr id="5" name="Veri Yer Tutucusu 4">
            <a:extLst>
              <a:ext uri="{FF2B5EF4-FFF2-40B4-BE49-F238E27FC236}">
                <a16:creationId xmlns="" xmlns:a16="http://schemas.microsoft.com/office/drawing/2014/main" id="{E07ABA62-19F4-EC49-AD07-E9268C692A9D}"/>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6" name="Alt Bilgi Yer Tutucusu 5">
            <a:extLst>
              <a:ext uri="{FF2B5EF4-FFF2-40B4-BE49-F238E27FC236}">
                <a16:creationId xmlns="" xmlns:a16="http://schemas.microsoft.com/office/drawing/2014/main" id="{925780C5-6D32-304B-A630-383C5A51B7F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 xmlns:a16="http://schemas.microsoft.com/office/drawing/2014/main" id="{1DFDD5F6-4C1C-8D41-881A-9F9FA7844813}"/>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2660261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a:extLst>
              <a:ext uri="{FF2B5EF4-FFF2-40B4-BE49-F238E27FC236}">
                <a16:creationId xmlns="" xmlns:a16="http://schemas.microsoft.com/office/drawing/2014/main" id="{268B7625-703A-B541-8FA0-E5447378E57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 xmlns:a16="http://schemas.microsoft.com/office/drawing/2014/main" id="{56A7F85C-2478-A94D-98CB-0A3CE07802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 xmlns:a16="http://schemas.microsoft.com/office/drawing/2014/main" id="{4F8153E7-F689-2B4B-977D-5AEDFF26A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tr-TR"/>
              <a:t>Asıl metin stillerini düzenle
İkinci düzey
Üçüncü düzey
Dördüncü düzey
Beşinci düzey</a:t>
            </a:r>
          </a:p>
        </p:txBody>
      </p:sp>
      <p:sp>
        <p:nvSpPr>
          <p:cNvPr id="5" name="Veri Yer Tutucusu 4">
            <a:extLst>
              <a:ext uri="{FF2B5EF4-FFF2-40B4-BE49-F238E27FC236}">
                <a16:creationId xmlns="" xmlns:a16="http://schemas.microsoft.com/office/drawing/2014/main" id="{5578E1C3-3EE6-F248-9063-5AFBF34777DF}"/>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6" name="Alt Bilgi Yer Tutucusu 5">
            <a:extLst>
              <a:ext uri="{FF2B5EF4-FFF2-40B4-BE49-F238E27FC236}">
                <a16:creationId xmlns="" xmlns:a16="http://schemas.microsoft.com/office/drawing/2014/main" id="{616081FE-F378-2841-9F40-9DF4C58BB3D9}"/>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 xmlns:a16="http://schemas.microsoft.com/office/drawing/2014/main" id="{FD7D8CC5-238D-2642-B0ED-FED5E7016638}"/>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50119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a:extLst>
              <a:ext uri="{FF2B5EF4-FFF2-40B4-BE49-F238E27FC236}">
                <a16:creationId xmlns="" xmlns:a16="http://schemas.microsoft.com/office/drawing/2014/main" id="{F8CD05F7-6BDB-B846-8D02-DB61842C4816}"/>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 xmlns:a16="http://schemas.microsoft.com/office/drawing/2014/main" id="{EFF3A138-7E53-6E4F-91A2-8073B768FAB9}"/>
              </a:ext>
            </a:extLst>
          </p:cNvPr>
          <p:cNvSpPr>
            <a:spLocks noGrp="1"/>
          </p:cNvSpPr>
          <p:nvPr>
            <p:ph type="body" orient="vert" idx="1"/>
          </p:nvPr>
        </p:nvSpPr>
        <p:spPr/>
        <p:txBody>
          <a:bodyPr vert="eaVert"/>
          <a:lstStyle/>
          <a:p>
            <a:r>
              <a:rPr lang="tr-TR"/>
              <a:t>Asıl metin stillerini düzenle
İkinci düzey
Üçüncü düzey
Dördüncü düzey
Beşinci düzey</a:t>
            </a:r>
          </a:p>
        </p:txBody>
      </p:sp>
      <p:sp>
        <p:nvSpPr>
          <p:cNvPr id="4" name="Veri Yer Tutucusu 3">
            <a:extLst>
              <a:ext uri="{FF2B5EF4-FFF2-40B4-BE49-F238E27FC236}">
                <a16:creationId xmlns="" xmlns:a16="http://schemas.microsoft.com/office/drawing/2014/main" id="{141A0F5A-4F86-6D43-A679-954CFD973699}"/>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5" name="Alt Bilgi Yer Tutucusu 4">
            <a:extLst>
              <a:ext uri="{FF2B5EF4-FFF2-40B4-BE49-F238E27FC236}">
                <a16:creationId xmlns="" xmlns:a16="http://schemas.microsoft.com/office/drawing/2014/main" id="{B0B1E02F-E115-9841-A203-38ECC56BA02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 xmlns:a16="http://schemas.microsoft.com/office/drawing/2014/main" id="{7B97B976-AC3D-6240-A7E6-3A09D4BC6772}"/>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685817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 xmlns:a16="http://schemas.microsoft.com/office/drawing/2014/main" id="{7FC2EE5B-CCF0-9646-AA6C-A15794D5DBDD}"/>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 xmlns:a16="http://schemas.microsoft.com/office/drawing/2014/main" id="{98DDA326-9AD8-0248-AB32-7CB0CEF54A08}"/>
              </a:ext>
            </a:extLst>
          </p:cNvPr>
          <p:cNvSpPr>
            <a:spLocks noGrp="1"/>
          </p:cNvSpPr>
          <p:nvPr>
            <p:ph type="body" orient="vert" idx="1"/>
          </p:nvPr>
        </p:nvSpPr>
        <p:spPr>
          <a:xfrm>
            <a:off x="838200" y="365125"/>
            <a:ext cx="7734300" cy="5811838"/>
          </a:xfrm>
        </p:spPr>
        <p:txBody>
          <a:bodyPr vert="eaVert"/>
          <a:lstStyle/>
          <a:p>
            <a:r>
              <a:rPr lang="tr-TR"/>
              <a:t>Asıl metin stillerini düzenle
İkinci düzey
Üçüncü düzey
Dördüncü düzey
Beşinci düzey</a:t>
            </a:r>
          </a:p>
        </p:txBody>
      </p:sp>
      <p:sp>
        <p:nvSpPr>
          <p:cNvPr id="4" name="Veri Yer Tutucusu 3">
            <a:extLst>
              <a:ext uri="{FF2B5EF4-FFF2-40B4-BE49-F238E27FC236}">
                <a16:creationId xmlns="" xmlns:a16="http://schemas.microsoft.com/office/drawing/2014/main" id="{4FE000B1-5E44-BE42-9304-AD44742C7D1D}"/>
              </a:ext>
            </a:extLst>
          </p:cNvPr>
          <p:cNvSpPr>
            <a:spLocks noGrp="1"/>
          </p:cNvSpPr>
          <p:nvPr>
            <p:ph type="dt" sz="half" idx="10"/>
          </p:nvPr>
        </p:nvSpPr>
        <p:spPr/>
        <p:txBody>
          <a:bodyPr/>
          <a:lstStyle/>
          <a:p>
            <a:fld id="{7A21B277-44C9-7D4B-AA9A-CBCF8237D462}" type="datetimeFigureOut">
              <a:rPr lang="tr-TR" smtClean="0"/>
              <a:t>27.04.2026</a:t>
            </a:fld>
            <a:endParaRPr lang="tr-TR"/>
          </a:p>
        </p:txBody>
      </p:sp>
      <p:sp>
        <p:nvSpPr>
          <p:cNvPr id="5" name="Alt Bilgi Yer Tutucusu 4">
            <a:extLst>
              <a:ext uri="{FF2B5EF4-FFF2-40B4-BE49-F238E27FC236}">
                <a16:creationId xmlns="" xmlns:a16="http://schemas.microsoft.com/office/drawing/2014/main" id="{C885F11C-B6F2-9549-ACEE-34BCDA71952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 xmlns:a16="http://schemas.microsoft.com/office/drawing/2014/main" id="{420448B7-2973-2849-B624-4586032A33CC}"/>
              </a:ext>
            </a:extLst>
          </p:cNvPr>
          <p:cNvSpPr>
            <a:spLocks noGrp="1"/>
          </p:cNvSpPr>
          <p:nvPr>
            <p:ph type="sldNum" sz="quarter" idx="12"/>
          </p:nvPr>
        </p:nvSpPr>
        <p:spPr/>
        <p:txBody>
          <a:bodyPr/>
          <a:lstStyle/>
          <a:p>
            <a:fld id="{E3B64D26-A5C3-6B41-909C-EC6C32FE1CC9}" type="slidenum">
              <a:rPr lang="tr-TR" smtClean="0"/>
              <a:t>‹#›</a:t>
            </a:fld>
            <a:endParaRPr lang="tr-TR"/>
          </a:p>
        </p:txBody>
      </p:sp>
    </p:spTree>
    <p:extLst>
      <p:ext uri="{BB962C8B-B14F-4D97-AF65-F5344CB8AC3E}">
        <p14:creationId xmlns:p14="http://schemas.microsoft.com/office/powerpoint/2010/main" val="2766830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 xmlns:a16="http://schemas.microsoft.com/office/drawing/2014/main" id="{3FD07F8D-8271-FF4C-A183-7C891ECB2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 xmlns:a16="http://schemas.microsoft.com/office/drawing/2014/main" id="{9697078F-C345-E14A-98FE-C9C05D0747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tr-TR"/>
              <a:t>Asıl metin stillerini düzenle
İkinci düzey
Üçüncü düzey
Dördüncü düzey
Beşinci düzey</a:t>
            </a:r>
          </a:p>
        </p:txBody>
      </p:sp>
      <p:sp>
        <p:nvSpPr>
          <p:cNvPr id="4" name="Veri Yer Tutucusu 3">
            <a:extLst>
              <a:ext uri="{FF2B5EF4-FFF2-40B4-BE49-F238E27FC236}">
                <a16:creationId xmlns="" xmlns:a16="http://schemas.microsoft.com/office/drawing/2014/main" id="{09CAC6F7-114C-3845-BCFD-64424FAF07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21B277-44C9-7D4B-AA9A-CBCF8237D462}" type="datetimeFigureOut">
              <a:rPr lang="tr-TR" smtClean="0"/>
              <a:t>27.04.2026</a:t>
            </a:fld>
            <a:endParaRPr lang="tr-TR"/>
          </a:p>
        </p:txBody>
      </p:sp>
      <p:sp>
        <p:nvSpPr>
          <p:cNvPr id="5" name="Alt Bilgi Yer Tutucusu 4">
            <a:extLst>
              <a:ext uri="{FF2B5EF4-FFF2-40B4-BE49-F238E27FC236}">
                <a16:creationId xmlns="" xmlns:a16="http://schemas.microsoft.com/office/drawing/2014/main" id="{48031E15-3D77-7F4C-A832-A4063830A0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 xmlns:a16="http://schemas.microsoft.com/office/drawing/2014/main" id="{9B644D5C-83A1-A641-8596-B3812627E7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B64D26-A5C3-6B41-909C-EC6C32FE1CC9}" type="slidenum">
              <a:rPr lang="tr-TR" smtClean="0"/>
              <a:t>‹#›</a:t>
            </a:fld>
            <a:endParaRPr lang="tr-TR"/>
          </a:p>
        </p:txBody>
      </p:sp>
    </p:spTree>
    <p:extLst>
      <p:ext uri="{BB962C8B-B14F-4D97-AF65-F5344CB8AC3E}">
        <p14:creationId xmlns:p14="http://schemas.microsoft.com/office/powerpoint/2010/main" val="31913011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emf"/><Relationship Id="rId7" Type="http://schemas.openxmlformats.org/officeDocument/2006/relationships/diagramQuickStyle" Target="../diagrams/quickStyle2.xm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png"/><Relationship Id="rId9" Type="http://schemas.microsoft.com/office/2007/relationships/diagramDrawing" Target="../diagrams/drawing2.xml"/></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3.emf"/><Relationship Id="rId7" Type="http://schemas.openxmlformats.org/officeDocument/2006/relationships/diagramQuickStyle" Target="../diagrams/quickStyle3.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png"/><Relationship Id="rId9" Type="http://schemas.microsoft.com/office/2007/relationships/diagramDrawing" Target="../diagrams/drawing3.xml"/></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emf"/><Relationship Id="rId7"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3.emf"/><Relationship Id="rId7" Type="http://schemas.openxmlformats.org/officeDocument/2006/relationships/diagramQuickStyle" Target="../diagrams/quickStyle4.xm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1.png"/><Relationship Id="rId9" Type="http://schemas.microsoft.com/office/2007/relationships/diagramDrawing" Target="../diagrams/drawing4.xml"/></Relationships>
</file>

<file path=ppt/slides/_rels/slide3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emf"/><Relationship Id="rId7"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1.png"/><Relationship Id="rId9"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59.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62.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63.png"/><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66.png"/><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5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3.emf"/><Relationship Id="rId7" Type="http://schemas.openxmlformats.org/officeDocument/2006/relationships/image" Target="../media/image71.png"/><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73.png"/></Relationships>
</file>

<file path=ppt/slides/_rels/slide5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75.png"/><Relationship Id="rId4" Type="http://schemas.openxmlformats.org/officeDocument/2006/relationships/image" Target="../media/image74.png"/></Relationships>
</file>

<file path=ppt/slides/_rels/slide5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3.xml"/><Relationship Id="rId1" Type="http://schemas.openxmlformats.org/officeDocument/2006/relationships/slideLayout" Target="../slideLayouts/slideLayout7.xml"/><Relationship Id="rId5" Type="http://schemas.openxmlformats.org/officeDocument/2006/relationships/image" Target="../media/image77.png"/><Relationship Id="rId4" Type="http://schemas.openxmlformats.org/officeDocument/2006/relationships/image" Target="../media/image76.png"/></Relationships>
</file>

<file path=ppt/slides/_rels/slide5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4.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5.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emf"/><Relationship Id="rId1" Type="http://schemas.openxmlformats.org/officeDocument/2006/relationships/slideLayout" Target="../slideLayouts/slideLayout7.xm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etin kutusu 11">
            <a:extLst>
              <a:ext uri="{FF2B5EF4-FFF2-40B4-BE49-F238E27FC236}">
                <a16:creationId xmlns="" xmlns:a16="http://schemas.microsoft.com/office/drawing/2014/main" id="{63C4AAA9-5505-414E-8D62-14AE6217E1B9}"/>
              </a:ext>
            </a:extLst>
          </p:cNvPr>
          <p:cNvSpPr txBox="1"/>
          <p:nvPr/>
        </p:nvSpPr>
        <p:spPr>
          <a:xfrm>
            <a:off x="3054703" y="2678246"/>
            <a:ext cx="6715659" cy="1815882"/>
          </a:xfrm>
          <a:prstGeom prst="rect">
            <a:avLst/>
          </a:prstGeom>
          <a:noFill/>
        </p:spPr>
        <p:txBody>
          <a:bodyPr wrap="square" rtlCol="0">
            <a:spAutoFit/>
          </a:bodyPr>
          <a:lstStyle/>
          <a:p>
            <a:pPr algn="ctr"/>
            <a:r>
              <a:rPr lang="tr-TR" sz="2800" dirty="0">
                <a:solidFill>
                  <a:srgbClr val="C00000"/>
                </a:solidFill>
                <a:latin typeface="Times New Roman" panose="02020603050405020304" pitchFamily="18" charset="0"/>
                <a:cs typeface="Times New Roman" panose="02020603050405020304" pitchFamily="18" charset="0"/>
              </a:rPr>
              <a:t>Büyük Dil Modelleri Tabanlı Veri Artırımı ile Duygu Analizi: Ham ve Sentetik Veri Konfigürasyonlarının Performans ve Tutarlılık Açısından Karşılaştırmalı Analizi</a:t>
            </a:r>
          </a:p>
        </p:txBody>
      </p:sp>
      <p:pic>
        <p:nvPicPr>
          <p:cNvPr id="15" name="Resim 14">
            <a:extLst>
              <a:ext uri="{FF2B5EF4-FFF2-40B4-BE49-F238E27FC236}">
                <a16:creationId xmlns="" xmlns:a16="http://schemas.microsoft.com/office/drawing/2014/main" id="{84B83893-62D2-D847-8FC9-AFD9C58B88B7}"/>
              </a:ext>
            </a:extLst>
          </p:cNvPr>
          <p:cNvPicPr>
            <a:picLocks noChangeAspect="1"/>
          </p:cNvPicPr>
          <p:nvPr/>
        </p:nvPicPr>
        <p:blipFill>
          <a:blip r:embed="rId2"/>
          <a:stretch>
            <a:fillRect/>
          </a:stretch>
        </p:blipFill>
        <p:spPr>
          <a:xfrm>
            <a:off x="4947559" y="932708"/>
            <a:ext cx="2929950" cy="1636283"/>
          </a:xfrm>
          <a:prstGeom prst="rect">
            <a:avLst/>
          </a:prstGeom>
        </p:spPr>
      </p:pic>
      <p:pic>
        <p:nvPicPr>
          <p:cNvPr id="16" name="Resim 15">
            <a:extLst>
              <a:ext uri="{FF2B5EF4-FFF2-40B4-BE49-F238E27FC236}">
                <a16:creationId xmlns="" xmlns:a16="http://schemas.microsoft.com/office/drawing/2014/main" id="{21C16DDF-9BDD-ED4F-990F-00F8FB36BD92}"/>
              </a:ext>
            </a:extLst>
          </p:cNvPr>
          <p:cNvPicPr>
            <a:picLocks noChangeAspect="1"/>
          </p:cNvPicPr>
          <p:nvPr/>
        </p:nvPicPr>
        <p:blipFill>
          <a:blip r:embed="rId3"/>
          <a:stretch>
            <a:fillRect/>
          </a:stretch>
        </p:blipFill>
        <p:spPr>
          <a:xfrm>
            <a:off x="0" y="5051810"/>
            <a:ext cx="434110" cy="1810613"/>
          </a:xfrm>
          <a:prstGeom prst="rect">
            <a:avLst/>
          </a:prstGeom>
        </p:spPr>
      </p:pic>
      <p:sp>
        <p:nvSpPr>
          <p:cNvPr id="3" name="Metin kutusu 2"/>
          <p:cNvSpPr txBox="1"/>
          <p:nvPr/>
        </p:nvSpPr>
        <p:spPr>
          <a:xfrm>
            <a:off x="4012233" y="4724531"/>
            <a:ext cx="4800600" cy="1877437"/>
          </a:xfrm>
          <a:prstGeom prst="rect">
            <a:avLst/>
          </a:prstGeom>
          <a:noFill/>
        </p:spPr>
        <p:txBody>
          <a:bodyPr wrap="square" rtlCol="0">
            <a:spAutoFit/>
          </a:bodyPr>
          <a:lstStyle/>
          <a:p>
            <a:pPr algn="ctr"/>
            <a:endParaRPr lang="tr-TR" sz="1600" dirty="0" smtClean="0"/>
          </a:p>
          <a:p>
            <a:pPr algn="ctr"/>
            <a:r>
              <a:rPr lang="tr-TR" sz="1600" dirty="0" smtClean="0">
                <a:latin typeface="Times New Roman" panose="02020603050405020304" pitchFamily="18" charset="0"/>
                <a:cs typeface="Times New Roman" panose="02020603050405020304" pitchFamily="18" charset="0"/>
              </a:rPr>
              <a:t>Büşra </a:t>
            </a:r>
            <a:r>
              <a:rPr lang="tr-TR" sz="1600" dirty="0" err="1" smtClean="0">
                <a:latin typeface="Times New Roman" panose="02020603050405020304" pitchFamily="18" charset="0"/>
                <a:cs typeface="Times New Roman" panose="02020603050405020304" pitchFamily="18" charset="0"/>
              </a:rPr>
              <a:t>Tekinay</a:t>
            </a:r>
            <a:r>
              <a:rPr lang="tr-TR" sz="1600" dirty="0" smtClean="0">
                <a:latin typeface="Times New Roman" panose="02020603050405020304" pitchFamily="18" charset="0"/>
                <a:cs typeface="Times New Roman" panose="02020603050405020304" pitchFamily="18" charset="0"/>
              </a:rPr>
              <a:t> - Y230237031</a:t>
            </a:r>
          </a:p>
          <a:p>
            <a:pPr algn="ctr"/>
            <a:r>
              <a:rPr lang="tr-TR" sz="1600" dirty="0">
                <a:latin typeface="Times New Roman" panose="02020603050405020304" pitchFamily="18" charset="0"/>
                <a:cs typeface="Times New Roman" panose="02020603050405020304" pitchFamily="18" charset="0"/>
              </a:rPr>
              <a:t>Yazılım Mühendisliği Ana Bilim Dalı</a:t>
            </a:r>
          </a:p>
          <a:p>
            <a:pPr algn="ctr"/>
            <a:r>
              <a:rPr lang="tr-TR" sz="1600" dirty="0">
                <a:latin typeface="Times New Roman" panose="02020603050405020304" pitchFamily="18" charset="0"/>
                <a:cs typeface="Times New Roman" panose="02020603050405020304" pitchFamily="18" charset="0"/>
              </a:rPr>
              <a:t>Yüksek Lisans </a:t>
            </a:r>
            <a:r>
              <a:rPr lang="tr-TR" sz="1600" dirty="0" smtClean="0">
                <a:latin typeface="Times New Roman" panose="02020603050405020304" pitchFamily="18" charset="0"/>
                <a:cs typeface="Times New Roman" panose="02020603050405020304" pitchFamily="18" charset="0"/>
              </a:rPr>
              <a:t>Tezi</a:t>
            </a:r>
          </a:p>
          <a:p>
            <a:pPr algn="ctr"/>
            <a:r>
              <a:rPr lang="tr-TR" sz="1600" dirty="0">
                <a:latin typeface="Times New Roman" panose="02020603050405020304" pitchFamily="18" charset="0"/>
                <a:cs typeface="Times New Roman" panose="02020603050405020304" pitchFamily="18" charset="0"/>
              </a:rPr>
              <a:t>Tez Danışmanı: Dr. </a:t>
            </a:r>
            <a:r>
              <a:rPr lang="tr-TR" sz="1600" dirty="0" err="1">
                <a:latin typeface="Times New Roman" panose="02020603050405020304" pitchFamily="18" charset="0"/>
                <a:cs typeface="Times New Roman" panose="02020603050405020304" pitchFamily="18" charset="0"/>
              </a:rPr>
              <a:t>Öğr</a:t>
            </a:r>
            <a:r>
              <a:rPr lang="tr-TR" sz="1600" dirty="0">
                <a:latin typeface="Times New Roman" panose="02020603050405020304" pitchFamily="18" charset="0"/>
                <a:cs typeface="Times New Roman" panose="02020603050405020304" pitchFamily="18" charset="0"/>
              </a:rPr>
              <a:t>. Üyesi Mansur Alp </a:t>
            </a:r>
            <a:r>
              <a:rPr lang="tr-TR" sz="1600" dirty="0" err="1">
                <a:latin typeface="Times New Roman" panose="02020603050405020304" pitchFamily="18" charset="0"/>
                <a:cs typeface="Times New Roman" panose="02020603050405020304" pitchFamily="18" charset="0"/>
              </a:rPr>
              <a:t>Toçoğlu</a:t>
            </a:r>
            <a:endParaRPr lang="tr-TR" sz="1600" dirty="0">
              <a:latin typeface="Times New Roman" panose="02020603050405020304" pitchFamily="18" charset="0"/>
              <a:cs typeface="Times New Roman" panose="02020603050405020304" pitchFamily="18" charset="0"/>
            </a:endParaRPr>
          </a:p>
          <a:p>
            <a:endParaRPr lang="tr-TR" dirty="0"/>
          </a:p>
          <a:p>
            <a:pPr algn="ctr"/>
            <a:endParaRPr lang="tr-TR" dirty="0"/>
          </a:p>
        </p:txBody>
      </p:sp>
    </p:spTree>
    <p:extLst>
      <p:ext uri="{BB962C8B-B14F-4D97-AF65-F5344CB8AC3E}">
        <p14:creationId xmlns:p14="http://schemas.microsoft.com/office/powerpoint/2010/main" val="28203256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4529579" y="595883"/>
            <a:ext cx="4217536" cy="523220"/>
          </a:xfrm>
          <a:prstGeom prst="rect">
            <a:avLst/>
          </a:prstGeom>
          <a:noFill/>
        </p:spPr>
        <p:txBody>
          <a:bodyPr wrap="square" rtlCol="0">
            <a:spAutoFit/>
          </a:bodyPr>
          <a:lstStyle/>
          <a:p>
            <a:r>
              <a:rPr lang="tr-TR" sz="2800" b="1" dirty="0" smtClean="0">
                <a:solidFill>
                  <a:srgbClr val="C00000"/>
                </a:solidFill>
              </a:rPr>
              <a:t>«SUNUM PLANI»</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2"/>
          <a:stretch>
            <a:fillRect/>
          </a:stretch>
        </p:blipFill>
        <p:spPr>
          <a:xfrm>
            <a:off x="7171" y="6107837"/>
            <a:ext cx="5748169" cy="750163"/>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462944"/>
            <a:ext cx="12184829" cy="395056"/>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3"/>
          <a:stretch>
            <a:fillRect/>
          </a:stretch>
        </p:blipFill>
        <p:spPr>
          <a:xfrm>
            <a:off x="226535" y="192517"/>
            <a:ext cx="1504504" cy="840217"/>
          </a:xfrm>
          <a:prstGeom prst="rect">
            <a:avLst/>
          </a:prstGeom>
        </p:spPr>
      </p:pic>
      <p:graphicFrame>
        <p:nvGraphicFramePr>
          <p:cNvPr id="8" name="Diyagram 7"/>
          <p:cNvGraphicFramePr/>
          <p:nvPr>
            <p:extLst>
              <p:ext uri="{D42A27DB-BD31-4B8C-83A1-F6EECF244321}">
                <p14:modId xmlns:p14="http://schemas.microsoft.com/office/powerpoint/2010/main" val="105246014"/>
              </p:ext>
            </p:extLst>
          </p:nvPr>
        </p:nvGraphicFramePr>
        <p:xfrm>
          <a:off x="3445835" y="1271492"/>
          <a:ext cx="4888293" cy="4667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417561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7616952" y="104554"/>
            <a:ext cx="4447032" cy="6401753"/>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Dijital Çağda Metin Verisi ve Duygu Analizin Önemi</a:t>
            </a:r>
          </a:p>
          <a:p>
            <a:pPr marL="171450" indent="-1714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Dijital çağda kullanıcılar sürekli metin üretmektedir(sosyal medya, yorumlar, </a:t>
            </a:r>
            <a:r>
              <a:rPr lang="tr-TR" sz="1400" dirty="0" err="1">
                <a:solidFill>
                  <a:schemeClr val="tx1"/>
                </a:solidFill>
                <a:latin typeface="Times New Roman" panose="02020603050405020304" pitchFamily="18" charset="0"/>
                <a:cs typeface="Times New Roman" panose="02020603050405020304" pitchFamily="18" charset="0"/>
              </a:rPr>
              <a:t>bloglar</a:t>
            </a:r>
            <a:r>
              <a:rPr lang="tr-TR" sz="1400" dirty="0">
                <a:solidFill>
                  <a:schemeClr val="tx1"/>
                </a:solidFill>
                <a:latin typeface="Times New Roman" panose="02020603050405020304" pitchFamily="18" charset="0"/>
                <a:cs typeface="Times New Roman" panose="02020603050405020304" pitchFamily="18" charset="0"/>
              </a:rPr>
              <a:t>, haberler</a:t>
            </a:r>
            <a:r>
              <a:rPr lang="tr-TR" sz="1400" dirty="0" smtClean="0">
                <a:solidFill>
                  <a:schemeClr val="tx1"/>
                </a:solidFill>
                <a:latin typeface="Times New Roman" panose="02020603050405020304" pitchFamily="18" charset="0"/>
                <a:cs typeface="Times New Roman" panose="02020603050405020304" pitchFamily="18" charset="0"/>
              </a:rPr>
              <a:t>).</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Bu </a:t>
            </a:r>
            <a:r>
              <a:rPr lang="tr-TR" sz="1400" dirty="0">
                <a:solidFill>
                  <a:schemeClr val="tx1"/>
                </a:solidFill>
                <a:latin typeface="Times New Roman" panose="02020603050405020304" pitchFamily="18" charset="0"/>
                <a:cs typeface="Times New Roman" panose="02020603050405020304" pitchFamily="18" charset="0"/>
              </a:rPr>
              <a:t>büyük veri</a:t>
            </a:r>
            <a:r>
              <a:rPr lang="tr-TR" sz="1400" dirty="0" smtClean="0">
                <a:solidFill>
                  <a:schemeClr val="tx1"/>
                </a:solidFill>
                <a:latin typeface="Times New Roman" panose="02020603050405020304" pitchFamily="18" charset="0"/>
                <a:cs typeface="Times New Roman" panose="02020603050405020304" pitchFamily="18" charset="0"/>
              </a:rPr>
              <a:t>:</a:t>
            </a:r>
          </a:p>
          <a:p>
            <a:pPr marL="628650" lvl="1" indent="-1714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Duygu</a:t>
            </a:r>
          </a:p>
          <a:p>
            <a:pPr marL="628650" lvl="1" indent="-1714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Düşünce</a:t>
            </a:r>
          </a:p>
          <a:p>
            <a:pPr marL="628650" lvl="1" indent="-1714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Deneyim içermektedir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Bu </a:t>
            </a:r>
            <a:r>
              <a:rPr lang="tr-TR" sz="1400" dirty="0">
                <a:solidFill>
                  <a:schemeClr val="tx1"/>
                </a:solidFill>
                <a:latin typeface="Times New Roman" panose="02020603050405020304" pitchFamily="18" charset="0"/>
                <a:cs typeface="Times New Roman" panose="02020603050405020304" pitchFamily="18" charset="0"/>
              </a:rPr>
              <a:t>verilerden anlam çıkarmak</a:t>
            </a:r>
            <a:r>
              <a:rPr lang="tr-TR" sz="1400" dirty="0" smtClean="0">
                <a:solidFill>
                  <a:schemeClr val="tx1"/>
                </a:solidFill>
                <a:latin typeface="Times New Roman" panose="02020603050405020304" pitchFamily="18" charset="0"/>
                <a:cs typeface="Times New Roman" panose="02020603050405020304" pitchFamily="18" charset="0"/>
              </a:rPr>
              <a:t>:</a:t>
            </a:r>
          </a:p>
          <a:p>
            <a:pPr marL="628650" lvl="1" indent="-1714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Sadece </a:t>
            </a:r>
            <a:r>
              <a:rPr lang="tr-TR" sz="1400" dirty="0">
                <a:solidFill>
                  <a:schemeClr val="tx1"/>
                </a:solidFill>
                <a:latin typeface="Times New Roman" panose="02020603050405020304" pitchFamily="18" charset="0"/>
                <a:cs typeface="Times New Roman" panose="02020603050405020304" pitchFamily="18" charset="0"/>
              </a:rPr>
              <a:t>kelime düzeyinde </a:t>
            </a:r>
            <a:r>
              <a:rPr lang="tr-TR" sz="1400" dirty="0" smtClean="0">
                <a:solidFill>
                  <a:schemeClr val="tx1"/>
                </a:solidFill>
                <a:latin typeface="Times New Roman" panose="02020603050405020304" pitchFamily="18" charset="0"/>
                <a:cs typeface="Times New Roman" panose="02020603050405020304" pitchFamily="18" charset="0"/>
              </a:rPr>
              <a:t>değil</a:t>
            </a:r>
          </a:p>
          <a:p>
            <a:pPr marL="628650" lvl="1" indent="-1714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Bağlam </a:t>
            </a:r>
            <a:r>
              <a:rPr lang="tr-TR" sz="1400" dirty="0">
                <a:solidFill>
                  <a:schemeClr val="tx1"/>
                </a:solidFill>
                <a:latin typeface="Times New Roman" panose="02020603050405020304" pitchFamily="18" charset="0"/>
                <a:cs typeface="Times New Roman" panose="02020603050405020304" pitchFamily="18" charset="0"/>
              </a:rPr>
              <a:t>ve duygu düzeyinde analiz </a:t>
            </a:r>
            <a:r>
              <a:rPr lang="tr-TR" sz="1400" dirty="0" smtClean="0">
                <a:solidFill>
                  <a:schemeClr val="tx1"/>
                </a:solidFill>
                <a:latin typeface="Times New Roman" panose="02020603050405020304" pitchFamily="18" charset="0"/>
                <a:cs typeface="Times New Roman" panose="02020603050405020304" pitchFamily="18" charset="0"/>
              </a:rPr>
              <a:t>gerektirir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Bu </a:t>
            </a:r>
            <a:r>
              <a:rPr lang="tr-TR" sz="1400" dirty="0">
                <a:solidFill>
                  <a:schemeClr val="tx1"/>
                </a:solidFill>
                <a:latin typeface="Times New Roman" panose="02020603050405020304" pitchFamily="18" charset="0"/>
                <a:cs typeface="Times New Roman" panose="02020603050405020304" pitchFamily="18" charset="0"/>
              </a:rPr>
              <a:t>ihtiyaç → Doğal Dil İşleme (NLP) alanını ortaya </a:t>
            </a:r>
            <a:r>
              <a:rPr lang="tr-TR" sz="1400" dirty="0" smtClean="0">
                <a:solidFill>
                  <a:schemeClr val="tx1"/>
                </a:solidFill>
                <a:latin typeface="Times New Roman" panose="02020603050405020304" pitchFamily="18" charset="0"/>
                <a:cs typeface="Times New Roman" panose="02020603050405020304" pitchFamily="18" charset="0"/>
              </a:rPr>
              <a:t>çıkarmıştır.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NLP </a:t>
            </a:r>
            <a:r>
              <a:rPr lang="tr-TR" sz="1400" dirty="0">
                <a:solidFill>
                  <a:schemeClr val="tx1"/>
                </a:solidFill>
                <a:latin typeface="Times New Roman" panose="02020603050405020304" pitchFamily="18" charset="0"/>
                <a:cs typeface="Times New Roman" panose="02020603050405020304" pitchFamily="18" charset="0"/>
              </a:rPr>
              <a:t>gelişimi</a:t>
            </a:r>
            <a:r>
              <a:rPr lang="tr-TR" sz="1400" dirty="0" smtClean="0">
                <a:solidFill>
                  <a:schemeClr val="tx1"/>
                </a:solidFill>
                <a:latin typeface="Times New Roman" panose="02020603050405020304" pitchFamily="18" charset="0"/>
                <a:cs typeface="Times New Roman" panose="02020603050405020304" pitchFamily="18" charset="0"/>
              </a:rPr>
              <a:t>:</a:t>
            </a:r>
          </a:p>
          <a:p>
            <a:pPr marL="628650" lvl="1" indent="-1714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Kural tabanlı sistemler</a:t>
            </a:r>
          </a:p>
          <a:p>
            <a:pPr marL="628650" lvl="1" indent="-1714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İ</a:t>
            </a:r>
            <a:r>
              <a:rPr lang="tr-TR" sz="1400" dirty="0" smtClean="0">
                <a:solidFill>
                  <a:schemeClr val="tx1"/>
                </a:solidFill>
                <a:latin typeface="Times New Roman" panose="02020603050405020304" pitchFamily="18" charset="0"/>
                <a:cs typeface="Times New Roman" panose="02020603050405020304" pitchFamily="18" charset="0"/>
              </a:rPr>
              <a:t>statistiksel yöntemler</a:t>
            </a:r>
          </a:p>
          <a:p>
            <a:pPr marL="628650" lvl="1" indent="-1714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Derin </a:t>
            </a:r>
            <a:r>
              <a:rPr lang="tr-TR" sz="1400" dirty="0">
                <a:solidFill>
                  <a:schemeClr val="tx1"/>
                </a:solidFill>
                <a:latin typeface="Times New Roman" panose="02020603050405020304" pitchFamily="18" charset="0"/>
                <a:cs typeface="Times New Roman" panose="02020603050405020304" pitchFamily="18" charset="0"/>
              </a:rPr>
              <a:t>öğrenme &amp; </a:t>
            </a:r>
            <a:r>
              <a:rPr lang="tr-TR" sz="1400" dirty="0" err="1">
                <a:solidFill>
                  <a:schemeClr val="tx1"/>
                </a:solidFill>
                <a:latin typeface="Times New Roman" panose="02020603050405020304" pitchFamily="18" charset="0"/>
                <a:cs typeface="Times New Roman" panose="02020603050405020304" pitchFamily="18" charset="0"/>
              </a:rPr>
              <a:t>Transformer</a:t>
            </a:r>
            <a:r>
              <a:rPr lang="tr-TR" sz="1400" dirty="0">
                <a:solidFill>
                  <a:schemeClr val="tx1"/>
                </a:solidFill>
                <a:latin typeface="Times New Roman" panose="02020603050405020304" pitchFamily="18" charset="0"/>
                <a:cs typeface="Times New Roman" panose="02020603050405020304" pitchFamily="18" charset="0"/>
              </a:rPr>
              <a:t> </a:t>
            </a:r>
            <a:r>
              <a:rPr lang="tr-TR" sz="1400" dirty="0" smtClean="0">
                <a:solidFill>
                  <a:schemeClr val="tx1"/>
                </a:solidFill>
                <a:latin typeface="Times New Roman" panose="02020603050405020304" pitchFamily="18" charset="0"/>
                <a:cs typeface="Times New Roman" panose="02020603050405020304" pitchFamily="18" charset="0"/>
              </a:rPr>
              <a:t>modelleri</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Bu bağlamda : </a:t>
            </a:r>
          </a:p>
          <a:p>
            <a:pPr marL="628650" lvl="1" indent="-1714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Duygu </a:t>
            </a:r>
            <a:r>
              <a:rPr lang="tr-TR" sz="1400" dirty="0">
                <a:solidFill>
                  <a:schemeClr val="tx1"/>
                </a:solidFill>
                <a:latin typeface="Times New Roman" panose="02020603050405020304" pitchFamily="18" charset="0"/>
                <a:cs typeface="Times New Roman" panose="02020603050405020304" pitchFamily="18" charset="0"/>
              </a:rPr>
              <a:t>Analizi (</a:t>
            </a:r>
            <a:r>
              <a:rPr lang="tr-TR" sz="1400" dirty="0" err="1">
                <a:solidFill>
                  <a:schemeClr val="tx1"/>
                </a:solidFill>
                <a:latin typeface="Times New Roman" panose="02020603050405020304" pitchFamily="18" charset="0"/>
                <a:cs typeface="Times New Roman" panose="02020603050405020304" pitchFamily="18" charset="0"/>
              </a:rPr>
              <a:t>Sentiment</a:t>
            </a:r>
            <a:r>
              <a:rPr lang="tr-TR" sz="1400" dirty="0">
                <a:solidFill>
                  <a:schemeClr val="tx1"/>
                </a:solidFill>
                <a:latin typeface="Times New Roman" panose="02020603050405020304" pitchFamily="18" charset="0"/>
                <a:cs typeface="Times New Roman" panose="02020603050405020304" pitchFamily="18" charset="0"/>
              </a:rPr>
              <a:t> Analysis</a:t>
            </a:r>
            <a:r>
              <a:rPr lang="tr-TR" sz="1400" dirty="0" smtClean="0">
                <a:solidFill>
                  <a:schemeClr val="tx1"/>
                </a:solidFill>
                <a:latin typeface="Times New Roman" panose="02020603050405020304" pitchFamily="18" charset="0"/>
                <a:cs typeface="Times New Roman" panose="02020603050405020304" pitchFamily="18" charset="0"/>
              </a:rPr>
              <a:t>) metinlerdeki </a:t>
            </a:r>
            <a:r>
              <a:rPr lang="tr-TR" sz="1400" dirty="0">
                <a:solidFill>
                  <a:schemeClr val="tx1"/>
                </a:solidFill>
                <a:latin typeface="Times New Roman" panose="02020603050405020304" pitchFamily="18" charset="0"/>
                <a:cs typeface="Times New Roman" panose="02020603050405020304" pitchFamily="18" charset="0"/>
              </a:rPr>
              <a:t>duygusal yönelimi belirlemeyi </a:t>
            </a:r>
            <a:r>
              <a:rPr lang="tr-TR" sz="1400" dirty="0" smtClean="0">
                <a:solidFill>
                  <a:schemeClr val="tx1"/>
                </a:solidFill>
                <a:latin typeface="Times New Roman" panose="02020603050405020304" pitchFamily="18" charset="0"/>
                <a:cs typeface="Times New Roman" panose="02020603050405020304" pitchFamily="18" charset="0"/>
              </a:rPr>
              <a:t>amaçlar.</a:t>
            </a:r>
            <a:endParaRPr lang="tr-TR" sz="1400" dirty="0">
              <a:solidFill>
                <a:schemeClr val="tx1"/>
              </a:solidFill>
              <a:latin typeface="Times New Roman" panose="02020603050405020304" pitchFamily="18" charset="0"/>
              <a:cs typeface="Times New Roman" panose="02020603050405020304" pitchFamily="18" charset="0"/>
            </a:endParaRPr>
          </a:p>
        </p:txBody>
      </p:sp>
      <p:pic>
        <p:nvPicPr>
          <p:cNvPr id="8" name="Resim 7"/>
          <p:cNvPicPr>
            <a:picLocks noChangeAspect="1"/>
          </p:cNvPicPr>
          <p:nvPr/>
        </p:nvPicPr>
        <p:blipFill>
          <a:blip r:embed="rId5"/>
          <a:stretch>
            <a:fillRect/>
          </a:stretch>
        </p:blipFill>
        <p:spPr>
          <a:xfrm>
            <a:off x="7171" y="2335962"/>
            <a:ext cx="7454333" cy="2410234"/>
          </a:xfrm>
          <a:prstGeom prst="rect">
            <a:avLst/>
          </a:prstGeom>
        </p:spPr>
      </p:pic>
    </p:spTree>
    <p:extLst>
      <p:ext uri="{BB962C8B-B14F-4D97-AF65-F5344CB8AC3E}">
        <p14:creationId xmlns:p14="http://schemas.microsoft.com/office/powerpoint/2010/main" val="4446517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7771771" y="478596"/>
            <a:ext cx="3926453" cy="5722016"/>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Dijital Çağda Metin Verisi ve Duygu Analizin Önemi</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Doğal dil işleme alanı zaman içerisinde önemli bir evrim geçirmiştir.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İlk aşamada, dil kuralları ve sözlükler üzerine kurulu kural tabanlı yaklaşımlar kullanılmıştır. Ancak bu yöntemler dilin esnek ve bağlama bağlı yapısını yeterince temsil edememiştir.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Daha sonra istatistiksel yöntemler geliştirilmiş ve veriye dayalı modeller kullanılmaya başlanmıştır.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Makine öğrenmesi algoritmaları ile metin sınıflandırma daha sistematik hale gelmiştir.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Derin öğrenme yöntemleri ise metin içerisindeki örüntüleri otomatik öğrenerek önemli performans artışları sağlamıştır.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Günümüzde ise </a:t>
            </a:r>
            <a:r>
              <a:rPr lang="tr-TR" sz="1400" dirty="0" err="1" smtClean="0">
                <a:solidFill>
                  <a:schemeClr val="tx1"/>
                </a:solidFill>
                <a:latin typeface="Times New Roman" panose="02020603050405020304" pitchFamily="18" charset="0"/>
                <a:cs typeface="Times New Roman" panose="02020603050405020304" pitchFamily="18" charset="0"/>
              </a:rPr>
              <a:t>transformer</a:t>
            </a:r>
            <a:r>
              <a:rPr lang="tr-TR" sz="1400" dirty="0" smtClean="0">
                <a:solidFill>
                  <a:schemeClr val="tx1"/>
                </a:solidFill>
                <a:latin typeface="Times New Roman" panose="02020603050405020304" pitchFamily="18" charset="0"/>
                <a:cs typeface="Times New Roman" panose="02020603050405020304" pitchFamily="18" charset="0"/>
              </a:rPr>
              <a:t> tabanlı modeller ve büyük dil modelleri, dilin bağlamsal yapısını çok daha başarılı şekilde modelleyebilmektedir.</a:t>
            </a:r>
          </a:p>
        </p:txBody>
      </p:sp>
      <p:pic>
        <p:nvPicPr>
          <p:cNvPr id="6" name="Resim 5"/>
          <p:cNvPicPr>
            <a:picLocks noChangeAspect="1"/>
          </p:cNvPicPr>
          <p:nvPr/>
        </p:nvPicPr>
        <p:blipFill>
          <a:blip r:embed="rId5"/>
          <a:stretch>
            <a:fillRect/>
          </a:stretch>
        </p:blipFill>
        <p:spPr>
          <a:xfrm>
            <a:off x="226535" y="2145859"/>
            <a:ext cx="6752717" cy="2387490"/>
          </a:xfrm>
          <a:prstGeom prst="rect">
            <a:avLst/>
          </a:prstGeom>
        </p:spPr>
      </p:pic>
      <p:sp>
        <p:nvSpPr>
          <p:cNvPr id="9" name="Metin kutusu 8"/>
          <p:cNvSpPr txBox="1"/>
          <p:nvPr/>
        </p:nvSpPr>
        <p:spPr>
          <a:xfrm>
            <a:off x="530352" y="4900160"/>
            <a:ext cx="6574536" cy="584775"/>
          </a:xfrm>
          <a:prstGeom prst="rect">
            <a:avLst/>
          </a:prstGeom>
          <a:noFill/>
        </p:spPr>
        <p:txBody>
          <a:bodyPr wrap="square" rtlCol="0">
            <a:spAutoFit/>
          </a:bodyPr>
          <a:lstStyle/>
          <a:p>
            <a:pPr algn="just"/>
            <a:r>
              <a:rPr lang="tr-TR" sz="1600" b="1" dirty="0">
                <a:solidFill>
                  <a:srgbClr val="C00000"/>
                </a:solidFill>
                <a:latin typeface="Times New Roman" panose="02020603050405020304" pitchFamily="18" charset="0"/>
                <a:cs typeface="Times New Roman" panose="02020603050405020304" pitchFamily="18" charset="0"/>
              </a:rPr>
              <a:t>Bu gelişmeler, metinlerin yalnızca yapısal değil, aynı zamanda anlamsal ve duygusal olarak da analiz edilebilmesini mümkün kılmıştır.</a:t>
            </a:r>
          </a:p>
        </p:txBody>
      </p:sp>
    </p:spTree>
    <p:extLst>
      <p:ext uri="{BB962C8B-B14F-4D97-AF65-F5344CB8AC3E}">
        <p14:creationId xmlns:p14="http://schemas.microsoft.com/office/powerpoint/2010/main" val="19505691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7963795" y="940606"/>
            <a:ext cx="3926453" cy="5109091"/>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Neden Duygu Analizi(</a:t>
            </a:r>
            <a:r>
              <a:rPr lang="tr-TR" sz="1600" b="1" dirty="0" err="1" smtClean="0">
                <a:solidFill>
                  <a:srgbClr val="C00000"/>
                </a:solidFill>
              </a:rPr>
              <a:t>Sentiment</a:t>
            </a:r>
            <a:r>
              <a:rPr lang="tr-TR" sz="1600" b="1" dirty="0" smtClean="0">
                <a:solidFill>
                  <a:srgbClr val="C00000"/>
                </a:solidFill>
              </a:rPr>
              <a:t> Analysis)?</a:t>
            </a:r>
          </a:p>
          <a:p>
            <a:pPr algn="ctr"/>
            <a:endParaRPr lang="tr-TR" sz="1600" b="1" dirty="0" smtClean="0">
              <a:solidFill>
                <a:srgbClr val="C00000"/>
              </a:solidFill>
            </a:endParaRPr>
          </a:p>
          <a:p>
            <a:pPr marL="171450" indent="-1714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Dijital ortamlarda kullanıcı tarafından üretilen içerik hızla </a:t>
            </a:r>
            <a:r>
              <a:rPr lang="tr-TR" sz="1400" dirty="0" smtClean="0">
                <a:solidFill>
                  <a:schemeClr val="tx1"/>
                </a:solidFill>
                <a:latin typeface="Times New Roman" panose="02020603050405020304" pitchFamily="18" charset="0"/>
                <a:cs typeface="Times New Roman" panose="02020603050405020304" pitchFamily="18" charset="0"/>
              </a:rPr>
              <a:t>artmaktadır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Bu </a:t>
            </a:r>
            <a:r>
              <a:rPr lang="tr-TR" sz="1400" dirty="0">
                <a:solidFill>
                  <a:schemeClr val="tx1"/>
                </a:solidFill>
                <a:latin typeface="Times New Roman" panose="02020603050405020304" pitchFamily="18" charset="0"/>
                <a:cs typeface="Times New Roman" panose="02020603050405020304" pitchFamily="18" charset="0"/>
              </a:rPr>
              <a:t>içerikler</a:t>
            </a:r>
            <a:r>
              <a:rPr lang="tr-TR" sz="1400" dirty="0" smtClean="0">
                <a:solidFill>
                  <a:schemeClr val="tx1"/>
                </a:solidFill>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Görüş</a:t>
            </a:r>
          </a:p>
          <a:p>
            <a:pPr marL="742950" lvl="1"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Memnuniyet</a:t>
            </a:r>
          </a:p>
          <a:p>
            <a:pPr marL="742950" lvl="1"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Şikayet içermektedir</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Bu </a:t>
            </a:r>
            <a:r>
              <a:rPr lang="tr-TR" sz="1400" dirty="0">
                <a:solidFill>
                  <a:schemeClr val="tx1"/>
                </a:solidFill>
                <a:latin typeface="Times New Roman" panose="02020603050405020304" pitchFamily="18" charset="0"/>
                <a:cs typeface="Times New Roman" panose="02020603050405020304" pitchFamily="18" charset="0"/>
              </a:rPr>
              <a:t>verilerin manuel analizi</a:t>
            </a:r>
            <a:r>
              <a:rPr lang="tr-TR" sz="1400" dirty="0" smtClean="0">
                <a:solidFill>
                  <a:schemeClr val="tx1"/>
                </a:solidFill>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q"/>
            </a:pPr>
            <a:r>
              <a:rPr lang="tr-TR" sz="1400" dirty="0" smtClean="0">
                <a:solidFill>
                  <a:srgbClr val="C00000"/>
                </a:solidFill>
                <a:latin typeface="Times New Roman" panose="02020603050405020304" pitchFamily="18" charset="0"/>
                <a:cs typeface="Times New Roman" panose="02020603050405020304" pitchFamily="18" charset="0"/>
              </a:rPr>
              <a:t>❌</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a:solidFill>
                  <a:schemeClr val="tx1"/>
                </a:solidFill>
                <a:latin typeface="Times New Roman" panose="02020603050405020304" pitchFamily="18" charset="0"/>
                <a:cs typeface="Times New Roman" panose="02020603050405020304" pitchFamily="18" charset="0"/>
              </a:rPr>
              <a:t>Zaman </a:t>
            </a:r>
            <a:r>
              <a:rPr lang="tr-TR" sz="1400" dirty="0" smtClean="0">
                <a:solidFill>
                  <a:schemeClr val="tx1"/>
                </a:solidFill>
                <a:latin typeface="Times New Roman" panose="02020603050405020304" pitchFamily="18" charset="0"/>
                <a:cs typeface="Times New Roman" panose="02020603050405020304" pitchFamily="18" charset="0"/>
              </a:rPr>
              <a:t>alıcı</a:t>
            </a:r>
          </a:p>
          <a:p>
            <a:pPr marL="742950" lvl="1" indent="-285750" algn="just">
              <a:lnSpc>
                <a:spcPct val="150000"/>
              </a:lnSpc>
              <a:buFont typeface="Wingdings" panose="05000000000000000000" pitchFamily="2" charset="2"/>
              <a:buChar char="q"/>
            </a:pPr>
            <a:r>
              <a:rPr lang="tr-TR" sz="1400" dirty="0" smtClean="0">
                <a:solidFill>
                  <a:srgbClr val="C00000"/>
                </a:solidFill>
                <a:latin typeface="Times New Roman" panose="02020603050405020304" pitchFamily="18" charset="0"/>
                <a:cs typeface="Times New Roman" panose="02020603050405020304" pitchFamily="18" charset="0"/>
              </a:rPr>
              <a:t>❌</a:t>
            </a:r>
            <a:r>
              <a:rPr lang="tr-TR" sz="1400" dirty="0" smtClean="0">
                <a:solidFill>
                  <a:schemeClr val="tx1"/>
                </a:solidFill>
                <a:latin typeface="Times New Roman" panose="02020603050405020304" pitchFamily="18" charset="0"/>
                <a:cs typeface="Times New Roman" panose="02020603050405020304" pitchFamily="18" charset="0"/>
              </a:rPr>
              <a:t> Ölçeklenemez</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Otomatik </a:t>
            </a:r>
            <a:r>
              <a:rPr lang="tr-TR" sz="1400" dirty="0">
                <a:solidFill>
                  <a:schemeClr val="tx1"/>
                </a:solidFill>
                <a:latin typeface="Times New Roman" panose="02020603050405020304" pitchFamily="18" charset="0"/>
                <a:cs typeface="Times New Roman" panose="02020603050405020304" pitchFamily="18" charset="0"/>
              </a:rPr>
              <a:t>analiz ihtiyacı → </a:t>
            </a:r>
            <a:r>
              <a:rPr lang="tr-TR" sz="1400" dirty="0" err="1">
                <a:solidFill>
                  <a:schemeClr val="tx1"/>
                </a:solidFill>
                <a:latin typeface="Times New Roman" panose="02020603050405020304" pitchFamily="18" charset="0"/>
                <a:cs typeface="Times New Roman" panose="02020603050405020304" pitchFamily="18" charset="0"/>
              </a:rPr>
              <a:t>Sentiment</a:t>
            </a:r>
            <a:r>
              <a:rPr lang="tr-TR" sz="1400" dirty="0">
                <a:solidFill>
                  <a:schemeClr val="tx1"/>
                </a:solidFill>
                <a:latin typeface="Times New Roman" panose="02020603050405020304" pitchFamily="18" charset="0"/>
                <a:cs typeface="Times New Roman" panose="02020603050405020304" pitchFamily="18" charset="0"/>
              </a:rPr>
              <a:t> </a:t>
            </a:r>
            <a:r>
              <a:rPr lang="tr-TR" sz="1400" dirty="0" smtClean="0">
                <a:solidFill>
                  <a:schemeClr val="tx1"/>
                </a:solidFill>
                <a:latin typeface="Times New Roman" panose="02020603050405020304" pitchFamily="18" charset="0"/>
                <a:cs typeface="Times New Roman" panose="02020603050405020304" pitchFamily="18" charset="0"/>
              </a:rPr>
              <a:t>Analysis</a:t>
            </a:r>
          </a:p>
          <a:p>
            <a:pPr marL="171450" indent="-1714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Müşteri memnuniyeti </a:t>
            </a:r>
            <a:r>
              <a:rPr lang="tr-TR" sz="1400" dirty="0" smtClean="0">
                <a:solidFill>
                  <a:schemeClr val="tx1"/>
                </a:solidFill>
                <a:latin typeface="Times New Roman" panose="02020603050405020304" pitchFamily="18" charset="0"/>
                <a:cs typeface="Times New Roman" panose="02020603050405020304" pitchFamily="18" charset="0"/>
              </a:rPr>
              <a:t>analizi</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Marka </a:t>
            </a:r>
            <a:r>
              <a:rPr lang="tr-TR" sz="1400" dirty="0">
                <a:solidFill>
                  <a:schemeClr val="tx1"/>
                </a:solidFill>
                <a:latin typeface="Times New Roman" panose="02020603050405020304" pitchFamily="18" charset="0"/>
                <a:cs typeface="Times New Roman" panose="02020603050405020304" pitchFamily="18" charset="0"/>
              </a:rPr>
              <a:t>ve ürün </a:t>
            </a:r>
            <a:r>
              <a:rPr lang="tr-TR" sz="1400" dirty="0" smtClean="0">
                <a:solidFill>
                  <a:schemeClr val="tx1"/>
                </a:solidFill>
                <a:latin typeface="Times New Roman" panose="02020603050405020304" pitchFamily="18" charset="0"/>
                <a:cs typeface="Times New Roman" panose="02020603050405020304" pitchFamily="18" charset="0"/>
              </a:rPr>
              <a:t>değerlendirme</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Sosyal </a:t>
            </a:r>
            <a:r>
              <a:rPr lang="tr-TR" sz="1400" dirty="0">
                <a:solidFill>
                  <a:schemeClr val="tx1"/>
                </a:solidFill>
                <a:latin typeface="Times New Roman" panose="02020603050405020304" pitchFamily="18" charset="0"/>
                <a:cs typeface="Times New Roman" panose="02020603050405020304" pitchFamily="18" charset="0"/>
              </a:rPr>
              <a:t>medya </a:t>
            </a:r>
            <a:r>
              <a:rPr lang="tr-TR" sz="1400" dirty="0" smtClean="0">
                <a:solidFill>
                  <a:schemeClr val="tx1"/>
                </a:solidFill>
                <a:latin typeface="Times New Roman" panose="02020603050405020304" pitchFamily="18" charset="0"/>
                <a:cs typeface="Times New Roman" panose="02020603050405020304" pitchFamily="18" charset="0"/>
              </a:rPr>
              <a:t>analizi</a:t>
            </a:r>
          </a:p>
          <a:p>
            <a:pPr marL="171450" indent="-1714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Karar </a:t>
            </a:r>
            <a:r>
              <a:rPr lang="tr-TR" sz="1400" dirty="0">
                <a:solidFill>
                  <a:schemeClr val="tx1"/>
                </a:solidFill>
                <a:latin typeface="Times New Roman" panose="02020603050405020304" pitchFamily="18" charset="0"/>
                <a:cs typeface="Times New Roman" panose="02020603050405020304" pitchFamily="18" charset="0"/>
              </a:rPr>
              <a:t>destek sistemleri</a:t>
            </a:r>
            <a:endParaRPr lang="tr-TR" sz="1400" dirty="0" smtClean="0">
              <a:solidFill>
                <a:schemeClr val="tx1"/>
              </a:solidFill>
              <a:latin typeface="Times New Roman" panose="02020603050405020304" pitchFamily="18" charset="0"/>
              <a:cs typeface="Times New Roman" panose="02020603050405020304" pitchFamily="18" charset="0"/>
            </a:endParaRPr>
          </a:p>
        </p:txBody>
      </p:sp>
      <p:sp>
        <p:nvSpPr>
          <p:cNvPr id="9" name="Metin kutusu 8"/>
          <p:cNvSpPr txBox="1"/>
          <p:nvPr/>
        </p:nvSpPr>
        <p:spPr>
          <a:xfrm>
            <a:off x="656216" y="5459201"/>
            <a:ext cx="6574536" cy="584775"/>
          </a:xfrm>
          <a:prstGeom prst="rect">
            <a:avLst/>
          </a:prstGeom>
          <a:noFill/>
        </p:spPr>
        <p:txBody>
          <a:bodyPr wrap="square" rtlCol="0">
            <a:spAutoFit/>
          </a:bodyPr>
          <a:lstStyle/>
          <a:p>
            <a:pPr algn="just"/>
            <a:r>
              <a:rPr lang="tr-TR" sz="1600" b="1" dirty="0">
                <a:solidFill>
                  <a:srgbClr val="C00000"/>
                </a:solidFill>
                <a:latin typeface="Times New Roman" panose="02020603050405020304" pitchFamily="18" charset="0"/>
                <a:cs typeface="Times New Roman" panose="02020603050405020304" pitchFamily="18" charset="0"/>
              </a:rPr>
              <a:t>Büyük metin verisini anlamlandırmanın en etkili yollarından biri, içerdikleri duyguyu analiz etmektir.</a:t>
            </a:r>
          </a:p>
        </p:txBody>
      </p:sp>
      <p:pic>
        <p:nvPicPr>
          <p:cNvPr id="4" name="Resim 3"/>
          <p:cNvPicPr>
            <a:picLocks noChangeAspect="1"/>
          </p:cNvPicPr>
          <p:nvPr/>
        </p:nvPicPr>
        <p:blipFill>
          <a:blip r:embed="rId5"/>
          <a:stretch>
            <a:fillRect/>
          </a:stretch>
        </p:blipFill>
        <p:spPr>
          <a:xfrm>
            <a:off x="627688" y="1770783"/>
            <a:ext cx="6475848" cy="3340036"/>
          </a:xfrm>
          <a:prstGeom prst="rect">
            <a:avLst/>
          </a:prstGeom>
        </p:spPr>
      </p:pic>
    </p:spTree>
    <p:extLst>
      <p:ext uri="{BB962C8B-B14F-4D97-AF65-F5344CB8AC3E}">
        <p14:creationId xmlns:p14="http://schemas.microsoft.com/office/powerpoint/2010/main" val="34867086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7598665" y="633333"/>
            <a:ext cx="4383024" cy="5755422"/>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Veri Kısıtlılığı Problemi</a:t>
            </a:r>
          </a:p>
          <a:p>
            <a:pPr algn="ctr"/>
            <a:endParaRPr lang="tr-TR" sz="1600" b="1" dirty="0" smtClean="0">
              <a:solidFill>
                <a:srgbClr val="C00000"/>
              </a:solidFill>
            </a:endParaRPr>
          </a:p>
          <a:p>
            <a:pPr marL="171450" indent="-1714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Duygu analizi gibi NLP görevlerinde model performansı büyük ölçüde kullanılan </a:t>
            </a:r>
            <a:r>
              <a:rPr lang="tr-TR" sz="1400" dirty="0" smtClean="0">
                <a:solidFill>
                  <a:schemeClr val="tx1"/>
                </a:solidFill>
                <a:latin typeface="Times New Roman" panose="02020603050405020304" pitchFamily="18" charset="0"/>
                <a:cs typeface="Times New Roman" panose="02020603050405020304" pitchFamily="18" charset="0"/>
              </a:rPr>
              <a:t>veriye bağlıdır. Özellikle </a:t>
            </a:r>
            <a:r>
              <a:rPr lang="tr-TR" sz="1400" dirty="0">
                <a:solidFill>
                  <a:schemeClr val="tx1"/>
                </a:solidFill>
                <a:latin typeface="Times New Roman" panose="02020603050405020304" pitchFamily="18" charset="0"/>
                <a:cs typeface="Times New Roman" panose="02020603050405020304" pitchFamily="18" charset="0"/>
              </a:rPr>
              <a:t>makine öğrenmesi ve derin öğrenme modelleri, yüksek performans elde edebilmek için büyük miktarda ve çeşitli veri gerektirir</a:t>
            </a:r>
            <a:r>
              <a:rPr lang="tr-TR" sz="1400" dirty="0" smtClean="0">
                <a:solidFill>
                  <a:schemeClr val="tx1"/>
                </a:solidFill>
                <a:latin typeface="Times New Roman" panose="02020603050405020304" pitchFamily="18" charset="0"/>
                <a:cs typeface="Times New Roman" panose="02020603050405020304" pitchFamily="18" charset="0"/>
              </a:rPr>
              <a:t>. Ancak </a:t>
            </a:r>
            <a:r>
              <a:rPr lang="tr-TR" sz="1400" dirty="0">
                <a:solidFill>
                  <a:schemeClr val="tx1"/>
                </a:solidFill>
                <a:latin typeface="Times New Roman" panose="02020603050405020304" pitchFamily="18" charset="0"/>
                <a:cs typeface="Times New Roman" panose="02020603050405020304" pitchFamily="18" charset="0"/>
              </a:rPr>
              <a:t>bu veriyi elde etmek her zaman mümkün değildir. Etiketli veri üretimi hem zaman alıcı hem de maliyetlidir</a:t>
            </a:r>
            <a:r>
              <a:rPr lang="tr-TR" sz="1400" dirty="0" smtClean="0">
                <a:solidFill>
                  <a:schemeClr val="tx1"/>
                </a:solidFill>
                <a:latin typeface="Times New Roman" panose="02020603050405020304" pitchFamily="18" charset="0"/>
                <a:cs typeface="Times New Roman" panose="02020603050405020304" pitchFamily="18" charset="0"/>
              </a:rPr>
              <a:t>. Bu </a:t>
            </a:r>
            <a:r>
              <a:rPr lang="tr-TR" sz="1400" dirty="0">
                <a:solidFill>
                  <a:schemeClr val="tx1"/>
                </a:solidFill>
                <a:latin typeface="Times New Roman" panose="02020603050405020304" pitchFamily="18" charset="0"/>
                <a:cs typeface="Times New Roman" panose="02020603050405020304" pitchFamily="18" charset="0"/>
              </a:rPr>
              <a:t>nedenle çoğu durumda veri setleri yetersiz ve dengesiz kalmaktadır</a:t>
            </a:r>
            <a:r>
              <a:rPr lang="tr-TR" sz="1400" dirty="0" smtClean="0">
                <a:solidFill>
                  <a:schemeClr val="tx1"/>
                </a:solidFill>
                <a:latin typeface="Times New Roman" panose="02020603050405020304" pitchFamily="18" charset="0"/>
                <a:cs typeface="Times New Roman" panose="02020603050405020304" pitchFamily="18" charset="0"/>
              </a:rPr>
              <a:t>. Bu </a:t>
            </a:r>
            <a:r>
              <a:rPr lang="tr-TR" sz="1400" dirty="0">
                <a:solidFill>
                  <a:schemeClr val="tx1"/>
                </a:solidFill>
                <a:latin typeface="Times New Roman" panose="02020603050405020304" pitchFamily="18" charset="0"/>
                <a:cs typeface="Times New Roman" panose="02020603050405020304" pitchFamily="18" charset="0"/>
              </a:rPr>
              <a:t>durum modellerin aşırı öğrenmesine, yani eğitim verisine bağımlı hale gelmesine neden olur ve yeni veriler üzerinde performans düşüşü yaşanır</a:t>
            </a:r>
            <a:r>
              <a:rPr lang="tr-TR" sz="1400" dirty="0" smtClean="0">
                <a:solidFill>
                  <a:schemeClr val="tx1"/>
                </a:solidFill>
                <a:latin typeface="Times New Roman" panose="02020603050405020304" pitchFamily="18" charset="0"/>
                <a:cs typeface="Times New Roman" panose="02020603050405020304" pitchFamily="18" charset="0"/>
              </a:rPr>
              <a:t>. Bu </a:t>
            </a:r>
            <a:r>
              <a:rPr lang="tr-TR" sz="1400" dirty="0">
                <a:solidFill>
                  <a:schemeClr val="tx1"/>
                </a:solidFill>
                <a:latin typeface="Times New Roman" panose="02020603050405020304" pitchFamily="18" charset="0"/>
                <a:cs typeface="Times New Roman" panose="02020603050405020304" pitchFamily="18" charset="0"/>
              </a:rPr>
              <a:t>problem Türkçe gibi morfolojik olarak zengin dillerde daha da belirgin hale gelmektedir. Kelimelerin çok sayıda ek alabilmesi ve farklı biçimlerde ortaya çıkabilmesi, modelin dilsel çeşitliliği öğrenmesini </a:t>
            </a:r>
            <a:r>
              <a:rPr lang="tr-TR" sz="1400" dirty="0" smtClean="0">
                <a:solidFill>
                  <a:schemeClr val="tx1"/>
                </a:solidFill>
                <a:latin typeface="Times New Roman" panose="02020603050405020304" pitchFamily="18" charset="0"/>
                <a:cs typeface="Times New Roman" panose="02020603050405020304" pitchFamily="18" charset="0"/>
              </a:rPr>
              <a:t>zorlaştırmaktadır.</a:t>
            </a:r>
          </a:p>
        </p:txBody>
      </p:sp>
      <p:sp>
        <p:nvSpPr>
          <p:cNvPr id="9" name="Metin kutusu 8"/>
          <p:cNvSpPr txBox="1"/>
          <p:nvPr/>
        </p:nvSpPr>
        <p:spPr>
          <a:xfrm>
            <a:off x="656216" y="5418131"/>
            <a:ext cx="6574536" cy="830997"/>
          </a:xfrm>
          <a:prstGeom prst="rect">
            <a:avLst/>
          </a:prstGeom>
          <a:noFill/>
        </p:spPr>
        <p:txBody>
          <a:bodyPr wrap="square" rtlCol="0">
            <a:spAutoFit/>
          </a:bodyPr>
          <a:lstStyle/>
          <a:p>
            <a:pPr algn="just"/>
            <a:r>
              <a:rPr lang="tr-TR" sz="1600" b="1" dirty="0">
                <a:solidFill>
                  <a:srgbClr val="C00000"/>
                </a:solidFill>
                <a:latin typeface="Times New Roman" panose="02020603050405020304" pitchFamily="18" charset="0"/>
                <a:cs typeface="Times New Roman" panose="02020603050405020304" pitchFamily="18" charset="0"/>
              </a:rPr>
              <a:t>Veri kısıtlılığı yalnızca niceliksel değil</a:t>
            </a:r>
            <a:r>
              <a:rPr lang="tr-TR" sz="1600" b="1" dirty="0" smtClean="0">
                <a:solidFill>
                  <a:srgbClr val="C00000"/>
                </a:solidFill>
                <a:latin typeface="Times New Roman" panose="02020603050405020304" pitchFamily="18" charset="0"/>
                <a:cs typeface="Times New Roman" panose="02020603050405020304" pitchFamily="18" charset="0"/>
              </a:rPr>
              <a:t>, model </a:t>
            </a:r>
            <a:r>
              <a:rPr lang="tr-TR" sz="1600" b="1" dirty="0">
                <a:solidFill>
                  <a:srgbClr val="C00000"/>
                </a:solidFill>
                <a:latin typeface="Times New Roman" panose="02020603050405020304" pitchFamily="18" charset="0"/>
                <a:cs typeface="Times New Roman" panose="02020603050405020304" pitchFamily="18" charset="0"/>
              </a:rPr>
              <a:t>güvenilirliğini etkileyen yapısal bir </a:t>
            </a:r>
            <a:r>
              <a:rPr lang="tr-TR" sz="1600" b="1" dirty="0" smtClean="0">
                <a:solidFill>
                  <a:srgbClr val="C00000"/>
                </a:solidFill>
                <a:latin typeface="Times New Roman" panose="02020603050405020304" pitchFamily="18" charset="0"/>
                <a:cs typeface="Times New Roman" panose="02020603050405020304" pitchFamily="18" charset="0"/>
              </a:rPr>
              <a:t>problemdir. Bu </a:t>
            </a:r>
            <a:r>
              <a:rPr lang="tr-TR" sz="1600" b="1" dirty="0">
                <a:solidFill>
                  <a:srgbClr val="C00000"/>
                </a:solidFill>
                <a:latin typeface="Times New Roman" panose="02020603050405020304" pitchFamily="18" charset="0"/>
                <a:cs typeface="Times New Roman" panose="02020603050405020304" pitchFamily="18" charset="0"/>
              </a:rPr>
              <a:t>nedenle, mevcut veri setlerini genişletmeye yönelik alternatif yöntemlere ihtiyaç duyulmaktadır.</a:t>
            </a:r>
          </a:p>
        </p:txBody>
      </p:sp>
      <p:pic>
        <p:nvPicPr>
          <p:cNvPr id="6" name="Resim 5"/>
          <p:cNvPicPr>
            <a:picLocks noChangeAspect="1"/>
          </p:cNvPicPr>
          <p:nvPr/>
        </p:nvPicPr>
        <p:blipFill>
          <a:blip r:embed="rId5"/>
          <a:stretch>
            <a:fillRect/>
          </a:stretch>
        </p:blipFill>
        <p:spPr>
          <a:xfrm>
            <a:off x="592745" y="1768458"/>
            <a:ext cx="6283651" cy="3372184"/>
          </a:xfrm>
          <a:prstGeom prst="rect">
            <a:avLst/>
          </a:prstGeom>
        </p:spPr>
      </p:pic>
    </p:spTree>
    <p:extLst>
      <p:ext uri="{BB962C8B-B14F-4D97-AF65-F5344CB8AC3E}">
        <p14:creationId xmlns:p14="http://schemas.microsoft.com/office/powerpoint/2010/main" val="34086553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7507225" y="626659"/>
            <a:ext cx="4383024" cy="5755422"/>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Veri Artırma(Data </a:t>
            </a:r>
            <a:r>
              <a:rPr lang="tr-TR" sz="1600" b="1" dirty="0" err="1" smtClean="0">
                <a:solidFill>
                  <a:srgbClr val="C00000"/>
                </a:solidFill>
              </a:rPr>
              <a:t>Augmentation</a:t>
            </a:r>
            <a:r>
              <a:rPr lang="tr-TR" sz="1600" b="1" dirty="0" smtClean="0">
                <a:solidFill>
                  <a:srgbClr val="C00000"/>
                </a:solidFill>
              </a:rPr>
              <a:t>) ve LLM Yaklaşımı</a:t>
            </a:r>
          </a:p>
          <a:p>
            <a:pPr algn="ctr"/>
            <a:endParaRPr lang="tr-TR" sz="1600" b="1" dirty="0" smtClean="0">
              <a:solidFill>
                <a:srgbClr val="C00000"/>
              </a:solidFill>
            </a:endParaRPr>
          </a:p>
          <a:p>
            <a:pPr marL="285750" indent="-285750" algn="just">
              <a:lnSpc>
                <a:spcPct val="150000"/>
              </a:lnSpc>
              <a:buFont typeface="Wingdings" panose="05000000000000000000" pitchFamily="2" charset="2"/>
              <a:buChar char="Ø"/>
            </a:pPr>
            <a:r>
              <a:rPr lang="tr-TR" sz="1600" dirty="0">
                <a:solidFill>
                  <a:schemeClr val="tx1"/>
                </a:solidFill>
                <a:latin typeface="Times New Roman" panose="02020603050405020304" pitchFamily="18" charset="0"/>
                <a:cs typeface="Times New Roman" panose="02020603050405020304" pitchFamily="18" charset="0"/>
              </a:rPr>
              <a:t>Veri kısıtlılığı problemini çözmek için kullanılan temel yöntemlerden biri veri artırmadır</a:t>
            </a:r>
            <a:r>
              <a:rPr lang="tr-TR" sz="16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600" dirty="0" smtClean="0">
                <a:solidFill>
                  <a:schemeClr val="tx1"/>
                </a:solidFill>
                <a:latin typeface="Times New Roman" panose="02020603050405020304" pitchFamily="18" charset="0"/>
                <a:cs typeface="Times New Roman" panose="02020603050405020304" pitchFamily="18" charset="0"/>
              </a:rPr>
              <a:t>Data </a:t>
            </a:r>
            <a:r>
              <a:rPr lang="tr-TR" sz="1600" dirty="0" err="1">
                <a:solidFill>
                  <a:schemeClr val="tx1"/>
                </a:solidFill>
                <a:latin typeface="Times New Roman" panose="02020603050405020304" pitchFamily="18" charset="0"/>
                <a:cs typeface="Times New Roman" panose="02020603050405020304" pitchFamily="18" charset="0"/>
              </a:rPr>
              <a:t>augmentation</a:t>
            </a:r>
            <a:r>
              <a:rPr lang="tr-TR" sz="1600" dirty="0">
                <a:solidFill>
                  <a:schemeClr val="tx1"/>
                </a:solidFill>
                <a:latin typeface="Times New Roman" panose="02020603050405020304" pitchFamily="18" charset="0"/>
                <a:cs typeface="Times New Roman" panose="02020603050405020304" pitchFamily="18" charset="0"/>
              </a:rPr>
              <a:t>, mevcut verilerden yeni örnekler üreterek veri setini genişletmeyi amaçlayan bir tekniktir</a:t>
            </a:r>
            <a:r>
              <a:rPr lang="tr-TR" sz="16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600" dirty="0" smtClean="0">
                <a:solidFill>
                  <a:schemeClr val="tx1"/>
                </a:solidFill>
                <a:latin typeface="Times New Roman" panose="02020603050405020304" pitchFamily="18" charset="0"/>
                <a:cs typeface="Times New Roman" panose="02020603050405020304" pitchFamily="18" charset="0"/>
              </a:rPr>
              <a:t>Bu </a:t>
            </a:r>
            <a:r>
              <a:rPr lang="tr-TR" sz="1600" dirty="0">
                <a:solidFill>
                  <a:schemeClr val="tx1"/>
                </a:solidFill>
                <a:latin typeface="Times New Roman" panose="02020603050405020304" pitchFamily="18" charset="0"/>
                <a:cs typeface="Times New Roman" panose="02020603050405020304" pitchFamily="18" charset="0"/>
              </a:rPr>
              <a:t>sayede model daha fazla ve çeşitli veri görerek daha iyi öğrenme ve genelleme yapabilmektedir</a:t>
            </a:r>
            <a:r>
              <a:rPr lang="tr-TR" sz="16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600" dirty="0">
                <a:solidFill>
                  <a:schemeClr val="tx1"/>
                </a:solidFill>
                <a:latin typeface="Times New Roman" panose="02020603050405020304" pitchFamily="18" charset="0"/>
                <a:cs typeface="Times New Roman" panose="02020603050405020304" pitchFamily="18" charset="0"/>
              </a:rPr>
              <a:t>Veri artırma yöntemleri genel olarak yüzeysel ve anlamsal yaklaşımlar olarak ikiye ayrılmaktadır.</a:t>
            </a:r>
            <a:endParaRPr lang="tr-TR" sz="1600" dirty="0" smtClean="0">
              <a:solidFill>
                <a:schemeClr val="tx1"/>
              </a:solidFill>
              <a:latin typeface="Times New Roman" panose="02020603050405020304" pitchFamily="18" charset="0"/>
              <a:cs typeface="Times New Roman" panose="02020603050405020304" pitchFamily="18" charset="0"/>
            </a:endParaRPr>
          </a:p>
          <a:p>
            <a:pPr algn="ctr"/>
            <a:endParaRPr lang="tr-TR" sz="1600" b="1" dirty="0" smtClean="0">
              <a:solidFill>
                <a:srgbClr val="C00000"/>
              </a:solidFill>
            </a:endParaRPr>
          </a:p>
          <a:p>
            <a:pPr algn="ctr"/>
            <a:endParaRPr lang="tr-TR" sz="1600" b="1" dirty="0" smtClean="0">
              <a:solidFill>
                <a:srgbClr val="C00000"/>
              </a:solidFill>
            </a:endParaRPr>
          </a:p>
        </p:txBody>
      </p:sp>
      <p:sp>
        <p:nvSpPr>
          <p:cNvPr id="4" name="AutoShape 2" descr="Üretilen görsel: Veri artırma ve LLM yaklaşımı sürec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4" name="AutoShape 4" descr="Veri artırma ve LLM karşılaştırması"/>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5" name="Resim 14"/>
          <p:cNvPicPr>
            <a:picLocks noChangeAspect="1"/>
          </p:cNvPicPr>
          <p:nvPr/>
        </p:nvPicPr>
        <p:blipFill>
          <a:blip r:embed="rId5"/>
          <a:stretch>
            <a:fillRect/>
          </a:stretch>
        </p:blipFill>
        <p:spPr>
          <a:xfrm>
            <a:off x="612774" y="1805139"/>
            <a:ext cx="5605145" cy="3280090"/>
          </a:xfrm>
          <a:prstGeom prst="rect">
            <a:avLst/>
          </a:prstGeom>
        </p:spPr>
      </p:pic>
    </p:spTree>
    <p:extLst>
      <p:ext uri="{BB962C8B-B14F-4D97-AF65-F5344CB8AC3E}">
        <p14:creationId xmlns:p14="http://schemas.microsoft.com/office/powerpoint/2010/main" val="24309462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7507225" y="626659"/>
            <a:ext cx="4383024" cy="4708981"/>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Veri Artırma(Data </a:t>
            </a:r>
            <a:r>
              <a:rPr lang="tr-TR" sz="1600" b="1" dirty="0" err="1" smtClean="0">
                <a:solidFill>
                  <a:srgbClr val="C00000"/>
                </a:solidFill>
              </a:rPr>
              <a:t>Augmentation</a:t>
            </a:r>
            <a:r>
              <a:rPr lang="tr-TR" sz="1600" b="1" dirty="0" smtClean="0">
                <a:solidFill>
                  <a:srgbClr val="C00000"/>
                </a:solidFill>
              </a:rPr>
              <a:t>) ve LLM Yaklaşımı</a:t>
            </a:r>
          </a:p>
          <a:p>
            <a:pPr algn="ctr"/>
            <a:endParaRPr lang="tr-TR" sz="1600" b="1" dirty="0" smtClean="0">
              <a:solidFill>
                <a:srgbClr val="C00000"/>
              </a:solidFill>
            </a:endParaRPr>
          </a:p>
          <a:p>
            <a:pPr marL="285750" indent="-2857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Yüzeysel yöntemler, metnin kelime düzeyinde değiştirilmesine dayanır</a:t>
            </a:r>
            <a:r>
              <a:rPr lang="tr-TR" sz="1400" dirty="0" smtClean="0">
                <a:solidFill>
                  <a:schemeClr val="tx1"/>
                </a:solidFill>
                <a:latin typeface="Times New Roman" panose="02020603050405020304" pitchFamily="18" charset="0"/>
                <a:cs typeface="Times New Roman" panose="02020603050405020304" pitchFamily="18" charset="0"/>
              </a:rPr>
              <a:t>. Örneğin </a:t>
            </a:r>
            <a:r>
              <a:rPr lang="tr-TR" sz="1400" dirty="0">
                <a:solidFill>
                  <a:schemeClr val="tx1"/>
                </a:solidFill>
                <a:latin typeface="Times New Roman" panose="02020603050405020304" pitchFamily="18" charset="0"/>
                <a:cs typeface="Times New Roman" panose="02020603050405020304" pitchFamily="18" charset="0"/>
              </a:rPr>
              <a:t>eş anlamlı kelime kullanımı veya kelime ekleme gibi işlemler bu gruba girer</a:t>
            </a:r>
            <a:r>
              <a:rPr lang="tr-TR" sz="1400" dirty="0" smtClean="0">
                <a:solidFill>
                  <a:schemeClr val="tx1"/>
                </a:solidFill>
                <a:latin typeface="Times New Roman" panose="02020603050405020304" pitchFamily="18" charset="0"/>
                <a:cs typeface="Times New Roman" panose="02020603050405020304" pitchFamily="18" charset="0"/>
              </a:rPr>
              <a:t>. Ancak </a:t>
            </a:r>
            <a:r>
              <a:rPr lang="tr-TR" sz="1400" dirty="0">
                <a:solidFill>
                  <a:schemeClr val="tx1"/>
                </a:solidFill>
                <a:latin typeface="Times New Roman" panose="02020603050405020304" pitchFamily="18" charset="0"/>
                <a:cs typeface="Times New Roman" panose="02020603050405020304" pitchFamily="18" charset="0"/>
              </a:rPr>
              <a:t>bu yöntemler çoğu zaman metnin anlamını koruyamaz</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Anlamsal </a:t>
            </a:r>
            <a:r>
              <a:rPr lang="tr-TR" sz="1400" dirty="0">
                <a:solidFill>
                  <a:schemeClr val="tx1"/>
                </a:solidFill>
                <a:latin typeface="Times New Roman" panose="02020603050405020304" pitchFamily="18" charset="0"/>
                <a:cs typeface="Times New Roman" panose="02020603050405020304" pitchFamily="18" charset="0"/>
              </a:rPr>
              <a:t>yöntemler ise cümlenin genel anlamını koruyarak yeni ifadeler üretmeyi amaçlar</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err="1" smtClean="0">
                <a:solidFill>
                  <a:schemeClr val="tx1"/>
                </a:solidFill>
                <a:latin typeface="Times New Roman" panose="02020603050405020304" pitchFamily="18" charset="0"/>
                <a:cs typeface="Times New Roman" panose="02020603050405020304" pitchFamily="18" charset="0"/>
              </a:rPr>
              <a:t>Paraphrasing</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a:solidFill>
                  <a:schemeClr val="tx1"/>
                </a:solidFill>
                <a:latin typeface="Times New Roman" panose="02020603050405020304" pitchFamily="18" charset="0"/>
                <a:cs typeface="Times New Roman" panose="02020603050405020304" pitchFamily="18" charset="0"/>
              </a:rPr>
              <a:t>ve </a:t>
            </a:r>
            <a:r>
              <a:rPr lang="tr-TR" sz="1400" dirty="0" err="1">
                <a:solidFill>
                  <a:schemeClr val="tx1"/>
                </a:solidFill>
                <a:latin typeface="Times New Roman" panose="02020603050405020304" pitchFamily="18" charset="0"/>
                <a:cs typeface="Times New Roman" panose="02020603050405020304" pitchFamily="18" charset="0"/>
              </a:rPr>
              <a:t>back-translation</a:t>
            </a:r>
            <a:r>
              <a:rPr lang="tr-TR" sz="1400" dirty="0">
                <a:solidFill>
                  <a:schemeClr val="tx1"/>
                </a:solidFill>
                <a:latin typeface="Times New Roman" panose="02020603050405020304" pitchFamily="18" charset="0"/>
                <a:cs typeface="Times New Roman" panose="02020603050405020304" pitchFamily="18" charset="0"/>
              </a:rPr>
              <a:t> bu gruba örnek verilebilir</a:t>
            </a:r>
            <a:r>
              <a:rPr lang="tr-TR" sz="1400" dirty="0" smtClean="0">
                <a:solidFill>
                  <a:schemeClr val="tx1"/>
                </a:solidFill>
                <a:latin typeface="Times New Roman" panose="02020603050405020304" pitchFamily="18" charset="0"/>
                <a:cs typeface="Times New Roman" panose="02020603050405020304" pitchFamily="18" charset="0"/>
              </a:rPr>
              <a:t>. Bu </a:t>
            </a:r>
            <a:r>
              <a:rPr lang="tr-TR" sz="1400" dirty="0">
                <a:solidFill>
                  <a:schemeClr val="tx1"/>
                </a:solidFill>
                <a:latin typeface="Times New Roman" panose="02020603050405020304" pitchFamily="18" charset="0"/>
                <a:cs typeface="Times New Roman" panose="02020603050405020304" pitchFamily="18" charset="0"/>
              </a:rPr>
              <a:t>yöntemler daha tutarlı sonuçlar üretse de, maliyetli ve sınırlı kalabilmektedir</a:t>
            </a:r>
            <a:r>
              <a:rPr lang="tr-TR" sz="1400" dirty="0" smtClean="0">
                <a:solidFill>
                  <a:schemeClr val="tx1"/>
                </a:solidFill>
                <a:latin typeface="Times New Roman" panose="02020603050405020304" pitchFamily="18" charset="0"/>
                <a:cs typeface="Times New Roman" panose="02020603050405020304" pitchFamily="18" charset="0"/>
              </a:rPr>
              <a:t>. Bu </a:t>
            </a:r>
            <a:r>
              <a:rPr lang="tr-TR" sz="1400" dirty="0">
                <a:solidFill>
                  <a:schemeClr val="tx1"/>
                </a:solidFill>
                <a:latin typeface="Times New Roman" panose="02020603050405020304" pitchFamily="18" charset="0"/>
                <a:cs typeface="Times New Roman" panose="02020603050405020304" pitchFamily="18" charset="0"/>
              </a:rPr>
              <a:t>nedenle, daha esnek ve bağlama duyarlı üretim yapabilen LLM tabanlı yaklaşımlar ön plana çıkmıştır.</a:t>
            </a:r>
            <a:endParaRPr lang="tr-TR" sz="1400" b="1" dirty="0" smtClean="0">
              <a:solidFill>
                <a:srgbClr val="C00000"/>
              </a:solidFill>
              <a:latin typeface="Times New Roman" panose="02020603050405020304" pitchFamily="18" charset="0"/>
              <a:cs typeface="Times New Roman" panose="02020603050405020304" pitchFamily="18" charset="0"/>
            </a:endParaRPr>
          </a:p>
        </p:txBody>
      </p:sp>
      <p:sp>
        <p:nvSpPr>
          <p:cNvPr id="4" name="AutoShape 2" descr="Üretilen görsel: Veri artırma ve LLM yaklaşımı sürec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4" name="AutoShape 4" descr="Veri artırma ve LLM karşılaştırması"/>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5" name="Resim 14"/>
          <p:cNvPicPr>
            <a:picLocks noChangeAspect="1"/>
          </p:cNvPicPr>
          <p:nvPr/>
        </p:nvPicPr>
        <p:blipFill>
          <a:blip r:embed="rId5"/>
          <a:stretch>
            <a:fillRect/>
          </a:stretch>
        </p:blipFill>
        <p:spPr>
          <a:xfrm>
            <a:off x="612774" y="1805139"/>
            <a:ext cx="5605145" cy="3280090"/>
          </a:xfrm>
          <a:prstGeom prst="rect">
            <a:avLst/>
          </a:prstGeom>
        </p:spPr>
      </p:pic>
      <p:sp>
        <p:nvSpPr>
          <p:cNvPr id="6" name="Metin kutusu 5"/>
          <p:cNvSpPr txBox="1"/>
          <p:nvPr/>
        </p:nvSpPr>
        <p:spPr>
          <a:xfrm>
            <a:off x="477432" y="5357638"/>
            <a:ext cx="5875828" cy="584775"/>
          </a:xfrm>
          <a:prstGeom prst="rect">
            <a:avLst/>
          </a:prstGeom>
          <a:noFill/>
        </p:spPr>
        <p:txBody>
          <a:bodyPr wrap="square" rtlCol="0">
            <a:spAutoFit/>
          </a:bodyPr>
          <a:lstStyle/>
          <a:p>
            <a:pPr algn="just"/>
            <a:r>
              <a:rPr lang="tr-TR" sz="1600" b="1" dirty="0">
                <a:solidFill>
                  <a:srgbClr val="C00000"/>
                </a:solidFill>
                <a:latin typeface="Times New Roman" panose="02020603050405020304" pitchFamily="18" charset="0"/>
                <a:cs typeface="Times New Roman" panose="02020603050405020304" pitchFamily="18" charset="0"/>
              </a:rPr>
              <a:t>Yüzeysel yöntemler hızlı ama riskli, anlamsal yöntemler daha güvenli ama sınırlıdır.</a:t>
            </a:r>
          </a:p>
        </p:txBody>
      </p:sp>
    </p:spTree>
    <p:extLst>
      <p:ext uri="{BB962C8B-B14F-4D97-AF65-F5344CB8AC3E}">
        <p14:creationId xmlns:p14="http://schemas.microsoft.com/office/powerpoint/2010/main" val="10702625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7351777" y="683540"/>
            <a:ext cx="4383024" cy="4708981"/>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Veri Artırma(Data </a:t>
            </a:r>
            <a:r>
              <a:rPr lang="tr-TR" sz="1600" b="1" dirty="0" err="1" smtClean="0">
                <a:solidFill>
                  <a:srgbClr val="C00000"/>
                </a:solidFill>
              </a:rPr>
              <a:t>Augmentation</a:t>
            </a:r>
            <a:r>
              <a:rPr lang="tr-TR" sz="1600" b="1" dirty="0" smtClean="0">
                <a:solidFill>
                  <a:srgbClr val="C00000"/>
                </a:solidFill>
              </a:rPr>
              <a:t>) ve LLM Yaklaşımı</a:t>
            </a:r>
          </a:p>
          <a:p>
            <a:pPr algn="ctr"/>
            <a:endParaRPr lang="tr-TR" sz="1600" b="1" dirty="0" smtClean="0">
              <a:solidFill>
                <a:srgbClr val="C00000"/>
              </a:solidFill>
            </a:endParaRPr>
          </a:p>
          <a:p>
            <a:pPr marL="285750" indent="-2857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Son yıllarda üretken yapay zeka modelleri, veri kıtlığı sorununu aşmak amacıyla sentetik veri üretiminde giderek daha merkezi bir rol üstlenmeye </a:t>
            </a:r>
            <a:r>
              <a:rPr lang="tr-TR" sz="1400" dirty="0" smtClean="0">
                <a:solidFill>
                  <a:schemeClr val="tx1"/>
                </a:solidFill>
                <a:latin typeface="Times New Roman" panose="02020603050405020304" pitchFamily="18" charset="0"/>
                <a:cs typeface="Times New Roman" panose="02020603050405020304" pitchFamily="18" charset="0"/>
              </a:rPr>
              <a:t>başlamıştır. Bu </a:t>
            </a:r>
            <a:r>
              <a:rPr lang="tr-TR" sz="1400" dirty="0">
                <a:solidFill>
                  <a:schemeClr val="tx1"/>
                </a:solidFill>
                <a:latin typeface="Times New Roman" panose="02020603050405020304" pitchFamily="18" charset="0"/>
                <a:cs typeface="Times New Roman" panose="02020603050405020304" pitchFamily="18" charset="0"/>
              </a:rPr>
              <a:t>ihtiyaca yanıt olarak geliştirilen </a:t>
            </a:r>
            <a:r>
              <a:rPr lang="tr-TR" sz="1400" dirty="0" smtClean="0">
                <a:solidFill>
                  <a:schemeClr val="tx1"/>
                </a:solidFill>
                <a:latin typeface="Times New Roman" panose="02020603050405020304" pitchFamily="18" charset="0"/>
                <a:cs typeface="Times New Roman" panose="02020603050405020304" pitchFamily="18" charset="0"/>
              </a:rPr>
              <a:t>LLM tabanlı veri artırma </a:t>
            </a:r>
            <a:r>
              <a:rPr lang="tr-TR" sz="1400" dirty="0">
                <a:solidFill>
                  <a:schemeClr val="tx1"/>
                </a:solidFill>
                <a:latin typeface="Times New Roman" panose="02020603050405020304" pitchFamily="18" charset="0"/>
                <a:cs typeface="Times New Roman" panose="02020603050405020304" pitchFamily="18" charset="0"/>
              </a:rPr>
              <a:t>yaklaşımları ise anlam bütünlüğünü koruyarak kontrollü sentetik veri üretimini mümkün </a:t>
            </a:r>
            <a:r>
              <a:rPr lang="tr-TR" sz="1400" dirty="0" smtClean="0">
                <a:solidFill>
                  <a:schemeClr val="tx1"/>
                </a:solidFill>
                <a:latin typeface="Times New Roman" panose="02020603050405020304" pitchFamily="18" charset="0"/>
                <a:cs typeface="Times New Roman" panose="02020603050405020304" pitchFamily="18" charset="0"/>
              </a:rPr>
              <a:t>kılmaktadır.</a:t>
            </a:r>
          </a:p>
          <a:p>
            <a:pPr marL="285750"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LLM</a:t>
            </a:r>
            <a:r>
              <a:rPr lang="tr-TR" sz="1400" dirty="0">
                <a:solidFill>
                  <a:schemeClr val="tx1"/>
                </a:solidFill>
                <a:latin typeface="Times New Roman" panose="02020603050405020304" pitchFamily="18" charset="0"/>
                <a:cs typeface="Times New Roman" panose="02020603050405020304" pitchFamily="18" charset="0"/>
              </a:rPr>
              <a:t>, milyarlarca parametreyle ön-eğitilmiş </a:t>
            </a:r>
            <a:r>
              <a:rPr lang="tr-TR" sz="1400" dirty="0" err="1">
                <a:solidFill>
                  <a:schemeClr val="tx1"/>
                </a:solidFill>
                <a:latin typeface="Times New Roman" panose="02020603050405020304" pitchFamily="18" charset="0"/>
                <a:cs typeface="Times New Roman" panose="02020603050405020304" pitchFamily="18" charset="0"/>
              </a:rPr>
              <a:t>transformer</a:t>
            </a:r>
            <a:r>
              <a:rPr lang="tr-TR" sz="1400" dirty="0">
                <a:solidFill>
                  <a:schemeClr val="tx1"/>
                </a:solidFill>
                <a:latin typeface="Times New Roman" panose="02020603050405020304" pitchFamily="18" charset="0"/>
                <a:cs typeface="Times New Roman" panose="02020603050405020304" pitchFamily="18" charset="0"/>
              </a:rPr>
              <a:t> tabanlı derin sinir ağları olup, hem dil anlama hem de dil üretme görevlerinde yüksek performans </a:t>
            </a:r>
            <a:r>
              <a:rPr lang="tr-TR" sz="1400" dirty="0" smtClean="0">
                <a:solidFill>
                  <a:schemeClr val="tx1"/>
                </a:solidFill>
                <a:latin typeface="Times New Roman" panose="02020603050405020304" pitchFamily="18" charset="0"/>
                <a:cs typeface="Times New Roman" panose="02020603050405020304" pitchFamily="18" charset="0"/>
              </a:rPr>
              <a:t>sergilemektedir.</a:t>
            </a:r>
          </a:p>
          <a:p>
            <a:pPr marL="285750" indent="-2857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LLM tabanlı </a:t>
            </a:r>
            <a:r>
              <a:rPr lang="tr-TR" sz="1400" dirty="0" smtClean="0">
                <a:solidFill>
                  <a:schemeClr val="tx1"/>
                </a:solidFill>
                <a:latin typeface="Times New Roman" panose="02020603050405020304" pitchFamily="18" charset="0"/>
                <a:cs typeface="Times New Roman" panose="02020603050405020304" pitchFamily="18" charset="0"/>
              </a:rPr>
              <a:t>veri artırma </a:t>
            </a:r>
            <a:r>
              <a:rPr lang="tr-TR" sz="1400" dirty="0">
                <a:solidFill>
                  <a:schemeClr val="tx1"/>
                </a:solidFill>
                <a:latin typeface="Times New Roman" panose="02020603050405020304" pitchFamily="18" charset="0"/>
                <a:cs typeface="Times New Roman" panose="02020603050405020304" pitchFamily="18" charset="0"/>
              </a:rPr>
              <a:t>süreçleri çoğunlukla </a:t>
            </a:r>
            <a:r>
              <a:rPr lang="tr-TR" sz="1400" dirty="0" err="1">
                <a:solidFill>
                  <a:schemeClr val="tx1"/>
                </a:solidFill>
                <a:latin typeface="Times New Roman" panose="02020603050405020304" pitchFamily="18" charset="0"/>
                <a:cs typeface="Times New Roman" panose="02020603050405020304" pitchFamily="18" charset="0"/>
              </a:rPr>
              <a:t>prompt</a:t>
            </a:r>
            <a:r>
              <a:rPr lang="tr-TR" sz="1400" dirty="0">
                <a:solidFill>
                  <a:schemeClr val="tx1"/>
                </a:solidFill>
                <a:latin typeface="Times New Roman" panose="02020603050405020304" pitchFamily="18" charset="0"/>
                <a:cs typeface="Times New Roman" panose="02020603050405020304" pitchFamily="18" charset="0"/>
              </a:rPr>
              <a:t> temelli üretim yaklaşımına </a:t>
            </a:r>
            <a:r>
              <a:rPr lang="tr-TR" sz="1400" dirty="0" smtClean="0">
                <a:solidFill>
                  <a:schemeClr val="tx1"/>
                </a:solidFill>
                <a:latin typeface="Times New Roman" panose="02020603050405020304" pitchFamily="18" charset="0"/>
                <a:cs typeface="Times New Roman" panose="02020603050405020304" pitchFamily="18" charset="0"/>
              </a:rPr>
              <a:t>dayanmaktadır.</a:t>
            </a:r>
          </a:p>
        </p:txBody>
      </p:sp>
      <p:sp>
        <p:nvSpPr>
          <p:cNvPr id="4" name="AutoShape 2" descr="Üretilen görsel: Veri artırma ve LLM yaklaşımı sürec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4" name="AutoShape 4" descr="Veri artırma ve LLM karşılaştırması"/>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5" name="Resim 14"/>
          <p:cNvPicPr>
            <a:picLocks noChangeAspect="1"/>
          </p:cNvPicPr>
          <p:nvPr/>
        </p:nvPicPr>
        <p:blipFill>
          <a:blip r:embed="rId5"/>
          <a:stretch>
            <a:fillRect/>
          </a:stretch>
        </p:blipFill>
        <p:spPr>
          <a:xfrm>
            <a:off x="612774" y="1805138"/>
            <a:ext cx="6139442" cy="3592757"/>
          </a:xfrm>
          <a:prstGeom prst="rect">
            <a:avLst/>
          </a:prstGeom>
        </p:spPr>
      </p:pic>
    </p:spTree>
    <p:extLst>
      <p:ext uri="{BB962C8B-B14F-4D97-AF65-F5344CB8AC3E}">
        <p14:creationId xmlns:p14="http://schemas.microsoft.com/office/powerpoint/2010/main" val="5284625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7351777" y="1322295"/>
            <a:ext cx="4383024" cy="3093154"/>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Veri Artırma(Data </a:t>
            </a:r>
            <a:r>
              <a:rPr lang="tr-TR" sz="1600" b="1" dirty="0" err="1" smtClean="0">
                <a:solidFill>
                  <a:srgbClr val="C00000"/>
                </a:solidFill>
              </a:rPr>
              <a:t>Augmentation</a:t>
            </a:r>
            <a:r>
              <a:rPr lang="tr-TR" sz="1600" b="1" dirty="0" smtClean="0">
                <a:solidFill>
                  <a:srgbClr val="C00000"/>
                </a:solidFill>
              </a:rPr>
              <a:t>) ve LLM Yaklaşımı</a:t>
            </a:r>
          </a:p>
          <a:p>
            <a:pPr algn="ctr"/>
            <a:endParaRPr lang="tr-TR" sz="1600" b="1" dirty="0" smtClean="0">
              <a:solidFill>
                <a:srgbClr val="C00000"/>
              </a:solidFill>
            </a:endParaRPr>
          </a:p>
          <a:p>
            <a:pPr marL="285750" indent="-2857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Bu modeller, </a:t>
            </a:r>
            <a:r>
              <a:rPr lang="tr-TR" sz="1400" dirty="0" err="1">
                <a:solidFill>
                  <a:schemeClr val="tx1"/>
                </a:solidFill>
                <a:latin typeface="Times New Roman" panose="02020603050405020304" pitchFamily="18" charset="0"/>
                <a:cs typeface="Times New Roman" panose="02020603050405020304" pitchFamily="18" charset="0"/>
              </a:rPr>
              <a:t>prompt</a:t>
            </a:r>
            <a:r>
              <a:rPr lang="tr-TR" sz="1400" dirty="0">
                <a:solidFill>
                  <a:schemeClr val="tx1"/>
                </a:solidFill>
                <a:latin typeface="Times New Roman" panose="02020603050405020304" pitchFamily="18" charset="0"/>
                <a:cs typeface="Times New Roman" panose="02020603050405020304" pitchFamily="18" charset="0"/>
              </a:rPr>
              <a:t> adı verilen doğal dil talimatları ile yönlendirilerek veri üretebilmektedir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Prompt</a:t>
            </a:r>
            <a:r>
              <a:rPr lang="tr-TR" sz="1400" dirty="0">
                <a:solidFill>
                  <a:schemeClr val="tx1"/>
                </a:solidFill>
                <a:latin typeface="Times New Roman" panose="02020603050405020304" pitchFamily="18" charset="0"/>
                <a:cs typeface="Times New Roman" panose="02020603050405020304" pitchFamily="18" charset="0"/>
              </a:rPr>
              <a:t>, modelin üreteceği metnin kapsamını, duygu yönelimini ve stilini belirleyen bir yönlendirme mekanizmasıdır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Bu </a:t>
            </a:r>
            <a:r>
              <a:rPr lang="tr-TR" sz="1400" dirty="0">
                <a:solidFill>
                  <a:schemeClr val="tx1"/>
                </a:solidFill>
                <a:latin typeface="Times New Roman" panose="02020603050405020304" pitchFamily="18" charset="0"/>
                <a:cs typeface="Times New Roman" panose="02020603050405020304" pitchFamily="18" charset="0"/>
              </a:rPr>
              <a:t>sayede üretim süreci rastgele olmaktan çıkarak daha kontrollü ve görev odaklı hale gelmektedir.</a:t>
            </a:r>
            <a:endParaRPr lang="tr-TR" sz="1400" dirty="0" smtClean="0">
              <a:solidFill>
                <a:schemeClr val="tx1"/>
              </a:solidFill>
              <a:latin typeface="Times New Roman" panose="02020603050405020304" pitchFamily="18" charset="0"/>
              <a:cs typeface="Times New Roman" panose="02020603050405020304" pitchFamily="18" charset="0"/>
            </a:endParaRPr>
          </a:p>
        </p:txBody>
      </p:sp>
      <p:sp>
        <p:nvSpPr>
          <p:cNvPr id="4" name="AutoShape 2" descr="Üretilen görsel: Veri artırma ve LLM yaklaşımı sürec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4" name="AutoShape 4" descr="Veri artırma ve LLM karşılaştırması"/>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6" name="Resim 5"/>
          <p:cNvPicPr>
            <a:picLocks noChangeAspect="1"/>
          </p:cNvPicPr>
          <p:nvPr/>
        </p:nvPicPr>
        <p:blipFill>
          <a:blip r:embed="rId5"/>
          <a:stretch>
            <a:fillRect/>
          </a:stretch>
        </p:blipFill>
        <p:spPr>
          <a:xfrm>
            <a:off x="499684" y="2210918"/>
            <a:ext cx="6252532" cy="1836722"/>
          </a:xfrm>
          <a:prstGeom prst="rect">
            <a:avLst/>
          </a:prstGeom>
        </p:spPr>
      </p:pic>
    </p:spTree>
    <p:extLst>
      <p:ext uri="{BB962C8B-B14F-4D97-AF65-F5344CB8AC3E}">
        <p14:creationId xmlns:p14="http://schemas.microsoft.com/office/powerpoint/2010/main" val="28308763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7242048" y="192517"/>
            <a:ext cx="4698632" cy="6343185"/>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Veri Artırma(Data </a:t>
            </a:r>
            <a:r>
              <a:rPr lang="tr-TR" sz="1600" b="1" dirty="0" err="1" smtClean="0">
                <a:solidFill>
                  <a:srgbClr val="C00000"/>
                </a:solidFill>
              </a:rPr>
              <a:t>Augmentation</a:t>
            </a:r>
            <a:r>
              <a:rPr lang="tr-TR" sz="1600" b="1" dirty="0" smtClean="0">
                <a:solidFill>
                  <a:srgbClr val="C00000"/>
                </a:solidFill>
              </a:rPr>
              <a:t>) ve LLM Yaklaşımı</a:t>
            </a:r>
          </a:p>
          <a:p>
            <a:pPr algn="ctr"/>
            <a:endParaRPr lang="tr-TR" sz="1600" b="1" dirty="0" smtClean="0">
              <a:solidFill>
                <a:srgbClr val="C00000"/>
              </a:solidFill>
            </a:endParaRPr>
          </a:p>
          <a:p>
            <a:pPr marL="285750"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Prompt</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a:solidFill>
                  <a:schemeClr val="tx1"/>
                </a:solidFill>
                <a:latin typeface="Times New Roman" panose="02020603050405020304" pitchFamily="18" charset="0"/>
                <a:cs typeface="Times New Roman" panose="02020603050405020304" pitchFamily="18" charset="0"/>
              </a:rPr>
              <a:t>tabanlı üretim genellikle </a:t>
            </a:r>
            <a:r>
              <a:rPr lang="tr-TR" sz="1400" dirty="0" err="1">
                <a:solidFill>
                  <a:schemeClr val="tx1"/>
                </a:solidFill>
                <a:latin typeface="Times New Roman" panose="02020603050405020304" pitchFamily="18" charset="0"/>
                <a:cs typeface="Times New Roman" panose="02020603050405020304" pitchFamily="18" charset="0"/>
              </a:rPr>
              <a:t>zero-shot</a:t>
            </a:r>
            <a:r>
              <a:rPr lang="tr-TR" sz="1400" dirty="0">
                <a:solidFill>
                  <a:schemeClr val="tx1"/>
                </a:solidFill>
                <a:latin typeface="Times New Roman" panose="02020603050405020304" pitchFamily="18" charset="0"/>
                <a:cs typeface="Times New Roman" panose="02020603050405020304" pitchFamily="18" charset="0"/>
              </a:rPr>
              <a:t> ve </a:t>
            </a:r>
            <a:r>
              <a:rPr lang="tr-TR" sz="1400" dirty="0" err="1">
                <a:solidFill>
                  <a:schemeClr val="tx1"/>
                </a:solidFill>
                <a:latin typeface="Times New Roman" panose="02020603050405020304" pitchFamily="18" charset="0"/>
                <a:cs typeface="Times New Roman" panose="02020603050405020304" pitchFamily="18" charset="0"/>
              </a:rPr>
              <a:t>few-shot</a:t>
            </a:r>
            <a:r>
              <a:rPr lang="tr-TR" sz="1400" dirty="0">
                <a:solidFill>
                  <a:schemeClr val="tx1"/>
                </a:solidFill>
                <a:latin typeface="Times New Roman" panose="02020603050405020304" pitchFamily="18" charset="0"/>
                <a:cs typeface="Times New Roman" panose="02020603050405020304" pitchFamily="18" charset="0"/>
              </a:rPr>
              <a:t> yaklaşımları ile uygulanmaktadır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Zero-</a:t>
            </a:r>
            <a:r>
              <a:rPr lang="tr-TR" sz="1400" dirty="0" err="1" smtClean="0">
                <a:solidFill>
                  <a:schemeClr val="tx1"/>
                </a:solidFill>
                <a:latin typeface="Times New Roman" panose="02020603050405020304" pitchFamily="18" charset="0"/>
                <a:cs typeface="Times New Roman" panose="02020603050405020304" pitchFamily="18" charset="0"/>
              </a:rPr>
              <a:t>shot</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a:solidFill>
                  <a:schemeClr val="tx1"/>
                </a:solidFill>
                <a:latin typeface="Times New Roman" panose="02020603050405020304" pitchFamily="18" charset="0"/>
                <a:cs typeface="Times New Roman" panose="02020603050405020304" pitchFamily="18" charset="0"/>
              </a:rPr>
              <a:t>yaklaşımında model, herhangi bir örnek verilmeden yalnızca görev tanımı ile üretim yapar. Bu sayede ek veri gerektirmeden hızlı bir şekilde sentetik veri üretilebilir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Few-shot</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a:solidFill>
                  <a:schemeClr val="tx1"/>
                </a:solidFill>
                <a:latin typeface="Times New Roman" panose="02020603050405020304" pitchFamily="18" charset="0"/>
                <a:cs typeface="Times New Roman" panose="02020603050405020304" pitchFamily="18" charset="0"/>
              </a:rPr>
              <a:t>yaklaşımında ise modele sınırlı sayıda örnek sunularak üretim süreci yönlendirilir. Bu yöntem, daha kontrollü ve tutarlı çıktılar elde edilmesini sağlar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Ancak </a:t>
            </a:r>
            <a:r>
              <a:rPr lang="tr-TR" sz="1400" dirty="0">
                <a:solidFill>
                  <a:schemeClr val="tx1"/>
                </a:solidFill>
                <a:latin typeface="Times New Roman" panose="02020603050405020304" pitchFamily="18" charset="0"/>
                <a:cs typeface="Times New Roman" panose="02020603050405020304" pitchFamily="18" charset="0"/>
              </a:rPr>
              <a:t>bu çalışmada, düşük kaynaklı dil yapısı göz önünde bulundurularak </a:t>
            </a:r>
            <a:r>
              <a:rPr lang="tr-TR" sz="1400" dirty="0" err="1">
                <a:solidFill>
                  <a:schemeClr val="tx1"/>
                </a:solidFill>
                <a:latin typeface="Times New Roman" panose="02020603050405020304" pitchFamily="18" charset="0"/>
                <a:cs typeface="Times New Roman" panose="02020603050405020304" pitchFamily="18" charset="0"/>
              </a:rPr>
              <a:t>zero-shot</a:t>
            </a:r>
            <a:r>
              <a:rPr lang="tr-TR" sz="1400" dirty="0">
                <a:solidFill>
                  <a:schemeClr val="tx1"/>
                </a:solidFill>
                <a:latin typeface="Times New Roman" panose="02020603050405020304" pitchFamily="18" charset="0"/>
                <a:cs typeface="Times New Roman" panose="02020603050405020304" pitchFamily="18" charset="0"/>
              </a:rPr>
              <a:t> yaklaşımı tercih edilmiştir. Bu tercih, ek etiketli veri gereksinimini ortadan kaldırarak veri artırma sürecini daha ölçeklenebilir hale getirmektedir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Ayrıca </a:t>
            </a:r>
            <a:r>
              <a:rPr lang="tr-TR" sz="1400" dirty="0" err="1">
                <a:solidFill>
                  <a:schemeClr val="tx1"/>
                </a:solidFill>
                <a:latin typeface="Times New Roman" panose="02020603050405020304" pitchFamily="18" charset="0"/>
                <a:cs typeface="Times New Roman" panose="02020603050405020304" pitchFamily="18" charset="0"/>
              </a:rPr>
              <a:t>few-shot</a:t>
            </a:r>
            <a:r>
              <a:rPr lang="tr-TR" sz="1400" dirty="0">
                <a:solidFill>
                  <a:schemeClr val="tx1"/>
                </a:solidFill>
                <a:latin typeface="Times New Roman" panose="02020603050405020304" pitchFamily="18" charset="0"/>
                <a:cs typeface="Times New Roman" panose="02020603050405020304" pitchFamily="18" charset="0"/>
              </a:rPr>
              <a:t> yönteminde olduğu gibi örnek seçimi ve yerleşimi gibi süreçler gerektirmediği için insan müdahalesine olan bağımlılığı azaltmaktadır. Bu sayede veri üretim süreci daha sistematik ve otomatik bir hale gelmektedir.</a:t>
            </a:r>
            <a:endParaRPr lang="tr-TR" sz="1400" dirty="0" smtClean="0">
              <a:solidFill>
                <a:schemeClr val="tx1"/>
              </a:solidFill>
              <a:latin typeface="Times New Roman" panose="02020603050405020304" pitchFamily="18" charset="0"/>
              <a:cs typeface="Times New Roman" panose="02020603050405020304" pitchFamily="18" charset="0"/>
            </a:endParaRPr>
          </a:p>
        </p:txBody>
      </p:sp>
      <p:sp>
        <p:nvSpPr>
          <p:cNvPr id="4" name="AutoShape 2" descr="Üretilen görsel: Veri artırma ve LLM yaklaşımı sürec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4" name="AutoShape 4" descr="Veri artırma ve LLM karşılaştırması"/>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0" name="Resim 9"/>
          <p:cNvPicPr>
            <a:picLocks noChangeAspect="1"/>
          </p:cNvPicPr>
          <p:nvPr/>
        </p:nvPicPr>
        <p:blipFill>
          <a:blip r:embed="rId5"/>
          <a:stretch>
            <a:fillRect/>
          </a:stretch>
        </p:blipFill>
        <p:spPr>
          <a:xfrm>
            <a:off x="307975" y="2313902"/>
            <a:ext cx="6369847" cy="2049042"/>
          </a:xfrm>
          <a:prstGeom prst="rect">
            <a:avLst/>
          </a:prstGeom>
        </p:spPr>
      </p:pic>
    </p:spTree>
    <p:extLst>
      <p:ext uri="{BB962C8B-B14F-4D97-AF65-F5344CB8AC3E}">
        <p14:creationId xmlns:p14="http://schemas.microsoft.com/office/powerpoint/2010/main" val="39303541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6566161" y="460712"/>
            <a:ext cx="5374520" cy="5755422"/>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tr-TR" sz="1600" b="1" dirty="0" smtClean="0">
                <a:solidFill>
                  <a:srgbClr val="C00000"/>
                </a:solidFill>
              </a:rPr>
              <a:t>Veri Artırma(Data </a:t>
            </a:r>
            <a:r>
              <a:rPr lang="tr-TR" sz="1600" b="1" dirty="0" err="1" smtClean="0">
                <a:solidFill>
                  <a:srgbClr val="C00000"/>
                </a:solidFill>
              </a:rPr>
              <a:t>Augmentation</a:t>
            </a:r>
            <a:r>
              <a:rPr lang="tr-TR" sz="1600" b="1" dirty="0" smtClean="0">
                <a:solidFill>
                  <a:srgbClr val="C00000"/>
                </a:solidFill>
              </a:rPr>
              <a:t>) ve LLM Yaklaşımı</a:t>
            </a:r>
          </a:p>
          <a:p>
            <a:pPr algn="ctr"/>
            <a:endParaRPr lang="tr-TR" sz="1600" b="1" dirty="0" smtClean="0">
              <a:solidFill>
                <a:srgbClr val="C00000"/>
              </a:solidFill>
            </a:endParaRPr>
          </a:p>
          <a:p>
            <a:pPr marL="285750" indent="-2857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Zero-</a:t>
            </a:r>
            <a:r>
              <a:rPr lang="tr-TR" sz="1400" dirty="0" err="1">
                <a:solidFill>
                  <a:schemeClr val="tx1"/>
                </a:solidFill>
                <a:latin typeface="Times New Roman" panose="02020603050405020304" pitchFamily="18" charset="0"/>
                <a:cs typeface="Times New Roman" panose="02020603050405020304" pitchFamily="18" charset="0"/>
              </a:rPr>
              <a:t>shot</a:t>
            </a:r>
            <a:r>
              <a:rPr lang="tr-TR" sz="1400" dirty="0">
                <a:solidFill>
                  <a:schemeClr val="tx1"/>
                </a:solidFill>
                <a:latin typeface="Times New Roman" panose="02020603050405020304" pitchFamily="18" charset="0"/>
                <a:cs typeface="Times New Roman" panose="02020603050405020304" pitchFamily="18" charset="0"/>
              </a:rPr>
              <a:t> yaklaşımı ayrıca model karşılaştırmalarının daha adil yapılmasını sağlamaktadır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Few-shot</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a:solidFill>
                  <a:schemeClr val="tx1"/>
                </a:solidFill>
                <a:latin typeface="Times New Roman" panose="02020603050405020304" pitchFamily="18" charset="0"/>
                <a:cs typeface="Times New Roman" panose="02020603050405020304" pitchFamily="18" charset="0"/>
              </a:rPr>
              <a:t>yönteminde her model için farklı örnek kombinasyonlarının belirlenmesi gerekebilirken, </a:t>
            </a:r>
            <a:r>
              <a:rPr lang="tr-TR" sz="1400" dirty="0" err="1">
                <a:solidFill>
                  <a:schemeClr val="tx1"/>
                </a:solidFill>
                <a:latin typeface="Times New Roman" panose="02020603050405020304" pitchFamily="18" charset="0"/>
                <a:cs typeface="Times New Roman" panose="02020603050405020304" pitchFamily="18" charset="0"/>
              </a:rPr>
              <a:t>zero-shot</a:t>
            </a:r>
            <a:r>
              <a:rPr lang="tr-TR" sz="1400" dirty="0">
                <a:solidFill>
                  <a:schemeClr val="tx1"/>
                </a:solidFill>
                <a:latin typeface="Times New Roman" panose="02020603050405020304" pitchFamily="18" charset="0"/>
                <a:cs typeface="Times New Roman" panose="02020603050405020304" pitchFamily="18" charset="0"/>
              </a:rPr>
              <a:t> yaklaşımında tüm modeller aynı koşullar altında </a:t>
            </a:r>
            <a:r>
              <a:rPr lang="tr-TR" sz="1400" dirty="0" err="1" smtClean="0">
                <a:solidFill>
                  <a:schemeClr val="tx1"/>
                </a:solidFill>
                <a:latin typeface="Times New Roman" panose="02020603050405020304" pitchFamily="18" charset="0"/>
                <a:cs typeface="Times New Roman" panose="02020603050405020304" pitchFamily="18" charset="0"/>
              </a:rPr>
              <a:t>değerlendirilmektedir.Bu</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a:solidFill>
                  <a:schemeClr val="tx1"/>
                </a:solidFill>
                <a:latin typeface="Times New Roman" panose="02020603050405020304" pitchFamily="18" charset="0"/>
                <a:cs typeface="Times New Roman" panose="02020603050405020304" pitchFamily="18" charset="0"/>
              </a:rPr>
              <a:t>durum deneysel kontrolü artırmaktadır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Ayrıca </a:t>
            </a:r>
            <a:r>
              <a:rPr lang="tr-TR" sz="1400" dirty="0">
                <a:solidFill>
                  <a:schemeClr val="tx1"/>
                </a:solidFill>
                <a:latin typeface="Times New Roman" panose="02020603050405020304" pitchFamily="18" charset="0"/>
                <a:cs typeface="Times New Roman" panose="02020603050405020304" pitchFamily="18" charset="0"/>
              </a:rPr>
              <a:t>veri sızıntısı riski de önemli bir faktördür. Zero-</a:t>
            </a:r>
            <a:r>
              <a:rPr lang="tr-TR" sz="1400" dirty="0" err="1">
                <a:solidFill>
                  <a:schemeClr val="tx1"/>
                </a:solidFill>
                <a:latin typeface="Times New Roman" panose="02020603050405020304" pitchFamily="18" charset="0"/>
                <a:cs typeface="Times New Roman" panose="02020603050405020304" pitchFamily="18" charset="0"/>
              </a:rPr>
              <a:t>shot</a:t>
            </a:r>
            <a:r>
              <a:rPr lang="tr-TR" sz="1400" dirty="0">
                <a:solidFill>
                  <a:schemeClr val="tx1"/>
                </a:solidFill>
                <a:latin typeface="Times New Roman" panose="02020603050405020304" pitchFamily="18" charset="0"/>
                <a:cs typeface="Times New Roman" panose="02020603050405020304" pitchFamily="18" charset="0"/>
              </a:rPr>
              <a:t> yaklaşımında ham veri örnekleri </a:t>
            </a:r>
            <a:r>
              <a:rPr lang="tr-TR" sz="1400" dirty="0" err="1">
                <a:solidFill>
                  <a:schemeClr val="tx1"/>
                </a:solidFill>
                <a:latin typeface="Times New Roman" panose="02020603050405020304" pitchFamily="18" charset="0"/>
                <a:cs typeface="Times New Roman" panose="02020603050405020304" pitchFamily="18" charset="0"/>
              </a:rPr>
              <a:t>prompt</a:t>
            </a:r>
            <a:r>
              <a:rPr lang="tr-TR" sz="1400" dirty="0">
                <a:solidFill>
                  <a:schemeClr val="tx1"/>
                </a:solidFill>
                <a:latin typeface="Times New Roman" panose="02020603050405020304" pitchFamily="18" charset="0"/>
                <a:cs typeface="Times New Roman" panose="02020603050405020304" pitchFamily="18" charset="0"/>
              </a:rPr>
              <a:t> içerisinde kullanılmadığı için sentetik verinin bağımsız üretimi </a:t>
            </a:r>
            <a:r>
              <a:rPr lang="tr-TR" sz="1400" dirty="0" err="1">
                <a:solidFill>
                  <a:schemeClr val="tx1"/>
                </a:solidFill>
                <a:latin typeface="Times New Roman" panose="02020603050405020304" pitchFamily="18" charset="0"/>
                <a:cs typeface="Times New Roman" panose="02020603050405020304" pitchFamily="18" charset="0"/>
              </a:rPr>
              <a:t>sağlanmaktadır.Bunun</a:t>
            </a:r>
            <a:r>
              <a:rPr lang="tr-TR" sz="1400" dirty="0">
                <a:solidFill>
                  <a:schemeClr val="tx1"/>
                </a:solidFill>
                <a:latin typeface="Times New Roman" panose="02020603050405020304" pitchFamily="18" charset="0"/>
                <a:cs typeface="Times New Roman" panose="02020603050405020304" pitchFamily="18" charset="0"/>
              </a:rPr>
              <a:t> yanında, modeller farklı ifade biçimleri üreterek veri çeşitliliğini </a:t>
            </a:r>
            <a:r>
              <a:rPr lang="tr-TR" sz="1400" dirty="0" err="1">
                <a:solidFill>
                  <a:schemeClr val="tx1"/>
                </a:solidFill>
                <a:latin typeface="Times New Roman" panose="02020603050405020304" pitchFamily="18" charset="0"/>
                <a:cs typeface="Times New Roman" panose="02020603050405020304" pitchFamily="18" charset="0"/>
              </a:rPr>
              <a:t>artırabilmektedir.Bu</a:t>
            </a:r>
            <a:r>
              <a:rPr lang="tr-TR" sz="1400" dirty="0">
                <a:solidFill>
                  <a:schemeClr val="tx1"/>
                </a:solidFill>
                <a:latin typeface="Times New Roman" panose="02020603050405020304" pitchFamily="18" charset="0"/>
                <a:cs typeface="Times New Roman" panose="02020603050405020304" pitchFamily="18" charset="0"/>
              </a:rPr>
              <a:t> özellikler, </a:t>
            </a:r>
            <a:r>
              <a:rPr lang="tr-TR" sz="1400" dirty="0" err="1">
                <a:solidFill>
                  <a:schemeClr val="tx1"/>
                </a:solidFill>
                <a:latin typeface="Times New Roman" panose="02020603050405020304" pitchFamily="18" charset="0"/>
                <a:cs typeface="Times New Roman" panose="02020603050405020304" pitchFamily="18" charset="0"/>
              </a:rPr>
              <a:t>zero-shot</a:t>
            </a:r>
            <a:r>
              <a:rPr lang="tr-TR" sz="1400" dirty="0">
                <a:solidFill>
                  <a:schemeClr val="tx1"/>
                </a:solidFill>
                <a:latin typeface="Times New Roman" panose="02020603050405020304" pitchFamily="18" charset="0"/>
                <a:cs typeface="Times New Roman" panose="02020603050405020304" pitchFamily="18" charset="0"/>
              </a:rPr>
              <a:t> yaklaşımını metodolojik olarak daha güvenilir hale getirmektedir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Bu nedenle, bu çalışmada </a:t>
            </a:r>
            <a:r>
              <a:rPr lang="tr-TR" sz="1400" dirty="0" err="1">
                <a:solidFill>
                  <a:schemeClr val="tx1"/>
                </a:solidFill>
                <a:latin typeface="Times New Roman" panose="02020603050405020304" pitchFamily="18" charset="0"/>
                <a:cs typeface="Times New Roman" panose="02020603050405020304" pitchFamily="18" charset="0"/>
              </a:rPr>
              <a:t>zero-shot</a:t>
            </a:r>
            <a:r>
              <a:rPr lang="tr-TR" sz="1400" dirty="0">
                <a:solidFill>
                  <a:schemeClr val="tx1"/>
                </a:solidFill>
                <a:latin typeface="Times New Roman" panose="02020603050405020304" pitchFamily="18" charset="0"/>
                <a:cs typeface="Times New Roman" panose="02020603050405020304" pitchFamily="18" charset="0"/>
              </a:rPr>
              <a:t> yaklaşımı tercih edilerek veri üretim sürecinin ölçeklenebilir, tekrarlanabilir ve metodolojik olarak daha kontrollü bir yapıda yürütülmesi hedeflenmiştir.</a:t>
            </a:r>
            <a:endParaRPr lang="tr-TR" sz="1400" dirty="0" smtClean="0">
              <a:solidFill>
                <a:schemeClr val="tx1"/>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endParaRPr lang="tr-TR" sz="1400" dirty="0" smtClean="0">
              <a:solidFill>
                <a:schemeClr val="tx1"/>
              </a:solidFill>
              <a:latin typeface="Times New Roman" panose="02020603050405020304" pitchFamily="18" charset="0"/>
              <a:cs typeface="Times New Roman" panose="02020603050405020304" pitchFamily="18" charset="0"/>
            </a:endParaRPr>
          </a:p>
        </p:txBody>
      </p:sp>
      <p:sp>
        <p:nvSpPr>
          <p:cNvPr id="4" name="AutoShape 2" descr="Üretilen görsel: Veri artırma ve LLM yaklaşımı sürec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4" name="AutoShape 4" descr="Veri artırma ve LLM karşılaştırması"/>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0" name="Resim 9"/>
          <p:cNvPicPr>
            <a:picLocks noChangeAspect="1"/>
          </p:cNvPicPr>
          <p:nvPr/>
        </p:nvPicPr>
        <p:blipFill>
          <a:blip r:embed="rId5"/>
          <a:stretch>
            <a:fillRect/>
          </a:stretch>
        </p:blipFill>
        <p:spPr>
          <a:xfrm>
            <a:off x="307975" y="2313902"/>
            <a:ext cx="5909945" cy="2049042"/>
          </a:xfrm>
          <a:prstGeom prst="rect">
            <a:avLst/>
          </a:prstGeom>
        </p:spPr>
      </p:pic>
    </p:spTree>
    <p:extLst>
      <p:ext uri="{BB962C8B-B14F-4D97-AF65-F5344CB8AC3E}">
        <p14:creationId xmlns:p14="http://schemas.microsoft.com/office/powerpoint/2010/main" val="24468469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656216" y="1048997"/>
            <a:ext cx="4217536" cy="523220"/>
          </a:xfrm>
          <a:prstGeom prst="rect">
            <a:avLst/>
          </a:prstGeom>
          <a:noFill/>
        </p:spPr>
        <p:txBody>
          <a:bodyPr wrap="square" rtlCol="0">
            <a:spAutoFit/>
          </a:bodyPr>
          <a:lstStyle/>
          <a:p>
            <a:r>
              <a:rPr lang="tr-TR" sz="2800" b="1" dirty="0" smtClean="0">
                <a:solidFill>
                  <a:srgbClr val="C00000"/>
                </a:solidFill>
              </a:rPr>
              <a:t>«GİRİŞ ve MOTİVASYON»</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4" name="AutoShape 2" descr="Üretilen görsel: Veri artırma ve LLM yaklaşımı sürec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4" name="AutoShape 4" descr="Veri artırma ve LLM karşılaştırması"/>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5" name="Dikdörtgen 14">
            <a:extLst>
              <a:ext uri="{FF2B5EF4-FFF2-40B4-BE49-F238E27FC236}">
                <a16:creationId xmlns="" xmlns:a16="http://schemas.microsoft.com/office/drawing/2014/main" id="{AE939EFF-E8FB-C245-8830-6259B3CB3F35}"/>
              </a:ext>
            </a:extLst>
          </p:cNvPr>
          <p:cNvSpPr/>
          <p:nvPr/>
        </p:nvSpPr>
        <p:spPr>
          <a:xfrm>
            <a:off x="7240090" y="1561714"/>
            <a:ext cx="4824440" cy="5047536"/>
          </a:xfrm>
          <a:prstGeom prst="rect">
            <a:avLst/>
          </a:prstGeom>
        </p:spPr>
        <p:txBody>
          <a:bodyPr wrap="square">
            <a:spAutoFit/>
          </a:bodyPr>
          <a:lstStyle/>
          <a:p>
            <a:pPr algn="ctr"/>
            <a:r>
              <a:rPr lang="tr-TR" sz="1600" b="1" u="sng" dirty="0" smtClean="0">
                <a:solidFill>
                  <a:srgbClr val="C00000"/>
                </a:solidFill>
                <a:latin typeface="Times New Roman" panose="02020603050405020304" pitchFamily="18" charset="0"/>
                <a:cs typeface="Times New Roman" panose="02020603050405020304" pitchFamily="18" charset="0"/>
              </a:rPr>
              <a:t>KATKILAR</a:t>
            </a:r>
            <a:endParaRPr lang="tr-TR" sz="1600" b="1" u="sng" dirty="0">
              <a:solidFill>
                <a:srgbClr val="C00000"/>
              </a:solidFill>
              <a:latin typeface="Times New Roman" panose="02020603050405020304" pitchFamily="18" charset="0"/>
              <a:cs typeface="Times New Roman" panose="02020603050405020304" pitchFamily="18" charset="0"/>
            </a:endParaRPr>
          </a:p>
          <a:p>
            <a:pPr algn="ctr"/>
            <a:endParaRPr lang="tr-TR" sz="1200" dirty="0">
              <a:latin typeface="Times New Roman" panose="02020603050405020304" pitchFamily="18" charset="0"/>
              <a:cs typeface="Times New Roman" panose="02020603050405020304" pitchFamily="18" charset="0"/>
            </a:endParaRP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Türkçe </a:t>
            </a:r>
            <a:r>
              <a:rPr lang="tr-TR" sz="1400" dirty="0">
                <a:latin typeface="Times New Roman" panose="02020603050405020304" pitchFamily="18" charset="0"/>
                <a:cs typeface="Times New Roman" panose="02020603050405020304" pitchFamily="18" charset="0"/>
              </a:rPr>
              <a:t>SA için </a:t>
            </a:r>
            <a:r>
              <a:rPr lang="tr-TR" sz="1400" dirty="0" err="1">
                <a:latin typeface="Times New Roman" panose="02020603050405020304" pitchFamily="18" charset="0"/>
                <a:cs typeface="Times New Roman" panose="02020603050405020304" pitchFamily="18" charset="0"/>
              </a:rPr>
              <a:t>zero-shot</a:t>
            </a:r>
            <a:r>
              <a:rPr lang="tr-TR" sz="1400" dirty="0">
                <a:latin typeface="Times New Roman" panose="02020603050405020304" pitchFamily="18" charset="0"/>
                <a:cs typeface="Times New Roman" panose="02020603050405020304" pitchFamily="18" charset="0"/>
              </a:rPr>
              <a:t> yaklaşımı kullanılarak LLM tabanlı DA yöntemlerine ilişkin kapsamlı bir deneysel analizinin sunulması.</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GPT </a:t>
            </a:r>
            <a:r>
              <a:rPr lang="tr-TR" sz="1400" dirty="0">
                <a:latin typeface="Times New Roman" panose="02020603050405020304" pitchFamily="18" charset="0"/>
                <a:cs typeface="Times New Roman" panose="02020603050405020304" pitchFamily="18" charset="0"/>
              </a:rPr>
              <a:t>ve </a:t>
            </a:r>
            <a:r>
              <a:rPr lang="tr-TR" sz="1400" dirty="0" err="1">
                <a:latin typeface="Times New Roman" panose="02020603050405020304" pitchFamily="18" charset="0"/>
                <a:cs typeface="Times New Roman" panose="02020603050405020304" pitchFamily="18" charset="0"/>
              </a:rPr>
              <a:t>Claude</a:t>
            </a:r>
            <a:r>
              <a:rPr lang="tr-TR" sz="1400" dirty="0">
                <a:latin typeface="Times New Roman" panose="02020603050405020304" pitchFamily="18" charset="0"/>
                <a:cs typeface="Times New Roman" panose="02020603050405020304" pitchFamily="18" charset="0"/>
              </a:rPr>
              <a:t> kullanılarak oluşturulan ham, sentetik ve </a:t>
            </a:r>
            <a:r>
              <a:rPr lang="tr-TR" sz="1400" dirty="0" err="1">
                <a:latin typeface="Times New Roman" panose="02020603050405020304" pitchFamily="18" charset="0"/>
                <a:cs typeface="Times New Roman" panose="02020603050405020304" pitchFamily="18" charset="0"/>
              </a:rPr>
              <a:t>hibrit</a:t>
            </a:r>
            <a:r>
              <a:rPr lang="tr-TR" sz="1400" dirty="0">
                <a:latin typeface="Times New Roman" panose="02020603050405020304" pitchFamily="18" charset="0"/>
                <a:cs typeface="Times New Roman" panose="02020603050405020304" pitchFamily="18" charset="0"/>
              </a:rPr>
              <a:t> veri yapılandırmalarının performans odaklı olarak karşılaştırılması.</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Geleneksel </a:t>
            </a:r>
            <a:r>
              <a:rPr lang="tr-TR" sz="1400" dirty="0">
                <a:latin typeface="Times New Roman" panose="02020603050405020304" pitchFamily="18" charset="0"/>
                <a:cs typeface="Times New Roman" panose="02020603050405020304" pitchFamily="18" charset="0"/>
              </a:rPr>
              <a:t>ML, DL ve </a:t>
            </a:r>
            <a:r>
              <a:rPr lang="tr-TR" sz="1400" dirty="0" err="1">
                <a:latin typeface="Times New Roman" panose="02020603050405020304" pitchFamily="18" charset="0"/>
                <a:cs typeface="Times New Roman" panose="02020603050405020304" pitchFamily="18" charset="0"/>
              </a:rPr>
              <a:t>Transformer</a:t>
            </a:r>
            <a:r>
              <a:rPr lang="tr-TR" sz="1400" dirty="0">
                <a:latin typeface="Times New Roman" panose="02020603050405020304" pitchFamily="18" charset="0"/>
                <a:cs typeface="Times New Roman" panose="02020603050405020304" pitchFamily="18" charset="0"/>
              </a:rPr>
              <a:t> mimarilerinin aynı veri kümeleri üzerinde test edilerek standartlaştırılmış başarı ölçümleriyle değerlendirilmesi.</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Performans </a:t>
            </a:r>
            <a:r>
              <a:rPr lang="tr-TR" sz="1400" dirty="0">
                <a:latin typeface="Times New Roman" panose="02020603050405020304" pitchFamily="18" charset="0"/>
                <a:cs typeface="Times New Roman" panose="02020603050405020304" pitchFamily="18" charset="0"/>
              </a:rPr>
              <a:t>metriklerine ek olarak sentetik verinin niteliğini anlamsal ve istatistiksel açıdan analiz edilmesi</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Düşük </a:t>
            </a:r>
            <a:r>
              <a:rPr lang="tr-TR" sz="1400" dirty="0">
                <a:latin typeface="Times New Roman" panose="02020603050405020304" pitchFamily="18" charset="0"/>
                <a:cs typeface="Times New Roman" panose="02020603050405020304" pitchFamily="18" charset="0"/>
              </a:rPr>
              <a:t>kaynaklı dillerde LLM tabanlı sentetik verinin gerçek veriyi destekleme potansiyeline ilişkin deneysel bulguların ve stratejik çıkarımların literatüre kazandırılması.</a:t>
            </a:r>
          </a:p>
        </p:txBody>
      </p:sp>
      <p:sp>
        <p:nvSpPr>
          <p:cNvPr id="16" name="Dikdörtgen 15">
            <a:extLst>
              <a:ext uri="{FF2B5EF4-FFF2-40B4-BE49-F238E27FC236}">
                <a16:creationId xmlns="" xmlns:a16="http://schemas.microsoft.com/office/drawing/2014/main" id="{AE939EFF-E8FB-C245-8830-6259B3CB3F35}"/>
              </a:ext>
            </a:extLst>
          </p:cNvPr>
          <p:cNvSpPr/>
          <p:nvPr/>
        </p:nvSpPr>
        <p:spPr>
          <a:xfrm>
            <a:off x="3835825" y="2045212"/>
            <a:ext cx="3141047" cy="2492990"/>
          </a:xfrm>
          <a:prstGeom prst="rect">
            <a:avLst/>
          </a:prstGeom>
        </p:spPr>
        <p:txBody>
          <a:bodyPr wrap="square">
            <a:spAutoFit/>
          </a:bodyPr>
          <a:lstStyle/>
          <a:p>
            <a:pPr algn="ctr"/>
            <a:r>
              <a:rPr lang="tr-TR" sz="1600" b="1" u="sng" dirty="0" smtClean="0">
                <a:solidFill>
                  <a:srgbClr val="C00000"/>
                </a:solidFill>
                <a:latin typeface="Times New Roman" panose="02020603050405020304" pitchFamily="18" charset="0"/>
                <a:cs typeface="Times New Roman" panose="02020603050405020304" pitchFamily="18" charset="0"/>
              </a:rPr>
              <a:t>KAPSAM</a:t>
            </a:r>
            <a:endParaRPr lang="tr-TR" sz="1600" b="1" u="sng" dirty="0">
              <a:solidFill>
                <a:srgbClr val="C00000"/>
              </a:solidFill>
              <a:latin typeface="Times New Roman" panose="02020603050405020304" pitchFamily="18" charset="0"/>
              <a:cs typeface="Times New Roman" panose="02020603050405020304" pitchFamily="18" charset="0"/>
            </a:endParaRPr>
          </a:p>
          <a:p>
            <a:pPr algn="ctr"/>
            <a:endParaRPr lang="tr-TR" sz="1400" dirty="0">
              <a:latin typeface="Times New Roman" panose="02020603050405020304" pitchFamily="18" charset="0"/>
              <a:cs typeface="Times New Roman" panose="02020603050405020304" pitchFamily="18" charset="0"/>
            </a:endParaRPr>
          </a:p>
          <a:p>
            <a:pPr marL="171450" indent="-1714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GPT ve </a:t>
            </a:r>
            <a:r>
              <a:rPr lang="tr-TR" sz="1400" dirty="0" err="1">
                <a:latin typeface="Times New Roman" panose="02020603050405020304" pitchFamily="18" charset="0"/>
                <a:cs typeface="Times New Roman" panose="02020603050405020304" pitchFamily="18" charset="0"/>
              </a:rPr>
              <a:t>Claude</a:t>
            </a:r>
            <a:r>
              <a:rPr lang="tr-TR" sz="1400" dirty="0">
                <a:latin typeface="Times New Roman" panose="02020603050405020304" pitchFamily="18" charset="0"/>
                <a:cs typeface="Times New Roman" panose="02020603050405020304" pitchFamily="18" charset="0"/>
              </a:rPr>
              <a:t> ile sentetik veri </a:t>
            </a:r>
            <a:r>
              <a:rPr lang="tr-TR" sz="1400" dirty="0" smtClean="0">
                <a:latin typeface="Times New Roman" panose="02020603050405020304" pitchFamily="18" charset="0"/>
                <a:cs typeface="Times New Roman" panose="02020603050405020304" pitchFamily="18" charset="0"/>
              </a:rPr>
              <a:t>üretimi</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Gerçek</a:t>
            </a:r>
            <a:r>
              <a:rPr lang="tr-TR" sz="1400" dirty="0">
                <a:latin typeface="Times New Roman" panose="02020603050405020304" pitchFamily="18" charset="0"/>
                <a:cs typeface="Times New Roman" panose="02020603050405020304" pitchFamily="18" charset="0"/>
              </a:rPr>
              <a:t>, sentetik ve </a:t>
            </a:r>
            <a:r>
              <a:rPr lang="tr-TR" sz="1400" dirty="0" err="1">
                <a:latin typeface="Times New Roman" panose="02020603050405020304" pitchFamily="18" charset="0"/>
                <a:cs typeface="Times New Roman" panose="02020603050405020304" pitchFamily="18" charset="0"/>
              </a:rPr>
              <a:t>hibrit</a:t>
            </a:r>
            <a:r>
              <a:rPr lang="tr-TR" sz="1400" dirty="0">
                <a:latin typeface="Times New Roman" panose="02020603050405020304" pitchFamily="18" charset="0"/>
                <a:cs typeface="Times New Roman" panose="02020603050405020304" pitchFamily="18" charset="0"/>
              </a:rPr>
              <a:t> veri </a:t>
            </a:r>
            <a:r>
              <a:rPr lang="tr-TR" sz="1400" dirty="0" smtClean="0">
                <a:latin typeface="Times New Roman" panose="02020603050405020304" pitchFamily="18" charset="0"/>
                <a:cs typeface="Times New Roman" panose="02020603050405020304" pitchFamily="18" charset="0"/>
              </a:rPr>
              <a:t>karşılaştırması</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ML</a:t>
            </a:r>
            <a:r>
              <a:rPr lang="tr-TR" sz="1400" dirty="0">
                <a:latin typeface="Times New Roman" panose="02020603050405020304" pitchFamily="18" charset="0"/>
                <a:cs typeface="Times New Roman" panose="02020603050405020304" pitchFamily="18" charset="0"/>
              </a:rPr>
              <a:t>, DL ve </a:t>
            </a:r>
            <a:r>
              <a:rPr lang="tr-TR" sz="1400" dirty="0" err="1">
                <a:latin typeface="Times New Roman" panose="02020603050405020304" pitchFamily="18" charset="0"/>
                <a:cs typeface="Times New Roman" panose="02020603050405020304" pitchFamily="18" charset="0"/>
              </a:rPr>
              <a:t>Transformer</a:t>
            </a:r>
            <a:r>
              <a:rPr lang="tr-TR" sz="1400" dirty="0">
                <a:latin typeface="Times New Roman" panose="02020603050405020304" pitchFamily="18" charset="0"/>
                <a:cs typeface="Times New Roman" panose="02020603050405020304" pitchFamily="18" charset="0"/>
              </a:rPr>
              <a:t> modellerinin birlikte değerlendirilmesi</a:t>
            </a:r>
            <a:endParaRPr lang="tr-TR" sz="1200" dirty="0">
              <a:latin typeface="Times New Roman" panose="02020603050405020304" pitchFamily="18" charset="0"/>
              <a:cs typeface="Times New Roman" panose="02020603050405020304" pitchFamily="18" charset="0"/>
            </a:endParaRPr>
          </a:p>
        </p:txBody>
      </p:sp>
      <p:sp>
        <p:nvSpPr>
          <p:cNvPr id="17" name="Dikdörtgen 16">
            <a:extLst>
              <a:ext uri="{FF2B5EF4-FFF2-40B4-BE49-F238E27FC236}">
                <a16:creationId xmlns="" xmlns:a16="http://schemas.microsoft.com/office/drawing/2014/main" id="{AE939EFF-E8FB-C245-8830-6259B3CB3F35}"/>
              </a:ext>
            </a:extLst>
          </p:cNvPr>
          <p:cNvSpPr/>
          <p:nvPr/>
        </p:nvSpPr>
        <p:spPr>
          <a:xfrm>
            <a:off x="588808" y="2045212"/>
            <a:ext cx="2983799" cy="2523768"/>
          </a:xfrm>
          <a:prstGeom prst="rect">
            <a:avLst/>
          </a:prstGeom>
        </p:spPr>
        <p:txBody>
          <a:bodyPr wrap="square">
            <a:spAutoFit/>
          </a:bodyPr>
          <a:lstStyle/>
          <a:p>
            <a:pPr algn="ctr"/>
            <a:r>
              <a:rPr lang="tr-TR" sz="1600" b="1" u="sng" dirty="0" smtClean="0">
                <a:solidFill>
                  <a:srgbClr val="C00000"/>
                </a:solidFill>
                <a:latin typeface="Times New Roman" panose="02020603050405020304" pitchFamily="18" charset="0"/>
                <a:cs typeface="Times New Roman" panose="02020603050405020304" pitchFamily="18" charset="0"/>
              </a:rPr>
              <a:t>AMAÇ</a:t>
            </a:r>
          </a:p>
          <a:p>
            <a:pPr algn="ctr"/>
            <a:endParaRPr lang="tr-TR" sz="1600" b="1" u="sng" dirty="0">
              <a:solidFill>
                <a:srgbClr val="C00000"/>
              </a:solidFill>
              <a:latin typeface="Times New Roman" panose="02020603050405020304" pitchFamily="18" charset="0"/>
              <a:cs typeface="Times New Roman" panose="02020603050405020304" pitchFamily="18" charset="0"/>
            </a:endParaRPr>
          </a:p>
          <a:p>
            <a:pPr marL="171450" indent="-1714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Türkçe duygu analizi </a:t>
            </a:r>
            <a:r>
              <a:rPr lang="tr-TR" sz="1400" dirty="0" smtClean="0">
                <a:latin typeface="Times New Roman" panose="02020603050405020304" pitchFamily="18" charset="0"/>
                <a:cs typeface="Times New Roman" panose="02020603050405020304" pitchFamily="18" charset="0"/>
              </a:rPr>
              <a:t>için</a:t>
            </a:r>
          </a:p>
          <a:p>
            <a:pPr marL="628650" lvl="1" indent="-171450" algn="just">
              <a:lnSpc>
                <a:spcPct val="150000"/>
              </a:lnSpc>
              <a:buFont typeface="Wingdings" panose="05000000000000000000" pitchFamily="2" charset="2"/>
              <a:buChar char="Ø"/>
            </a:pPr>
            <a:r>
              <a:rPr lang="tr-TR" sz="1400" dirty="0" smtClean="0">
                <a:latin typeface="Times New Roman" panose="02020603050405020304" pitchFamily="18" charset="0"/>
                <a:cs typeface="Times New Roman" panose="02020603050405020304" pitchFamily="18" charset="0"/>
              </a:rPr>
              <a:t>LLM </a:t>
            </a:r>
            <a:r>
              <a:rPr lang="tr-TR" sz="1400" dirty="0">
                <a:latin typeface="Times New Roman" panose="02020603050405020304" pitchFamily="18" charset="0"/>
                <a:cs typeface="Times New Roman" panose="02020603050405020304" pitchFamily="18" charset="0"/>
              </a:rPr>
              <a:t>tabanlı veri artırma yöntemlerinin etkisini </a:t>
            </a:r>
            <a:r>
              <a:rPr lang="tr-TR" sz="1400" dirty="0" smtClean="0">
                <a:latin typeface="Times New Roman" panose="02020603050405020304" pitchFamily="18" charset="0"/>
                <a:cs typeface="Times New Roman" panose="02020603050405020304" pitchFamily="18" charset="0"/>
              </a:rPr>
              <a:t>incelemek</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Zero-</a:t>
            </a:r>
            <a:r>
              <a:rPr lang="tr-TR" sz="1400" dirty="0" err="1" smtClean="0">
                <a:latin typeface="Times New Roman" panose="02020603050405020304" pitchFamily="18" charset="0"/>
                <a:cs typeface="Times New Roman" panose="02020603050405020304" pitchFamily="18" charset="0"/>
              </a:rPr>
              <a:t>shot</a:t>
            </a:r>
            <a:r>
              <a:rPr lang="tr-TR" sz="1400" dirty="0" smtClean="0">
                <a:latin typeface="Times New Roman" panose="02020603050405020304" pitchFamily="18" charset="0"/>
                <a:cs typeface="Times New Roman" panose="02020603050405020304" pitchFamily="18" charset="0"/>
              </a:rPr>
              <a:t> </a:t>
            </a:r>
            <a:r>
              <a:rPr lang="tr-TR" sz="1400" dirty="0">
                <a:latin typeface="Times New Roman" panose="02020603050405020304" pitchFamily="18" charset="0"/>
                <a:cs typeface="Times New Roman" panose="02020603050405020304" pitchFamily="18" charset="0"/>
              </a:rPr>
              <a:t>yaklaşımı </a:t>
            </a:r>
            <a:r>
              <a:rPr lang="tr-TR" sz="1400" dirty="0" smtClean="0">
                <a:latin typeface="Times New Roman" panose="02020603050405020304" pitchFamily="18" charset="0"/>
                <a:cs typeface="Times New Roman" panose="02020603050405020304" pitchFamily="18" charset="0"/>
              </a:rPr>
              <a:t>ile sentetik </a:t>
            </a:r>
            <a:r>
              <a:rPr lang="tr-TR" sz="1400" dirty="0">
                <a:latin typeface="Times New Roman" panose="02020603050405020304" pitchFamily="18" charset="0"/>
                <a:cs typeface="Times New Roman" panose="02020603050405020304" pitchFamily="18" charset="0"/>
              </a:rPr>
              <a:t>verinin katkısını analiz etmek</a:t>
            </a:r>
          </a:p>
        </p:txBody>
      </p:sp>
    </p:spTree>
    <p:extLst>
      <p:ext uri="{BB962C8B-B14F-4D97-AF65-F5344CB8AC3E}">
        <p14:creationId xmlns:p14="http://schemas.microsoft.com/office/powerpoint/2010/main" val="41659420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Dikdörtgen 6">
            <a:extLst>
              <a:ext uri="{FF2B5EF4-FFF2-40B4-BE49-F238E27FC236}">
                <a16:creationId xmlns="" xmlns:a16="http://schemas.microsoft.com/office/drawing/2014/main" id="{AE939EFF-E8FB-C245-8830-6259B3CB3F35}"/>
              </a:ext>
            </a:extLst>
          </p:cNvPr>
          <p:cNvSpPr/>
          <p:nvPr/>
        </p:nvSpPr>
        <p:spPr>
          <a:xfrm>
            <a:off x="393662" y="1510502"/>
            <a:ext cx="2983799" cy="5232202"/>
          </a:xfrm>
          <a:prstGeom prst="rect">
            <a:avLst/>
          </a:prstGeom>
        </p:spPr>
        <p:txBody>
          <a:bodyPr wrap="square">
            <a:spAutoFit/>
          </a:bodyPr>
          <a:lstStyle/>
          <a:p>
            <a:pPr algn="ctr"/>
            <a:r>
              <a:rPr lang="tr-TR" sz="1600" b="1" u="sng" dirty="0" smtClean="0">
                <a:solidFill>
                  <a:srgbClr val="C00000"/>
                </a:solidFill>
                <a:latin typeface="Times New Roman" panose="02020603050405020304" pitchFamily="18" charset="0"/>
                <a:cs typeface="Times New Roman" panose="02020603050405020304" pitchFamily="18" charset="0"/>
              </a:rPr>
              <a:t>Veri </a:t>
            </a:r>
            <a:r>
              <a:rPr lang="tr-TR" sz="1600" b="1" u="sng" dirty="0" err="1" smtClean="0">
                <a:solidFill>
                  <a:srgbClr val="C00000"/>
                </a:solidFill>
                <a:latin typeface="Times New Roman" panose="02020603050405020304" pitchFamily="18" charset="0"/>
                <a:cs typeface="Times New Roman" panose="02020603050405020304" pitchFamily="18" charset="0"/>
              </a:rPr>
              <a:t>Arturma</a:t>
            </a:r>
            <a:r>
              <a:rPr lang="tr-TR" sz="1600" b="1" u="sng" dirty="0" smtClean="0">
                <a:solidFill>
                  <a:srgbClr val="C00000"/>
                </a:solidFill>
                <a:latin typeface="Times New Roman" panose="02020603050405020304" pitchFamily="18" charset="0"/>
                <a:cs typeface="Times New Roman" panose="02020603050405020304" pitchFamily="18" charset="0"/>
              </a:rPr>
              <a:t> ve </a:t>
            </a:r>
            <a:r>
              <a:rPr lang="tr-TR" sz="1600" b="1" u="sng" dirty="0" err="1" smtClean="0">
                <a:solidFill>
                  <a:srgbClr val="C00000"/>
                </a:solidFill>
                <a:latin typeface="Times New Roman" panose="02020603050405020304" pitchFamily="18" charset="0"/>
                <a:cs typeface="Times New Roman" panose="02020603050405020304" pitchFamily="18" charset="0"/>
              </a:rPr>
              <a:t>LLM’ler</a:t>
            </a:r>
            <a:endParaRPr lang="tr-TR" sz="1600" b="1" u="sng" dirty="0">
              <a:solidFill>
                <a:srgbClr val="C00000"/>
              </a:solidFill>
              <a:latin typeface="Times New Roman" panose="02020603050405020304" pitchFamily="18" charset="0"/>
              <a:cs typeface="Times New Roman" panose="02020603050405020304" pitchFamily="18" charset="0"/>
            </a:endParaRPr>
          </a:p>
          <a:p>
            <a:pPr algn="ctr"/>
            <a:endParaRPr lang="tr-TR" sz="1200" dirty="0">
              <a:latin typeface="Times New Roman" panose="02020603050405020304" pitchFamily="18" charset="0"/>
              <a:cs typeface="Times New Roman" panose="02020603050405020304" pitchFamily="18" charset="0"/>
            </a:endParaRP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Literatürde </a:t>
            </a:r>
            <a:r>
              <a:rPr lang="tr-TR" sz="1400" dirty="0">
                <a:latin typeface="Times New Roman" panose="02020603050405020304" pitchFamily="18" charset="0"/>
                <a:cs typeface="Times New Roman" panose="02020603050405020304" pitchFamily="18" charset="0"/>
              </a:rPr>
              <a:t>veri artırma teknikleri, NLP modellerinin performansını artırmak için yaygın olarak kullanılmaktadır.</a:t>
            </a:r>
          </a:p>
          <a:p>
            <a:pPr marL="171450" indent="-1714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Son yıllarda GPT-4 ve </a:t>
            </a:r>
            <a:r>
              <a:rPr lang="tr-TR" sz="1400" dirty="0" err="1">
                <a:latin typeface="Times New Roman" panose="02020603050405020304" pitchFamily="18" charset="0"/>
                <a:cs typeface="Times New Roman" panose="02020603050405020304" pitchFamily="18" charset="0"/>
              </a:rPr>
              <a:t>Claude</a:t>
            </a:r>
            <a:r>
              <a:rPr lang="tr-TR" sz="1400" dirty="0">
                <a:latin typeface="Times New Roman" panose="02020603050405020304" pitchFamily="18" charset="0"/>
                <a:cs typeface="Times New Roman" panose="02020603050405020304" pitchFamily="18" charset="0"/>
              </a:rPr>
              <a:t> gibi büyük dil modelleri, yeni bir veri üretim yaklaşımı ortaya koymuştur.</a:t>
            </a:r>
          </a:p>
          <a:p>
            <a:pPr marL="171450" indent="-1714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modeller, geleneksel yöntemlere kıyasla daha anlamlı ve daha çeşitli sentetik veriler üretebilmektedir.</a:t>
            </a:r>
          </a:p>
          <a:p>
            <a:pPr marL="171450" indent="-1714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Özellikle duygu analizi gibi dilin ince anlam özelliklerini gerektiren görevlerde performans artışı sağlamaktadır</a:t>
            </a:r>
            <a:r>
              <a:rPr lang="tr-TR" sz="1400" dirty="0" smtClean="0">
                <a:latin typeface="Times New Roman" panose="02020603050405020304" pitchFamily="18" charset="0"/>
                <a:cs typeface="Times New Roman" panose="02020603050405020304" pitchFamily="18" charset="0"/>
              </a:rPr>
              <a:t>.</a:t>
            </a:r>
            <a:endParaRPr lang="tr-TR" sz="14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q"/>
            </a:pPr>
            <a:endParaRPr lang="tr-TR" sz="1200" dirty="0">
              <a:latin typeface="Times New Roman" panose="02020603050405020304" pitchFamily="18" charset="0"/>
              <a:cs typeface="Times New Roman" panose="02020603050405020304" pitchFamily="18" charset="0"/>
            </a:endParaRP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147884"/>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98573"/>
            <a:ext cx="4217536" cy="523220"/>
          </a:xfrm>
          <a:prstGeom prst="rect">
            <a:avLst/>
          </a:prstGeom>
          <a:noFill/>
        </p:spPr>
        <p:txBody>
          <a:bodyPr wrap="square" rtlCol="0">
            <a:spAutoFit/>
          </a:bodyPr>
          <a:lstStyle/>
          <a:p>
            <a:r>
              <a:rPr lang="tr-TR" sz="2800" b="1" dirty="0" smtClean="0">
                <a:solidFill>
                  <a:srgbClr val="C00000"/>
                </a:solidFill>
              </a:rPr>
              <a:t>«LİTERATÜR ÖZETİ»</a:t>
            </a:r>
            <a:endParaRPr lang="tr-TR" sz="2800" b="1" dirty="0">
              <a:solidFill>
                <a:srgbClr val="C00000"/>
              </a:solidFill>
            </a:endParaRPr>
          </a:p>
        </p:txBody>
      </p:sp>
      <p:sp>
        <p:nvSpPr>
          <p:cNvPr id="11" name="Dikdörtgen 10">
            <a:extLst>
              <a:ext uri="{FF2B5EF4-FFF2-40B4-BE49-F238E27FC236}">
                <a16:creationId xmlns="" xmlns:a16="http://schemas.microsoft.com/office/drawing/2014/main" id="{AE939EFF-E8FB-C245-8830-6259B3CB3F35}"/>
              </a:ext>
            </a:extLst>
          </p:cNvPr>
          <p:cNvSpPr/>
          <p:nvPr/>
        </p:nvSpPr>
        <p:spPr>
          <a:xfrm>
            <a:off x="4299033" y="1420441"/>
            <a:ext cx="3253430" cy="5078313"/>
          </a:xfrm>
          <a:prstGeom prst="rect">
            <a:avLst/>
          </a:prstGeom>
        </p:spPr>
        <p:txBody>
          <a:bodyPr wrap="square">
            <a:spAutoFit/>
          </a:bodyPr>
          <a:lstStyle/>
          <a:p>
            <a:pPr algn="ctr"/>
            <a:r>
              <a:rPr lang="tr-TR" sz="1600" b="1" u="sng" dirty="0" smtClean="0">
                <a:solidFill>
                  <a:srgbClr val="C00000"/>
                </a:solidFill>
                <a:latin typeface="Times New Roman" panose="02020603050405020304" pitchFamily="18" charset="0"/>
                <a:cs typeface="Times New Roman" panose="02020603050405020304" pitchFamily="18" charset="0"/>
              </a:rPr>
              <a:t>LLM Tabanlı Çalışmalar</a:t>
            </a:r>
          </a:p>
          <a:p>
            <a:pPr algn="ctr"/>
            <a:endParaRPr lang="tr-TR" sz="1400" b="1" u="sng" dirty="0">
              <a:solidFill>
                <a:srgbClr val="C00000"/>
              </a:solidFill>
              <a:latin typeface="Times New Roman" panose="02020603050405020304" pitchFamily="18" charset="0"/>
              <a:cs typeface="Times New Roman" panose="02020603050405020304" pitchFamily="18" charset="0"/>
            </a:endParaRPr>
          </a:p>
          <a:p>
            <a:pPr marL="171450" indent="-171450" algn="just">
              <a:lnSpc>
                <a:spcPct val="150000"/>
              </a:lnSpc>
              <a:buFont typeface="Wingdings" panose="05000000000000000000" pitchFamily="2" charset="2"/>
              <a:buChar char="q"/>
            </a:pPr>
            <a:r>
              <a:rPr lang="tr-TR" sz="1400" dirty="0" err="1">
                <a:latin typeface="Times New Roman" panose="02020603050405020304" pitchFamily="18" charset="0"/>
                <a:cs typeface="Times New Roman" panose="02020603050405020304" pitchFamily="18" charset="0"/>
              </a:rPr>
              <a:t>Woźniak</a:t>
            </a:r>
            <a:r>
              <a:rPr lang="tr-TR" sz="1400" dirty="0">
                <a:latin typeface="Times New Roman" panose="02020603050405020304" pitchFamily="18" charset="0"/>
                <a:cs typeface="Times New Roman" panose="02020603050405020304" pitchFamily="18" charset="0"/>
              </a:rPr>
              <a:t> &amp; </a:t>
            </a:r>
            <a:r>
              <a:rPr lang="tr-TR" sz="1400" dirty="0" err="1">
                <a:latin typeface="Times New Roman" panose="02020603050405020304" pitchFamily="18" charset="0"/>
                <a:cs typeface="Times New Roman" panose="02020603050405020304" pitchFamily="18" charset="0"/>
              </a:rPr>
              <a:t>Kocoń</a:t>
            </a:r>
            <a:r>
              <a:rPr lang="tr-TR" sz="1400" dirty="0">
                <a:latin typeface="Times New Roman" panose="02020603050405020304" pitchFamily="18" charset="0"/>
                <a:cs typeface="Times New Roman" panose="02020603050405020304" pitchFamily="18" charset="0"/>
              </a:rPr>
              <a:t> (2023): </a:t>
            </a:r>
            <a:r>
              <a:rPr lang="tr-TR" sz="1400" dirty="0" err="1">
                <a:latin typeface="Times New Roman" panose="02020603050405020304" pitchFamily="18" charset="0"/>
                <a:cs typeface="Times New Roman" panose="02020603050405020304" pitchFamily="18" charset="0"/>
              </a:rPr>
              <a:t>ChatGPT</a:t>
            </a:r>
            <a:r>
              <a:rPr lang="tr-TR" sz="1400" dirty="0">
                <a:latin typeface="Times New Roman" panose="02020603050405020304" pitchFamily="18" charset="0"/>
                <a:cs typeface="Times New Roman" panose="02020603050405020304" pitchFamily="18" charset="0"/>
              </a:rPr>
              <a:t> ile üretilen sentetik verilerin küçük modellerin performansını artırdığını göstermiştir.</a:t>
            </a:r>
          </a:p>
          <a:p>
            <a:pPr marL="171450" indent="-171450" algn="just">
              <a:lnSpc>
                <a:spcPct val="150000"/>
              </a:lnSpc>
              <a:buFont typeface="Wingdings" panose="05000000000000000000" pitchFamily="2" charset="2"/>
              <a:buChar char="q"/>
            </a:pPr>
            <a:r>
              <a:rPr lang="tr-TR" sz="1400" dirty="0" err="1" smtClean="0">
                <a:latin typeface="Times New Roman" panose="02020603050405020304" pitchFamily="18" charset="0"/>
                <a:cs typeface="Times New Roman" panose="02020603050405020304" pitchFamily="18" charset="0"/>
              </a:rPr>
              <a:t>Ubani</a:t>
            </a:r>
            <a:r>
              <a:rPr lang="tr-TR" sz="1400" dirty="0" smtClean="0">
                <a:latin typeface="Times New Roman" panose="02020603050405020304" pitchFamily="18" charset="0"/>
                <a:cs typeface="Times New Roman" panose="02020603050405020304" pitchFamily="18" charset="0"/>
              </a:rPr>
              <a:t> </a:t>
            </a:r>
            <a:r>
              <a:rPr lang="tr-TR" sz="1400" dirty="0">
                <a:latin typeface="Times New Roman" panose="02020603050405020304" pitchFamily="18" charset="0"/>
                <a:cs typeface="Times New Roman" panose="02020603050405020304" pitchFamily="18" charset="0"/>
              </a:rPr>
              <a:t>et al. (2023): Zero-</a:t>
            </a:r>
            <a:r>
              <a:rPr lang="tr-TR" sz="1400" dirty="0" err="1">
                <a:latin typeface="Times New Roman" panose="02020603050405020304" pitchFamily="18" charset="0"/>
                <a:cs typeface="Times New Roman" panose="02020603050405020304" pitchFamily="18" charset="0"/>
              </a:rPr>
              <a:t>shot</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prompting</a:t>
            </a:r>
            <a:r>
              <a:rPr lang="tr-TR" sz="1400" dirty="0">
                <a:latin typeface="Times New Roman" panose="02020603050405020304" pitchFamily="18" charset="0"/>
                <a:cs typeface="Times New Roman" panose="02020603050405020304" pitchFamily="18" charset="0"/>
              </a:rPr>
              <a:t> ile yüksek kaliteli sentetik veri üretilebileceğini ortaya koymuştur</a:t>
            </a:r>
            <a:r>
              <a:rPr lang="tr-TR" sz="1400" dirty="0" smtClean="0">
                <a:latin typeface="Times New Roman" panose="02020603050405020304" pitchFamily="18" charset="0"/>
                <a:cs typeface="Times New Roman" panose="02020603050405020304" pitchFamily="18" charset="0"/>
              </a:rPr>
              <a:t>.</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Bayrak </a:t>
            </a:r>
            <a:r>
              <a:rPr lang="tr-TR" sz="1400" dirty="0">
                <a:latin typeface="Times New Roman" panose="02020603050405020304" pitchFamily="18" charset="0"/>
                <a:cs typeface="Times New Roman" panose="02020603050405020304" pitchFamily="18" charset="0"/>
              </a:rPr>
              <a:t>et al. (2024): GPT tabanlı veri üretiminin veri dengesizliği problemini azaltabileceğini göstermiştir</a:t>
            </a:r>
            <a:r>
              <a:rPr lang="tr-TR" sz="1400" dirty="0" smtClean="0">
                <a:latin typeface="Times New Roman" panose="02020603050405020304" pitchFamily="18" charset="0"/>
                <a:cs typeface="Times New Roman" panose="02020603050405020304" pitchFamily="18" charset="0"/>
              </a:rPr>
              <a:t>.</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Genel olarak bu çalışmalar, LLM </a:t>
            </a:r>
            <a:r>
              <a:rPr lang="tr-TR" sz="1400" dirty="0">
                <a:latin typeface="Times New Roman" panose="02020603050405020304" pitchFamily="18" charset="0"/>
                <a:cs typeface="Times New Roman" panose="02020603050405020304" pitchFamily="18" charset="0"/>
              </a:rPr>
              <a:t>tabanlı veri </a:t>
            </a:r>
            <a:r>
              <a:rPr lang="tr-TR" sz="1400" dirty="0" smtClean="0">
                <a:latin typeface="Times New Roman" panose="02020603050405020304" pitchFamily="18" charset="0"/>
                <a:cs typeface="Times New Roman" panose="02020603050405020304" pitchFamily="18" charset="0"/>
              </a:rPr>
              <a:t>artırmanın küçük </a:t>
            </a:r>
            <a:r>
              <a:rPr lang="tr-TR" sz="1400" dirty="0">
                <a:latin typeface="Times New Roman" panose="02020603050405020304" pitchFamily="18" charset="0"/>
                <a:cs typeface="Times New Roman" panose="02020603050405020304" pitchFamily="18" charset="0"/>
              </a:rPr>
              <a:t>modelleri daha güçlü hale getirebildiğini </a:t>
            </a:r>
            <a:r>
              <a:rPr lang="tr-TR" sz="1400" dirty="0" smtClean="0">
                <a:latin typeface="Times New Roman" panose="02020603050405020304" pitchFamily="18" charset="0"/>
                <a:cs typeface="Times New Roman" panose="02020603050405020304" pitchFamily="18" charset="0"/>
              </a:rPr>
              <a:t>göstermektedir.</a:t>
            </a:r>
            <a:endParaRPr lang="tr-TR" sz="1400" dirty="0">
              <a:latin typeface="Times New Roman" panose="02020603050405020304" pitchFamily="18" charset="0"/>
              <a:cs typeface="Times New Roman" panose="02020603050405020304" pitchFamily="18" charset="0"/>
            </a:endParaRPr>
          </a:p>
        </p:txBody>
      </p:sp>
      <p:sp>
        <p:nvSpPr>
          <p:cNvPr id="12" name="Dikdörtgen 11">
            <a:extLst>
              <a:ext uri="{FF2B5EF4-FFF2-40B4-BE49-F238E27FC236}">
                <a16:creationId xmlns="" xmlns:a16="http://schemas.microsoft.com/office/drawing/2014/main" id="{AE939EFF-E8FB-C245-8830-6259B3CB3F35}"/>
              </a:ext>
            </a:extLst>
          </p:cNvPr>
          <p:cNvSpPr/>
          <p:nvPr/>
        </p:nvSpPr>
        <p:spPr>
          <a:xfrm>
            <a:off x="8417250" y="1043716"/>
            <a:ext cx="3527352" cy="2462213"/>
          </a:xfrm>
          <a:prstGeom prst="rect">
            <a:avLst/>
          </a:prstGeom>
        </p:spPr>
        <p:txBody>
          <a:bodyPr wrap="square">
            <a:spAutoFit/>
          </a:bodyPr>
          <a:lstStyle/>
          <a:p>
            <a:pPr algn="ctr"/>
            <a:r>
              <a:rPr lang="tr-TR" sz="1600" b="1" u="sng" dirty="0" smtClean="0">
                <a:solidFill>
                  <a:srgbClr val="C00000"/>
                </a:solidFill>
                <a:latin typeface="Times New Roman" panose="02020603050405020304" pitchFamily="18" charset="0"/>
                <a:cs typeface="Times New Roman" panose="02020603050405020304" pitchFamily="18" charset="0"/>
              </a:rPr>
              <a:t>Literatürdeki Boşluk</a:t>
            </a:r>
            <a:endParaRPr lang="tr-TR" sz="1600" b="1" u="sng" dirty="0">
              <a:solidFill>
                <a:srgbClr val="C00000"/>
              </a:solidFill>
              <a:latin typeface="Times New Roman" panose="02020603050405020304" pitchFamily="18" charset="0"/>
              <a:cs typeface="Times New Roman" panose="02020603050405020304" pitchFamily="18" charset="0"/>
            </a:endParaRPr>
          </a:p>
          <a:p>
            <a:pPr algn="ctr"/>
            <a:endParaRPr lang="tr-TR" sz="1200" dirty="0">
              <a:latin typeface="Times New Roman" panose="02020603050405020304" pitchFamily="18" charset="0"/>
              <a:cs typeface="Times New Roman" panose="02020603050405020304" pitchFamily="18" charset="0"/>
            </a:endParaRPr>
          </a:p>
          <a:p>
            <a:pPr marL="171450" indent="-1714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Türkçe gibi düşük kaynaklı diller yeterince </a:t>
            </a:r>
            <a:r>
              <a:rPr lang="tr-TR" sz="1400" dirty="0" smtClean="0">
                <a:latin typeface="Times New Roman" panose="02020603050405020304" pitchFamily="18" charset="0"/>
                <a:cs typeface="Times New Roman" panose="02020603050405020304" pitchFamily="18" charset="0"/>
              </a:rPr>
              <a:t>incelenmemiştir.</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Model </a:t>
            </a:r>
            <a:r>
              <a:rPr lang="tr-TR" sz="1400" dirty="0">
                <a:latin typeface="Times New Roman" panose="02020603050405020304" pitchFamily="18" charset="0"/>
                <a:cs typeface="Times New Roman" panose="02020603050405020304" pitchFamily="18" charset="0"/>
              </a:rPr>
              <a:t>karşılaştırmaları </a:t>
            </a:r>
            <a:r>
              <a:rPr lang="tr-TR" sz="1400" dirty="0" smtClean="0">
                <a:latin typeface="Times New Roman" panose="02020603050405020304" pitchFamily="18" charset="0"/>
                <a:cs typeface="Times New Roman" panose="02020603050405020304" pitchFamily="18" charset="0"/>
              </a:rPr>
              <a:t>sınırlıdır.</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Sentetik </a:t>
            </a:r>
            <a:r>
              <a:rPr lang="tr-TR" sz="1400" dirty="0">
                <a:latin typeface="Times New Roman" panose="02020603050405020304" pitchFamily="18" charset="0"/>
                <a:cs typeface="Times New Roman" panose="02020603050405020304" pitchFamily="18" charset="0"/>
              </a:rPr>
              <a:t>+ gerçek veri birlikte az </a:t>
            </a:r>
            <a:r>
              <a:rPr lang="tr-TR" sz="1400" dirty="0" smtClean="0">
                <a:latin typeface="Times New Roman" panose="02020603050405020304" pitchFamily="18" charset="0"/>
                <a:cs typeface="Times New Roman" panose="02020603050405020304" pitchFamily="18" charset="0"/>
              </a:rPr>
              <a:t>çalışılmıştır.</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Sistematik </a:t>
            </a:r>
            <a:r>
              <a:rPr lang="tr-TR" sz="1400" dirty="0">
                <a:latin typeface="Times New Roman" panose="02020603050405020304" pitchFamily="18" charset="0"/>
                <a:cs typeface="Times New Roman" panose="02020603050405020304" pitchFamily="18" charset="0"/>
              </a:rPr>
              <a:t>değerlendirme eksikliği </a:t>
            </a:r>
            <a:r>
              <a:rPr lang="tr-TR" sz="1400" dirty="0" smtClean="0">
                <a:latin typeface="Times New Roman" panose="02020603050405020304" pitchFamily="18" charset="0"/>
                <a:cs typeface="Times New Roman" panose="02020603050405020304" pitchFamily="18" charset="0"/>
              </a:rPr>
              <a:t>vardır.</a:t>
            </a:r>
            <a:endParaRPr lang="tr-TR" sz="1400" dirty="0">
              <a:latin typeface="Times New Roman" panose="02020603050405020304" pitchFamily="18" charset="0"/>
              <a:cs typeface="Times New Roman" panose="02020603050405020304" pitchFamily="18" charset="0"/>
            </a:endParaRPr>
          </a:p>
        </p:txBody>
      </p:sp>
      <p:sp>
        <p:nvSpPr>
          <p:cNvPr id="13" name="Dikdörtgen 12">
            <a:extLst>
              <a:ext uri="{FF2B5EF4-FFF2-40B4-BE49-F238E27FC236}">
                <a16:creationId xmlns="" xmlns:a16="http://schemas.microsoft.com/office/drawing/2014/main" id="{AE939EFF-E8FB-C245-8830-6259B3CB3F35}"/>
              </a:ext>
            </a:extLst>
          </p:cNvPr>
          <p:cNvSpPr/>
          <p:nvPr/>
        </p:nvSpPr>
        <p:spPr>
          <a:xfrm>
            <a:off x="8442059" y="3447016"/>
            <a:ext cx="3527352" cy="3108543"/>
          </a:xfrm>
          <a:prstGeom prst="rect">
            <a:avLst/>
          </a:prstGeom>
        </p:spPr>
        <p:txBody>
          <a:bodyPr wrap="square">
            <a:spAutoFit/>
          </a:bodyPr>
          <a:lstStyle/>
          <a:p>
            <a:pPr algn="ctr"/>
            <a:r>
              <a:rPr lang="tr-TR" sz="1600" b="1" u="sng" dirty="0" smtClean="0">
                <a:solidFill>
                  <a:srgbClr val="C00000"/>
                </a:solidFill>
                <a:latin typeface="Times New Roman" panose="02020603050405020304" pitchFamily="18" charset="0"/>
                <a:cs typeface="Times New Roman" panose="02020603050405020304" pitchFamily="18" charset="0"/>
              </a:rPr>
              <a:t>Çalışmanın Katkısı</a:t>
            </a:r>
            <a:endParaRPr lang="tr-TR" sz="1600" b="1" u="sng" dirty="0">
              <a:solidFill>
                <a:srgbClr val="C00000"/>
              </a:solidFill>
              <a:latin typeface="Times New Roman" panose="02020603050405020304" pitchFamily="18" charset="0"/>
              <a:cs typeface="Times New Roman" panose="02020603050405020304" pitchFamily="18" charset="0"/>
            </a:endParaRPr>
          </a:p>
          <a:p>
            <a:pPr algn="ctr"/>
            <a:endParaRPr lang="tr-TR" sz="1200" dirty="0">
              <a:latin typeface="Times New Roman" panose="02020603050405020304" pitchFamily="18" charset="0"/>
              <a:cs typeface="Times New Roman" panose="02020603050405020304" pitchFamily="18" charset="0"/>
            </a:endParaRPr>
          </a:p>
          <a:p>
            <a:pPr marL="171450" indent="-1714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Türkçe </a:t>
            </a:r>
            <a:r>
              <a:rPr lang="tr-TR" sz="1400" dirty="0" err="1">
                <a:latin typeface="Times New Roman" panose="02020603050405020304" pitchFamily="18" charset="0"/>
                <a:cs typeface="Times New Roman" panose="02020603050405020304" pitchFamily="18" charset="0"/>
              </a:rPr>
              <a:t>sentiment</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analysis</a:t>
            </a:r>
            <a:r>
              <a:rPr lang="tr-TR" sz="1400" dirty="0">
                <a:latin typeface="Times New Roman" panose="02020603050405020304" pitchFamily="18" charset="0"/>
                <a:cs typeface="Times New Roman" panose="02020603050405020304" pitchFamily="18" charset="0"/>
              </a:rPr>
              <a:t> üzerine sistematik </a:t>
            </a:r>
            <a:r>
              <a:rPr lang="tr-TR" sz="1400" dirty="0" smtClean="0">
                <a:latin typeface="Times New Roman" panose="02020603050405020304" pitchFamily="18" charset="0"/>
                <a:cs typeface="Times New Roman" panose="02020603050405020304" pitchFamily="18" charset="0"/>
              </a:rPr>
              <a:t>analiz.</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GPT </a:t>
            </a:r>
            <a:r>
              <a:rPr lang="tr-TR" sz="1400" dirty="0">
                <a:latin typeface="Times New Roman" panose="02020603050405020304" pitchFamily="18" charset="0"/>
                <a:cs typeface="Times New Roman" panose="02020603050405020304" pitchFamily="18" charset="0"/>
              </a:rPr>
              <a:t>ve </a:t>
            </a:r>
            <a:r>
              <a:rPr lang="tr-TR" sz="1400" dirty="0" err="1">
                <a:latin typeface="Times New Roman" panose="02020603050405020304" pitchFamily="18" charset="0"/>
                <a:cs typeface="Times New Roman" panose="02020603050405020304" pitchFamily="18" charset="0"/>
              </a:rPr>
              <a:t>Claude</a:t>
            </a:r>
            <a:r>
              <a:rPr lang="tr-TR" sz="1400" dirty="0">
                <a:latin typeface="Times New Roman" panose="02020603050405020304" pitchFamily="18" charset="0"/>
                <a:cs typeface="Times New Roman" panose="02020603050405020304" pitchFamily="18" charset="0"/>
              </a:rPr>
              <a:t> tabanlı sentetik veri </a:t>
            </a:r>
            <a:r>
              <a:rPr lang="tr-TR" sz="1400" dirty="0" smtClean="0">
                <a:latin typeface="Times New Roman" panose="02020603050405020304" pitchFamily="18" charset="0"/>
                <a:cs typeface="Times New Roman" panose="02020603050405020304" pitchFamily="18" charset="0"/>
              </a:rPr>
              <a:t>değerlendirmesi.</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ML</a:t>
            </a:r>
            <a:r>
              <a:rPr lang="tr-TR" sz="1400" dirty="0">
                <a:latin typeface="Times New Roman" panose="02020603050405020304" pitchFamily="18" charset="0"/>
                <a:cs typeface="Times New Roman" panose="02020603050405020304" pitchFamily="18" charset="0"/>
              </a:rPr>
              <a:t>, DL ve </a:t>
            </a:r>
            <a:r>
              <a:rPr lang="tr-TR" sz="1400" dirty="0" err="1">
                <a:latin typeface="Times New Roman" panose="02020603050405020304" pitchFamily="18" charset="0"/>
                <a:cs typeface="Times New Roman" panose="02020603050405020304" pitchFamily="18" charset="0"/>
              </a:rPr>
              <a:t>Transformer</a:t>
            </a:r>
            <a:r>
              <a:rPr lang="tr-TR" sz="1400" dirty="0">
                <a:latin typeface="Times New Roman" panose="02020603050405020304" pitchFamily="18" charset="0"/>
                <a:cs typeface="Times New Roman" panose="02020603050405020304" pitchFamily="18" charset="0"/>
              </a:rPr>
              <a:t> modellerinin </a:t>
            </a:r>
            <a:r>
              <a:rPr lang="tr-TR" sz="1400" dirty="0" smtClean="0">
                <a:latin typeface="Times New Roman" panose="02020603050405020304" pitchFamily="18" charset="0"/>
                <a:cs typeface="Times New Roman" panose="02020603050405020304" pitchFamily="18" charset="0"/>
              </a:rPr>
              <a:t>karşılaştırılması.</a:t>
            </a:r>
          </a:p>
          <a:p>
            <a:pPr marL="171450" indent="-1714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Ham </a:t>
            </a:r>
            <a:r>
              <a:rPr lang="tr-TR" sz="1400" dirty="0">
                <a:latin typeface="Times New Roman" panose="02020603050405020304" pitchFamily="18" charset="0"/>
                <a:cs typeface="Times New Roman" panose="02020603050405020304" pitchFamily="18" charset="0"/>
              </a:rPr>
              <a:t>+ sentetik veri kombinasyonlarının incelenmesi</a:t>
            </a:r>
          </a:p>
        </p:txBody>
      </p:sp>
      <p:sp>
        <p:nvSpPr>
          <p:cNvPr id="17" name="Artı 16"/>
          <p:cNvSpPr/>
          <p:nvPr/>
        </p:nvSpPr>
        <p:spPr>
          <a:xfrm>
            <a:off x="3384633" y="2954214"/>
            <a:ext cx="807184" cy="1477108"/>
          </a:xfrm>
          <a:prstGeom prst="mathPlus">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tr-TR">
              <a:solidFill>
                <a:srgbClr val="C00000"/>
              </a:solidFill>
            </a:endParaRPr>
          </a:p>
        </p:txBody>
      </p:sp>
      <p:sp>
        <p:nvSpPr>
          <p:cNvPr id="22" name="Köşeli Çift Ayraç 21"/>
          <p:cNvSpPr/>
          <p:nvPr/>
        </p:nvSpPr>
        <p:spPr>
          <a:xfrm>
            <a:off x="7763608" y="3256295"/>
            <a:ext cx="442497" cy="1016766"/>
          </a:xfrm>
          <a:prstGeom prst="chevron">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C00000"/>
              </a:solidFill>
            </a:endParaRPr>
          </a:p>
        </p:txBody>
      </p:sp>
      <p:pic>
        <p:nvPicPr>
          <p:cNvPr id="21" name="Resim 20">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43831" y="6400800"/>
            <a:ext cx="5748169" cy="457200"/>
          </a:xfrm>
          <a:prstGeom prst="rect">
            <a:avLst/>
          </a:prstGeom>
          <a:noFill/>
          <a:ln>
            <a:noFill/>
          </a:ln>
        </p:spPr>
      </p:pic>
      <p:sp>
        <p:nvSpPr>
          <p:cNvPr id="23" name="Dikdörtgen 22">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4260946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98573"/>
            <a:ext cx="5882096" cy="523220"/>
          </a:xfrm>
          <a:prstGeom prst="rect">
            <a:avLst/>
          </a:prstGeom>
          <a:noFill/>
        </p:spPr>
        <p:txBody>
          <a:bodyPr wrap="square" rtlCol="0">
            <a:spAutoFit/>
          </a:bodyPr>
          <a:lstStyle/>
          <a:p>
            <a:r>
              <a:rPr lang="tr-TR" sz="2800" b="1" dirty="0" smtClean="0">
                <a:solidFill>
                  <a:srgbClr val="C00000"/>
                </a:solidFill>
              </a:rPr>
              <a:t>«Materyal ve </a:t>
            </a:r>
            <a:r>
              <a:rPr lang="tr-TR" sz="2800" b="1" dirty="0" err="1" smtClean="0">
                <a:solidFill>
                  <a:srgbClr val="C00000"/>
                </a:solidFill>
              </a:rPr>
              <a:t>Method</a:t>
            </a:r>
            <a:r>
              <a:rPr lang="tr-TR" sz="2800" b="1" dirty="0" smtClean="0">
                <a:solidFill>
                  <a:srgbClr val="C00000"/>
                </a:solidFill>
              </a:rPr>
              <a:t>»</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4" name="Resim 3"/>
          <p:cNvPicPr>
            <a:picLocks noChangeAspect="1"/>
          </p:cNvPicPr>
          <p:nvPr/>
        </p:nvPicPr>
        <p:blipFill>
          <a:blip r:embed="rId5"/>
          <a:stretch>
            <a:fillRect/>
          </a:stretch>
        </p:blipFill>
        <p:spPr>
          <a:xfrm>
            <a:off x="1333381" y="1469830"/>
            <a:ext cx="9725211" cy="4398481"/>
          </a:xfrm>
          <a:prstGeom prst="rect">
            <a:avLst/>
          </a:prstGeom>
        </p:spPr>
      </p:pic>
    </p:spTree>
    <p:extLst>
      <p:ext uri="{BB962C8B-B14F-4D97-AF65-F5344CB8AC3E}">
        <p14:creationId xmlns:p14="http://schemas.microsoft.com/office/powerpoint/2010/main" val="37854674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98573"/>
            <a:ext cx="5882096" cy="523220"/>
          </a:xfrm>
          <a:prstGeom prst="rect">
            <a:avLst/>
          </a:prstGeom>
          <a:noFill/>
        </p:spPr>
        <p:txBody>
          <a:bodyPr wrap="square" rtlCol="0">
            <a:spAutoFit/>
          </a:bodyPr>
          <a:lstStyle/>
          <a:p>
            <a:r>
              <a:rPr lang="tr-TR" sz="2800" b="1" dirty="0" smtClean="0">
                <a:solidFill>
                  <a:srgbClr val="C00000"/>
                </a:solidFill>
              </a:rPr>
              <a:t>«HUMIR Veri Seti»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aphicFrame>
        <p:nvGraphicFramePr>
          <p:cNvPr id="6" name="Tablo 5"/>
          <p:cNvGraphicFramePr>
            <a:graphicFrameLocks noGrp="1"/>
          </p:cNvGraphicFramePr>
          <p:nvPr>
            <p:extLst>
              <p:ext uri="{D42A27DB-BD31-4B8C-83A1-F6EECF244321}">
                <p14:modId xmlns:p14="http://schemas.microsoft.com/office/powerpoint/2010/main" val="4082138474"/>
              </p:ext>
            </p:extLst>
          </p:nvPr>
        </p:nvGraphicFramePr>
        <p:xfrm>
          <a:off x="436408" y="1449672"/>
          <a:ext cx="5213985" cy="4754880"/>
        </p:xfrm>
        <a:graphic>
          <a:graphicData uri="http://schemas.openxmlformats.org/drawingml/2006/table">
            <a:tbl>
              <a:tblPr firstRow="1" firstCol="1" bandRow="1">
                <a:tableStyleId>{F5AB1C69-6EDB-4FF4-983F-18BD219EF322}</a:tableStyleId>
              </a:tblPr>
              <a:tblGrid>
                <a:gridCol w="3038312"/>
                <a:gridCol w="2175673"/>
              </a:tblGrid>
              <a:tr h="0">
                <a:tc>
                  <a:txBody>
                    <a:bodyPr/>
                    <a:lstStyle/>
                    <a:p>
                      <a:pPr algn="ctr">
                        <a:lnSpc>
                          <a:spcPct val="200000"/>
                        </a:lnSpc>
                        <a:spcBef>
                          <a:spcPts val="1200"/>
                        </a:spcBef>
                        <a:spcAft>
                          <a:spcPts val="0"/>
                        </a:spcAft>
                      </a:pPr>
                      <a:r>
                        <a:rPr lang="en-US" sz="1600" dirty="0">
                          <a:solidFill>
                            <a:schemeClr val="tx1"/>
                          </a:solidFill>
                          <a:effectLst/>
                        </a:rPr>
                        <a:t>ÖZELLİK</a:t>
                      </a:r>
                      <a:endParaRPr lang="tr-TR" sz="16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rPr>
                        <a:t>DEĞER</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dirty="0" err="1">
                          <a:solidFill>
                            <a:schemeClr val="tx1"/>
                          </a:solidFill>
                          <a:effectLst/>
                        </a:rPr>
                        <a:t>Toplam</a:t>
                      </a:r>
                      <a:r>
                        <a:rPr lang="en-US" sz="1400" dirty="0">
                          <a:solidFill>
                            <a:schemeClr val="tx1"/>
                          </a:solidFill>
                          <a:effectLst/>
                        </a:rPr>
                        <a:t> </a:t>
                      </a:r>
                      <a:r>
                        <a:rPr lang="en-US" sz="1400" dirty="0" err="1">
                          <a:solidFill>
                            <a:schemeClr val="tx1"/>
                          </a:solidFill>
                          <a:effectLst/>
                        </a:rPr>
                        <a:t>Yorum</a:t>
                      </a:r>
                      <a:r>
                        <a:rPr lang="en-US" sz="1400" dirty="0">
                          <a:solidFill>
                            <a:schemeClr val="tx1"/>
                          </a:solidFill>
                          <a:effectLst/>
                        </a:rPr>
                        <a:t> </a:t>
                      </a:r>
                      <a:r>
                        <a:rPr lang="en-US" sz="1400" dirty="0" err="1">
                          <a:solidFill>
                            <a:schemeClr val="tx1"/>
                          </a:solidFill>
                          <a:effectLst/>
                        </a:rPr>
                        <a:t>Sayısı</a:t>
                      </a:r>
                      <a:r>
                        <a:rPr lang="en-US" sz="1400" dirty="0">
                          <a:solidFill>
                            <a:schemeClr val="tx1"/>
                          </a:solidFill>
                          <a:effectLst/>
                        </a:rPr>
                        <a:t>(Review)</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200" b="1" dirty="0">
                          <a:solidFill>
                            <a:schemeClr val="tx1"/>
                          </a:solidFill>
                          <a:effectLst/>
                        </a:rPr>
                        <a:t>65,000</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dirty="0" err="1">
                          <a:solidFill>
                            <a:schemeClr val="tx1"/>
                          </a:solidFill>
                          <a:effectLst/>
                        </a:rPr>
                        <a:t>Negatif</a:t>
                      </a:r>
                      <a:r>
                        <a:rPr lang="en-US" sz="1400" dirty="0">
                          <a:solidFill>
                            <a:schemeClr val="tx1"/>
                          </a:solidFill>
                          <a:effectLst/>
                        </a:rPr>
                        <a:t> </a:t>
                      </a:r>
                      <a:r>
                        <a:rPr lang="en-US" sz="1400" dirty="0" err="1">
                          <a:solidFill>
                            <a:schemeClr val="tx1"/>
                          </a:solidFill>
                          <a:effectLst/>
                        </a:rPr>
                        <a:t>Yorum</a:t>
                      </a:r>
                      <a:r>
                        <a:rPr lang="en-US" sz="1400" dirty="0">
                          <a:solidFill>
                            <a:schemeClr val="tx1"/>
                          </a:solidFill>
                          <a:effectLst/>
                        </a:rPr>
                        <a:t> </a:t>
                      </a:r>
                      <a:r>
                        <a:rPr lang="en-US" sz="1400" dirty="0" err="1">
                          <a:solidFill>
                            <a:schemeClr val="tx1"/>
                          </a:solidFill>
                          <a:effectLst/>
                        </a:rPr>
                        <a:t>Sayısı</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tr-TR" sz="1200" b="1" dirty="0">
                          <a:solidFill>
                            <a:schemeClr val="tx1"/>
                          </a:solidFill>
                          <a:effectLst/>
                        </a:rPr>
                        <a:t>32,500</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dirty="0" err="1">
                          <a:solidFill>
                            <a:schemeClr val="tx1"/>
                          </a:solidFill>
                          <a:effectLst/>
                        </a:rPr>
                        <a:t>Pozitif</a:t>
                      </a:r>
                      <a:r>
                        <a:rPr lang="en-US" sz="1400" dirty="0">
                          <a:solidFill>
                            <a:schemeClr val="tx1"/>
                          </a:solidFill>
                          <a:effectLst/>
                        </a:rPr>
                        <a:t> </a:t>
                      </a:r>
                      <a:r>
                        <a:rPr lang="en-US" sz="1400" dirty="0" err="1">
                          <a:solidFill>
                            <a:schemeClr val="tx1"/>
                          </a:solidFill>
                          <a:effectLst/>
                        </a:rPr>
                        <a:t>Yorum</a:t>
                      </a:r>
                      <a:r>
                        <a:rPr lang="en-US" sz="1400" dirty="0">
                          <a:solidFill>
                            <a:schemeClr val="tx1"/>
                          </a:solidFill>
                          <a:effectLst/>
                        </a:rPr>
                        <a:t> </a:t>
                      </a:r>
                      <a:r>
                        <a:rPr lang="en-US" sz="1400" dirty="0" err="1">
                          <a:solidFill>
                            <a:schemeClr val="tx1"/>
                          </a:solidFill>
                          <a:effectLst/>
                        </a:rPr>
                        <a:t>Sayısı</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200" b="1" dirty="0">
                          <a:solidFill>
                            <a:schemeClr val="tx1"/>
                          </a:solidFill>
                          <a:effectLst/>
                        </a:rPr>
                        <a:t>32,500</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dirty="0" err="1">
                          <a:solidFill>
                            <a:schemeClr val="tx1"/>
                          </a:solidFill>
                          <a:effectLst/>
                        </a:rPr>
                        <a:t>Ortalama</a:t>
                      </a:r>
                      <a:r>
                        <a:rPr lang="en-US" sz="1400" dirty="0">
                          <a:solidFill>
                            <a:schemeClr val="tx1"/>
                          </a:solidFill>
                          <a:effectLst/>
                        </a:rPr>
                        <a:t> </a:t>
                      </a:r>
                      <a:r>
                        <a:rPr lang="en-US" sz="1400" dirty="0" err="1">
                          <a:solidFill>
                            <a:schemeClr val="tx1"/>
                          </a:solidFill>
                          <a:effectLst/>
                        </a:rPr>
                        <a:t>uzunluk</a:t>
                      </a:r>
                      <a:r>
                        <a:rPr lang="en-US" sz="1400" dirty="0">
                          <a:solidFill>
                            <a:schemeClr val="tx1"/>
                          </a:solidFill>
                          <a:effectLst/>
                        </a:rPr>
                        <a:t>(</a:t>
                      </a:r>
                      <a:r>
                        <a:rPr lang="en-US" sz="1400" dirty="0" err="1">
                          <a:solidFill>
                            <a:schemeClr val="tx1"/>
                          </a:solidFill>
                          <a:effectLst/>
                        </a:rPr>
                        <a:t>kelime</a:t>
                      </a:r>
                      <a:r>
                        <a:rPr lang="en-US" sz="1400" dirty="0">
                          <a:solidFill>
                            <a:schemeClr val="tx1"/>
                          </a:solidFill>
                          <a:effectLst/>
                        </a:rPr>
                        <a:t>)</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200" b="1" dirty="0">
                          <a:solidFill>
                            <a:schemeClr val="tx1"/>
                          </a:solidFill>
                          <a:effectLst/>
                        </a:rPr>
                        <a:t>41.81</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dirty="0">
                          <a:solidFill>
                            <a:schemeClr val="tx1"/>
                          </a:solidFill>
                          <a:effectLst/>
                        </a:rPr>
                        <a:t>Minimum-</a:t>
                      </a:r>
                      <a:r>
                        <a:rPr lang="en-US" sz="1400" dirty="0" err="1">
                          <a:solidFill>
                            <a:schemeClr val="tx1"/>
                          </a:solidFill>
                          <a:effectLst/>
                        </a:rPr>
                        <a:t>Maksimum</a:t>
                      </a:r>
                      <a:r>
                        <a:rPr lang="en-US" sz="1400" dirty="0">
                          <a:solidFill>
                            <a:schemeClr val="tx1"/>
                          </a:solidFill>
                          <a:effectLst/>
                        </a:rPr>
                        <a:t> </a:t>
                      </a:r>
                      <a:r>
                        <a:rPr lang="en-US" sz="1400" dirty="0" err="1">
                          <a:solidFill>
                            <a:schemeClr val="tx1"/>
                          </a:solidFill>
                          <a:effectLst/>
                        </a:rPr>
                        <a:t>uzunluk</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200" b="1" dirty="0">
                          <a:solidFill>
                            <a:schemeClr val="tx1"/>
                          </a:solidFill>
                          <a:effectLst/>
                        </a:rPr>
                        <a:t>0-2329</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dirty="0" err="1">
                          <a:solidFill>
                            <a:schemeClr val="tx1"/>
                          </a:solidFill>
                          <a:effectLst/>
                        </a:rPr>
                        <a:t>Büyük</a:t>
                      </a:r>
                      <a:r>
                        <a:rPr lang="en-US" sz="1400" dirty="0">
                          <a:solidFill>
                            <a:schemeClr val="tx1"/>
                          </a:solidFill>
                          <a:effectLst/>
                        </a:rPr>
                        <a:t> </a:t>
                      </a:r>
                      <a:r>
                        <a:rPr lang="en-US" sz="1400" dirty="0" err="1">
                          <a:solidFill>
                            <a:schemeClr val="tx1"/>
                          </a:solidFill>
                          <a:effectLst/>
                        </a:rPr>
                        <a:t>harfle</a:t>
                      </a:r>
                      <a:r>
                        <a:rPr lang="en-US" sz="1400" dirty="0">
                          <a:solidFill>
                            <a:schemeClr val="tx1"/>
                          </a:solidFill>
                          <a:effectLst/>
                        </a:rPr>
                        <a:t> </a:t>
                      </a:r>
                      <a:r>
                        <a:rPr lang="en-US" sz="1400" dirty="0" err="1">
                          <a:solidFill>
                            <a:schemeClr val="tx1"/>
                          </a:solidFill>
                          <a:effectLst/>
                        </a:rPr>
                        <a:t>başlayan</a:t>
                      </a:r>
                      <a:r>
                        <a:rPr lang="en-US" sz="1400" dirty="0">
                          <a:solidFill>
                            <a:schemeClr val="tx1"/>
                          </a:solidFill>
                          <a:effectLst/>
                        </a:rPr>
                        <a:t> </a:t>
                      </a:r>
                      <a:r>
                        <a:rPr lang="en-US" sz="1400" dirty="0" err="1">
                          <a:solidFill>
                            <a:schemeClr val="tx1"/>
                          </a:solidFill>
                          <a:effectLst/>
                        </a:rPr>
                        <a:t>yorum</a:t>
                      </a:r>
                      <a:r>
                        <a:rPr lang="en-US" sz="1400" dirty="0">
                          <a:solidFill>
                            <a:schemeClr val="tx1"/>
                          </a:solidFill>
                          <a:effectLst/>
                        </a:rPr>
                        <a:t> </a:t>
                      </a:r>
                      <a:r>
                        <a:rPr lang="en-US" sz="1400" dirty="0" err="1">
                          <a:solidFill>
                            <a:schemeClr val="tx1"/>
                          </a:solidFill>
                          <a:effectLst/>
                        </a:rPr>
                        <a:t>sayısı</a:t>
                      </a:r>
                      <a:r>
                        <a:rPr lang="en-US" sz="1400" dirty="0">
                          <a:solidFill>
                            <a:schemeClr val="tx1"/>
                          </a:solidFill>
                          <a:effectLst/>
                        </a:rPr>
                        <a:t>(%)</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200" b="1" dirty="0">
                          <a:solidFill>
                            <a:schemeClr val="tx1"/>
                          </a:solidFill>
                          <a:effectLst/>
                        </a:rPr>
                        <a:t>%40.09</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dirty="0">
                          <a:solidFill>
                            <a:schemeClr val="tx1"/>
                          </a:solidFill>
                          <a:effectLst/>
                        </a:rPr>
                        <a:t>Tamamı </a:t>
                      </a:r>
                      <a:r>
                        <a:rPr lang="en-US" sz="1400" dirty="0" err="1">
                          <a:solidFill>
                            <a:schemeClr val="tx1"/>
                          </a:solidFill>
                          <a:effectLst/>
                        </a:rPr>
                        <a:t>büyük</a:t>
                      </a:r>
                      <a:r>
                        <a:rPr lang="en-US" sz="1400" dirty="0">
                          <a:solidFill>
                            <a:schemeClr val="tx1"/>
                          </a:solidFill>
                          <a:effectLst/>
                        </a:rPr>
                        <a:t> </a:t>
                      </a:r>
                      <a:r>
                        <a:rPr lang="en-US" sz="1400" dirty="0" err="1">
                          <a:solidFill>
                            <a:schemeClr val="tx1"/>
                          </a:solidFill>
                          <a:effectLst/>
                        </a:rPr>
                        <a:t>harf</a:t>
                      </a:r>
                      <a:r>
                        <a:rPr lang="en-US" sz="1400" dirty="0">
                          <a:solidFill>
                            <a:schemeClr val="tx1"/>
                          </a:solidFill>
                          <a:effectLst/>
                        </a:rPr>
                        <a:t> </a:t>
                      </a:r>
                      <a:r>
                        <a:rPr lang="en-US" sz="1400" dirty="0" err="1">
                          <a:solidFill>
                            <a:schemeClr val="tx1"/>
                          </a:solidFill>
                          <a:effectLst/>
                        </a:rPr>
                        <a:t>olan</a:t>
                      </a:r>
                      <a:r>
                        <a:rPr lang="en-US" sz="1400" dirty="0">
                          <a:solidFill>
                            <a:schemeClr val="tx1"/>
                          </a:solidFill>
                          <a:effectLst/>
                        </a:rPr>
                        <a:t> </a:t>
                      </a:r>
                      <a:r>
                        <a:rPr lang="en-US" sz="1400" dirty="0" err="1">
                          <a:solidFill>
                            <a:schemeClr val="tx1"/>
                          </a:solidFill>
                          <a:effectLst/>
                        </a:rPr>
                        <a:t>yorum</a:t>
                      </a:r>
                      <a:r>
                        <a:rPr lang="en-US" sz="1400" dirty="0">
                          <a:solidFill>
                            <a:schemeClr val="tx1"/>
                          </a:solidFill>
                          <a:effectLst/>
                        </a:rPr>
                        <a:t> </a:t>
                      </a:r>
                      <a:r>
                        <a:rPr lang="en-US" sz="1400" dirty="0" err="1">
                          <a:solidFill>
                            <a:schemeClr val="tx1"/>
                          </a:solidFill>
                          <a:effectLst/>
                        </a:rPr>
                        <a:t>sayısı</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tr-TR" sz="1200" b="1" dirty="0">
                          <a:solidFill>
                            <a:schemeClr val="tx1"/>
                          </a:solidFill>
                          <a:effectLst/>
                        </a:rPr>
                        <a:t>231</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tr-TR" sz="1400" dirty="0" err="1">
                          <a:solidFill>
                            <a:schemeClr val="tx1"/>
                          </a:solidFill>
                          <a:effectLst/>
                        </a:rPr>
                        <a:t>Stopword</a:t>
                      </a:r>
                      <a:r>
                        <a:rPr lang="tr-TR" sz="1400" dirty="0">
                          <a:solidFill>
                            <a:schemeClr val="tx1"/>
                          </a:solidFill>
                          <a:effectLst/>
                        </a:rPr>
                        <a:t> oranı (ortalama %)</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200" b="1" dirty="0">
                          <a:solidFill>
                            <a:schemeClr val="tx1"/>
                          </a:solidFill>
                          <a:effectLst/>
                        </a:rPr>
                        <a:t>%</a:t>
                      </a:r>
                      <a:r>
                        <a:rPr lang="tr-TR" sz="1200" b="1" dirty="0">
                          <a:solidFill>
                            <a:schemeClr val="tx1"/>
                          </a:solidFill>
                          <a:effectLst/>
                        </a:rPr>
                        <a:t>19.39 </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tr-TR" sz="1400" dirty="0">
                          <a:solidFill>
                            <a:schemeClr val="tx1"/>
                          </a:solidFill>
                          <a:effectLst/>
                        </a:rPr>
                        <a:t>Özel karakter oranı (ortalama %)</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200" b="1" dirty="0">
                          <a:solidFill>
                            <a:schemeClr val="tx1"/>
                          </a:solidFill>
                          <a:effectLst/>
                        </a:rPr>
                        <a:t>%</a:t>
                      </a:r>
                      <a:r>
                        <a:rPr lang="tr-TR" sz="1200" b="1" dirty="0">
                          <a:solidFill>
                            <a:schemeClr val="tx1"/>
                          </a:solidFill>
                          <a:effectLst/>
                        </a:rPr>
                        <a:t>2.92 </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tr-TR" sz="1400" dirty="0">
                          <a:solidFill>
                            <a:schemeClr val="tx1"/>
                          </a:solidFill>
                          <a:effectLst/>
                        </a:rPr>
                        <a:t>Tekrarlanan yorum sayısı</a:t>
                      </a:r>
                      <a:endParaRPr lang="tr-TR" sz="1400"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tr-TR" sz="1200" b="1" dirty="0">
                          <a:solidFill>
                            <a:schemeClr val="tx1"/>
                          </a:solidFill>
                          <a:effectLst/>
                        </a:rPr>
                        <a:t>766</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bl>
          </a:graphicData>
        </a:graphic>
      </p:graphicFrame>
      <p:sp>
        <p:nvSpPr>
          <p:cNvPr id="7" name="Metin kutusu 6"/>
          <p:cNvSpPr txBox="1"/>
          <p:nvPr/>
        </p:nvSpPr>
        <p:spPr>
          <a:xfrm>
            <a:off x="7116184" y="1260197"/>
            <a:ext cx="4389120" cy="490115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çalışmada HUMIR veri seti kullanılmıştır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Bu </a:t>
            </a:r>
            <a:r>
              <a:rPr lang="tr-TR" sz="1400" dirty="0">
                <a:latin typeface="Times New Roman" panose="02020603050405020304" pitchFamily="18" charset="0"/>
                <a:cs typeface="Times New Roman" panose="02020603050405020304" pitchFamily="18" charset="0"/>
              </a:rPr>
              <a:t>veri seti, Türkçe duygu analizi çalışmaları için geliştirilmiş ve literatürde yaygın olarak kullanılan bir veri kümesidir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Veri </a:t>
            </a:r>
            <a:r>
              <a:rPr lang="tr-TR" sz="1400" dirty="0">
                <a:latin typeface="Times New Roman" panose="02020603050405020304" pitchFamily="18" charset="0"/>
                <a:cs typeface="Times New Roman" panose="02020603050405020304" pitchFamily="18" charset="0"/>
              </a:rPr>
              <a:t>seti, otel ve film yorumlarından oluşmakta olup kullanıcıların gerçek deneyimlerini yansıtmaktadır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Toplamda </a:t>
            </a:r>
            <a:r>
              <a:rPr lang="tr-TR" sz="1400" dirty="0">
                <a:latin typeface="Times New Roman" panose="02020603050405020304" pitchFamily="18" charset="0"/>
                <a:cs typeface="Times New Roman" panose="02020603050405020304" pitchFamily="18" charset="0"/>
              </a:rPr>
              <a:t>65 bin yorumdan oluşan veri seti, pozitif ve negatif sınıflar açısından dengeli bir yapıya sahiptir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Yapılan </a:t>
            </a:r>
            <a:r>
              <a:rPr lang="tr-TR" sz="1400" dirty="0" err="1">
                <a:latin typeface="Times New Roman" panose="02020603050405020304" pitchFamily="18" charset="0"/>
                <a:cs typeface="Times New Roman" panose="02020603050405020304" pitchFamily="18" charset="0"/>
              </a:rPr>
              <a:t>keşifsel</a:t>
            </a:r>
            <a:r>
              <a:rPr lang="tr-TR" sz="1400" dirty="0">
                <a:latin typeface="Times New Roman" panose="02020603050405020304" pitchFamily="18" charset="0"/>
                <a:cs typeface="Times New Roman" panose="02020603050405020304" pitchFamily="18" charset="0"/>
              </a:rPr>
              <a:t> veri analizi sonucunda, metinlerin ortalama uzunluğunun yaklaşık 42 kelime olduğu ve veri içerisinde belirli düzeyde tekrar eden içerikler bulunduğu gözlemlenmiştir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Ayrıca </a:t>
            </a:r>
            <a:r>
              <a:rPr lang="tr-TR" sz="1400" dirty="0" err="1">
                <a:latin typeface="Times New Roman" panose="02020603050405020304" pitchFamily="18" charset="0"/>
                <a:cs typeface="Times New Roman" panose="02020603050405020304" pitchFamily="18" charset="0"/>
              </a:rPr>
              <a:t>stopword</a:t>
            </a:r>
            <a:r>
              <a:rPr lang="tr-TR" sz="1400" dirty="0">
                <a:latin typeface="Times New Roman" panose="02020603050405020304" pitchFamily="18" charset="0"/>
                <a:cs typeface="Times New Roman" panose="02020603050405020304" pitchFamily="18" charset="0"/>
              </a:rPr>
              <a:t> ve özel karakter oranları, veri setinin doğal dil yapısını koruduğunu ancak belirli bir gürültü içerdiğini göstermektedir.</a:t>
            </a:r>
          </a:p>
        </p:txBody>
      </p:sp>
    </p:spTree>
    <p:extLst>
      <p:ext uri="{BB962C8B-B14F-4D97-AF65-F5344CB8AC3E}">
        <p14:creationId xmlns:p14="http://schemas.microsoft.com/office/powerpoint/2010/main" val="12509895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98573"/>
            <a:ext cx="5882096" cy="523220"/>
          </a:xfrm>
          <a:prstGeom prst="rect">
            <a:avLst/>
          </a:prstGeom>
          <a:noFill/>
        </p:spPr>
        <p:txBody>
          <a:bodyPr wrap="square" rtlCol="0">
            <a:spAutoFit/>
          </a:bodyPr>
          <a:lstStyle/>
          <a:p>
            <a:r>
              <a:rPr lang="tr-TR" sz="2800" b="1" dirty="0" smtClean="0">
                <a:solidFill>
                  <a:srgbClr val="C00000"/>
                </a:solidFill>
              </a:rPr>
              <a:t>«Veri Ön İşleme(</a:t>
            </a:r>
            <a:r>
              <a:rPr lang="tr-TR" sz="2800" b="1" dirty="0" err="1" smtClean="0">
                <a:solidFill>
                  <a:srgbClr val="C00000"/>
                </a:solidFill>
              </a:rPr>
              <a:t>Preprocessing</a:t>
            </a:r>
            <a:r>
              <a:rPr lang="tr-TR" sz="2800" b="1" dirty="0" smtClean="0">
                <a:solidFill>
                  <a:srgbClr val="C00000"/>
                </a:solidFill>
              </a:rPr>
              <a:t>)»</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Metin kutusu 6"/>
          <p:cNvSpPr txBox="1"/>
          <p:nvPr/>
        </p:nvSpPr>
        <p:spPr>
          <a:xfrm>
            <a:off x="7116184" y="1456716"/>
            <a:ext cx="4389120" cy="425481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err="1">
                <a:latin typeface="Times New Roman" panose="02020603050405020304" pitchFamily="18" charset="0"/>
                <a:cs typeface="Times New Roman" panose="02020603050405020304" pitchFamily="18" charset="0"/>
              </a:rPr>
              <a:t>Lowercasing</a:t>
            </a:r>
            <a:r>
              <a:rPr lang="tr-TR" sz="1400" dirty="0">
                <a:latin typeface="Times New Roman" panose="02020603050405020304" pitchFamily="18" charset="0"/>
                <a:cs typeface="Times New Roman" panose="02020603050405020304" pitchFamily="18" charset="0"/>
              </a:rPr>
              <a:t> (küçük harfe dönüştürme</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Noktalama </a:t>
            </a:r>
            <a:r>
              <a:rPr lang="tr-TR" sz="1400" dirty="0">
                <a:latin typeface="Times New Roman" panose="02020603050405020304" pitchFamily="18" charset="0"/>
                <a:cs typeface="Times New Roman" panose="02020603050405020304" pitchFamily="18" charset="0"/>
              </a:rPr>
              <a:t>ve özel karakter </a:t>
            </a:r>
            <a:r>
              <a:rPr lang="tr-TR" sz="1400" dirty="0" smtClean="0">
                <a:latin typeface="Times New Roman" panose="02020603050405020304" pitchFamily="18" charset="0"/>
                <a:cs typeface="Times New Roman" panose="02020603050405020304" pitchFamily="18" charset="0"/>
              </a:rPr>
              <a:t>temizleme</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Metin </a:t>
            </a:r>
            <a:r>
              <a:rPr lang="tr-TR" sz="1400" dirty="0" err="1" smtClean="0">
                <a:latin typeface="Times New Roman" panose="02020603050405020304" pitchFamily="18" charset="0"/>
                <a:cs typeface="Times New Roman" panose="02020603050405020304" pitchFamily="18" charset="0"/>
              </a:rPr>
              <a:t>normalizasyonu</a:t>
            </a:r>
            <a:endParaRPr lang="tr-TR" sz="14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Tekrarlanan </a:t>
            </a:r>
            <a:r>
              <a:rPr lang="tr-TR" sz="1400" dirty="0">
                <a:latin typeface="Times New Roman" panose="02020603050405020304" pitchFamily="18" charset="0"/>
                <a:cs typeface="Times New Roman" panose="02020603050405020304" pitchFamily="18" charset="0"/>
              </a:rPr>
              <a:t>yorumların </a:t>
            </a:r>
            <a:r>
              <a:rPr lang="tr-TR" sz="1400" dirty="0" smtClean="0">
                <a:latin typeface="Times New Roman" panose="02020603050405020304" pitchFamily="18" charset="0"/>
                <a:cs typeface="Times New Roman" panose="02020603050405020304" pitchFamily="18" charset="0"/>
              </a:rPr>
              <a:t>kaldırılması</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Boş </a:t>
            </a:r>
            <a:r>
              <a:rPr lang="tr-TR" sz="1400" dirty="0">
                <a:latin typeface="Times New Roman" panose="02020603050405020304" pitchFamily="18" charset="0"/>
                <a:cs typeface="Times New Roman" panose="02020603050405020304" pitchFamily="18" charset="0"/>
              </a:rPr>
              <a:t>kayıtların </a:t>
            </a:r>
            <a:r>
              <a:rPr lang="tr-TR" sz="1400" dirty="0" smtClean="0">
                <a:latin typeface="Times New Roman" panose="02020603050405020304" pitchFamily="18" charset="0"/>
                <a:cs typeface="Times New Roman" panose="02020603050405020304" pitchFamily="18" charset="0"/>
              </a:rPr>
              <a:t>silinmesi</a:t>
            </a:r>
          </a:p>
          <a:p>
            <a:pPr marL="285750" indent="-285750" algn="just">
              <a:lnSpc>
                <a:spcPct val="150000"/>
              </a:lnSpc>
              <a:buFont typeface="Wingdings" panose="05000000000000000000" pitchFamily="2" charset="2"/>
              <a:buChar char="q"/>
            </a:pPr>
            <a:r>
              <a:rPr lang="tr-TR" sz="1400" dirty="0" err="1" smtClean="0">
                <a:latin typeface="Times New Roman" panose="02020603050405020304" pitchFamily="18" charset="0"/>
                <a:cs typeface="Times New Roman" panose="02020603050405020304" pitchFamily="18" charset="0"/>
              </a:rPr>
              <a:t>Stopword</a:t>
            </a:r>
            <a:r>
              <a:rPr lang="tr-TR" sz="1400" dirty="0" smtClean="0">
                <a:latin typeface="Times New Roman" panose="02020603050405020304" pitchFamily="18" charset="0"/>
                <a:cs typeface="Times New Roman" panose="02020603050405020304" pitchFamily="18" charset="0"/>
              </a:rPr>
              <a:t> </a:t>
            </a:r>
            <a:r>
              <a:rPr lang="tr-TR" sz="1400" dirty="0">
                <a:latin typeface="Times New Roman" panose="02020603050405020304" pitchFamily="18" charset="0"/>
                <a:cs typeface="Times New Roman" panose="02020603050405020304" pitchFamily="18" charset="0"/>
              </a:rPr>
              <a:t>filtreleme</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endParaRPr lang="tr-TR" sz="1400" dirty="0">
              <a:latin typeface="Times New Roman" panose="02020603050405020304" pitchFamily="18" charset="0"/>
              <a:cs typeface="Times New Roman" panose="02020603050405020304" pitchFamily="18" charset="0"/>
            </a:endParaRPr>
          </a:p>
          <a:p>
            <a:pPr algn="just">
              <a:lnSpc>
                <a:spcPct val="150000"/>
              </a:lnSpc>
            </a:pPr>
            <a:r>
              <a:rPr lang="tr-TR" sz="1400" dirty="0">
                <a:latin typeface="Times New Roman" panose="02020603050405020304" pitchFamily="18" charset="0"/>
                <a:cs typeface="Times New Roman" panose="02020603050405020304" pitchFamily="18" charset="0"/>
              </a:rPr>
              <a:t>Veri seti, temizleme ve </a:t>
            </a:r>
            <a:r>
              <a:rPr lang="tr-TR" sz="1400" dirty="0" err="1">
                <a:latin typeface="Times New Roman" panose="02020603050405020304" pitchFamily="18" charset="0"/>
                <a:cs typeface="Times New Roman" panose="02020603050405020304" pitchFamily="18" charset="0"/>
              </a:rPr>
              <a:t>normalizasyon</a:t>
            </a:r>
            <a:r>
              <a:rPr lang="tr-TR" sz="1400" dirty="0">
                <a:latin typeface="Times New Roman" panose="02020603050405020304" pitchFamily="18" charset="0"/>
                <a:cs typeface="Times New Roman" panose="02020603050405020304" pitchFamily="18" charset="0"/>
              </a:rPr>
              <a:t> adımları ile gürültüden arındırılmış, tekrar eden ve anlamsız kayıtlar kaldırılmıştır.</a:t>
            </a:r>
          </a:p>
          <a:p>
            <a:pPr algn="just">
              <a:lnSpc>
                <a:spcPct val="150000"/>
              </a:lnSpc>
            </a:pPr>
            <a:r>
              <a:rPr lang="tr-TR" sz="1400" dirty="0" err="1">
                <a:latin typeface="Times New Roman" panose="02020603050405020304" pitchFamily="18" charset="0"/>
                <a:cs typeface="Times New Roman" panose="02020603050405020304" pitchFamily="18" charset="0"/>
              </a:rPr>
              <a:t>Stopword</a:t>
            </a:r>
            <a:r>
              <a:rPr lang="tr-TR" sz="1400" dirty="0">
                <a:latin typeface="Times New Roman" panose="02020603050405020304" pitchFamily="18" charset="0"/>
                <a:cs typeface="Times New Roman" panose="02020603050405020304" pitchFamily="18" charset="0"/>
              </a:rPr>
              <a:t> filtreleme uygulanmasına rağmen veri setinin doğal dil yapısı korunmuştur.</a:t>
            </a:r>
          </a:p>
          <a:p>
            <a:pPr marL="285750" indent="-285750" algn="just">
              <a:lnSpc>
                <a:spcPct val="150000"/>
              </a:lnSpc>
              <a:buFont typeface="Wingdings" panose="05000000000000000000" pitchFamily="2" charset="2"/>
              <a:buChar char="q"/>
            </a:pPr>
            <a:endParaRPr lang="tr-TR" sz="1400" dirty="0">
              <a:latin typeface="Times New Roman" panose="02020603050405020304" pitchFamily="18" charset="0"/>
              <a:cs typeface="Times New Roman" panose="02020603050405020304" pitchFamily="18" charset="0"/>
            </a:endParaRPr>
          </a:p>
        </p:txBody>
      </p:sp>
      <p:graphicFrame>
        <p:nvGraphicFramePr>
          <p:cNvPr id="5" name="Tablo 4"/>
          <p:cNvGraphicFramePr>
            <a:graphicFrameLocks noGrp="1"/>
          </p:cNvGraphicFramePr>
          <p:nvPr>
            <p:extLst>
              <p:ext uri="{D42A27DB-BD31-4B8C-83A1-F6EECF244321}">
                <p14:modId xmlns:p14="http://schemas.microsoft.com/office/powerpoint/2010/main" val="2277192103"/>
              </p:ext>
            </p:extLst>
          </p:nvPr>
        </p:nvGraphicFramePr>
        <p:xfrm>
          <a:off x="436408" y="1505710"/>
          <a:ext cx="5213985" cy="4693920"/>
        </p:xfrm>
        <a:graphic>
          <a:graphicData uri="http://schemas.openxmlformats.org/drawingml/2006/table">
            <a:tbl>
              <a:tblPr firstRow="1" firstCol="1" bandRow="1">
                <a:tableStyleId>{F5AB1C69-6EDB-4FF4-983F-18BD219EF322}</a:tableStyleId>
              </a:tblPr>
              <a:tblGrid>
                <a:gridCol w="3038312"/>
                <a:gridCol w="2175673"/>
              </a:tblGrid>
              <a:tr h="0">
                <a:tc>
                  <a:txBody>
                    <a:bodyPr/>
                    <a:lstStyle/>
                    <a:p>
                      <a:pPr algn="ctr">
                        <a:lnSpc>
                          <a:spcPct val="200000"/>
                        </a:lnSpc>
                        <a:spcBef>
                          <a:spcPts val="1200"/>
                        </a:spcBef>
                        <a:spcAft>
                          <a:spcPts val="0"/>
                        </a:spcAft>
                      </a:pPr>
                      <a:r>
                        <a:rPr lang="en-US" sz="1400" b="1" dirty="0">
                          <a:solidFill>
                            <a:schemeClr val="tx1"/>
                          </a:solidFill>
                          <a:effectLst/>
                        </a:rPr>
                        <a:t>ÖZELLİK</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rPr>
                        <a:t>DEĞER</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b="1">
                          <a:solidFill>
                            <a:schemeClr val="tx1"/>
                          </a:solidFill>
                          <a:effectLst/>
                        </a:rPr>
                        <a:t>Toplam Yorum Sayısı(Review)</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rPr>
                        <a:t>64,159</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b="1">
                          <a:solidFill>
                            <a:schemeClr val="tx1"/>
                          </a:solidFill>
                          <a:effectLst/>
                        </a:rPr>
                        <a:t>Negatif Yorum Sayısı</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tr-TR" sz="1400" b="1" dirty="0">
                          <a:solidFill>
                            <a:schemeClr val="tx1"/>
                          </a:solidFill>
                          <a:effectLst/>
                        </a:rPr>
                        <a:t>32,210</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b="1">
                          <a:solidFill>
                            <a:schemeClr val="tx1"/>
                          </a:solidFill>
                          <a:effectLst/>
                        </a:rPr>
                        <a:t>Pozitif Yorum Sayısı</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rPr>
                        <a:t>31,949</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b="1">
                          <a:solidFill>
                            <a:schemeClr val="tx1"/>
                          </a:solidFill>
                          <a:effectLst/>
                        </a:rPr>
                        <a:t>Ortalama uzunluk(kelime)</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rPr>
                        <a:t>40.51</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b="1">
                          <a:solidFill>
                            <a:schemeClr val="tx1"/>
                          </a:solidFill>
                          <a:effectLst/>
                        </a:rPr>
                        <a:t>Minimum-Maksimum uzunluk</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rPr>
                        <a:t>1-2329</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b="1">
                          <a:solidFill>
                            <a:schemeClr val="tx1"/>
                          </a:solidFill>
                          <a:effectLst/>
                        </a:rPr>
                        <a:t>Büyük harfle başlayan yorum sayısı(%)</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rPr>
                        <a:t>0</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en-US" sz="1400" b="1">
                          <a:solidFill>
                            <a:schemeClr val="tx1"/>
                          </a:solidFill>
                          <a:effectLst/>
                        </a:rPr>
                        <a:t>Tamamı büyük harf olan yorum sayısı</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tr-TR" sz="1400" b="1" dirty="0">
                          <a:solidFill>
                            <a:schemeClr val="tx1"/>
                          </a:solidFill>
                          <a:effectLst/>
                        </a:rPr>
                        <a:t>0</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tr-TR" sz="1400" b="1">
                          <a:solidFill>
                            <a:schemeClr val="tx1"/>
                          </a:solidFill>
                          <a:effectLst/>
                        </a:rPr>
                        <a:t>Stopword oranı (ortalama %)</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rPr>
                        <a:t>%</a:t>
                      </a:r>
                      <a:r>
                        <a:rPr lang="tr-TR" sz="1400" b="1" dirty="0">
                          <a:solidFill>
                            <a:schemeClr val="tx1"/>
                          </a:solidFill>
                          <a:effectLst/>
                        </a:rPr>
                        <a:t>18.36 </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tr-TR" sz="1400" b="1">
                          <a:solidFill>
                            <a:schemeClr val="tx1"/>
                          </a:solidFill>
                          <a:effectLst/>
                        </a:rPr>
                        <a:t>Özel karakter oranı (ortalama %)</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tr-TR" sz="1400" b="1" dirty="0">
                          <a:solidFill>
                            <a:schemeClr val="tx1"/>
                          </a:solidFill>
                          <a:effectLst/>
                        </a:rPr>
                        <a:t>0.0 </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l">
                        <a:lnSpc>
                          <a:spcPct val="200000"/>
                        </a:lnSpc>
                        <a:spcBef>
                          <a:spcPts val="1200"/>
                        </a:spcBef>
                        <a:spcAft>
                          <a:spcPts val="0"/>
                        </a:spcAft>
                      </a:pPr>
                      <a:r>
                        <a:rPr lang="tr-TR" sz="1400" b="1">
                          <a:solidFill>
                            <a:schemeClr val="tx1"/>
                          </a:solidFill>
                          <a:effectLst/>
                        </a:rPr>
                        <a:t>Tekrarlanan yorum sayısı</a:t>
                      </a:r>
                      <a:endParaRPr lang="tr-TR" sz="14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200000"/>
                        </a:lnSpc>
                        <a:spcBef>
                          <a:spcPts val="1200"/>
                        </a:spcBef>
                        <a:spcAft>
                          <a:spcPts val="0"/>
                        </a:spcAft>
                      </a:pPr>
                      <a:r>
                        <a:rPr lang="tr-TR" sz="1400" b="1" dirty="0">
                          <a:solidFill>
                            <a:schemeClr val="tx1"/>
                          </a:solidFill>
                          <a:effectLst/>
                        </a:rPr>
                        <a:t>0</a:t>
                      </a:r>
                      <a:endParaRPr lang="tr-TR" sz="14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bl>
          </a:graphicData>
        </a:graphic>
      </p:graphicFrame>
    </p:spTree>
    <p:extLst>
      <p:ext uri="{BB962C8B-B14F-4D97-AF65-F5344CB8AC3E}">
        <p14:creationId xmlns:p14="http://schemas.microsoft.com/office/powerpoint/2010/main" val="13521625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98573"/>
            <a:ext cx="5882096" cy="523220"/>
          </a:xfrm>
          <a:prstGeom prst="rect">
            <a:avLst/>
          </a:prstGeom>
          <a:noFill/>
        </p:spPr>
        <p:txBody>
          <a:bodyPr wrap="square" rtlCol="0">
            <a:spAutoFit/>
          </a:bodyPr>
          <a:lstStyle/>
          <a:p>
            <a:r>
              <a:rPr lang="tr-TR" sz="2800" b="1" dirty="0" smtClean="0">
                <a:solidFill>
                  <a:srgbClr val="C00000"/>
                </a:solidFill>
              </a:rPr>
              <a:t>«Kullanılan Büyük Dil Modelleri»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aphicFrame>
        <p:nvGraphicFramePr>
          <p:cNvPr id="4" name="Diyagram 3"/>
          <p:cNvGraphicFramePr/>
          <p:nvPr>
            <p:extLst>
              <p:ext uri="{D42A27DB-BD31-4B8C-83A1-F6EECF244321}">
                <p14:modId xmlns:p14="http://schemas.microsoft.com/office/powerpoint/2010/main" val="3077717390"/>
              </p:ext>
            </p:extLst>
          </p:nvPr>
        </p:nvGraphicFramePr>
        <p:xfrm>
          <a:off x="676656" y="1423755"/>
          <a:ext cx="5935472" cy="390719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Metin kutusu 5"/>
          <p:cNvSpPr txBox="1"/>
          <p:nvPr/>
        </p:nvSpPr>
        <p:spPr>
          <a:xfrm>
            <a:off x="7022592" y="1338929"/>
            <a:ext cx="4937760" cy="429348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çalışmada sentetik veri üretimi amacıyla iki farklı büyük dil modeli kullanılmıştır: GPT-4o ve </a:t>
            </a:r>
            <a:r>
              <a:rPr lang="tr-TR" sz="1400" dirty="0" err="1">
                <a:latin typeface="Times New Roman" panose="02020603050405020304" pitchFamily="18" charset="0"/>
                <a:cs typeface="Times New Roman" panose="02020603050405020304" pitchFamily="18" charset="0"/>
              </a:rPr>
              <a:t>Claude</a:t>
            </a:r>
            <a:r>
              <a:rPr lang="tr-TR" sz="1400" dirty="0">
                <a:latin typeface="Times New Roman" panose="02020603050405020304" pitchFamily="18" charset="0"/>
                <a:cs typeface="Times New Roman" panose="02020603050405020304" pitchFamily="18" charset="0"/>
              </a:rPr>
              <a:t> 3 </a:t>
            </a:r>
            <a:r>
              <a:rPr lang="tr-TR" sz="1400" dirty="0" err="1">
                <a:latin typeface="Times New Roman" panose="02020603050405020304" pitchFamily="18" charset="0"/>
                <a:cs typeface="Times New Roman" panose="02020603050405020304" pitchFamily="18" charset="0"/>
              </a:rPr>
              <a:t>Haiku</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Model </a:t>
            </a:r>
            <a:r>
              <a:rPr lang="tr-TR" sz="1400" dirty="0">
                <a:latin typeface="Times New Roman" panose="02020603050405020304" pitchFamily="18" charset="0"/>
                <a:cs typeface="Times New Roman" panose="02020603050405020304" pitchFamily="18" charset="0"/>
              </a:rPr>
              <a:t>seçimi yalnızca popülerlik ya da erişilebilirlik kriterlerine göre yapılmamış, aynı zamanda çok dilli üretim kapasitesi, bağlamsal tutarlılık ve Türkçe metin üretim performansı gibi teknik kriterler dikkate alınmıştır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GPT-4o</a:t>
            </a:r>
            <a:r>
              <a:rPr lang="tr-TR" sz="1400" dirty="0">
                <a:latin typeface="Times New Roman" panose="02020603050405020304" pitchFamily="18" charset="0"/>
                <a:cs typeface="Times New Roman" panose="02020603050405020304" pitchFamily="18" charset="0"/>
              </a:rPr>
              <a:t>, bağlama duyarlı metin üretimi ve doğal dil akıcılığı açısından güçlü bir modeldir</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Claude</a:t>
            </a:r>
            <a:r>
              <a:rPr lang="tr-TR" sz="1400" dirty="0" smtClean="0">
                <a:latin typeface="Times New Roman" panose="02020603050405020304" pitchFamily="18" charset="0"/>
                <a:cs typeface="Times New Roman" panose="02020603050405020304" pitchFamily="18" charset="0"/>
              </a:rPr>
              <a:t> </a:t>
            </a:r>
            <a:r>
              <a:rPr lang="tr-TR" sz="1400" dirty="0">
                <a:latin typeface="Times New Roman" panose="02020603050405020304" pitchFamily="18" charset="0"/>
                <a:cs typeface="Times New Roman" panose="02020603050405020304" pitchFamily="18" charset="0"/>
              </a:rPr>
              <a:t>3 </a:t>
            </a:r>
            <a:r>
              <a:rPr lang="tr-TR" sz="1400" dirty="0" err="1">
                <a:latin typeface="Times New Roman" panose="02020603050405020304" pitchFamily="18" charset="0"/>
                <a:cs typeface="Times New Roman" panose="02020603050405020304" pitchFamily="18" charset="0"/>
              </a:rPr>
              <a:t>Haiku</a:t>
            </a:r>
            <a:r>
              <a:rPr lang="tr-TR" sz="1400" dirty="0">
                <a:latin typeface="Times New Roman" panose="02020603050405020304" pitchFamily="18" charset="0"/>
                <a:cs typeface="Times New Roman" panose="02020603050405020304" pitchFamily="18" charset="0"/>
              </a:rPr>
              <a:t> ise daha kontrollü ve tutarlı üretim yapısıyla öne çıkmaktadır</a:t>
            </a:r>
            <a:r>
              <a:rPr lang="tr-TR" sz="1400" dirty="0" smtClean="0">
                <a:latin typeface="Times New Roman" panose="02020603050405020304" pitchFamily="18" charset="0"/>
                <a:cs typeface="Times New Roman" panose="02020603050405020304" pitchFamily="18" charset="0"/>
              </a:rPr>
              <a:t>. Bu </a:t>
            </a:r>
            <a:r>
              <a:rPr lang="tr-TR" sz="1400" dirty="0">
                <a:latin typeface="Times New Roman" panose="02020603050405020304" pitchFamily="18" charset="0"/>
                <a:cs typeface="Times New Roman" panose="02020603050405020304" pitchFamily="18" charset="0"/>
              </a:rPr>
              <a:t>iki modelin birlikte kullanılması, sentetik veri üretiminde model-özgü farklılıkların analiz edilmesine olanak sağlamaktadır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modeller kullanılarak sentetik veri üretimi belirli bir </a:t>
            </a:r>
            <a:r>
              <a:rPr lang="tr-TR" sz="1400" dirty="0" err="1">
                <a:latin typeface="Times New Roman" panose="02020603050405020304" pitchFamily="18" charset="0"/>
                <a:cs typeface="Times New Roman" panose="02020603050405020304" pitchFamily="18" charset="0"/>
              </a:rPr>
              <a:t>prompt</a:t>
            </a:r>
            <a:r>
              <a:rPr lang="tr-TR" sz="1400" dirty="0">
                <a:latin typeface="Times New Roman" panose="02020603050405020304" pitchFamily="18" charset="0"/>
                <a:cs typeface="Times New Roman" panose="02020603050405020304" pitchFamily="18" charset="0"/>
              </a:rPr>
              <a:t> yapısı üzerinden </a:t>
            </a:r>
            <a:r>
              <a:rPr lang="tr-TR" sz="1400" dirty="0" smtClean="0">
                <a:latin typeface="Times New Roman" panose="02020603050405020304" pitchFamily="18" charset="0"/>
                <a:cs typeface="Times New Roman" panose="02020603050405020304" pitchFamily="18" charset="0"/>
              </a:rPr>
              <a:t>gerçekleştirilmiştir.</a:t>
            </a:r>
            <a:endParaRPr lang="tr-TR"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3194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668581"/>
            <a:ext cx="5882096" cy="523220"/>
          </a:xfrm>
          <a:prstGeom prst="rect">
            <a:avLst/>
          </a:prstGeom>
          <a:noFill/>
        </p:spPr>
        <p:txBody>
          <a:bodyPr wrap="square" rtlCol="0">
            <a:spAutoFit/>
          </a:bodyPr>
          <a:lstStyle/>
          <a:p>
            <a:r>
              <a:rPr lang="tr-TR" sz="2800" b="1" dirty="0" smtClean="0">
                <a:solidFill>
                  <a:srgbClr val="C00000"/>
                </a:solidFill>
              </a:rPr>
              <a:t>«Kullanılan Büyük Dil Modelleri»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5" name="Resim 4"/>
          <p:cNvPicPr>
            <a:picLocks noChangeAspect="1"/>
          </p:cNvPicPr>
          <p:nvPr/>
        </p:nvPicPr>
        <p:blipFill>
          <a:blip r:embed="rId5"/>
          <a:stretch>
            <a:fillRect/>
          </a:stretch>
        </p:blipFill>
        <p:spPr>
          <a:xfrm>
            <a:off x="436408" y="1256417"/>
            <a:ext cx="7317351" cy="5012497"/>
          </a:xfrm>
          <a:prstGeom prst="rect">
            <a:avLst/>
          </a:prstGeom>
        </p:spPr>
      </p:pic>
      <p:sp>
        <p:nvSpPr>
          <p:cNvPr id="7" name="Metin kutusu 6"/>
          <p:cNvSpPr txBox="1"/>
          <p:nvPr/>
        </p:nvSpPr>
        <p:spPr>
          <a:xfrm>
            <a:off x="8439912" y="2989512"/>
            <a:ext cx="3456432" cy="1061829"/>
          </a:xfrm>
          <a:prstGeom prst="rect">
            <a:avLst/>
          </a:prstGeom>
          <a:noFill/>
        </p:spPr>
        <p:txBody>
          <a:bodyPr wrap="square" rtlCol="0">
            <a:spAutoFit/>
          </a:bodyPr>
          <a:lstStyle/>
          <a:p>
            <a:pPr algn="just">
              <a:lnSpc>
                <a:spcPct val="150000"/>
              </a:lnSpc>
            </a:pPr>
            <a:r>
              <a:rPr lang="tr-TR" sz="1400" b="1" dirty="0">
                <a:solidFill>
                  <a:srgbClr val="C00000"/>
                </a:solidFill>
                <a:latin typeface="Times New Roman" panose="02020603050405020304" pitchFamily="18" charset="0"/>
                <a:cs typeface="Times New Roman" panose="02020603050405020304" pitchFamily="18" charset="0"/>
              </a:rPr>
              <a:t>Bu durum, veri artırma sürecinin yalnızca yöntemden değil, kullanılan modelden de etkilendiğini göstermektedir.</a:t>
            </a:r>
          </a:p>
        </p:txBody>
      </p:sp>
    </p:spTree>
    <p:extLst>
      <p:ext uri="{BB962C8B-B14F-4D97-AF65-F5344CB8AC3E}">
        <p14:creationId xmlns:p14="http://schemas.microsoft.com/office/powerpoint/2010/main" val="726433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«Kullanılan Sınıflandırma Modelleri»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graphicFrame>
        <p:nvGraphicFramePr>
          <p:cNvPr id="7" name="Diyagram 6"/>
          <p:cNvGraphicFramePr/>
          <p:nvPr>
            <p:extLst>
              <p:ext uri="{D42A27DB-BD31-4B8C-83A1-F6EECF244321}">
                <p14:modId xmlns:p14="http://schemas.microsoft.com/office/powerpoint/2010/main" val="3825562027"/>
              </p:ext>
            </p:extLst>
          </p:nvPr>
        </p:nvGraphicFramePr>
        <p:xfrm>
          <a:off x="-256032" y="1499287"/>
          <a:ext cx="8245074" cy="443516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Metin kutusu 4"/>
          <p:cNvSpPr txBox="1"/>
          <p:nvPr/>
        </p:nvSpPr>
        <p:spPr>
          <a:xfrm>
            <a:off x="7421393" y="1631180"/>
            <a:ext cx="4633194" cy="397031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err="1">
                <a:latin typeface="Times New Roman" panose="02020603050405020304" pitchFamily="18" charset="0"/>
                <a:cs typeface="Times New Roman" panose="02020603050405020304" pitchFamily="18" charset="0"/>
              </a:rPr>
              <a:t>Naive</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Bayes</a:t>
            </a:r>
            <a:r>
              <a:rPr lang="tr-TR" sz="1400" dirty="0">
                <a:latin typeface="Times New Roman" panose="02020603050405020304" pitchFamily="18" charset="0"/>
                <a:cs typeface="Times New Roman" panose="02020603050405020304" pitchFamily="18" charset="0"/>
              </a:rPr>
              <a:t>, SVM ve </a:t>
            </a:r>
            <a:r>
              <a:rPr lang="tr-TR" sz="1400" dirty="0" err="1">
                <a:latin typeface="Times New Roman" panose="02020603050405020304" pitchFamily="18" charset="0"/>
                <a:cs typeface="Times New Roman" panose="02020603050405020304" pitchFamily="18" charset="0"/>
              </a:rPr>
              <a:t>Logistic</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Regression</a:t>
            </a:r>
            <a:r>
              <a:rPr lang="tr-TR" sz="1400" dirty="0">
                <a:latin typeface="Times New Roman" panose="02020603050405020304" pitchFamily="18" charset="0"/>
                <a:cs typeface="Times New Roman" panose="02020603050405020304" pitchFamily="18" charset="0"/>
              </a:rPr>
              <a:t> gibi geleneksel modeller, temel bir karşılaştırma noktası oluşturmak amacıyla tercih edilmiştir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CNN </a:t>
            </a:r>
            <a:r>
              <a:rPr lang="tr-TR" sz="1400" dirty="0">
                <a:latin typeface="Times New Roman" panose="02020603050405020304" pitchFamily="18" charset="0"/>
                <a:cs typeface="Times New Roman" panose="02020603050405020304" pitchFamily="18" charset="0"/>
              </a:rPr>
              <a:t>ve LSTM gibi derin öğrenme modelleri, metinden otomatik özellik öğrenme yetenekleri nedeniyle dahil edilmiştir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BERT, bağlama </a:t>
            </a:r>
            <a:r>
              <a:rPr lang="tr-TR" sz="1400" dirty="0">
                <a:latin typeface="Times New Roman" panose="02020603050405020304" pitchFamily="18" charset="0"/>
                <a:cs typeface="Times New Roman" panose="02020603050405020304" pitchFamily="18" charset="0"/>
              </a:rPr>
              <a:t>duyarlı temsil öğrenimi sağlayan </a:t>
            </a:r>
            <a:r>
              <a:rPr lang="tr-TR" sz="1400" dirty="0" err="1">
                <a:latin typeface="Times New Roman" panose="02020603050405020304" pitchFamily="18" charset="0"/>
                <a:cs typeface="Times New Roman" panose="02020603050405020304" pitchFamily="18" charset="0"/>
              </a:rPr>
              <a:t>transformer</a:t>
            </a:r>
            <a:r>
              <a:rPr lang="tr-TR" sz="1400" dirty="0">
                <a:latin typeface="Times New Roman" panose="02020603050405020304" pitchFamily="18" charset="0"/>
                <a:cs typeface="Times New Roman" panose="02020603050405020304" pitchFamily="18" charset="0"/>
              </a:rPr>
              <a:t> tabanlı bir model olduğu için çalışmaya eklenmiştir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b="1" dirty="0" smtClean="0">
                <a:solidFill>
                  <a:srgbClr val="C00000"/>
                </a:solidFill>
                <a:latin typeface="Times New Roman" panose="02020603050405020304" pitchFamily="18" charset="0"/>
                <a:cs typeface="Times New Roman" panose="02020603050405020304" pitchFamily="18" charset="0"/>
              </a:rPr>
              <a:t>Bu </a:t>
            </a:r>
            <a:r>
              <a:rPr lang="tr-TR" sz="1400" b="1" dirty="0">
                <a:solidFill>
                  <a:srgbClr val="C00000"/>
                </a:solidFill>
                <a:latin typeface="Times New Roman" panose="02020603050405020304" pitchFamily="18" charset="0"/>
                <a:cs typeface="Times New Roman" panose="02020603050405020304" pitchFamily="18" charset="0"/>
              </a:rPr>
              <a:t>çeşitlilik sayesinde, sentetik veri artırma yönteminin farklı model türleri üzerindeki etkisi kapsamlı bir şekilde değerlendirilmiştir.</a:t>
            </a:r>
          </a:p>
        </p:txBody>
      </p:sp>
    </p:spTree>
    <p:extLst>
      <p:ext uri="{BB962C8B-B14F-4D97-AF65-F5344CB8AC3E}">
        <p14:creationId xmlns:p14="http://schemas.microsoft.com/office/powerpoint/2010/main" val="39043065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«Geleneksel ML Modelleri»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5" name="Metin kutusu 4"/>
          <p:cNvSpPr txBox="1"/>
          <p:nvPr/>
        </p:nvSpPr>
        <p:spPr>
          <a:xfrm>
            <a:off x="366297" y="1416679"/>
            <a:ext cx="3766791" cy="4370427"/>
          </a:xfrm>
          <a:prstGeom prst="rect">
            <a:avLst/>
          </a:prstGeom>
          <a:noFill/>
        </p:spPr>
        <p:txBody>
          <a:bodyPr wrap="square" rtlCol="0">
            <a:spAutoFit/>
          </a:bodyPr>
          <a:lstStyle/>
          <a:p>
            <a:pPr algn="ctr"/>
            <a:r>
              <a:rPr lang="tr-TR" b="1" u="sng" dirty="0" err="1" smtClean="0">
                <a:solidFill>
                  <a:srgbClr val="C00000"/>
                </a:solidFill>
                <a:latin typeface="Times New Roman" panose="02020603050405020304" pitchFamily="18" charset="0"/>
                <a:cs typeface="Times New Roman" panose="02020603050405020304" pitchFamily="18" charset="0"/>
              </a:rPr>
              <a:t>Naive</a:t>
            </a:r>
            <a:r>
              <a:rPr lang="tr-TR" b="1" u="sng" dirty="0" smtClean="0">
                <a:solidFill>
                  <a:srgbClr val="C00000"/>
                </a:solidFill>
                <a:latin typeface="Times New Roman" panose="02020603050405020304" pitchFamily="18" charset="0"/>
                <a:cs typeface="Times New Roman" panose="02020603050405020304" pitchFamily="18" charset="0"/>
              </a:rPr>
              <a:t> </a:t>
            </a:r>
            <a:r>
              <a:rPr lang="tr-TR" b="1" u="sng" dirty="0" err="1" smtClean="0">
                <a:solidFill>
                  <a:srgbClr val="C00000"/>
                </a:solidFill>
                <a:latin typeface="Times New Roman" panose="02020603050405020304" pitchFamily="18" charset="0"/>
                <a:cs typeface="Times New Roman" panose="02020603050405020304" pitchFamily="18" charset="0"/>
              </a:rPr>
              <a:t>Bayes</a:t>
            </a:r>
            <a:r>
              <a:rPr lang="tr-TR" b="1" u="sng" dirty="0" smtClean="0">
                <a:solidFill>
                  <a:srgbClr val="C00000"/>
                </a:solidFill>
                <a:latin typeface="Times New Roman" panose="02020603050405020304" pitchFamily="18" charset="0"/>
                <a:cs typeface="Times New Roman" panose="02020603050405020304" pitchFamily="18" charset="0"/>
              </a:rPr>
              <a:t>(NB)</a:t>
            </a:r>
          </a:p>
          <a:p>
            <a:pPr algn="ctr"/>
            <a:endParaRPr lang="tr-TR" b="1" u="sng" dirty="0" smtClean="0">
              <a:solidFill>
                <a:srgbClr val="C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err="1">
                <a:latin typeface="Times New Roman" panose="02020603050405020304" pitchFamily="18" charset="0"/>
                <a:cs typeface="Times New Roman" panose="02020603050405020304" pitchFamily="18" charset="0"/>
              </a:rPr>
              <a:t>Naive</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Bayes</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Bayes</a:t>
            </a:r>
            <a:r>
              <a:rPr lang="tr-TR" sz="1400" dirty="0">
                <a:latin typeface="Times New Roman" panose="02020603050405020304" pitchFamily="18" charset="0"/>
                <a:cs typeface="Times New Roman" panose="02020603050405020304" pitchFamily="18" charset="0"/>
              </a:rPr>
              <a:t> teoremine dayalı bir </a:t>
            </a:r>
            <a:r>
              <a:rPr lang="tr-TR" sz="1400" dirty="0" err="1">
                <a:latin typeface="Times New Roman" panose="02020603050405020304" pitchFamily="18" charset="0"/>
                <a:cs typeface="Times New Roman" panose="02020603050405020304" pitchFamily="18" charset="0"/>
              </a:rPr>
              <a:t>olasılıksal</a:t>
            </a:r>
            <a:r>
              <a:rPr lang="tr-TR" sz="1400" dirty="0">
                <a:latin typeface="Times New Roman" panose="02020603050405020304" pitchFamily="18" charset="0"/>
                <a:cs typeface="Times New Roman" panose="02020603050405020304" pitchFamily="18" charset="0"/>
              </a:rPr>
              <a:t> sınıflandırma modelidir</a:t>
            </a:r>
            <a:r>
              <a:rPr lang="tr-TR" sz="1400" dirty="0" smtClean="0">
                <a:latin typeface="Times New Roman" panose="02020603050405020304" pitchFamily="18" charset="0"/>
                <a:cs typeface="Times New Roman" panose="02020603050405020304" pitchFamily="18" charset="0"/>
              </a:rPr>
              <a:t>. Burada </a:t>
            </a:r>
            <a:r>
              <a:rPr lang="tr-TR" sz="1400" dirty="0">
                <a:latin typeface="Times New Roman" panose="02020603050405020304" pitchFamily="18" charset="0"/>
                <a:cs typeface="Times New Roman" panose="02020603050405020304" pitchFamily="18" charset="0"/>
              </a:rPr>
              <a:t>C sınıfı, X ise metni temsil etmektedir</a:t>
            </a:r>
            <a:r>
              <a:rPr lang="tr-TR" sz="1400" dirty="0" smtClean="0">
                <a:latin typeface="Times New Roman" panose="02020603050405020304" pitchFamily="18" charset="0"/>
                <a:cs typeface="Times New Roman" panose="02020603050405020304" pitchFamily="18" charset="0"/>
              </a:rPr>
              <a:t>. Model</a:t>
            </a:r>
            <a:r>
              <a:rPr lang="tr-TR" sz="1400" dirty="0">
                <a:latin typeface="Times New Roman" panose="02020603050405020304" pitchFamily="18" charset="0"/>
                <a:cs typeface="Times New Roman" panose="02020603050405020304" pitchFamily="18" charset="0"/>
              </a:rPr>
              <a:t>, bir metnin belirli bir sınıfa ait olma olasılığını hesaplar ve en yüksek olasılığa sahip sınıfı tahmin olarak seçer.</a:t>
            </a:r>
          </a:p>
          <a:p>
            <a:endParaRPr lang="tr-TR" dirty="0"/>
          </a:p>
          <a:p>
            <a:endParaRPr lang="tr-TR" dirty="0" smtClean="0"/>
          </a:p>
          <a:p>
            <a:endParaRPr lang="tr-TR" dirty="0"/>
          </a:p>
          <a:p>
            <a:pPr lvl="1"/>
            <a:r>
              <a:rPr lang="tr-TR" sz="1100" dirty="0">
                <a:latin typeface="Times New Roman" panose="02020603050405020304" pitchFamily="18" charset="0"/>
                <a:cs typeface="Times New Roman" panose="02020603050405020304" pitchFamily="18" charset="0"/>
              </a:rPr>
              <a:t>C: Sınıf (pozitif / negatif</a:t>
            </a:r>
            <a:r>
              <a:rPr lang="tr-TR" sz="1100" dirty="0" smtClean="0">
                <a:latin typeface="Times New Roman" panose="02020603050405020304" pitchFamily="18" charset="0"/>
                <a:cs typeface="Times New Roman" panose="02020603050405020304" pitchFamily="18" charset="0"/>
              </a:rPr>
              <a:t>)</a:t>
            </a:r>
          </a:p>
          <a:p>
            <a:pPr lvl="1"/>
            <a:r>
              <a:rPr lang="tr-TR" sz="1100" dirty="0" smtClean="0">
                <a:latin typeface="Times New Roman" panose="02020603050405020304" pitchFamily="18" charset="0"/>
                <a:cs typeface="Times New Roman" panose="02020603050405020304" pitchFamily="18" charset="0"/>
              </a:rPr>
              <a:t>X</a:t>
            </a:r>
            <a:r>
              <a:rPr lang="tr-TR" sz="1100" dirty="0">
                <a:latin typeface="Times New Roman" panose="02020603050405020304" pitchFamily="18" charset="0"/>
                <a:cs typeface="Times New Roman" panose="02020603050405020304" pitchFamily="18" charset="0"/>
              </a:rPr>
              <a:t>: Metin (özellik vektörü - TF-IDF</a:t>
            </a:r>
            <a:r>
              <a:rPr lang="tr-TR" sz="1100" dirty="0" smtClean="0">
                <a:latin typeface="Times New Roman" panose="02020603050405020304" pitchFamily="18" charset="0"/>
                <a:cs typeface="Times New Roman" panose="02020603050405020304" pitchFamily="18" charset="0"/>
              </a:rPr>
              <a:t>)</a:t>
            </a:r>
          </a:p>
          <a:p>
            <a:pPr lvl="1"/>
            <a:r>
              <a:rPr lang="tr-TR" sz="1100" dirty="0" smtClean="0">
                <a:latin typeface="Times New Roman" panose="02020603050405020304" pitchFamily="18" charset="0"/>
                <a:cs typeface="Times New Roman" panose="02020603050405020304" pitchFamily="18" charset="0"/>
              </a:rPr>
              <a:t>P(C|X</a:t>
            </a:r>
            <a:r>
              <a:rPr lang="tr-TR" sz="1100" dirty="0">
                <a:latin typeface="Times New Roman" panose="02020603050405020304" pitchFamily="18" charset="0"/>
                <a:cs typeface="Times New Roman" panose="02020603050405020304" pitchFamily="18" charset="0"/>
              </a:rPr>
              <a:t>): Metnin sınıfa ait olma </a:t>
            </a:r>
            <a:r>
              <a:rPr lang="tr-TR" sz="1100" dirty="0" smtClean="0">
                <a:latin typeface="Times New Roman" panose="02020603050405020304" pitchFamily="18" charset="0"/>
                <a:cs typeface="Times New Roman" panose="02020603050405020304" pitchFamily="18" charset="0"/>
              </a:rPr>
              <a:t>olasılığı</a:t>
            </a:r>
          </a:p>
          <a:p>
            <a:pPr lvl="1"/>
            <a:r>
              <a:rPr lang="tr-TR" sz="1100" dirty="0" smtClean="0">
                <a:latin typeface="Times New Roman" panose="02020603050405020304" pitchFamily="18" charset="0"/>
                <a:cs typeface="Times New Roman" panose="02020603050405020304" pitchFamily="18" charset="0"/>
              </a:rPr>
              <a:t>P(X|C</a:t>
            </a:r>
            <a:r>
              <a:rPr lang="tr-TR" sz="1100" dirty="0">
                <a:latin typeface="Times New Roman" panose="02020603050405020304" pitchFamily="18" charset="0"/>
                <a:cs typeface="Times New Roman" panose="02020603050405020304" pitchFamily="18" charset="0"/>
              </a:rPr>
              <a:t>): Sınıfa göre metin </a:t>
            </a:r>
            <a:r>
              <a:rPr lang="tr-TR" sz="1100" dirty="0" smtClean="0">
                <a:latin typeface="Times New Roman" panose="02020603050405020304" pitchFamily="18" charset="0"/>
                <a:cs typeface="Times New Roman" panose="02020603050405020304" pitchFamily="18" charset="0"/>
              </a:rPr>
              <a:t>olasılığı</a:t>
            </a:r>
          </a:p>
          <a:p>
            <a:endParaRPr lang="tr-TR" dirty="0"/>
          </a:p>
        </p:txBody>
      </p:sp>
      <p:pic>
        <p:nvPicPr>
          <p:cNvPr id="16" name="Resim 15"/>
          <p:cNvPicPr>
            <a:picLocks noChangeAspect="1"/>
          </p:cNvPicPr>
          <p:nvPr/>
        </p:nvPicPr>
        <p:blipFill>
          <a:blip r:embed="rId5"/>
          <a:stretch>
            <a:fillRect/>
          </a:stretch>
        </p:blipFill>
        <p:spPr>
          <a:xfrm>
            <a:off x="872243" y="4048022"/>
            <a:ext cx="2001841" cy="480442"/>
          </a:xfrm>
          <a:prstGeom prst="rect">
            <a:avLst/>
          </a:prstGeom>
        </p:spPr>
      </p:pic>
      <p:sp>
        <p:nvSpPr>
          <p:cNvPr id="17" name="Metin kutusu 16"/>
          <p:cNvSpPr txBox="1"/>
          <p:nvPr/>
        </p:nvSpPr>
        <p:spPr>
          <a:xfrm>
            <a:off x="4285488" y="1416678"/>
            <a:ext cx="3766791" cy="4308872"/>
          </a:xfrm>
          <a:prstGeom prst="rect">
            <a:avLst/>
          </a:prstGeom>
          <a:noFill/>
        </p:spPr>
        <p:txBody>
          <a:bodyPr wrap="square" rtlCol="0">
            <a:spAutoFit/>
          </a:bodyPr>
          <a:lstStyle/>
          <a:p>
            <a:pPr algn="ctr"/>
            <a:r>
              <a:rPr lang="tr-TR" b="1" u="sng" dirty="0" err="1" smtClean="0">
                <a:solidFill>
                  <a:srgbClr val="C00000"/>
                </a:solidFill>
                <a:latin typeface="Times New Roman" panose="02020603050405020304" pitchFamily="18" charset="0"/>
                <a:cs typeface="Times New Roman" panose="02020603050405020304" pitchFamily="18" charset="0"/>
              </a:rPr>
              <a:t>Support</a:t>
            </a:r>
            <a:r>
              <a:rPr lang="tr-TR" b="1" u="sng" dirty="0" smtClean="0">
                <a:solidFill>
                  <a:srgbClr val="C00000"/>
                </a:solidFill>
                <a:latin typeface="Times New Roman" panose="02020603050405020304" pitchFamily="18" charset="0"/>
                <a:cs typeface="Times New Roman" panose="02020603050405020304" pitchFamily="18" charset="0"/>
              </a:rPr>
              <a:t> </a:t>
            </a:r>
            <a:r>
              <a:rPr lang="tr-TR" b="1" u="sng" dirty="0" err="1" smtClean="0">
                <a:solidFill>
                  <a:srgbClr val="C00000"/>
                </a:solidFill>
                <a:latin typeface="Times New Roman" panose="02020603050405020304" pitchFamily="18" charset="0"/>
                <a:cs typeface="Times New Roman" panose="02020603050405020304" pitchFamily="18" charset="0"/>
              </a:rPr>
              <a:t>Vector</a:t>
            </a:r>
            <a:r>
              <a:rPr lang="tr-TR" b="1" u="sng" dirty="0" smtClean="0">
                <a:solidFill>
                  <a:srgbClr val="C00000"/>
                </a:solidFill>
                <a:latin typeface="Times New Roman" panose="02020603050405020304" pitchFamily="18" charset="0"/>
                <a:cs typeface="Times New Roman" panose="02020603050405020304" pitchFamily="18" charset="0"/>
              </a:rPr>
              <a:t> </a:t>
            </a:r>
            <a:r>
              <a:rPr lang="tr-TR" b="1" u="sng" dirty="0" err="1" smtClean="0">
                <a:solidFill>
                  <a:srgbClr val="C00000"/>
                </a:solidFill>
                <a:latin typeface="Times New Roman" panose="02020603050405020304" pitchFamily="18" charset="0"/>
                <a:cs typeface="Times New Roman" panose="02020603050405020304" pitchFamily="18" charset="0"/>
              </a:rPr>
              <a:t>Machines</a:t>
            </a:r>
            <a:r>
              <a:rPr lang="tr-TR" b="1" u="sng" dirty="0" smtClean="0">
                <a:solidFill>
                  <a:srgbClr val="C00000"/>
                </a:solidFill>
                <a:latin typeface="Times New Roman" panose="02020603050405020304" pitchFamily="18" charset="0"/>
                <a:cs typeface="Times New Roman" panose="02020603050405020304" pitchFamily="18" charset="0"/>
              </a:rPr>
              <a:t>(SVM)</a:t>
            </a:r>
          </a:p>
          <a:p>
            <a:pPr algn="ctr"/>
            <a:endParaRPr lang="tr-TR" b="1" u="sng" dirty="0" smtClean="0">
              <a:solidFill>
                <a:srgbClr val="C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SVM, veriyi </a:t>
            </a:r>
            <a:r>
              <a:rPr lang="tr-TR" sz="1400" dirty="0">
                <a:latin typeface="Times New Roman" panose="02020603050405020304" pitchFamily="18" charset="0"/>
                <a:cs typeface="Times New Roman" panose="02020603050405020304" pitchFamily="18" charset="0"/>
              </a:rPr>
              <a:t>iki sınıfa ayıran en uygun karar sınırını bulmayı amaçlayan bir </a:t>
            </a:r>
            <a:r>
              <a:rPr lang="tr-TR" sz="1400" dirty="0" err="1">
                <a:latin typeface="Times New Roman" panose="02020603050405020304" pitchFamily="18" charset="0"/>
                <a:cs typeface="Times New Roman" panose="02020603050405020304" pitchFamily="18" charset="0"/>
              </a:rPr>
              <a:t>modeldir.Bu</a:t>
            </a:r>
            <a:r>
              <a:rPr lang="tr-TR" sz="1400" dirty="0">
                <a:latin typeface="Times New Roman" panose="02020603050405020304" pitchFamily="18" charset="0"/>
                <a:cs typeface="Times New Roman" panose="02020603050405020304" pitchFamily="18" charset="0"/>
              </a:rPr>
              <a:t> formülde amaç, ağırlık vektörünü optimize ederek sınıflar arasındaki </a:t>
            </a:r>
            <a:r>
              <a:rPr lang="tr-TR" sz="1400" dirty="0" err="1">
                <a:latin typeface="Times New Roman" panose="02020603050405020304" pitchFamily="18" charset="0"/>
                <a:cs typeface="Times New Roman" panose="02020603050405020304" pitchFamily="18" charset="0"/>
              </a:rPr>
              <a:t>marjini</a:t>
            </a:r>
            <a:r>
              <a:rPr lang="tr-TR" sz="1400" dirty="0">
                <a:latin typeface="Times New Roman" panose="02020603050405020304" pitchFamily="18" charset="0"/>
                <a:cs typeface="Times New Roman" panose="02020603050405020304" pitchFamily="18" charset="0"/>
              </a:rPr>
              <a:t> maksimum yapmaktır. Model, tüm örneklerin doğru sınıflandırılmasını sağlarken aynı zamanda en geniş ayrım aralığını bulmayı hedefler.</a:t>
            </a:r>
          </a:p>
          <a:p>
            <a:endParaRPr lang="tr-TR" dirty="0" smtClean="0"/>
          </a:p>
          <a:p>
            <a:endParaRPr lang="tr-TR" dirty="0"/>
          </a:p>
          <a:p>
            <a:pPr lvl="2"/>
            <a:endParaRPr lang="tr-TR" sz="1100" dirty="0" smtClean="0">
              <a:latin typeface="Times New Roman" panose="02020603050405020304" pitchFamily="18" charset="0"/>
              <a:cs typeface="Times New Roman" panose="02020603050405020304" pitchFamily="18" charset="0"/>
            </a:endParaRPr>
          </a:p>
          <a:p>
            <a:pPr lvl="2"/>
            <a:r>
              <a:rPr lang="tr-TR" sz="1100" dirty="0" smtClean="0">
                <a:latin typeface="Times New Roman" panose="02020603050405020304" pitchFamily="18" charset="0"/>
                <a:cs typeface="Times New Roman" panose="02020603050405020304" pitchFamily="18" charset="0"/>
              </a:rPr>
              <a:t>w: Ağırlık vektörü </a:t>
            </a:r>
          </a:p>
          <a:p>
            <a:pPr lvl="2"/>
            <a:r>
              <a:rPr lang="tr-TR" sz="1100" dirty="0" smtClean="0">
                <a:latin typeface="Times New Roman" panose="02020603050405020304" pitchFamily="18" charset="0"/>
                <a:cs typeface="Times New Roman" panose="02020603050405020304" pitchFamily="18" charset="0"/>
              </a:rPr>
              <a:t>b: </a:t>
            </a:r>
            <a:r>
              <a:rPr lang="tr-TR" sz="1100" dirty="0" err="1" smtClean="0">
                <a:latin typeface="Times New Roman" panose="02020603050405020304" pitchFamily="18" charset="0"/>
                <a:cs typeface="Times New Roman" panose="02020603050405020304" pitchFamily="18" charset="0"/>
              </a:rPr>
              <a:t>Bias</a:t>
            </a:r>
            <a:r>
              <a:rPr lang="tr-TR" sz="1100" dirty="0" smtClean="0">
                <a:latin typeface="Times New Roman" panose="02020603050405020304" pitchFamily="18" charset="0"/>
                <a:cs typeface="Times New Roman" panose="02020603050405020304" pitchFamily="18" charset="0"/>
              </a:rPr>
              <a:t> (sabit terim)</a:t>
            </a:r>
          </a:p>
          <a:p>
            <a:pPr lvl="2"/>
            <a:r>
              <a:rPr lang="tr-TR" sz="1100" dirty="0" smtClean="0">
                <a:latin typeface="Times New Roman" panose="02020603050405020304" pitchFamily="18" charset="0"/>
                <a:cs typeface="Times New Roman" panose="02020603050405020304" pitchFamily="18" charset="0"/>
              </a:rPr>
              <a:t>xᵢ: Girdi vektörü (metin temsili)</a:t>
            </a:r>
          </a:p>
          <a:p>
            <a:pPr lvl="2"/>
            <a:r>
              <a:rPr lang="tr-TR" sz="1100" dirty="0" smtClean="0">
                <a:latin typeface="Times New Roman" panose="02020603050405020304" pitchFamily="18" charset="0"/>
                <a:cs typeface="Times New Roman" panose="02020603050405020304" pitchFamily="18" charset="0"/>
              </a:rPr>
              <a:t>yᵢ: Sınıf etiketi (−1, +1)</a:t>
            </a:r>
            <a:endParaRPr lang="tr-TR" dirty="0"/>
          </a:p>
        </p:txBody>
      </p:sp>
      <p:pic>
        <p:nvPicPr>
          <p:cNvPr id="4" name="Resim 3"/>
          <p:cNvPicPr>
            <a:picLocks noChangeAspect="1"/>
          </p:cNvPicPr>
          <p:nvPr/>
        </p:nvPicPr>
        <p:blipFill>
          <a:blip r:embed="rId6"/>
          <a:stretch>
            <a:fillRect/>
          </a:stretch>
        </p:blipFill>
        <p:spPr>
          <a:xfrm>
            <a:off x="4828032" y="4362563"/>
            <a:ext cx="3185944" cy="575359"/>
          </a:xfrm>
          <a:prstGeom prst="rect">
            <a:avLst/>
          </a:prstGeom>
        </p:spPr>
      </p:pic>
      <p:sp>
        <p:nvSpPr>
          <p:cNvPr id="13" name="Metin kutusu 12"/>
          <p:cNvSpPr txBox="1"/>
          <p:nvPr/>
        </p:nvSpPr>
        <p:spPr>
          <a:xfrm>
            <a:off x="8204679" y="1416679"/>
            <a:ext cx="3766791" cy="4031873"/>
          </a:xfrm>
          <a:prstGeom prst="rect">
            <a:avLst/>
          </a:prstGeom>
          <a:noFill/>
        </p:spPr>
        <p:txBody>
          <a:bodyPr wrap="square" rtlCol="0">
            <a:spAutoFit/>
          </a:bodyPr>
          <a:lstStyle/>
          <a:p>
            <a:pPr algn="ctr"/>
            <a:r>
              <a:rPr lang="tr-TR" b="1" u="sng" dirty="0" err="1" smtClean="0">
                <a:solidFill>
                  <a:srgbClr val="C00000"/>
                </a:solidFill>
                <a:latin typeface="Times New Roman" panose="02020603050405020304" pitchFamily="18" charset="0"/>
                <a:cs typeface="Times New Roman" panose="02020603050405020304" pitchFamily="18" charset="0"/>
              </a:rPr>
              <a:t>Logistic</a:t>
            </a:r>
            <a:r>
              <a:rPr lang="tr-TR" b="1" u="sng" dirty="0" smtClean="0">
                <a:solidFill>
                  <a:srgbClr val="C00000"/>
                </a:solidFill>
                <a:latin typeface="Times New Roman" panose="02020603050405020304" pitchFamily="18" charset="0"/>
                <a:cs typeface="Times New Roman" panose="02020603050405020304" pitchFamily="18" charset="0"/>
              </a:rPr>
              <a:t> </a:t>
            </a:r>
            <a:r>
              <a:rPr lang="tr-TR" b="1" u="sng" dirty="0" err="1" smtClean="0">
                <a:solidFill>
                  <a:srgbClr val="C00000"/>
                </a:solidFill>
                <a:latin typeface="Times New Roman" panose="02020603050405020304" pitchFamily="18" charset="0"/>
                <a:cs typeface="Times New Roman" panose="02020603050405020304" pitchFamily="18" charset="0"/>
              </a:rPr>
              <a:t>Regression</a:t>
            </a:r>
            <a:r>
              <a:rPr lang="tr-TR" b="1" u="sng" dirty="0" smtClean="0">
                <a:solidFill>
                  <a:srgbClr val="C00000"/>
                </a:solidFill>
                <a:latin typeface="Times New Roman" panose="02020603050405020304" pitchFamily="18" charset="0"/>
                <a:cs typeface="Times New Roman" panose="02020603050405020304" pitchFamily="18" charset="0"/>
              </a:rPr>
              <a:t>(LR)</a:t>
            </a:r>
          </a:p>
          <a:p>
            <a:pPr algn="ctr"/>
            <a:endParaRPr lang="tr-TR" b="1" u="sng" dirty="0" smtClean="0">
              <a:solidFill>
                <a:srgbClr val="C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LR, </a:t>
            </a:r>
            <a:r>
              <a:rPr lang="tr-TR" sz="1400" dirty="0">
                <a:latin typeface="Times New Roman" panose="02020603050405020304" pitchFamily="18" charset="0"/>
                <a:cs typeface="Times New Roman" panose="02020603050405020304" pitchFamily="18" charset="0"/>
              </a:rPr>
              <a:t>doğrusal bir model olmasına rağmen çıktıyı olasılık olarak üreten bir sınıflandırma yöntemidir</a:t>
            </a:r>
            <a:r>
              <a:rPr lang="tr-TR" sz="1400" dirty="0" smtClean="0">
                <a:latin typeface="Times New Roman" panose="02020603050405020304" pitchFamily="18" charset="0"/>
                <a:cs typeface="Times New Roman" panose="02020603050405020304" pitchFamily="18" charset="0"/>
              </a:rPr>
              <a:t>. Model</a:t>
            </a:r>
            <a:r>
              <a:rPr lang="tr-TR" sz="1400" dirty="0">
                <a:latin typeface="Times New Roman" panose="02020603050405020304" pitchFamily="18" charset="0"/>
                <a:cs typeface="Times New Roman" panose="02020603050405020304" pitchFamily="18" charset="0"/>
              </a:rPr>
              <a:t>, girdiyi bir doğrusal kombinasyondan geçirerek sigmoid fonksiyonu ile 0 ile 1 arasında bir olasılık değeri üretir</a:t>
            </a:r>
            <a:r>
              <a:rPr lang="tr-TR" sz="1400" dirty="0" smtClean="0">
                <a:latin typeface="Times New Roman" panose="02020603050405020304" pitchFamily="18" charset="0"/>
                <a:cs typeface="Times New Roman" panose="02020603050405020304" pitchFamily="18" charset="0"/>
              </a:rPr>
              <a:t>. Bu </a:t>
            </a:r>
            <a:r>
              <a:rPr lang="tr-TR" sz="1400" dirty="0">
                <a:latin typeface="Times New Roman" panose="02020603050405020304" pitchFamily="18" charset="0"/>
                <a:cs typeface="Times New Roman" panose="02020603050405020304" pitchFamily="18" charset="0"/>
              </a:rPr>
              <a:t>olasılık belirli bir eşik değere göre sınıfa dönüştürülür.</a:t>
            </a:r>
            <a:endParaRPr lang="tr-TR" dirty="0" smtClean="0"/>
          </a:p>
          <a:p>
            <a:endParaRPr lang="tr-TR" dirty="0"/>
          </a:p>
          <a:p>
            <a:pPr lvl="2"/>
            <a:endParaRPr lang="tr-TR" sz="1100" dirty="0" smtClean="0">
              <a:latin typeface="Times New Roman" panose="02020603050405020304" pitchFamily="18" charset="0"/>
              <a:cs typeface="Times New Roman" panose="02020603050405020304" pitchFamily="18" charset="0"/>
            </a:endParaRPr>
          </a:p>
          <a:p>
            <a:pPr lvl="2"/>
            <a:r>
              <a:rPr lang="tr-TR" sz="1100" dirty="0">
                <a:latin typeface="Times New Roman" panose="02020603050405020304" pitchFamily="18" charset="0"/>
                <a:cs typeface="Times New Roman" panose="02020603050405020304" pitchFamily="18" charset="0"/>
              </a:rPr>
              <a:t>x: Girdi vektörü (metin </a:t>
            </a:r>
            <a:r>
              <a:rPr lang="tr-TR" sz="1100" dirty="0" smtClean="0">
                <a:latin typeface="Times New Roman" panose="02020603050405020304" pitchFamily="18" charset="0"/>
                <a:cs typeface="Times New Roman" panose="02020603050405020304" pitchFamily="18" charset="0"/>
              </a:rPr>
              <a:t>temsili)</a:t>
            </a:r>
          </a:p>
          <a:p>
            <a:pPr lvl="2"/>
            <a:r>
              <a:rPr lang="tr-TR" sz="1100" dirty="0" smtClean="0">
                <a:latin typeface="Times New Roman" panose="02020603050405020304" pitchFamily="18" charset="0"/>
                <a:cs typeface="Times New Roman" panose="02020603050405020304" pitchFamily="18" charset="0"/>
              </a:rPr>
              <a:t>w</a:t>
            </a:r>
            <a:r>
              <a:rPr lang="tr-TR" sz="1100" dirty="0">
                <a:latin typeface="Times New Roman" panose="02020603050405020304" pitchFamily="18" charset="0"/>
                <a:cs typeface="Times New Roman" panose="02020603050405020304" pitchFamily="18" charset="0"/>
              </a:rPr>
              <a:t>: Ağırlık </a:t>
            </a:r>
            <a:r>
              <a:rPr lang="tr-TR" sz="1100" dirty="0" smtClean="0">
                <a:latin typeface="Times New Roman" panose="02020603050405020304" pitchFamily="18" charset="0"/>
                <a:cs typeface="Times New Roman" panose="02020603050405020304" pitchFamily="18" charset="0"/>
              </a:rPr>
              <a:t>vektörü</a:t>
            </a:r>
          </a:p>
          <a:p>
            <a:pPr lvl="2"/>
            <a:r>
              <a:rPr lang="tr-TR" sz="1100" dirty="0" smtClean="0">
                <a:latin typeface="Times New Roman" panose="02020603050405020304" pitchFamily="18" charset="0"/>
                <a:cs typeface="Times New Roman" panose="02020603050405020304" pitchFamily="18" charset="0"/>
              </a:rPr>
              <a:t>b</a:t>
            </a:r>
            <a:r>
              <a:rPr lang="tr-TR" sz="1100" dirty="0">
                <a:latin typeface="Times New Roman" panose="02020603050405020304" pitchFamily="18" charset="0"/>
                <a:cs typeface="Times New Roman" panose="02020603050405020304" pitchFamily="18" charset="0"/>
              </a:rPr>
              <a:t>: </a:t>
            </a:r>
            <a:r>
              <a:rPr lang="tr-TR" sz="1100" dirty="0" err="1">
                <a:latin typeface="Times New Roman" panose="02020603050405020304" pitchFamily="18" charset="0"/>
                <a:cs typeface="Times New Roman" panose="02020603050405020304" pitchFamily="18" charset="0"/>
              </a:rPr>
              <a:t>Bias</a:t>
            </a:r>
            <a:r>
              <a:rPr lang="tr-TR" sz="1100" dirty="0">
                <a:latin typeface="Times New Roman" panose="02020603050405020304" pitchFamily="18" charset="0"/>
                <a:cs typeface="Times New Roman" panose="02020603050405020304" pitchFamily="18" charset="0"/>
              </a:rPr>
              <a:t> (sabit terim</a:t>
            </a:r>
            <a:r>
              <a:rPr lang="tr-TR" sz="1100" dirty="0" smtClean="0">
                <a:latin typeface="Times New Roman" panose="02020603050405020304" pitchFamily="18" charset="0"/>
                <a:cs typeface="Times New Roman" panose="02020603050405020304" pitchFamily="18" charset="0"/>
              </a:rPr>
              <a:t>)</a:t>
            </a:r>
          </a:p>
          <a:p>
            <a:pPr lvl="2"/>
            <a:r>
              <a:rPr lang="tr-TR" sz="1100" dirty="0" smtClean="0">
                <a:latin typeface="Times New Roman" panose="02020603050405020304" pitchFamily="18" charset="0"/>
                <a:cs typeface="Times New Roman" panose="02020603050405020304" pitchFamily="18" charset="0"/>
              </a:rPr>
              <a:t>P(y=1|x</a:t>
            </a:r>
            <a:r>
              <a:rPr lang="tr-TR" sz="1100" dirty="0">
                <a:latin typeface="Times New Roman" panose="02020603050405020304" pitchFamily="18" charset="0"/>
                <a:cs typeface="Times New Roman" panose="02020603050405020304" pitchFamily="18" charset="0"/>
              </a:rPr>
              <a:t>): Pozitif sınıf olasılığı</a:t>
            </a:r>
            <a:endParaRPr lang="tr-TR" dirty="0"/>
          </a:p>
        </p:txBody>
      </p:sp>
      <p:pic>
        <p:nvPicPr>
          <p:cNvPr id="6" name="Resim 5"/>
          <p:cNvPicPr>
            <a:picLocks noChangeAspect="1"/>
          </p:cNvPicPr>
          <p:nvPr/>
        </p:nvPicPr>
        <p:blipFill>
          <a:blip r:embed="rId7"/>
          <a:stretch>
            <a:fillRect/>
          </a:stretch>
        </p:blipFill>
        <p:spPr>
          <a:xfrm>
            <a:off x="9127871" y="4362563"/>
            <a:ext cx="1920406" cy="464860"/>
          </a:xfrm>
          <a:prstGeom prst="rect">
            <a:avLst/>
          </a:prstGeom>
        </p:spPr>
      </p:pic>
    </p:spTree>
    <p:extLst>
      <p:ext uri="{BB962C8B-B14F-4D97-AF65-F5344CB8AC3E}">
        <p14:creationId xmlns:p14="http://schemas.microsoft.com/office/powerpoint/2010/main" val="4203086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«Derin Öğrenme Modelleri»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5" name="Metin kutusu 4"/>
          <p:cNvSpPr txBox="1"/>
          <p:nvPr/>
        </p:nvSpPr>
        <p:spPr>
          <a:xfrm>
            <a:off x="1033128" y="1174571"/>
            <a:ext cx="4129978" cy="1015663"/>
          </a:xfrm>
          <a:prstGeom prst="rect">
            <a:avLst/>
          </a:prstGeom>
          <a:noFill/>
        </p:spPr>
        <p:txBody>
          <a:bodyPr wrap="square" rtlCol="0">
            <a:spAutoFit/>
          </a:bodyPr>
          <a:lstStyle/>
          <a:p>
            <a:pPr algn="ctr"/>
            <a:r>
              <a:rPr lang="tr-TR" sz="2400" b="1" u="sng" dirty="0" smtClean="0">
                <a:solidFill>
                  <a:srgbClr val="C00000"/>
                </a:solidFill>
                <a:latin typeface="Times New Roman" panose="02020603050405020304" pitchFamily="18" charset="0"/>
                <a:cs typeface="Times New Roman" panose="02020603050405020304" pitchFamily="18" charset="0"/>
              </a:rPr>
              <a:t>CNN</a:t>
            </a:r>
          </a:p>
          <a:p>
            <a:pPr algn="ctr"/>
            <a:endParaRPr lang="tr-TR" b="1" u="sng" dirty="0" smtClean="0">
              <a:solidFill>
                <a:srgbClr val="C00000"/>
              </a:solidFill>
              <a:latin typeface="Times New Roman" panose="02020603050405020304" pitchFamily="18" charset="0"/>
              <a:cs typeface="Times New Roman" panose="02020603050405020304" pitchFamily="18" charset="0"/>
            </a:endParaRPr>
          </a:p>
          <a:p>
            <a:endParaRPr lang="tr-TR" dirty="0"/>
          </a:p>
        </p:txBody>
      </p:sp>
      <p:sp>
        <p:nvSpPr>
          <p:cNvPr id="17" name="Metin kutusu 16"/>
          <p:cNvSpPr txBox="1"/>
          <p:nvPr/>
        </p:nvSpPr>
        <p:spPr>
          <a:xfrm>
            <a:off x="626465" y="4674031"/>
            <a:ext cx="10900342" cy="1831271"/>
          </a:xfrm>
          <a:prstGeom prst="rect">
            <a:avLst/>
          </a:prstGeom>
          <a:noFill/>
        </p:spPr>
        <p:txBody>
          <a:bodyPr wrap="square" rtlCol="0">
            <a:spAutoFit/>
          </a:bodyPr>
          <a:lstStyle/>
          <a:p>
            <a:pPr algn="ctr"/>
            <a:endParaRPr lang="tr-TR" b="1" u="sng" dirty="0" smtClean="0">
              <a:solidFill>
                <a:srgbClr val="C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CNN modeli, metin sınıflandırma görevlerinde yaygın olarak kullanılan bir derin öğrenme modelidir</a:t>
            </a:r>
            <a:r>
              <a:rPr lang="tr-TR" sz="1400" dirty="0" smtClean="0">
                <a:latin typeface="Times New Roman" panose="02020603050405020304" pitchFamily="18" charset="0"/>
                <a:cs typeface="Times New Roman" panose="02020603050405020304" pitchFamily="18" charset="0"/>
              </a:rPr>
              <a:t>. Model</a:t>
            </a:r>
            <a:r>
              <a:rPr lang="tr-TR" sz="1400" dirty="0">
                <a:latin typeface="Times New Roman" panose="02020603050405020304" pitchFamily="18" charset="0"/>
                <a:cs typeface="Times New Roman" panose="02020603050405020304" pitchFamily="18" charset="0"/>
              </a:rPr>
              <a:t>, kelimeleri </a:t>
            </a:r>
            <a:r>
              <a:rPr lang="tr-TR" sz="1400" dirty="0" err="1">
                <a:latin typeface="Times New Roman" panose="02020603050405020304" pitchFamily="18" charset="0"/>
                <a:cs typeface="Times New Roman" panose="02020603050405020304" pitchFamily="18" charset="0"/>
              </a:rPr>
              <a:t>embedding</a:t>
            </a:r>
            <a:r>
              <a:rPr lang="tr-TR" sz="1400" dirty="0">
                <a:latin typeface="Times New Roman" panose="02020603050405020304" pitchFamily="18" charset="0"/>
                <a:cs typeface="Times New Roman" panose="02020603050405020304" pitchFamily="18" charset="0"/>
              </a:rPr>
              <a:t> katmanı ile vektörlere </a:t>
            </a:r>
            <a:r>
              <a:rPr lang="tr-TR" sz="1400" dirty="0" err="1">
                <a:latin typeface="Times New Roman" panose="02020603050405020304" pitchFamily="18" charset="0"/>
                <a:cs typeface="Times New Roman" panose="02020603050405020304" pitchFamily="18" charset="0"/>
              </a:rPr>
              <a:t>dönüştürür.Ardından</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konvolüsyon</a:t>
            </a:r>
            <a:r>
              <a:rPr lang="tr-TR" sz="1400" dirty="0">
                <a:latin typeface="Times New Roman" panose="02020603050405020304" pitchFamily="18" charset="0"/>
                <a:cs typeface="Times New Roman" panose="02020603050405020304" pitchFamily="18" charset="0"/>
              </a:rPr>
              <a:t> katmanı, metin üzerinde kayan filtreler ile yerel özellikleri yani n-gram benzeri yapıları yakalar. Ardından uygulanan </a:t>
            </a:r>
            <a:r>
              <a:rPr lang="tr-TR" sz="1400" dirty="0" err="1">
                <a:latin typeface="Times New Roman" panose="02020603050405020304" pitchFamily="18" charset="0"/>
                <a:cs typeface="Times New Roman" panose="02020603050405020304" pitchFamily="18" charset="0"/>
              </a:rPr>
              <a:t>max-pooling</a:t>
            </a:r>
            <a:r>
              <a:rPr lang="tr-TR" sz="1400" dirty="0">
                <a:latin typeface="Times New Roman" panose="02020603050405020304" pitchFamily="18" charset="0"/>
                <a:cs typeface="Times New Roman" panose="02020603050405020304" pitchFamily="18" charset="0"/>
              </a:rPr>
              <a:t> işlemi, en belirgin özellikleri seçerek boyut indirgeme sağlar. Elde edilen özellik vektörü tam bağlantılı katmana aktarılır ve son aşamada sigmoid veya </a:t>
            </a:r>
            <a:r>
              <a:rPr lang="tr-TR" sz="1400" dirty="0" err="1">
                <a:latin typeface="Times New Roman" panose="02020603050405020304" pitchFamily="18" charset="0"/>
                <a:cs typeface="Times New Roman" panose="02020603050405020304" pitchFamily="18" charset="0"/>
              </a:rPr>
              <a:t>softmax</a:t>
            </a:r>
            <a:r>
              <a:rPr lang="tr-TR" sz="1400" dirty="0">
                <a:latin typeface="Times New Roman" panose="02020603050405020304" pitchFamily="18" charset="0"/>
                <a:cs typeface="Times New Roman" panose="02020603050405020304" pitchFamily="18" charset="0"/>
              </a:rPr>
              <a:t> fonksiyonu kullanılarak sınıflandırma </a:t>
            </a:r>
            <a:r>
              <a:rPr lang="tr-TR" sz="1400" dirty="0" smtClean="0">
                <a:latin typeface="Times New Roman" panose="02020603050405020304" pitchFamily="18" charset="0"/>
                <a:cs typeface="Times New Roman" panose="02020603050405020304" pitchFamily="18" charset="0"/>
              </a:rPr>
              <a:t>gerçekleştirilir.</a:t>
            </a:r>
            <a:endParaRPr lang="tr-TR" dirty="0"/>
          </a:p>
          <a:p>
            <a:pPr lvl="2"/>
            <a:endParaRPr lang="tr-TR" sz="1100" dirty="0" smtClean="0">
              <a:latin typeface="Times New Roman" panose="02020603050405020304" pitchFamily="18" charset="0"/>
              <a:cs typeface="Times New Roman" panose="02020603050405020304" pitchFamily="18" charset="0"/>
            </a:endParaRPr>
          </a:p>
        </p:txBody>
      </p:sp>
      <p:pic>
        <p:nvPicPr>
          <p:cNvPr id="7" name="Resim 6"/>
          <p:cNvPicPr>
            <a:picLocks noChangeAspect="1"/>
          </p:cNvPicPr>
          <p:nvPr/>
        </p:nvPicPr>
        <p:blipFill>
          <a:blip r:embed="rId5"/>
          <a:stretch>
            <a:fillRect/>
          </a:stretch>
        </p:blipFill>
        <p:spPr>
          <a:xfrm>
            <a:off x="487908" y="1788915"/>
            <a:ext cx="5220419" cy="2852488"/>
          </a:xfrm>
          <a:prstGeom prst="rect">
            <a:avLst/>
          </a:prstGeom>
        </p:spPr>
      </p:pic>
      <p:pic>
        <p:nvPicPr>
          <p:cNvPr id="18" name="Resim 17"/>
          <p:cNvPicPr>
            <a:picLocks noChangeAspect="1"/>
          </p:cNvPicPr>
          <p:nvPr/>
        </p:nvPicPr>
        <p:blipFill>
          <a:blip r:embed="rId6"/>
          <a:stretch>
            <a:fillRect/>
          </a:stretch>
        </p:blipFill>
        <p:spPr>
          <a:xfrm>
            <a:off x="6178503" y="1511832"/>
            <a:ext cx="2892345" cy="3092629"/>
          </a:xfrm>
          <a:prstGeom prst="rect">
            <a:avLst/>
          </a:prstGeom>
        </p:spPr>
      </p:pic>
      <p:pic>
        <p:nvPicPr>
          <p:cNvPr id="19" name="Resim 18"/>
          <p:cNvPicPr>
            <a:picLocks noChangeAspect="1"/>
          </p:cNvPicPr>
          <p:nvPr/>
        </p:nvPicPr>
        <p:blipFill>
          <a:blip r:embed="rId7"/>
          <a:stretch>
            <a:fillRect/>
          </a:stretch>
        </p:blipFill>
        <p:spPr>
          <a:xfrm>
            <a:off x="10315405" y="2672159"/>
            <a:ext cx="1270737" cy="741263"/>
          </a:xfrm>
          <a:prstGeom prst="rect">
            <a:avLst/>
          </a:prstGeom>
        </p:spPr>
      </p:pic>
    </p:spTree>
    <p:extLst>
      <p:ext uri="{BB962C8B-B14F-4D97-AF65-F5344CB8AC3E}">
        <p14:creationId xmlns:p14="http://schemas.microsoft.com/office/powerpoint/2010/main" val="16363065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«Derin Öğrenme Modelleri»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5" name="Metin kutusu 4"/>
          <p:cNvSpPr txBox="1"/>
          <p:nvPr/>
        </p:nvSpPr>
        <p:spPr>
          <a:xfrm>
            <a:off x="1033128" y="1174571"/>
            <a:ext cx="4129978" cy="1015663"/>
          </a:xfrm>
          <a:prstGeom prst="rect">
            <a:avLst/>
          </a:prstGeom>
          <a:noFill/>
        </p:spPr>
        <p:txBody>
          <a:bodyPr wrap="square" rtlCol="0">
            <a:spAutoFit/>
          </a:bodyPr>
          <a:lstStyle/>
          <a:p>
            <a:pPr algn="ctr"/>
            <a:r>
              <a:rPr lang="tr-TR" sz="2400" b="1" u="sng" dirty="0" smtClean="0">
                <a:solidFill>
                  <a:srgbClr val="C00000"/>
                </a:solidFill>
                <a:latin typeface="Times New Roman" panose="02020603050405020304" pitchFamily="18" charset="0"/>
                <a:cs typeface="Times New Roman" panose="02020603050405020304" pitchFamily="18" charset="0"/>
              </a:rPr>
              <a:t>LSTM</a:t>
            </a:r>
          </a:p>
          <a:p>
            <a:pPr algn="ctr"/>
            <a:endParaRPr lang="tr-TR" b="1" u="sng" dirty="0" smtClean="0">
              <a:solidFill>
                <a:srgbClr val="C00000"/>
              </a:solidFill>
              <a:latin typeface="Times New Roman" panose="02020603050405020304" pitchFamily="18" charset="0"/>
              <a:cs typeface="Times New Roman" panose="02020603050405020304" pitchFamily="18" charset="0"/>
            </a:endParaRPr>
          </a:p>
          <a:p>
            <a:endParaRPr lang="tr-TR" dirty="0"/>
          </a:p>
        </p:txBody>
      </p:sp>
      <p:sp>
        <p:nvSpPr>
          <p:cNvPr id="17" name="Metin kutusu 16"/>
          <p:cNvSpPr txBox="1"/>
          <p:nvPr/>
        </p:nvSpPr>
        <p:spPr>
          <a:xfrm>
            <a:off x="626465" y="4674031"/>
            <a:ext cx="10900342" cy="1338828"/>
          </a:xfrm>
          <a:prstGeom prst="rect">
            <a:avLst/>
          </a:prstGeom>
          <a:noFill/>
        </p:spPr>
        <p:txBody>
          <a:bodyPr wrap="square" rtlCol="0">
            <a:spAutoFit/>
          </a:bodyPr>
          <a:lstStyle/>
          <a:p>
            <a:pPr algn="ctr"/>
            <a:endParaRPr lang="tr-TR" b="1" u="sng" dirty="0" smtClean="0">
              <a:solidFill>
                <a:srgbClr val="C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LSTM modeli, metni sıralı bir yapı olarak ele alan bir derin öğrenme </a:t>
            </a:r>
            <a:r>
              <a:rPr lang="tr-TR" sz="1400" dirty="0" err="1">
                <a:latin typeface="Times New Roman" panose="02020603050405020304" pitchFamily="18" charset="0"/>
                <a:cs typeface="Times New Roman" panose="02020603050405020304" pitchFamily="18" charset="0"/>
              </a:rPr>
              <a:t>modelidir.Bu</a:t>
            </a:r>
            <a:r>
              <a:rPr lang="tr-TR" sz="1400" dirty="0">
                <a:latin typeface="Times New Roman" panose="02020603050405020304" pitchFamily="18" charset="0"/>
                <a:cs typeface="Times New Roman" panose="02020603050405020304" pitchFamily="18" charset="0"/>
              </a:rPr>
              <a:t> model, hücre yapısı ve kapı mekanizmaları sayesinde bilgiyi </a:t>
            </a:r>
            <a:r>
              <a:rPr lang="tr-TR" sz="1400" dirty="0" smtClean="0">
                <a:latin typeface="Times New Roman" panose="02020603050405020304" pitchFamily="18" charset="0"/>
                <a:cs typeface="Times New Roman" panose="02020603050405020304" pitchFamily="18" charset="0"/>
              </a:rPr>
              <a:t>seçerek. </a:t>
            </a:r>
            <a:r>
              <a:rPr lang="tr-TR" sz="1400" dirty="0" err="1" smtClean="0">
                <a:latin typeface="Times New Roman" panose="02020603050405020304" pitchFamily="18" charset="0"/>
                <a:cs typeface="Times New Roman" panose="02020603050405020304" pitchFamily="18" charset="0"/>
              </a:rPr>
              <a:t>Forget</a:t>
            </a:r>
            <a:r>
              <a:rPr lang="tr-TR" sz="1400" dirty="0" smtClean="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gate</a:t>
            </a:r>
            <a:r>
              <a:rPr lang="tr-TR" sz="1400" dirty="0">
                <a:latin typeface="Times New Roman" panose="02020603050405020304" pitchFamily="18" charset="0"/>
                <a:cs typeface="Times New Roman" panose="02020603050405020304" pitchFamily="18" charset="0"/>
              </a:rPr>
              <a:t>, hangi bilginin unutulacağını; </a:t>
            </a:r>
            <a:r>
              <a:rPr lang="tr-TR" sz="1400" dirty="0" err="1">
                <a:latin typeface="Times New Roman" panose="02020603050405020304" pitchFamily="18" charset="0"/>
                <a:cs typeface="Times New Roman" panose="02020603050405020304" pitchFamily="18" charset="0"/>
              </a:rPr>
              <a:t>input</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gate</a:t>
            </a:r>
            <a:r>
              <a:rPr lang="tr-TR" sz="1400" dirty="0">
                <a:latin typeface="Times New Roman" panose="02020603050405020304" pitchFamily="18" charset="0"/>
                <a:cs typeface="Times New Roman" panose="02020603050405020304" pitchFamily="18" charset="0"/>
              </a:rPr>
              <a:t>, hangi bilginin ekleneceğini; </a:t>
            </a:r>
            <a:r>
              <a:rPr lang="tr-TR" sz="1400" dirty="0" err="1">
                <a:latin typeface="Times New Roman" panose="02020603050405020304" pitchFamily="18" charset="0"/>
                <a:cs typeface="Times New Roman" panose="02020603050405020304" pitchFamily="18" charset="0"/>
              </a:rPr>
              <a:t>output</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gate</a:t>
            </a:r>
            <a:r>
              <a:rPr lang="tr-TR" sz="1400" dirty="0">
                <a:latin typeface="Times New Roman" panose="02020603050405020304" pitchFamily="18" charset="0"/>
                <a:cs typeface="Times New Roman" panose="02020603050405020304" pitchFamily="18" charset="0"/>
              </a:rPr>
              <a:t> ise hangi bilginin dışarı aktarılacağını belirler</a:t>
            </a:r>
            <a:r>
              <a:rPr lang="tr-TR" sz="1400" dirty="0" smtClean="0">
                <a:latin typeface="Times New Roman" panose="02020603050405020304" pitchFamily="18" charset="0"/>
                <a:cs typeface="Times New Roman" panose="02020603050405020304" pitchFamily="18" charset="0"/>
              </a:rPr>
              <a:t>. Bu </a:t>
            </a:r>
            <a:r>
              <a:rPr lang="tr-TR" sz="1400" dirty="0">
                <a:latin typeface="Times New Roman" panose="02020603050405020304" pitchFamily="18" charset="0"/>
                <a:cs typeface="Times New Roman" panose="02020603050405020304" pitchFamily="18" charset="0"/>
              </a:rPr>
              <a:t>yapı sayesinde LSTM, uzun bağımlılıkları öğrenerek metin içerisindeki bağlamsal ilişkileri daha iyi yakalayabilmektedir.</a:t>
            </a:r>
            <a:endParaRPr lang="tr-TR" sz="1100" dirty="0" smtClean="0">
              <a:latin typeface="Times New Roman" panose="02020603050405020304" pitchFamily="18" charset="0"/>
              <a:cs typeface="Times New Roman" panose="02020603050405020304" pitchFamily="18" charset="0"/>
            </a:endParaRPr>
          </a:p>
        </p:txBody>
      </p:sp>
      <p:pic>
        <p:nvPicPr>
          <p:cNvPr id="4" name="Resim 3"/>
          <p:cNvPicPr>
            <a:picLocks noChangeAspect="1"/>
          </p:cNvPicPr>
          <p:nvPr/>
        </p:nvPicPr>
        <p:blipFill>
          <a:blip r:embed="rId5"/>
          <a:stretch>
            <a:fillRect/>
          </a:stretch>
        </p:blipFill>
        <p:spPr>
          <a:xfrm>
            <a:off x="534964" y="1635247"/>
            <a:ext cx="4985517" cy="3262452"/>
          </a:xfrm>
          <a:prstGeom prst="rect">
            <a:avLst/>
          </a:prstGeom>
        </p:spPr>
      </p:pic>
      <p:pic>
        <p:nvPicPr>
          <p:cNvPr id="6" name="Resim 5"/>
          <p:cNvPicPr>
            <a:picLocks noChangeAspect="1"/>
          </p:cNvPicPr>
          <p:nvPr/>
        </p:nvPicPr>
        <p:blipFill>
          <a:blip r:embed="rId6"/>
          <a:stretch>
            <a:fillRect/>
          </a:stretch>
        </p:blipFill>
        <p:spPr>
          <a:xfrm>
            <a:off x="5903766" y="1278009"/>
            <a:ext cx="2985201" cy="3529561"/>
          </a:xfrm>
          <a:prstGeom prst="rect">
            <a:avLst/>
          </a:prstGeom>
        </p:spPr>
      </p:pic>
      <p:pic>
        <p:nvPicPr>
          <p:cNvPr id="11" name="Resim 10"/>
          <p:cNvPicPr>
            <a:picLocks noChangeAspect="1"/>
          </p:cNvPicPr>
          <p:nvPr/>
        </p:nvPicPr>
        <p:blipFill>
          <a:blip r:embed="rId7"/>
          <a:stretch>
            <a:fillRect/>
          </a:stretch>
        </p:blipFill>
        <p:spPr>
          <a:xfrm>
            <a:off x="9942533" y="2297062"/>
            <a:ext cx="1185715" cy="1232032"/>
          </a:xfrm>
          <a:prstGeom prst="rect">
            <a:avLst/>
          </a:prstGeom>
        </p:spPr>
      </p:pic>
    </p:spTree>
    <p:extLst>
      <p:ext uri="{BB962C8B-B14F-4D97-AF65-F5344CB8AC3E}">
        <p14:creationId xmlns:p14="http://schemas.microsoft.com/office/powerpoint/2010/main" val="40423312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a:t>
            </a:r>
            <a:r>
              <a:rPr lang="tr-TR" sz="2800" b="1" dirty="0" err="1" smtClean="0">
                <a:solidFill>
                  <a:srgbClr val="C00000"/>
                </a:solidFill>
              </a:rPr>
              <a:t>Transformer</a:t>
            </a:r>
            <a:r>
              <a:rPr lang="tr-TR" sz="2800" b="1" dirty="0" smtClean="0">
                <a:solidFill>
                  <a:srgbClr val="C00000"/>
                </a:solidFill>
              </a:rPr>
              <a:t> Tabanlı Model»</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5" name="Metin kutusu 4"/>
          <p:cNvSpPr txBox="1"/>
          <p:nvPr/>
        </p:nvSpPr>
        <p:spPr>
          <a:xfrm>
            <a:off x="1033128" y="1174571"/>
            <a:ext cx="4129978" cy="1015663"/>
          </a:xfrm>
          <a:prstGeom prst="rect">
            <a:avLst/>
          </a:prstGeom>
          <a:noFill/>
        </p:spPr>
        <p:txBody>
          <a:bodyPr wrap="square" rtlCol="0">
            <a:spAutoFit/>
          </a:bodyPr>
          <a:lstStyle/>
          <a:p>
            <a:pPr algn="ctr"/>
            <a:r>
              <a:rPr lang="tr-TR" sz="2400" b="1" u="sng" dirty="0" smtClean="0">
                <a:solidFill>
                  <a:srgbClr val="C00000"/>
                </a:solidFill>
                <a:latin typeface="Times New Roman" panose="02020603050405020304" pitchFamily="18" charset="0"/>
                <a:cs typeface="Times New Roman" panose="02020603050405020304" pitchFamily="18" charset="0"/>
              </a:rPr>
              <a:t>BERT</a:t>
            </a:r>
          </a:p>
          <a:p>
            <a:pPr algn="ctr"/>
            <a:endParaRPr lang="tr-TR" b="1" u="sng" dirty="0" smtClean="0">
              <a:solidFill>
                <a:srgbClr val="C00000"/>
              </a:solidFill>
              <a:latin typeface="Times New Roman" panose="02020603050405020304" pitchFamily="18" charset="0"/>
              <a:cs typeface="Times New Roman" panose="02020603050405020304" pitchFamily="18" charset="0"/>
            </a:endParaRPr>
          </a:p>
          <a:p>
            <a:endParaRPr lang="tr-TR" dirty="0"/>
          </a:p>
        </p:txBody>
      </p:sp>
      <p:sp>
        <p:nvSpPr>
          <p:cNvPr id="17" name="Metin kutusu 16"/>
          <p:cNvSpPr txBox="1"/>
          <p:nvPr/>
        </p:nvSpPr>
        <p:spPr>
          <a:xfrm>
            <a:off x="544169" y="4372009"/>
            <a:ext cx="10900342" cy="1985159"/>
          </a:xfrm>
          <a:prstGeom prst="rect">
            <a:avLst/>
          </a:prstGeom>
          <a:noFill/>
        </p:spPr>
        <p:txBody>
          <a:bodyPr wrap="square" rtlCol="0">
            <a:spAutoFit/>
          </a:bodyPr>
          <a:lstStyle/>
          <a:p>
            <a:pPr algn="ctr"/>
            <a:endParaRPr lang="tr-TR" b="1" u="sng" dirty="0" smtClean="0">
              <a:solidFill>
                <a:srgbClr val="C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BERT, </a:t>
            </a:r>
            <a:r>
              <a:rPr lang="tr-TR" sz="1400" dirty="0" err="1">
                <a:latin typeface="Times New Roman" panose="02020603050405020304" pitchFamily="18" charset="0"/>
                <a:cs typeface="Times New Roman" panose="02020603050405020304" pitchFamily="18" charset="0"/>
              </a:rPr>
              <a:t>transformer</a:t>
            </a:r>
            <a:r>
              <a:rPr lang="tr-TR" sz="1400" dirty="0">
                <a:latin typeface="Times New Roman" panose="02020603050405020304" pitchFamily="18" charset="0"/>
                <a:cs typeface="Times New Roman" panose="02020603050405020304" pitchFamily="18" charset="0"/>
              </a:rPr>
              <a:t> mimarisi üzerine kurulu ve çift yönlü bağlam öğrenebilen bir dil </a:t>
            </a:r>
            <a:r>
              <a:rPr lang="tr-TR" sz="1400" dirty="0" err="1">
                <a:latin typeface="Times New Roman" panose="02020603050405020304" pitchFamily="18" charset="0"/>
                <a:cs typeface="Times New Roman" panose="02020603050405020304" pitchFamily="18" charset="0"/>
              </a:rPr>
              <a:t>modelidir.Model</a:t>
            </a:r>
            <a:r>
              <a:rPr lang="tr-TR" sz="1400" dirty="0">
                <a:latin typeface="Times New Roman" panose="02020603050405020304" pitchFamily="18" charset="0"/>
                <a:cs typeface="Times New Roman" panose="02020603050405020304" pitchFamily="18" charset="0"/>
              </a:rPr>
              <a:t>, kelimelerin anlamını hem sağ hem sol bağlama göre </a:t>
            </a:r>
            <a:r>
              <a:rPr lang="tr-TR" sz="1400" dirty="0" err="1">
                <a:latin typeface="Times New Roman" panose="02020603050405020304" pitchFamily="18" charset="0"/>
                <a:cs typeface="Times New Roman" panose="02020603050405020304" pitchFamily="18" charset="0"/>
              </a:rPr>
              <a:t>öğrenmektedir.BERT</a:t>
            </a:r>
            <a:r>
              <a:rPr lang="tr-TR" sz="1400" dirty="0">
                <a:latin typeface="Times New Roman" panose="02020603050405020304" pitchFamily="18" charset="0"/>
                <a:cs typeface="Times New Roman" panose="02020603050405020304" pitchFamily="18" charset="0"/>
              </a:rPr>
              <a:t>, ön eğitim sürecinde iki temel görev kullanmaktadır: </a:t>
            </a:r>
            <a:r>
              <a:rPr lang="tr-TR" sz="1400" dirty="0" err="1">
                <a:latin typeface="Times New Roman" panose="02020603050405020304" pitchFamily="18" charset="0"/>
                <a:cs typeface="Times New Roman" panose="02020603050405020304" pitchFamily="18" charset="0"/>
              </a:rPr>
              <a:t>Masked</a:t>
            </a:r>
            <a:r>
              <a:rPr lang="tr-TR" sz="1400" dirty="0">
                <a:latin typeface="Times New Roman" panose="02020603050405020304" pitchFamily="18" charset="0"/>
                <a:cs typeface="Times New Roman" panose="02020603050405020304" pitchFamily="18" charset="0"/>
              </a:rPr>
              <a:t> Language </a:t>
            </a:r>
            <a:r>
              <a:rPr lang="tr-TR" sz="1400" dirty="0" err="1">
                <a:latin typeface="Times New Roman" panose="02020603050405020304" pitchFamily="18" charset="0"/>
                <a:cs typeface="Times New Roman" panose="02020603050405020304" pitchFamily="18" charset="0"/>
              </a:rPr>
              <a:t>Modeling</a:t>
            </a:r>
            <a:r>
              <a:rPr lang="tr-TR" sz="1400" dirty="0">
                <a:latin typeface="Times New Roman" panose="02020603050405020304" pitchFamily="18" charset="0"/>
                <a:cs typeface="Times New Roman" panose="02020603050405020304" pitchFamily="18" charset="0"/>
              </a:rPr>
              <a:t> ve </a:t>
            </a:r>
            <a:r>
              <a:rPr lang="tr-TR" sz="1400" dirty="0" err="1">
                <a:latin typeface="Times New Roman" panose="02020603050405020304" pitchFamily="18" charset="0"/>
                <a:cs typeface="Times New Roman" panose="02020603050405020304" pitchFamily="18" charset="0"/>
              </a:rPr>
              <a:t>Next</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Sentence</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Prediction</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Masked</a:t>
            </a:r>
            <a:r>
              <a:rPr lang="tr-TR" sz="1400" dirty="0" smtClean="0">
                <a:latin typeface="Times New Roman" panose="02020603050405020304" pitchFamily="18" charset="0"/>
                <a:cs typeface="Times New Roman" panose="02020603050405020304" pitchFamily="18" charset="0"/>
              </a:rPr>
              <a:t> </a:t>
            </a:r>
            <a:r>
              <a:rPr lang="tr-TR" sz="1400" dirty="0">
                <a:latin typeface="Times New Roman" panose="02020603050405020304" pitchFamily="18" charset="0"/>
                <a:cs typeface="Times New Roman" panose="02020603050405020304" pitchFamily="18" charset="0"/>
              </a:rPr>
              <a:t>Language </a:t>
            </a:r>
            <a:r>
              <a:rPr lang="tr-TR" sz="1400" dirty="0" err="1">
                <a:latin typeface="Times New Roman" panose="02020603050405020304" pitchFamily="18" charset="0"/>
                <a:cs typeface="Times New Roman" panose="02020603050405020304" pitchFamily="18" charset="0"/>
              </a:rPr>
              <a:t>Modeling’de</a:t>
            </a:r>
            <a:r>
              <a:rPr lang="tr-TR" sz="1400" dirty="0">
                <a:latin typeface="Times New Roman" panose="02020603050405020304" pitchFamily="18" charset="0"/>
                <a:cs typeface="Times New Roman" panose="02020603050405020304" pitchFamily="18" charset="0"/>
              </a:rPr>
              <a:t>, cümledeki bazı kelimeler maskelenir ve model bu kelimeleri tahmin etmeye çalışır</a:t>
            </a: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Next</a:t>
            </a:r>
            <a:r>
              <a:rPr lang="tr-TR" sz="1400" dirty="0" smtClean="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Sentence</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Prediction</a:t>
            </a:r>
            <a:r>
              <a:rPr lang="tr-TR" sz="1400" dirty="0">
                <a:latin typeface="Times New Roman" panose="02020603050405020304" pitchFamily="18" charset="0"/>
                <a:cs typeface="Times New Roman" panose="02020603050405020304" pitchFamily="18" charset="0"/>
              </a:rPr>
              <a:t> ise iki cümlenin birbirini takip edip etmediğini öğrenmeyi amaçlar</a:t>
            </a:r>
            <a:r>
              <a:rPr lang="tr-TR" sz="1400" dirty="0" smtClean="0">
                <a:latin typeface="Times New Roman" panose="02020603050405020304" pitchFamily="18" charset="0"/>
                <a:cs typeface="Times New Roman" panose="02020603050405020304" pitchFamily="18" charset="0"/>
              </a:rPr>
              <a:t>. Ayrıca </a:t>
            </a:r>
            <a:r>
              <a:rPr lang="tr-TR" sz="1400" dirty="0">
                <a:latin typeface="Times New Roman" panose="02020603050405020304" pitchFamily="18" charset="0"/>
                <a:cs typeface="Times New Roman" panose="02020603050405020304" pitchFamily="18" charset="0"/>
              </a:rPr>
              <a:t>self-</a:t>
            </a:r>
            <a:r>
              <a:rPr lang="tr-TR" sz="1400" dirty="0" err="1">
                <a:latin typeface="Times New Roman" panose="02020603050405020304" pitchFamily="18" charset="0"/>
                <a:cs typeface="Times New Roman" panose="02020603050405020304" pitchFamily="18" charset="0"/>
              </a:rPr>
              <a:t>attention</a:t>
            </a:r>
            <a:r>
              <a:rPr lang="tr-TR" sz="1400" dirty="0">
                <a:latin typeface="Times New Roman" panose="02020603050405020304" pitchFamily="18" charset="0"/>
                <a:cs typeface="Times New Roman" panose="02020603050405020304" pitchFamily="18" charset="0"/>
              </a:rPr>
              <a:t> mekanizması sayesinde model, kelimeler arasındaki ilişkileri dinamik olarak öğrenebilmektedir. Bu yapı, </a:t>
            </a:r>
            <a:r>
              <a:rPr lang="tr-TR" sz="1400" dirty="0" err="1">
                <a:latin typeface="Times New Roman" panose="02020603050405020304" pitchFamily="18" charset="0"/>
                <a:cs typeface="Times New Roman" panose="02020603050405020304" pitchFamily="18" charset="0"/>
              </a:rPr>
              <a:t>BERT’in</a:t>
            </a:r>
            <a:r>
              <a:rPr lang="tr-TR" sz="1400" dirty="0">
                <a:latin typeface="Times New Roman" panose="02020603050405020304" pitchFamily="18" charset="0"/>
                <a:cs typeface="Times New Roman" panose="02020603050405020304" pitchFamily="18" charset="0"/>
              </a:rPr>
              <a:t> bağlama duyarlı ve güçlü temsil öğrenmesini sağlamaktadır.</a:t>
            </a:r>
            <a:endParaRPr lang="tr-TR" sz="1100" dirty="0" smtClean="0">
              <a:latin typeface="Times New Roman" panose="02020603050405020304" pitchFamily="18" charset="0"/>
              <a:cs typeface="Times New Roman" panose="02020603050405020304" pitchFamily="18" charset="0"/>
            </a:endParaRPr>
          </a:p>
        </p:txBody>
      </p:sp>
      <p:pic>
        <p:nvPicPr>
          <p:cNvPr id="2050" name="Picture 2" descr="https://images.openai.com/static-rsc-4/Xo79RumjdYQi6XklWhCYV11z727S4-LcuoWqr2Lb0KzePVM4qccOu_BS8PHp1B_WYoGEtGr3JEQTlgGyz9z1NiXFcXx-tVWTCo58pHcDL8CUjTW9Qg2povyCNxD_ZhBNes730EAonF5OQFX-GPFyIY9WAWS-XpZZsO8ck64h-5RcAvGlst2Yzf2-4LM4mo-_?purpose=fullsiz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408" y="1978394"/>
            <a:ext cx="6053455" cy="2396159"/>
          </a:xfrm>
          <a:prstGeom prst="rect">
            <a:avLst/>
          </a:prstGeom>
          <a:noFill/>
          <a:extLst>
            <a:ext uri="{909E8E84-426E-40DD-AFC4-6F175D3DCCD1}">
              <a14:hiddenFill xmlns:a14="http://schemas.microsoft.com/office/drawing/2010/main">
                <a:solidFill>
                  <a:srgbClr val="FFFFFF"/>
                </a:solidFill>
              </a14:hiddenFill>
            </a:ext>
          </a:extLst>
        </p:spPr>
      </p:pic>
      <p:pic>
        <p:nvPicPr>
          <p:cNvPr id="7" name="Resim 6"/>
          <p:cNvPicPr>
            <a:picLocks noChangeAspect="1"/>
          </p:cNvPicPr>
          <p:nvPr/>
        </p:nvPicPr>
        <p:blipFill>
          <a:blip r:embed="rId6"/>
          <a:stretch>
            <a:fillRect/>
          </a:stretch>
        </p:blipFill>
        <p:spPr>
          <a:xfrm>
            <a:off x="6720470" y="2667524"/>
            <a:ext cx="3785616" cy="634347"/>
          </a:xfrm>
          <a:prstGeom prst="rect">
            <a:avLst/>
          </a:prstGeom>
        </p:spPr>
      </p:pic>
      <p:pic>
        <p:nvPicPr>
          <p:cNvPr id="12" name="Resim 11"/>
          <p:cNvPicPr>
            <a:picLocks noChangeAspect="1"/>
          </p:cNvPicPr>
          <p:nvPr/>
        </p:nvPicPr>
        <p:blipFill>
          <a:blip r:embed="rId7"/>
          <a:stretch>
            <a:fillRect/>
          </a:stretch>
        </p:blipFill>
        <p:spPr>
          <a:xfrm>
            <a:off x="6766711" y="3428999"/>
            <a:ext cx="1310754" cy="800169"/>
          </a:xfrm>
          <a:prstGeom prst="rect">
            <a:avLst/>
          </a:prstGeom>
        </p:spPr>
      </p:pic>
    </p:spTree>
    <p:extLst>
      <p:ext uri="{BB962C8B-B14F-4D97-AF65-F5344CB8AC3E}">
        <p14:creationId xmlns:p14="http://schemas.microsoft.com/office/powerpoint/2010/main" val="24779729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«Sentetik Veri Üretim Süreci»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 name="Metin kutusu 3"/>
          <p:cNvSpPr txBox="1"/>
          <p:nvPr/>
        </p:nvSpPr>
        <p:spPr>
          <a:xfrm>
            <a:off x="334477" y="1489852"/>
            <a:ext cx="2800610" cy="358559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tr-TR" sz="2000" b="1" u="sng" dirty="0" smtClean="0">
                <a:solidFill>
                  <a:srgbClr val="C00000"/>
                </a:solidFill>
                <a:effectLst>
                  <a:outerShdw blurRad="38100" dist="38100" dir="2700000" algn="tl">
                    <a:srgbClr val="000000">
                      <a:alpha val="43137"/>
                    </a:srgbClr>
                  </a:outerShdw>
                </a:effectLst>
              </a:rPr>
              <a:t>Üretim Yapısı</a:t>
            </a:r>
          </a:p>
          <a:p>
            <a:pPr algn="ctr"/>
            <a:endParaRPr lang="tr-TR" b="1" dirty="0"/>
          </a:p>
          <a:p>
            <a:pPr marL="285750" indent="-285750">
              <a:lnSpc>
                <a:spcPct val="150000"/>
              </a:lnSpc>
              <a:buFont typeface="Wingdings" panose="05000000000000000000" pitchFamily="2" charset="2"/>
              <a:buChar char="q"/>
            </a:pPr>
            <a:r>
              <a:rPr lang="tr-TR" b="1" dirty="0" smtClean="0"/>
              <a:t>Duygu: Pozitif / Negatif</a:t>
            </a:r>
          </a:p>
          <a:p>
            <a:pPr marL="285750" indent="-285750">
              <a:lnSpc>
                <a:spcPct val="150000"/>
              </a:lnSpc>
              <a:buFont typeface="Wingdings" panose="05000000000000000000" pitchFamily="2" charset="2"/>
              <a:buChar char="q"/>
            </a:pPr>
            <a:r>
              <a:rPr lang="tr-TR" b="1" dirty="0" smtClean="0"/>
              <a:t>Domain: Otel / Film</a:t>
            </a:r>
            <a:endParaRPr lang="tr-TR" b="1" dirty="0"/>
          </a:p>
          <a:p>
            <a:pPr marL="742950" lvl="1" indent="-285750">
              <a:lnSpc>
                <a:spcPct val="150000"/>
              </a:lnSpc>
              <a:buFont typeface="Wingdings" panose="05000000000000000000" pitchFamily="2" charset="2"/>
              <a:buChar char="Ø"/>
            </a:pPr>
            <a:r>
              <a:rPr lang="tr-TR" b="1" dirty="0" smtClean="0">
                <a:solidFill>
                  <a:srgbClr val="C00000"/>
                </a:solidFill>
              </a:rPr>
              <a:t>4 veri grubu : </a:t>
            </a:r>
          </a:p>
          <a:p>
            <a:pPr marL="1200150" lvl="2" indent="-285750">
              <a:lnSpc>
                <a:spcPct val="150000"/>
              </a:lnSpc>
              <a:buFont typeface="Wingdings" panose="05000000000000000000" pitchFamily="2" charset="2"/>
              <a:buChar char="q"/>
            </a:pPr>
            <a:r>
              <a:rPr lang="tr-TR" b="1" dirty="0" smtClean="0"/>
              <a:t>Pozitif Otel</a:t>
            </a:r>
          </a:p>
          <a:p>
            <a:pPr marL="1200150" lvl="2" indent="-285750">
              <a:lnSpc>
                <a:spcPct val="150000"/>
              </a:lnSpc>
              <a:buFont typeface="Wingdings" panose="05000000000000000000" pitchFamily="2" charset="2"/>
              <a:buChar char="q"/>
            </a:pPr>
            <a:r>
              <a:rPr lang="tr-TR" b="1" dirty="0" smtClean="0"/>
              <a:t>Negatif Otel</a:t>
            </a:r>
          </a:p>
          <a:p>
            <a:pPr marL="1200150" lvl="2" indent="-285750">
              <a:lnSpc>
                <a:spcPct val="150000"/>
              </a:lnSpc>
              <a:buFont typeface="Wingdings" panose="05000000000000000000" pitchFamily="2" charset="2"/>
              <a:buChar char="q"/>
            </a:pPr>
            <a:r>
              <a:rPr lang="tr-TR" b="1" dirty="0" smtClean="0"/>
              <a:t>Pozitif Film</a:t>
            </a:r>
          </a:p>
          <a:p>
            <a:pPr marL="1200150" lvl="2" indent="-285750">
              <a:lnSpc>
                <a:spcPct val="150000"/>
              </a:lnSpc>
              <a:buFont typeface="Wingdings" panose="05000000000000000000" pitchFamily="2" charset="2"/>
              <a:buChar char="q"/>
            </a:pPr>
            <a:r>
              <a:rPr lang="tr-TR" b="1" dirty="0" smtClean="0"/>
              <a:t>Negatif Film</a:t>
            </a:r>
            <a:endParaRPr lang="tr-TR" b="1" dirty="0"/>
          </a:p>
        </p:txBody>
      </p:sp>
      <p:sp>
        <p:nvSpPr>
          <p:cNvPr id="12" name="Metin kutusu 11"/>
          <p:cNvSpPr txBox="1"/>
          <p:nvPr/>
        </p:nvSpPr>
        <p:spPr>
          <a:xfrm>
            <a:off x="3295971" y="4083301"/>
            <a:ext cx="2850060" cy="192360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tr-TR" sz="2000" b="1" u="sng" dirty="0" smtClean="0">
                <a:solidFill>
                  <a:srgbClr val="C00000"/>
                </a:solidFill>
                <a:effectLst>
                  <a:outerShdw blurRad="38100" dist="38100" dir="2700000" algn="tl">
                    <a:srgbClr val="000000">
                      <a:alpha val="43137"/>
                    </a:srgbClr>
                  </a:outerShdw>
                </a:effectLst>
              </a:rPr>
              <a:t>Üretim Yöntemi</a:t>
            </a:r>
          </a:p>
          <a:p>
            <a:pPr algn="ctr"/>
            <a:endParaRPr lang="tr-TR" b="1" dirty="0"/>
          </a:p>
          <a:p>
            <a:pPr marL="285750" indent="-285750">
              <a:lnSpc>
                <a:spcPct val="150000"/>
              </a:lnSpc>
              <a:buFont typeface="Wingdings" panose="05000000000000000000" pitchFamily="2" charset="2"/>
              <a:buChar char="q"/>
            </a:pPr>
            <a:r>
              <a:rPr lang="tr-TR" b="1" dirty="0" smtClean="0"/>
              <a:t>Zero-</a:t>
            </a:r>
            <a:r>
              <a:rPr lang="tr-TR" b="1" dirty="0" err="1" smtClean="0"/>
              <a:t>shot</a:t>
            </a:r>
            <a:r>
              <a:rPr lang="tr-TR" b="1" dirty="0" smtClean="0"/>
              <a:t> </a:t>
            </a:r>
            <a:r>
              <a:rPr lang="tr-TR" b="1" dirty="0" err="1" smtClean="0"/>
              <a:t>prompting</a:t>
            </a:r>
            <a:endParaRPr lang="tr-TR" b="1" dirty="0" smtClean="0"/>
          </a:p>
          <a:p>
            <a:pPr marL="285750" indent="-285750">
              <a:lnSpc>
                <a:spcPct val="150000"/>
              </a:lnSpc>
              <a:buFont typeface="Wingdings" panose="05000000000000000000" pitchFamily="2" charset="2"/>
              <a:buChar char="q"/>
            </a:pPr>
            <a:r>
              <a:rPr lang="tr-TR" b="1" dirty="0" err="1" smtClean="0"/>
              <a:t>Batch</a:t>
            </a:r>
            <a:r>
              <a:rPr lang="tr-TR" b="1" dirty="0" smtClean="0"/>
              <a:t> </a:t>
            </a:r>
            <a:r>
              <a:rPr lang="tr-TR" b="1" dirty="0" smtClean="0"/>
              <a:t>tabanlı üretim</a:t>
            </a:r>
          </a:p>
          <a:p>
            <a:pPr marL="285750" indent="-285750">
              <a:lnSpc>
                <a:spcPct val="150000"/>
              </a:lnSpc>
              <a:buFont typeface="Wingdings" panose="05000000000000000000" pitchFamily="2" charset="2"/>
              <a:buChar char="q"/>
            </a:pPr>
            <a:r>
              <a:rPr lang="tr-TR" b="1" dirty="0" err="1" smtClean="0"/>
              <a:t>İteratif</a:t>
            </a:r>
            <a:r>
              <a:rPr lang="tr-TR" b="1" dirty="0" smtClean="0"/>
              <a:t> veri toplama</a:t>
            </a:r>
            <a:endParaRPr lang="tr-TR" b="1" dirty="0"/>
          </a:p>
        </p:txBody>
      </p:sp>
      <p:sp>
        <p:nvSpPr>
          <p:cNvPr id="16" name="Metin kutusu 15"/>
          <p:cNvSpPr txBox="1"/>
          <p:nvPr/>
        </p:nvSpPr>
        <p:spPr>
          <a:xfrm>
            <a:off x="3280220" y="1530712"/>
            <a:ext cx="2865811" cy="233910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tr-TR" sz="2000" b="1" u="sng" dirty="0" smtClean="0">
                <a:solidFill>
                  <a:srgbClr val="C00000"/>
                </a:solidFill>
                <a:effectLst>
                  <a:outerShdw blurRad="38100" dist="38100" dir="2700000" algn="tl">
                    <a:srgbClr val="000000">
                      <a:alpha val="43137"/>
                    </a:srgbClr>
                  </a:outerShdw>
                </a:effectLst>
              </a:rPr>
              <a:t>Temel Parametreler</a:t>
            </a:r>
          </a:p>
          <a:p>
            <a:pPr algn="ctr"/>
            <a:endParaRPr lang="tr-TR" b="1" dirty="0"/>
          </a:p>
          <a:p>
            <a:pPr marL="285750" indent="-285750">
              <a:lnSpc>
                <a:spcPct val="150000"/>
              </a:lnSpc>
              <a:buFont typeface="Wingdings" panose="05000000000000000000" pitchFamily="2" charset="2"/>
              <a:buChar char="q"/>
            </a:pPr>
            <a:r>
              <a:rPr lang="tr-TR" b="1" dirty="0" err="1"/>
              <a:t>batch_size</a:t>
            </a:r>
            <a:r>
              <a:rPr lang="tr-TR" b="1" dirty="0"/>
              <a:t>: her istekte üretilen </a:t>
            </a:r>
            <a:r>
              <a:rPr lang="tr-TR" b="1" dirty="0" smtClean="0"/>
              <a:t>veri</a:t>
            </a:r>
          </a:p>
          <a:p>
            <a:pPr marL="285750" indent="-285750">
              <a:lnSpc>
                <a:spcPct val="150000"/>
              </a:lnSpc>
              <a:buFont typeface="Wingdings" panose="05000000000000000000" pitchFamily="2" charset="2"/>
              <a:buChar char="q"/>
            </a:pPr>
            <a:r>
              <a:rPr lang="tr-TR" b="1" dirty="0" err="1" smtClean="0"/>
              <a:t>total_reviews</a:t>
            </a:r>
            <a:r>
              <a:rPr lang="tr-TR" b="1" dirty="0"/>
              <a:t>: hedef veri miktarı</a:t>
            </a:r>
          </a:p>
        </p:txBody>
      </p:sp>
      <p:pic>
        <p:nvPicPr>
          <p:cNvPr id="7" name="Resim 6"/>
          <p:cNvPicPr>
            <a:picLocks noChangeAspect="1"/>
          </p:cNvPicPr>
          <p:nvPr/>
        </p:nvPicPr>
        <p:blipFill>
          <a:blip r:embed="rId5"/>
          <a:stretch>
            <a:fillRect/>
          </a:stretch>
        </p:blipFill>
        <p:spPr>
          <a:xfrm>
            <a:off x="6436660" y="1841380"/>
            <a:ext cx="5600095" cy="3733397"/>
          </a:xfrm>
          <a:prstGeom prst="rect">
            <a:avLst/>
          </a:prstGeom>
        </p:spPr>
      </p:pic>
    </p:spTree>
    <p:extLst>
      <p:ext uri="{BB962C8B-B14F-4D97-AF65-F5344CB8AC3E}">
        <p14:creationId xmlns:p14="http://schemas.microsoft.com/office/powerpoint/2010/main" val="1329731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«Sentetik Veri Üretim Süreci»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pic>
        <p:nvPicPr>
          <p:cNvPr id="13" name="Resim 12"/>
          <p:cNvPicPr/>
          <p:nvPr/>
        </p:nvPicPr>
        <p:blipFill>
          <a:blip r:embed="rId5"/>
          <a:stretch>
            <a:fillRect/>
          </a:stretch>
        </p:blipFill>
        <p:spPr>
          <a:xfrm>
            <a:off x="118872" y="1470864"/>
            <a:ext cx="2755212" cy="3640631"/>
          </a:xfrm>
          <a:prstGeom prst="rect">
            <a:avLst/>
          </a:prstGeom>
          <a:noFill/>
          <a:ln>
            <a:noFill/>
          </a:ln>
        </p:spPr>
      </p:pic>
      <p:pic>
        <p:nvPicPr>
          <p:cNvPr id="17" name="Resim 16"/>
          <p:cNvPicPr/>
          <p:nvPr/>
        </p:nvPicPr>
        <p:blipFill>
          <a:blip r:embed="rId6"/>
          <a:stretch>
            <a:fillRect/>
          </a:stretch>
        </p:blipFill>
        <p:spPr>
          <a:xfrm>
            <a:off x="2916443" y="1486815"/>
            <a:ext cx="2926573" cy="3624679"/>
          </a:xfrm>
          <a:prstGeom prst="rect">
            <a:avLst/>
          </a:prstGeom>
          <a:noFill/>
          <a:ln>
            <a:noFill/>
          </a:ln>
        </p:spPr>
      </p:pic>
      <p:pic>
        <p:nvPicPr>
          <p:cNvPr id="18" name="Resim 17"/>
          <p:cNvPicPr/>
          <p:nvPr/>
        </p:nvPicPr>
        <p:blipFill>
          <a:blip r:embed="rId7"/>
          <a:stretch>
            <a:fillRect/>
          </a:stretch>
        </p:blipFill>
        <p:spPr>
          <a:xfrm>
            <a:off x="5885375" y="1486814"/>
            <a:ext cx="3031490" cy="3624679"/>
          </a:xfrm>
          <a:prstGeom prst="rect">
            <a:avLst/>
          </a:prstGeom>
          <a:noFill/>
          <a:ln>
            <a:noFill/>
          </a:ln>
        </p:spPr>
      </p:pic>
      <p:pic>
        <p:nvPicPr>
          <p:cNvPr id="19" name="Resim 18"/>
          <p:cNvPicPr/>
          <p:nvPr/>
        </p:nvPicPr>
        <p:blipFill>
          <a:blip r:embed="rId8"/>
          <a:stretch>
            <a:fillRect/>
          </a:stretch>
        </p:blipFill>
        <p:spPr>
          <a:xfrm>
            <a:off x="8916865" y="1486815"/>
            <a:ext cx="2897183" cy="3624680"/>
          </a:xfrm>
          <a:prstGeom prst="rect">
            <a:avLst/>
          </a:prstGeom>
          <a:noFill/>
          <a:ln>
            <a:noFill/>
          </a:ln>
        </p:spPr>
      </p:pic>
      <p:sp>
        <p:nvSpPr>
          <p:cNvPr id="5" name="Metin kutusu 4"/>
          <p:cNvSpPr txBox="1"/>
          <p:nvPr/>
        </p:nvSpPr>
        <p:spPr>
          <a:xfrm>
            <a:off x="2719624" y="5434861"/>
            <a:ext cx="7805120" cy="369332"/>
          </a:xfrm>
          <a:prstGeom prst="rect">
            <a:avLst/>
          </a:prstGeom>
          <a:noFill/>
        </p:spPr>
        <p:txBody>
          <a:bodyPr wrap="square" rtlCol="0">
            <a:spAutoFit/>
          </a:bodyPr>
          <a:lstStyle/>
          <a:p>
            <a:r>
              <a:rPr lang="tr-TR" b="1" dirty="0" smtClean="0">
                <a:solidFill>
                  <a:srgbClr val="C00000"/>
                </a:solidFill>
                <a:latin typeface="Times New Roman" panose="02020603050405020304" pitchFamily="18" charset="0"/>
                <a:cs typeface="Times New Roman" panose="02020603050405020304" pitchFamily="18" charset="0"/>
              </a:rPr>
              <a:t>LLM kullanılarak yorumların </a:t>
            </a:r>
            <a:r>
              <a:rPr lang="tr-TR" b="1" dirty="0" err="1" smtClean="0">
                <a:solidFill>
                  <a:srgbClr val="C00000"/>
                </a:solidFill>
                <a:latin typeface="Times New Roman" panose="02020603050405020304" pitchFamily="18" charset="0"/>
                <a:cs typeface="Times New Roman" panose="02020603050405020304" pitchFamily="18" charset="0"/>
              </a:rPr>
              <a:t>batch</a:t>
            </a:r>
            <a:r>
              <a:rPr lang="tr-TR" b="1" dirty="0" smtClean="0">
                <a:solidFill>
                  <a:srgbClr val="C00000"/>
                </a:solidFill>
                <a:latin typeface="Times New Roman" panose="02020603050405020304" pitchFamily="18" charset="0"/>
                <a:cs typeface="Times New Roman" panose="02020603050405020304" pitchFamily="18" charset="0"/>
              </a:rPr>
              <a:t> tabanlı sentetik veri üretim algoritması</a:t>
            </a:r>
            <a:endParaRPr lang="tr-TR"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91105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«Sentetik Veri Üretim Süreci»</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graphicFrame>
        <p:nvGraphicFramePr>
          <p:cNvPr id="4" name="Tablo 3"/>
          <p:cNvGraphicFramePr>
            <a:graphicFrameLocks noGrp="1"/>
          </p:cNvGraphicFramePr>
          <p:nvPr>
            <p:extLst>
              <p:ext uri="{D42A27DB-BD31-4B8C-83A1-F6EECF244321}">
                <p14:modId xmlns:p14="http://schemas.microsoft.com/office/powerpoint/2010/main" val="1766475550"/>
              </p:ext>
            </p:extLst>
          </p:nvPr>
        </p:nvGraphicFramePr>
        <p:xfrm>
          <a:off x="644207" y="1916462"/>
          <a:ext cx="5509705" cy="3858522"/>
        </p:xfrm>
        <a:graphic>
          <a:graphicData uri="http://schemas.openxmlformats.org/drawingml/2006/table">
            <a:tbl>
              <a:tblPr firstRow="1" firstCol="1" bandRow="1">
                <a:tableStyleId>{F5AB1C69-6EDB-4FF4-983F-18BD219EF322}</a:tableStyleId>
              </a:tblPr>
              <a:tblGrid>
                <a:gridCol w="1689974"/>
                <a:gridCol w="2495723"/>
                <a:gridCol w="1324008"/>
              </a:tblGrid>
              <a:tr h="500847">
                <a:tc>
                  <a:txBody>
                    <a:bodyPr/>
                    <a:lstStyle/>
                    <a:p>
                      <a:pPr algn="ctr">
                        <a:lnSpc>
                          <a:spcPct val="200000"/>
                        </a:lnSpc>
                        <a:spcBef>
                          <a:spcPts val="12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Veri Kümeleri</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Açıklama</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Yorum Sayısı</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500847">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Yalnızca insan etiketli veri</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64,159</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500847">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 GPT</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en-US" sz="1400" b="1" dirty="0" smtClean="0">
                          <a:solidFill>
                            <a:schemeClr val="tx1"/>
                          </a:solidFill>
                          <a:effectLst/>
                          <a:latin typeface="Times New Roman" panose="02020603050405020304" pitchFamily="18" charset="0"/>
                          <a:cs typeface="Times New Roman" panose="02020603050405020304" pitchFamily="18" charset="0"/>
                        </a:rPr>
                        <a:t>Ham</a:t>
                      </a:r>
                      <a:r>
                        <a:rPr lang="tr-TR" sz="1400" b="1" baseline="0" dirty="0" smtClean="0">
                          <a:solidFill>
                            <a:schemeClr val="tx1"/>
                          </a:solidFill>
                          <a:effectLst/>
                          <a:latin typeface="Times New Roman" panose="02020603050405020304" pitchFamily="18" charset="0"/>
                          <a:cs typeface="Times New Roman" panose="02020603050405020304" pitchFamily="18" charset="0"/>
                        </a:rPr>
                        <a:t> + </a:t>
                      </a:r>
                      <a:r>
                        <a:rPr lang="en-US" sz="1400" b="1" dirty="0" smtClean="0">
                          <a:solidFill>
                            <a:schemeClr val="tx1"/>
                          </a:solidFill>
                          <a:effectLst/>
                          <a:latin typeface="Times New Roman" panose="02020603050405020304" pitchFamily="18" charset="0"/>
                          <a:cs typeface="Times New Roman" panose="02020603050405020304" pitchFamily="18" charset="0"/>
                        </a:rPr>
                        <a:t>GPT </a:t>
                      </a:r>
                      <a:r>
                        <a:rPr lang="en-US" sz="1400" b="1" dirty="0" err="1">
                          <a:solidFill>
                            <a:schemeClr val="tx1"/>
                          </a:solidFill>
                          <a:effectLst/>
                          <a:latin typeface="Times New Roman" panose="02020603050405020304" pitchFamily="18" charset="0"/>
                          <a:cs typeface="Times New Roman" panose="02020603050405020304" pitchFamily="18" charset="0"/>
                        </a:rPr>
                        <a:t>sentetik</a:t>
                      </a:r>
                      <a:r>
                        <a:rPr lang="en-US" sz="1400" b="1" dirty="0">
                          <a:solidFill>
                            <a:schemeClr val="tx1"/>
                          </a:solidFill>
                          <a:effectLst/>
                          <a:latin typeface="Times New Roman" panose="02020603050405020304" pitchFamily="18" charset="0"/>
                          <a:cs typeface="Times New Roman" panose="02020603050405020304" pitchFamily="18" charset="0"/>
                        </a:rPr>
                        <a:t> </a:t>
                      </a:r>
                      <a:r>
                        <a:rPr lang="en-US" sz="1400" b="1" dirty="0" err="1">
                          <a:solidFill>
                            <a:schemeClr val="tx1"/>
                          </a:solidFill>
                          <a:effectLst/>
                          <a:latin typeface="Times New Roman" panose="02020603050405020304" pitchFamily="18" charset="0"/>
                          <a:cs typeface="Times New Roman" panose="02020603050405020304" pitchFamily="18" charset="0"/>
                        </a:rPr>
                        <a:t>veri</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99,469</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500847">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 + 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en-US" sz="1400" b="1" dirty="0" smtClean="0">
                          <a:solidFill>
                            <a:schemeClr val="tx1"/>
                          </a:solidFill>
                          <a:effectLst/>
                          <a:latin typeface="Times New Roman" panose="02020603050405020304" pitchFamily="18" charset="0"/>
                          <a:cs typeface="Times New Roman" panose="02020603050405020304" pitchFamily="18" charset="0"/>
                        </a:rPr>
                        <a:t>Ham</a:t>
                      </a:r>
                      <a:r>
                        <a:rPr lang="tr-TR" sz="1400" b="1" baseline="0" dirty="0" smtClean="0">
                          <a:solidFill>
                            <a:schemeClr val="tx1"/>
                          </a:solidFill>
                          <a:effectLst/>
                          <a:latin typeface="Times New Roman" panose="02020603050405020304" pitchFamily="18" charset="0"/>
                          <a:cs typeface="Times New Roman" panose="02020603050405020304" pitchFamily="18" charset="0"/>
                        </a:rPr>
                        <a:t> + </a:t>
                      </a:r>
                      <a:r>
                        <a:rPr lang="en-US" sz="1400" b="1" dirty="0" smtClean="0">
                          <a:solidFill>
                            <a:schemeClr val="tx1"/>
                          </a:solidFill>
                          <a:effectLst/>
                          <a:latin typeface="Times New Roman" panose="02020603050405020304" pitchFamily="18" charset="0"/>
                          <a:cs typeface="Times New Roman" panose="02020603050405020304" pitchFamily="18" charset="0"/>
                        </a:rPr>
                        <a:t>Claude </a:t>
                      </a:r>
                      <a:r>
                        <a:rPr lang="en-US" sz="1400" b="1" dirty="0" err="1">
                          <a:solidFill>
                            <a:schemeClr val="tx1"/>
                          </a:solidFill>
                          <a:effectLst/>
                          <a:latin typeface="Times New Roman" panose="02020603050405020304" pitchFamily="18" charset="0"/>
                          <a:cs typeface="Times New Roman" panose="02020603050405020304" pitchFamily="18" charset="0"/>
                        </a:rPr>
                        <a:t>sentetik</a:t>
                      </a:r>
                      <a:r>
                        <a:rPr lang="en-US" sz="1400" b="1" dirty="0">
                          <a:solidFill>
                            <a:schemeClr val="tx1"/>
                          </a:solidFill>
                          <a:effectLst/>
                          <a:latin typeface="Times New Roman" panose="02020603050405020304" pitchFamily="18" charset="0"/>
                          <a:cs typeface="Times New Roman" panose="02020603050405020304" pitchFamily="18" charset="0"/>
                        </a:rPr>
                        <a:t> </a:t>
                      </a:r>
                      <a:r>
                        <a:rPr lang="en-US" sz="1400" b="1" dirty="0" err="1">
                          <a:solidFill>
                            <a:schemeClr val="tx1"/>
                          </a:solidFill>
                          <a:effectLst/>
                          <a:latin typeface="Times New Roman" panose="02020603050405020304" pitchFamily="18" charset="0"/>
                          <a:cs typeface="Times New Roman" panose="02020603050405020304" pitchFamily="18" charset="0"/>
                        </a:rPr>
                        <a:t>veri</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100,541</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500847">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 + GPT+ 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Ham+ GPT + 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135,853</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500847">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GPT</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Yalnızca GPT sentetik veri</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35,310</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500847">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Yalnızca Claude sentetik veri</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36,384</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6" name="Metin kutusu 5"/>
          <p:cNvSpPr txBox="1"/>
          <p:nvPr/>
        </p:nvSpPr>
        <p:spPr>
          <a:xfrm>
            <a:off x="529100" y="1242265"/>
            <a:ext cx="6091156" cy="646331"/>
          </a:xfrm>
          <a:prstGeom prst="rect">
            <a:avLst/>
          </a:prstGeom>
          <a:noFill/>
        </p:spPr>
        <p:txBody>
          <a:bodyPr wrap="square" rtlCol="0">
            <a:spAutoFit/>
          </a:bodyPr>
          <a:lstStyle/>
          <a:p>
            <a:pPr algn="ctr"/>
            <a:r>
              <a:rPr lang="en-US" b="1" u="sng" dirty="0">
                <a:solidFill>
                  <a:srgbClr val="C00000"/>
                </a:solidFill>
              </a:rPr>
              <a:t>LLM </a:t>
            </a:r>
            <a:r>
              <a:rPr lang="en-US" b="1" u="sng" dirty="0" err="1">
                <a:solidFill>
                  <a:srgbClr val="C00000"/>
                </a:solidFill>
              </a:rPr>
              <a:t>tabanlı</a:t>
            </a:r>
            <a:r>
              <a:rPr lang="en-US" b="1" u="sng" dirty="0">
                <a:solidFill>
                  <a:srgbClr val="C00000"/>
                </a:solidFill>
              </a:rPr>
              <a:t> </a:t>
            </a:r>
            <a:r>
              <a:rPr lang="en-US" b="1" u="sng" dirty="0" err="1">
                <a:solidFill>
                  <a:srgbClr val="C00000"/>
                </a:solidFill>
              </a:rPr>
              <a:t>veri</a:t>
            </a:r>
            <a:r>
              <a:rPr lang="en-US" b="1" u="sng" dirty="0">
                <a:solidFill>
                  <a:srgbClr val="C00000"/>
                </a:solidFill>
              </a:rPr>
              <a:t> </a:t>
            </a:r>
            <a:r>
              <a:rPr lang="en-US" b="1" u="sng" dirty="0" err="1">
                <a:solidFill>
                  <a:srgbClr val="C00000"/>
                </a:solidFill>
              </a:rPr>
              <a:t>artırma</a:t>
            </a:r>
            <a:r>
              <a:rPr lang="en-US" b="1" u="sng" dirty="0">
                <a:solidFill>
                  <a:srgbClr val="C00000"/>
                </a:solidFill>
              </a:rPr>
              <a:t> </a:t>
            </a:r>
            <a:r>
              <a:rPr lang="en-US" b="1" u="sng" dirty="0" err="1">
                <a:solidFill>
                  <a:srgbClr val="C00000"/>
                </a:solidFill>
              </a:rPr>
              <a:t>sonucunda</a:t>
            </a:r>
            <a:r>
              <a:rPr lang="en-US" b="1" u="sng" dirty="0">
                <a:solidFill>
                  <a:srgbClr val="C00000"/>
                </a:solidFill>
              </a:rPr>
              <a:t> </a:t>
            </a:r>
            <a:r>
              <a:rPr lang="en-US" b="1" u="sng" dirty="0" err="1">
                <a:solidFill>
                  <a:srgbClr val="C00000"/>
                </a:solidFill>
              </a:rPr>
              <a:t>oluşturulan</a:t>
            </a:r>
            <a:r>
              <a:rPr lang="en-US" b="1" u="sng" dirty="0">
                <a:solidFill>
                  <a:srgbClr val="C00000"/>
                </a:solidFill>
              </a:rPr>
              <a:t> </a:t>
            </a:r>
            <a:r>
              <a:rPr lang="en-US" b="1" u="sng" dirty="0" err="1">
                <a:solidFill>
                  <a:srgbClr val="C00000"/>
                </a:solidFill>
              </a:rPr>
              <a:t>veri</a:t>
            </a:r>
            <a:r>
              <a:rPr lang="en-US" b="1" u="sng" dirty="0">
                <a:solidFill>
                  <a:srgbClr val="C00000"/>
                </a:solidFill>
              </a:rPr>
              <a:t> </a:t>
            </a:r>
            <a:r>
              <a:rPr lang="en-US" b="1" u="sng" dirty="0" err="1">
                <a:solidFill>
                  <a:srgbClr val="C00000"/>
                </a:solidFill>
              </a:rPr>
              <a:t>kümelerinin</a:t>
            </a:r>
            <a:r>
              <a:rPr lang="en-US" b="1" u="sng" dirty="0">
                <a:solidFill>
                  <a:srgbClr val="C00000"/>
                </a:solidFill>
              </a:rPr>
              <a:t> </a:t>
            </a:r>
            <a:r>
              <a:rPr lang="en-US" b="1" u="sng" dirty="0" err="1">
                <a:solidFill>
                  <a:srgbClr val="C00000"/>
                </a:solidFill>
              </a:rPr>
              <a:t>dağılımı</a:t>
            </a:r>
            <a:endParaRPr lang="tr-TR" b="1" u="sng" dirty="0">
              <a:solidFill>
                <a:srgbClr val="C00000"/>
              </a:solidFill>
            </a:endParaRPr>
          </a:p>
        </p:txBody>
      </p:sp>
      <p:sp>
        <p:nvSpPr>
          <p:cNvPr id="11" name="Metin kutusu 10"/>
          <p:cNvSpPr txBox="1"/>
          <p:nvPr/>
        </p:nvSpPr>
        <p:spPr>
          <a:xfrm>
            <a:off x="7086600" y="2179515"/>
            <a:ext cx="4773168" cy="3323987"/>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tr-TR" sz="1600" dirty="0">
                <a:latin typeface="Times New Roman" panose="02020603050405020304" pitchFamily="18" charset="0"/>
                <a:cs typeface="Times New Roman" panose="02020603050405020304" pitchFamily="18" charset="0"/>
              </a:rPr>
              <a:t>Temizlenen sentetik veriler insan tarafından etiketlenmiş veri kümesi ile birleştirilerek altı farklı veri kümesi yapılandırması oluşturulmuştur. </a:t>
            </a:r>
            <a:endParaRPr lang="tr-TR" sz="1600" dirty="0" smtClean="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q"/>
            </a:pPr>
            <a:r>
              <a:rPr lang="tr-TR" sz="1600" dirty="0">
                <a:latin typeface="Times New Roman" panose="02020603050405020304" pitchFamily="18" charset="0"/>
                <a:cs typeface="Times New Roman" panose="02020603050405020304" pitchFamily="18" charset="0"/>
              </a:rPr>
              <a:t>Hem yalnızca sentetik veri hem de </a:t>
            </a:r>
            <a:r>
              <a:rPr lang="tr-TR" sz="1600" dirty="0" err="1">
                <a:latin typeface="Times New Roman" panose="02020603050405020304" pitchFamily="18" charset="0"/>
                <a:cs typeface="Times New Roman" panose="02020603050405020304" pitchFamily="18" charset="0"/>
              </a:rPr>
              <a:t>hibrit</a:t>
            </a:r>
            <a:r>
              <a:rPr lang="tr-TR" sz="1600" dirty="0">
                <a:latin typeface="Times New Roman" panose="02020603050405020304" pitchFamily="18" charset="0"/>
                <a:cs typeface="Times New Roman" panose="02020603050405020304" pitchFamily="18" charset="0"/>
              </a:rPr>
              <a:t> veri setleri oluşturularak farklı senaryolar test edilmiştir.</a:t>
            </a:r>
          </a:p>
          <a:p>
            <a:pPr marL="285750" indent="-285750">
              <a:lnSpc>
                <a:spcPct val="150000"/>
              </a:lnSpc>
              <a:buFont typeface="Wingdings" panose="05000000000000000000" pitchFamily="2" charset="2"/>
              <a:buChar char="q"/>
            </a:pPr>
            <a:r>
              <a:rPr lang="tr-TR" sz="1600" dirty="0">
                <a:latin typeface="Times New Roman" panose="02020603050405020304" pitchFamily="18" charset="0"/>
                <a:cs typeface="Times New Roman" panose="02020603050405020304" pitchFamily="18" charset="0"/>
              </a:rPr>
              <a:t>Bu süreç, eğitim veri hacmini önemli ölçüde artırmış ve sentetik verinin etkisinin sistematik olarak analiz edilmesini sağlamıştır.</a:t>
            </a:r>
          </a:p>
          <a:p>
            <a:endParaRPr lang="tr-TR" dirty="0"/>
          </a:p>
        </p:txBody>
      </p:sp>
    </p:spTree>
    <p:extLst>
      <p:ext uri="{BB962C8B-B14F-4D97-AF65-F5344CB8AC3E}">
        <p14:creationId xmlns:p14="http://schemas.microsoft.com/office/powerpoint/2010/main" val="9998481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1" name="Resim 10"/>
          <p:cNvPicPr>
            <a:picLocks noChangeAspect="1"/>
          </p:cNvPicPr>
          <p:nvPr/>
        </p:nvPicPr>
        <p:blipFill>
          <a:blip r:embed="rId5"/>
          <a:stretch>
            <a:fillRect/>
          </a:stretch>
        </p:blipFill>
        <p:spPr>
          <a:xfrm>
            <a:off x="2211117" y="1234340"/>
            <a:ext cx="7254293" cy="4836195"/>
          </a:xfrm>
          <a:prstGeom prst="rect">
            <a:avLst/>
          </a:prstGeom>
        </p:spPr>
      </p:pic>
    </p:spTree>
    <p:extLst>
      <p:ext uri="{BB962C8B-B14F-4D97-AF65-F5344CB8AC3E}">
        <p14:creationId xmlns:p14="http://schemas.microsoft.com/office/powerpoint/2010/main" val="38803083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5" name="Resim 4"/>
          <p:cNvPicPr>
            <a:picLocks noChangeAspect="1"/>
          </p:cNvPicPr>
          <p:nvPr/>
        </p:nvPicPr>
        <p:blipFill>
          <a:blip r:embed="rId5"/>
          <a:stretch>
            <a:fillRect/>
          </a:stretch>
        </p:blipFill>
        <p:spPr>
          <a:xfrm>
            <a:off x="155575" y="1519363"/>
            <a:ext cx="6232801" cy="4155201"/>
          </a:xfrm>
          <a:prstGeom prst="rect">
            <a:avLst/>
          </a:prstGeom>
        </p:spPr>
      </p:pic>
      <p:graphicFrame>
        <p:nvGraphicFramePr>
          <p:cNvPr id="7" name="Tablo 6"/>
          <p:cNvGraphicFramePr>
            <a:graphicFrameLocks noGrp="1"/>
          </p:cNvGraphicFramePr>
          <p:nvPr>
            <p:extLst>
              <p:ext uri="{D42A27DB-BD31-4B8C-83A1-F6EECF244321}">
                <p14:modId xmlns:p14="http://schemas.microsoft.com/office/powerpoint/2010/main" val="2965091528"/>
              </p:ext>
            </p:extLst>
          </p:nvPr>
        </p:nvGraphicFramePr>
        <p:xfrm>
          <a:off x="6767759" y="2058954"/>
          <a:ext cx="5213985" cy="2987040"/>
        </p:xfrm>
        <a:graphic>
          <a:graphicData uri="http://schemas.openxmlformats.org/drawingml/2006/table">
            <a:tbl>
              <a:tblPr firstRow="1" firstCol="1" bandRow="1">
                <a:tableStyleId>{F5AB1C69-6EDB-4FF4-983F-18BD219EF322}</a:tableStyleId>
              </a:tblPr>
              <a:tblGrid>
                <a:gridCol w="2074489"/>
                <a:gridCol w="1401501"/>
                <a:gridCol w="1737995"/>
              </a:tblGrid>
              <a:tr h="0">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Veri Kümeleri</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Eğitim boyutu</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Test boyutu </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44,911</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 + GPT</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80,221</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 + 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81,293</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 + GPT + 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116,605</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GPT </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35,310</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Claude </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36,384</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93640329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graphicFrame>
        <p:nvGraphicFramePr>
          <p:cNvPr id="7" name="Tablo 6"/>
          <p:cNvGraphicFramePr>
            <a:graphicFrameLocks noGrp="1"/>
          </p:cNvGraphicFramePr>
          <p:nvPr>
            <p:extLst>
              <p:ext uri="{D42A27DB-BD31-4B8C-83A1-F6EECF244321}">
                <p14:modId xmlns:p14="http://schemas.microsoft.com/office/powerpoint/2010/main" val="2965091528"/>
              </p:ext>
            </p:extLst>
          </p:nvPr>
        </p:nvGraphicFramePr>
        <p:xfrm>
          <a:off x="6767759" y="2058954"/>
          <a:ext cx="5213985" cy="2987040"/>
        </p:xfrm>
        <a:graphic>
          <a:graphicData uri="http://schemas.openxmlformats.org/drawingml/2006/table">
            <a:tbl>
              <a:tblPr firstRow="1" firstCol="1" bandRow="1">
                <a:tableStyleId>{F5AB1C69-6EDB-4FF4-983F-18BD219EF322}</a:tableStyleId>
              </a:tblPr>
              <a:tblGrid>
                <a:gridCol w="2074489"/>
                <a:gridCol w="1401501"/>
                <a:gridCol w="1737995"/>
              </a:tblGrid>
              <a:tr h="0">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Veri Kümeleri</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Eğitim boyutu</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Test boyutu </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Ham</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44,911</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 + GPT</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80,221</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 + 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81,293</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Ham + GPT + 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116,605</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GPT </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35,310</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Claude </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a:solidFill>
                            <a:schemeClr val="tx1"/>
                          </a:solidFill>
                          <a:effectLst/>
                          <a:latin typeface="Times New Roman" panose="02020603050405020304" pitchFamily="18" charset="0"/>
                          <a:cs typeface="Times New Roman" panose="02020603050405020304" pitchFamily="18" charset="0"/>
                        </a:rPr>
                        <a:t>36,384</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800"/>
                        </a:spcBef>
                        <a:spcAft>
                          <a:spcPts val="0"/>
                        </a:spcAft>
                      </a:pPr>
                      <a:r>
                        <a:rPr lang="tr-TR" sz="1400" b="1" dirty="0">
                          <a:solidFill>
                            <a:schemeClr val="tx1"/>
                          </a:solidFill>
                          <a:effectLst/>
                          <a:latin typeface="Times New Roman" panose="02020603050405020304" pitchFamily="18" charset="0"/>
                          <a:cs typeface="Times New Roman" panose="02020603050405020304" pitchFamily="18" charset="0"/>
                        </a:rPr>
                        <a:t>19,248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pic>
        <p:nvPicPr>
          <p:cNvPr id="12" name="Resim 11"/>
          <p:cNvPicPr>
            <a:picLocks noChangeAspect="1"/>
          </p:cNvPicPr>
          <p:nvPr/>
        </p:nvPicPr>
        <p:blipFill>
          <a:blip r:embed="rId5"/>
          <a:stretch>
            <a:fillRect/>
          </a:stretch>
        </p:blipFill>
        <p:spPr>
          <a:xfrm>
            <a:off x="307975" y="1470865"/>
            <a:ext cx="6249681" cy="4166453"/>
          </a:xfrm>
          <a:prstGeom prst="rect">
            <a:avLst/>
          </a:prstGeom>
        </p:spPr>
      </p:pic>
    </p:spTree>
    <p:extLst>
      <p:ext uri="{BB962C8B-B14F-4D97-AF65-F5344CB8AC3E}">
        <p14:creationId xmlns:p14="http://schemas.microsoft.com/office/powerpoint/2010/main" val="49741601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graphicFrame>
        <p:nvGraphicFramePr>
          <p:cNvPr id="5" name="Diyagram 4"/>
          <p:cNvGraphicFramePr/>
          <p:nvPr>
            <p:extLst>
              <p:ext uri="{D42A27DB-BD31-4B8C-83A1-F6EECF244321}">
                <p14:modId xmlns:p14="http://schemas.microsoft.com/office/powerpoint/2010/main" val="2307040383"/>
              </p:ext>
            </p:extLst>
          </p:nvPr>
        </p:nvGraphicFramePr>
        <p:xfrm>
          <a:off x="612775" y="1536192"/>
          <a:ext cx="7434072" cy="463600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1" name="Metin kutusu 10"/>
          <p:cNvSpPr txBox="1"/>
          <p:nvPr/>
        </p:nvSpPr>
        <p:spPr>
          <a:xfrm>
            <a:off x="8458200" y="2375735"/>
            <a:ext cx="3374136" cy="170816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Parametreler, literatürde yaygın olarak kullanılan değerler ve deneysel denge gözetilerek belirlenmiştir</a:t>
            </a:r>
            <a:r>
              <a:rPr lang="tr-TR" sz="1400" dirty="0" smtClean="0">
                <a:latin typeface="Times New Roman" panose="02020603050405020304" pitchFamily="18" charset="0"/>
                <a:cs typeface="Times New Roman" panose="02020603050405020304" pitchFamily="18" charset="0"/>
              </a:rPr>
              <a:t>. Amaç</a:t>
            </a:r>
            <a:r>
              <a:rPr lang="tr-TR" sz="1400" dirty="0">
                <a:latin typeface="Times New Roman" panose="02020603050405020304" pitchFamily="18" charset="0"/>
                <a:cs typeface="Times New Roman" panose="02020603050405020304" pitchFamily="18" charset="0"/>
              </a:rPr>
              <a:t>, model performansı ile hesaplama maliyeti arasında dengeli bir yapı kurmaktır.</a:t>
            </a:r>
          </a:p>
        </p:txBody>
      </p:sp>
    </p:spTree>
    <p:extLst>
      <p:ext uri="{BB962C8B-B14F-4D97-AF65-F5344CB8AC3E}">
        <p14:creationId xmlns:p14="http://schemas.microsoft.com/office/powerpoint/2010/main" val="5358984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054007" y="1178768"/>
            <a:ext cx="6091156" cy="369332"/>
          </a:xfrm>
          <a:prstGeom prst="rect">
            <a:avLst/>
          </a:prstGeom>
          <a:noFill/>
        </p:spPr>
        <p:txBody>
          <a:bodyPr wrap="square" rtlCol="0">
            <a:spAutoFit/>
          </a:bodyPr>
          <a:lstStyle/>
          <a:p>
            <a:pPr algn="ctr"/>
            <a:r>
              <a:rPr lang="tr-TR" b="1" u="sng" dirty="0" smtClean="0">
                <a:solidFill>
                  <a:srgbClr val="C00000"/>
                </a:solidFill>
              </a:rPr>
              <a:t>Model Performans Analizi</a:t>
            </a:r>
            <a:endParaRPr lang="tr-TR" b="1" u="sng" dirty="0">
              <a:solidFill>
                <a:srgbClr val="C00000"/>
              </a:solidFill>
            </a:endParaRPr>
          </a:p>
        </p:txBody>
      </p:sp>
      <p:pic>
        <p:nvPicPr>
          <p:cNvPr id="13" name="Resim 12"/>
          <p:cNvPicPr/>
          <p:nvPr/>
        </p:nvPicPr>
        <p:blipFill>
          <a:blip r:embed="rId5" cstate="print">
            <a:extLst>
              <a:ext uri="{28A0092B-C50C-407E-A947-70E740481C1C}">
                <a14:useLocalDpi xmlns:a14="http://schemas.microsoft.com/office/drawing/2010/main" val="0"/>
              </a:ext>
            </a:extLst>
          </a:blip>
          <a:stretch>
            <a:fillRect/>
          </a:stretch>
        </p:blipFill>
        <p:spPr>
          <a:xfrm>
            <a:off x="5257800" y="1572857"/>
            <a:ext cx="6611112" cy="4733121"/>
          </a:xfrm>
          <a:prstGeom prst="rect">
            <a:avLst/>
          </a:prstGeom>
        </p:spPr>
      </p:pic>
      <p:pic>
        <p:nvPicPr>
          <p:cNvPr id="17" name="Resim 16"/>
          <p:cNvPicPr>
            <a:picLocks noChangeAspect="1"/>
          </p:cNvPicPr>
          <p:nvPr/>
        </p:nvPicPr>
        <p:blipFill>
          <a:blip r:embed="rId6"/>
          <a:stretch>
            <a:fillRect/>
          </a:stretch>
        </p:blipFill>
        <p:spPr>
          <a:xfrm>
            <a:off x="436408" y="1738528"/>
            <a:ext cx="2400508" cy="739204"/>
          </a:xfrm>
          <a:prstGeom prst="rect">
            <a:avLst/>
          </a:prstGeom>
        </p:spPr>
      </p:pic>
      <p:pic>
        <p:nvPicPr>
          <p:cNvPr id="18" name="Resim 17"/>
          <p:cNvPicPr>
            <a:picLocks noChangeAspect="1"/>
          </p:cNvPicPr>
          <p:nvPr/>
        </p:nvPicPr>
        <p:blipFill>
          <a:blip r:embed="rId7"/>
          <a:stretch>
            <a:fillRect/>
          </a:stretch>
        </p:blipFill>
        <p:spPr>
          <a:xfrm>
            <a:off x="530283" y="2534681"/>
            <a:ext cx="1585097" cy="548688"/>
          </a:xfrm>
          <a:prstGeom prst="rect">
            <a:avLst/>
          </a:prstGeom>
        </p:spPr>
      </p:pic>
      <p:pic>
        <p:nvPicPr>
          <p:cNvPr id="19" name="Resim 18"/>
          <p:cNvPicPr>
            <a:picLocks noChangeAspect="1"/>
          </p:cNvPicPr>
          <p:nvPr/>
        </p:nvPicPr>
        <p:blipFill>
          <a:blip r:embed="rId8"/>
          <a:stretch>
            <a:fillRect/>
          </a:stretch>
        </p:blipFill>
        <p:spPr>
          <a:xfrm>
            <a:off x="530283" y="3311969"/>
            <a:ext cx="1341236" cy="472481"/>
          </a:xfrm>
          <a:prstGeom prst="rect">
            <a:avLst/>
          </a:prstGeom>
        </p:spPr>
      </p:pic>
      <p:pic>
        <p:nvPicPr>
          <p:cNvPr id="20" name="Resim 19"/>
          <p:cNvPicPr>
            <a:picLocks noChangeAspect="1"/>
          </p:cNvPicPr>
          <p:nvPr/>
        </p:nvPicPr>
        <p:blipFill>
          <a:blip r:embed="rId9"/>
          <a:stretch>
            <a:fillRect/>
          </a:stretch>
        </p:blipFill>
        <p:spPr>
          <a:xfrm>
            <a:off x="460375" y="3982543"/>
            <a:ext cx="2530059" cy="586791"/>
          </a:xfrm>
          <a:prstGeom prst="rect">
            <a:avLst/>
          </a:prstGeom>
        </p:spPr>
      </p:pic>
      <p:sp>
        <p:nvSpPr>
          <p:cNvPr id="21" name="Metin kutusu 20"/>
          <p:cNvSpPr txBox="1"/>
          <p:nvPr/>
        </p:nvSpPr>
        <p:spPr>
          <a:xfrm>
            <a:off x="307975" y="4848168"/>
            <a:ext cx="4705216" cy="1569660"/>
          </a:xfrm>
          <a:prstGeom prst="rect">
            <a:avLst/>
          </a:prstGeom>
          <a:noFill/>
        </p:spPr>
        <p:txBody>
          <a:bodyPr wrap="square" rtlCol="0">
            <a:spAutoFit/>
          </a:bodyPr>
          <a:lstStyle/>
          <a:p>
            <a:pPr algn="just">
              <a:lnSpc>
                <a:spcPct val="150000"/>
              </a:lnSpc>
            </a:pPr>
            <a:r>
              <a:rPr lang="tr-TR" sz="1600" dirty="0">
                <a:latin typeface="Times New Roman" panose="02020603050405020304" pitchFamily="18" charset="0"/>
                <a:cs typeface="Times New Roman" panose="02020603050405020304" pitchFamily="18" charset="0"/>
              </a:rPr>
              <a:t>Bu grafikte ham veri seti üzerinde farklı modellerin performansları karşılaştırılmaktadır</a:t>
            </a:r>
            <a:r>
              <a:rPr lang="tr-TR" sz="1600" dirty="0" smtClean="0">
                <a:latin typeface="Times New Roman" panose="02020603050405020304" pitchFamily="18" charset="0"/>
                <a:cs typeface="Times New Roman" panose="02020603050405020304" pitchFamily="18" charset="0"/>
              </a:rPr>
              <a:t>. Tüm </a:t>
            </a:r>
            <a:r>
              <a:rPr lang="tr-TR" sz="1600" dirty="0">
                <a:latin typeface="Times New Roman" panose="02020603050405020304" pitchFamily="18" charset="0"/>
                <a:cs typeface="Times New Roman" panose="02020603050405020304" pitchFamily="18" charset="0"/>
              </a:rPr>
              <a:t>metrikler birlikte değerlendirildiğinde, BERT modelinin en yüksek performansı sağladığı görülmektedir.</a:t>
            </a:r>
          </a:p>
        </p:txBody>
      </p:sp>
    </p:spTree>
    <p:extLst>
      <p:ext uri="{BB962C8B-B14F-4D97-AF65-F5344CB8AC3E}">
        <p14:creationId xmlns:p14="http://schemas.microsoft.com/office/powerpoint/2010/main" val="41063791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054007" y="1178768"/>
            <a:ext cx="6091156" cy="369332"/>
          </a:xfrm>
          <a:prstGeom prst="rect">
            <a:avLst/>
          </a:prstGeom>
          <a:noFill/>
        </p:spPr>
        <p:txBody>
          <a:bodyPr wrap="square" rtlCol="0">
            <a:spAutoFit/>
          </a:bodyPr>
          <a:lstStyle/>
          <a:p>
            <a:pPr algn="ctr"/>
            <a:r>
              <a:rPr lang="tr-TR" b="1" u="sng" dirty="0" smtClean="0">
                <a:solidFill>
                  <a:srgbClr val="C00000"/>
                </a:solidFill>
              </a:rPr>
              <a:t>Model Performans Analizi</a:t>
            </a:r>
            <a:endParaRPr lang="tr-TR" b="1" u="sng" dirty="0">
              <a:solidFill>
                <a:srgbClr val="C00000"/>
              </a:solidFill>
            </a:endParaRPr>
          </a:p>
        </p:txBody>
      </p:sp>
      <p:pic>
        <p:nvPicPr>
          <p:cNvPr id="23" name="Resim 22"/>
          <p:cNvPicPr/>
          <p:nvPr/>
        </p:nvPicPr>
        <p:blipFill>
          <a:blip r:embed="rId5" cstate="print">
            <a:extLst>
              <a:ext uri="{28A0092B-C50C-407E-A947-70E740481C1C}">
                <a14:useLocalDpi xmlns:a14="http://schemas.microsoft.com/office/drawing/2010/main" val="0"/>
              </a:ext>
            </a:extLst>
          </a:blip>
          <a:stretch>
            <a:fillRect/>
          </a:stretch>
        </p:blipFill>
        <p:spPr>
          <a:xfrm>
            <a:off x="5748169" y="1625044"/>
            <a:ext cx="6048665" cy="4693909"/>
          </a:xfrm>
          <a:prstGeom prst="rect">
            <a:avLst/>
          </a:prstGeom>
        </p:spPr>
      </p:pic>
      <p:sp>
        <p:nvSpPr>
          <p:cNvPr id="5" name="Metin kutusu 4"/>
          <p:cNvSpPr txBox="1"/>
          <p:nvPr/>
        </p:nvSpPr>
        <p:spPr>
          <a:xfrm>
            <a:off x="436408" y="2320273"/>
            <a:ext cx="4233672" cy="364715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grafikte yalnızca GPT tarafından üretilen sentetik veri ile eğitilen modellerin performansları görülmektedir</a:t>
            </a:r>
            <a:r>
              <a:rPr lang="tr-TR" sz="1400" dirty="0" smtClean="0">
                <a:latin typeface="Times New Roman" panose="02020603050405020304" pitchFamily="18" charset="0"/>
                <a:cs typeface="Times New Roman" panose="02020603050405020304" pitchFamily="18" charset="0"/>
              </a:rPr>
              <a:t>. Genel </a:t>
            </a:r>
            <a:r>
              <a:rPr lang="tr-TR" sz="1400" dirty="0">
                <a:latin typeface="Times New Roman" panose="02020603050405020304" pitchFamily="18" charset="0"/>
                <a:cs typeface="Times New Roman" panose="02020603050405020304" pitchFamily="18" charset="0"/>
              </a:rPr>
              <a:t>olarak tüm modellerin performansında ham veriye kıyasla belirgin bir düşüş olduğu gözlemlenmektedir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durum, sentetik verinin tek başına kullanıldığında gerçek veri kadar güçlü bir öğrenme sağlamadığını göstermektedir. </a:t>
            </a:r>
            <a:endParaRPr lang="tr-TR" sz="14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BERT </a:t>
            </a:r>
            <a:r>
              <a:rPr lang="tr-TR" sz="1400" dirty="0">
                <a:latin typeface="Times New Roman" panose="02020603050405020304" pitchFamily="18" charset="0"/>
                <a:cs typeface="Times New Roman" panose="02020603050405020304" pitchFamily="18" charset="0"/>
              </a:rPr>
              <a:t>modeli diğer modellere göre yine en yüksek performansı göstermektedir, ancak ham veri senaryosuna göre performansında düşüş vardır</a:t>
            </a:r>
            <a:r>
              <a:rPr lang="tr-TR" sz="1400" dirty="0" smtClean="0">
                <a:latin typeface="Times New Roman" panose="02020603050405020304" pitchFamily="18" charset="0"/>
                <a:cs typeface="Times New Roman" panose="02020603050405020304" pitchFamily="18" charset="0"/>
              </a:rPr>
              <a:t>.</a:t>
            </a:r>
            <a:endParaRPr lang="tr-TR"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293186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pic>
        <p:nvPicPr>
          <p:cNvPr id="14" name="Resim 13">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6436660" y="6383214"/>
            <a:ext cx="5748169" cy="457200"/>
          </a:xfrm>
          <a:prstGeom prst="rect">
            <a:avLst/>
          </a:prstGeom>
          <a:noFill/>
          <a:ln>
            <a:noFill/>
          </a:ln>
        </p:spPr>
      </p:pic>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054007" y="1178768"/>
            <a:ext cx="6091156" cy="369332"/>
          </a:xfrm>
          <a:prstGeom prst="rect">
            <a:avLst/>
          </a:prstGeom>
          <a:noFill/>
        </p:spPr>
        <p:txBody>
          <a:bodyPr wrap="square" rtlCol="0">
            <a:spAutoFit/>
          </a:bodyPr>
          <a:lstStyle/>
          <a:p>
            <a:pPr algn="ctr"/>
            <a:r>
              <a:rPr lang="tr-TR" b="1" u="sng" dirty="0" smtClean="0">
                <a:solidFill>
                  <a:srgbClr val="C00000"/>
                </a:solidFill>
              </a:rPr>
              <a:t>Model Performans Analizi</a:t>
            </a:r>
            <a:endParaRPr lang="tr-TR" b="1" u="sng" dirty="0">
              <a:solidFill>
                <a:srgbClr val="C00000"/>
              </a:solidFill>
            </a:endParaRPr>
          </a:p>
        </p:txBody>
      </p:sp>
      <p:sp>
        <p:nvSpPr>
          <p:cNvPr id="5" name="Metin kutusu 4"/>
          <p:cNvSpPr txBox="1"/>
          <p:nvPr/>
        </p:nvSpPr>
        <p:spPr>
          <a:xfrm>
            <a:off x="436408" y="2320273"/>
            <a:ext cx="4233672" cy="300082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err="1">
                <a:latin typeface="Times New Roman" panose="02020603050405020304" pitchFamily="18" charset="0"/>
                <a:cs typeface="Times New Roman" panose="02020603050405020304" pitchFamily="18" charset="0"/>
              </a:rPr>
              <a:t>Claude</a:t>
            </a:r>
            <a:r>
              <a:rPr lang="tr-TR" sz="1400" dirty="0">
                <a:latin typeface="Times New Roman" panose="02020603050405020304" pitchFamily="18" charset="0"/>
                <a:cs typeface="Times New Roman" panose="02020603050405020304" pitchFamily="18" charset="0"/>
              </a:rPr>
              <a:t> modeli ile üretilen sentetik veri üzerinde elde edilen sonuçlar, GPT ile benzer bir eğilim göstermektedir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t>Bazı metriklerde </a:t>
            </a:r>
            <a:r>
              <a:rPr lang="tr-TR" sz="1400" dirty="0"/>
              <a:t>küçük farklılıklar gözlemlenmekle birlikte, genel performans seviyesinin yine ham verinin altında kaldığı görülmektedir</a:t>
            </a:r>
            <a:r>
              <a:rPr lang="tr-TR" sz="1400" dirty="0" smtClean="0"/>
              <a:t>.</a:t>
            </a:r>
          </a:p>
          <a:p>
            <a:pPr marL="285750" indent="-285750" algn="just">
              <a:lnSpc>
                <a:spcPct val="150000"/>
              </a:lnSpc>
              <a:buFont typeface="Wingdings" panose="05000000000000000000" pitchFamily="2" charset="2"/>
              <a:buChar char="q"/>
            </a:pPr>
            <a:r>
              <a:rPr lang="tr-TR" sz="1400" dirty="0"/>
              <a:t>Sonuç olarak, sentetik verinin tek başına kullanımı sınırlı performans sağlamakta, ancak modelden bağımsız olarak benzer eğilimler göstermektedir</a:t>
            </a:r>
            <a:r>
              <a:rPr lang="tr-TR" sz="1400" dirty="0" smtClean="0"/>
              <a:t>.</a:t>
            </a:r>
          </a:p>
        </p:txBody>
      </p:sp>
      <p:pic>
        <p:nvPicPr>
          <p:cNvPr id="16" name="Resim 15"/>
          <p:cNvPicPr/>
          <p:nvPr/>
        </p:nvPicPr>
        <p:blipFill>
          <a:blip r:embed="rId5" cstate="print">
            <a:extLst>
              <a:ext uri="{28A0092B-C50C-407E-A947-70E740481C1C}">
                <a14:useLocalDpi xmlns:a14="http://schemas.microsoft.com/office/drawing/2010/main" val="0"/>
              </a:ext>
            </a:extLst>
          </a:blip>
          <a:stretch>
            <a:fillRect/>
          </a:stretch>
        </p:blipFill>
        <p:spPr>
          <a:xfrm>
            <a:off x="5925312" y="1598877"/>
            <a:ext cx="5964047" cy="4651725"/>
          </a:xfrm>
          <a:prstGeom prst="rect">
            <a:avLst/>
          </a:prstGeom>
        </p:spPr>
      </p:pic>
    </p:spTree>
    <p:extLst>
      <p:ext uri="{BB962C8B-B14F-4D97-AF65-F5344CB8AC3E}">
        <p14:creationId xmlns:p14="http://schemas.microsoft.com/office/powerpoint/2010/main" val="22955824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054007" y="1178768"/>
            <a:ext cx="6091156" cy="369332"/>
          </a:xfrm>
          <a:prstGeom prst="rect">
            <a:avLst/>
          </a:prstGeom>
          <a:noFill/>
        </p:spPr>
        <p:txBody>
          <a:bodyPr wrap="square" rtlCol="0">
            <a:spAutoFit/>
          </a:bodyPr>
          <a:lstStyle/>
          <a:p>
            <a:pPr algn="ctr"/>
            <a:r>
              <a:rPr lang="tr-TR" b="1" u="sng" dirty="0" smtClean="0">
                <a:solidFill>
                  <a:srgbClr val="C00000"/>
                </a:solidFill>
              </a:rPr>
              <a:t>Model Performans Analizi</a:t>
            </a:r>
            <a:endParaRPr lang="tr-TR" b="1" u="sng" dirty="0">
              <a:solidFill>
                <a:srgbClr val="C00000"/>
              </a:solidFill>
            </a:endParaRPr>
          </a:p>
        </p:txBody>
      </p:sp>
      <p:pic>
        <p:nvPicPr>
          <p:cNvPr id="17" name="Resim 16"/>
          <p:cNvPicPr/>
          <p:nvPr/>
        </p:nvPicPr>
        <p:blipFill>
          <a:blip r:embed="rId5" cstate="print">
            <a:extLst>
              <a:ext uri="{28A0092B-C50C-407E-A947-70E740481C1C}">
                <a14:useLocalDpi xmlns:a14="http://schemas.microsoft.com/office/drawing/2010/main" val="0"/>
              </a:ext>
            </a:extLst>
          </a:blip>
          <a:stretch>
            <a:fillRect/>
          </a:stretch>
        </p:blipFill>
        <p:spPr>
          <a:xfrm>
            <a:off x="5748169" y="1565430"/>
            <a:ext cx="6010529" cy="4883662"/>
          </a:xfrm>
          <a:prstGeom prst="rect">
            <a:avLst/>
          </a:prstGeom>
        </p:spPr>
      </p:pic>
      <p:sp>
        <p:nvSpPr>
          <p:cNvPr id="19" name="Metin kutusu 18"/>
          <p:cNvSpPr txBox="1"/>
          <p:nvPr/>
        </p:nvSpPr>
        <p:spPr>
          <a:xfrm>
            <a:off x="436408" y="2320273"/>
            <a:ext cx="4233672" cy="332398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t>Bu grafikte ham veri ile GPT sentetik verisinin birlikte kullanıldığı senaryonun sonuçları görülmektedir</a:t>
            </a:r>
            <a:r>
              <a:rPr lang="tr-TR" sz="1400" dirty="0" smtClean="0"/>
              <a:t>.</a:t>
            </a:r>
          </a:p>
          <a:p>
            <a:pPr marL="285750" indent="-285750" algn="just">
              <a:lnSpc>
                <a:spcPct val="150000"/>
              </a:lnSpc>
              <a:buFont typeface="Wingdings" panose="05000000000000000000" pitchFamily="2" charset="2"/>
              <a:buChar char="q"/>
            </a:pPr>
            <a:r>
              <a:rPr lang="tr-TR" sz="1400" dirty="0"/>
              <a:t>Yalnızca sentetik veri kullanılan duruma kıyasla, performansta belirgin bir artış gözlemlenmektedir</a:t>
            </a:r>
            <a:r>
              <a:rPr lang="tr-TR" sz="1400" dirty="0" smtClean="0"/>
              <a:t>.</a:t>
            </a:r>
          </a:p>
          <a:p>
            <a:pPr marL="285750" indent="-285750" algn="just">
              <a:lnSpc>
                <a:spcPct val="150000"/>
              </a:lnSpc>
              <a:buFont typeface="Wingdings" panose="05000000000000000000" pitchFamily="2" charset="2"/>
              <a:buChar char="q"/>
            </a:pPr>
            <a:r>
              <a:rPr lang="tr-TR" sz="1400" dirty="0"/>
              <a:t>Bu durum, sentetik verinin tek başına yeterli olmadığını ancak gerçek veri ile birlikte kullanıldığında model performansını desteklediğini göstermektedir</a:t>
            </a:r>
            <a:r>
              <a:rPr lang="tr-TR" sz="1400" dirty="0" smtClean="0"/>
              <a:t>.</a:t>
            </a:r>
            <a:endParaRPr lang="tr-TR" sz="1400" dirty="0"/>
          </a:p>
          <a:p>
            <a:pPr marL="285750" indent="-285750" algn="just">
              <a:lnSpc>
                <a:spcPct val="150000"/>
              </a:lnSpc>
              <a:buFont typeface="Wingdings" panose="05000000000000000000" pitchFamily="2" charset="2"/>
              <a:buChar char="q"/>
            </a:pPr>
            <a:endParaRPr lang="tr-TR" sz="1400" dirty="0" smtClean="0"/>
          </a:p>
        </p:txBody>
      </p:sp>
    </p:spTree>
    <p:extLst>
      <p:ext uri="{BB962C8B-B14F-4D97-AF65-F5344CB8AC3E}">
        <p14:creationId xmlns:p14="http://schemas.microsoft.com/office/powerpoint/2010/main" val="13396649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054007" y="1178768"/>
            <a:ext cx="6091156" cy="369332"/>
          </a:xfrm>
          <a:prstGeom prst="rect">
            <a:avLst/>
          </a:prstGeom>
          <a:noFill/>
        </p:spPr>
        <p:txBody>
          <a:bodyPr wrap="square" rtlCol="0">
            <a:spAutoFit/>
          </a:bodyPr>
          <a:lstStyle/>
          <a:p>
            <a:pPr algn="ctr"/>
            <a:r>
              <a:rPr lang="tr-TR" b="1" u="sng" dirty="0" smtClean="0">
                <a:solidFill>
                  <a:srgbClr val="C00000"/>
                </a:solidFill>
              </a:rPr>
              <a:t>Model Performans Analizi</a:t>
            </a:r>
            <a:endParaRPr lang="tr-TR" b="1" u="sng" dirty="0">
              <a:solidFill>
                <a:srgbClr val="C00000"/>
              </a:solidFill>
            </a:endParaRPr>
          </a:p>
        </p:txBody>
      </p:sp>
      <p:sp>
        <p:nvSpPr>
          <p:cNvPr id="19" name="Metin kutusu 18"/>
          <p:cNvSpPr txBox="1"/>
          <p:nvPr/>
        </p:nvSpPr>
        <p:spPr>
          <a:xfrm>
            <a:off x="436408" y="2320273"/>
            <a:ext cx="4233672" cy="267765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smtClean="0"/>
              <a:t>Bu </a:t>
            </a:r>
            <a:r>
              <a:rPr lang="tr-TR" sz="1400" dirty="0"/>
              <a:t>grafikte ham veri ile </a:t>
            </a:r>
            <a:r>
              <a:rPr lang="tr-TR" sz="1400" dirty="0" err="1"/>
              <a:t>Claude</a:t>
            </a:r>
            <a:r>
              <a:rPr lang="tr-TR" sz="1400" dirty="0"/>
              <a:t> sentetik verisinin birlikte kullanıldığı senaryo yer almaktadır</a:t>
            </a:r>
            <a:r>
              <a:rPr lang="tr-TR" sz="1400" dirty="0" smtClean="0"/>
              <a:t>.</a:t>
            </a:r>
          </a:p>
          <a:p>
            <a:pPr marL="285750" indent="-285750" algn="just">
              <a:lnSpc>
                <a:spcPct val="150000"/>
              </a:lnSpc>
              <a:buFont typeface="Wingdings" panose="05000000000000000000" pitchFamily="2" charset="2"/>
              <a:buChar char="q"/>
            </a:pPr>
            <a:r>
              <a:rPr lang="tr-TR" sz="1400" dirty="0"/>
              <a:t>GPT ile elde edilen sonuçlara benzer şekilde, </a:t>
            </a:r>
            <a:r>
              <a:rPr lang="tr-TR" sz="1400" dirty="0" err="1"/>
              <a:t>hibrit</a:t>
            </a:r>
            <a:r>
              <a:rPr lang="tr-TR" sz="1400" dirty="0"/>
              <a:t> veri kullanımı performans artışı sağlamaktadır</a:t>
            </a:r>
            <a:r>
              <a:rPr lang="tr-TR" sz="1400" dirty="0" smtClean="0"/>
              <a:t>.</a:t>
            </a:r>
          </a:p>
          <a:p>
            <a:pPr marL="285750" indent="-285750" algn="just">
              <a:lnSpc>
                <a:spcPct val="150000"/>
              </a:lnSpc>
              <a:buFont typeface="Wingdings" panose="05000000000000000000" pitchFamily="2" charset="2"/>
              <a:buChar char="q"/>
            </a:pPr>
            <a:r>
              <a:rPr lang="tr-TR" sz="1400" dirty="0"/>
              <a:t>Bu durum, sentetik veri kaynağından bağımsız olarak </a:t>
            </a:r>
            <a:r>
              <a:rPr lang="tr-TR" sz="1400" dirty="0" err="1"/>
              <a:t>hibrit</a:t>
            </a:r>
            <a:r>
              <a:rPr lang="tr-TR" sz="1400" dirty="0"/>
              <a:t> kullanımın etkili olduğunu göstermektedir.</a:t>
            </a:r>
            <a:endParaRPr lang="tr-TR" sz="1400" dirty="0" smtClean="0"/>
          </a:p>
          <a:p>
            <a:pPr marL="285750" indent="-285750" algn="just">
              <a:lnSpc>
                <a:spcPct val="150000"/>
              </a:lnSpc>
              <a:buFont typeface="Wingdings" panose="05000000000000000000" pitchFamily="2" charset="2"/>
              <a:buChar char="q"/>
            </a:pPr>
            <a:endParaRPr lang="tr-TR" sz="1400" dirty="0" smtClean="0"/>
          </a:p>
        </p:txBody>
      </p:sp>
      <p:pic>
        <p:nvPicPr>
          <p:cNvPr id="13" name="Resim 12"/>
          <p:cNvPicPr/>
          <p:nvPr/>
        </p:nvPicPr>
        <p:blipFill>
          <a:blip r:embed="rId5" cstate="print">
            <a:extLst>
              <a:ext uri="{28A0092B-C50C-407E-A947-70E740481C1C}">
                <a14:useLocalDpi xmlns:a14="http://schemas.microsoft.com/office/drawing/2010/main" val="0"/>
              </a:ext>
            </a:extLst>
          </a:blip>
          <a:stretch>
            <a:fillRect/>
          </a:stretch>
        </p:blipFill>
        <p:spPr>
          <a:xfrm>
            <a:off x="5843016" y="1634294"/>
            <a:ext cx="5844096" cy="4874409"/>
          </a:xfrm>
          <a:prstGeom prst="rect">
            <a:avLst/>
          </a:prstGeom>
        </p:spPr>
      </p:pic>
    </p:spTree>
    <p:extLst>
      <p:ext uri="{BB962C8B-B14F-4D97-AF65-F5344CB8AC3E}">
        <p14:creationId xmlns:p14="http://schemas.microsoft.com/office/powerpoint/2010/main" val="40264073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054007" y="1178768"/>
            <a:ext cx="6091156" cy="369332"/>
          </a:xfrm>
          <a:prstGeom prst="rect">
            <a:avLst/>
          </a:prstGeom>
          <a:noFill/>
        </p:spPr>
        <p:txBody>
          <a:bodyPr wrap="square" rtlCol="0">
            <a:spAutoFit/>
          </a:bodyPr>
          <a:lstStyle/>
          <a:p>
            <a:pPr algn="ctr"/>
            <a:r>
              <a:rPr lang="tr-TR" b="1" u="sng" dirty="0" smtClean="0">
                <a:solidFill>
                  <a:srgbClr val="C00000"/>
                </a:solidFill>
              </a:rPr>
              <a:t>Model Performans Analizi</a:t>
            </a:r>
            <a:endParaRPr lang="tr-TR" b="1" u="sng" dirty="0">
              <a:solidFill>
                <a:srgbClr val="C00000"/>
              </a:solidFill>
            </a:endParaRPr>
          </a:p>
        </p:txBody>
      </p:sp>
      <p:sp>
        <p:nvSpPr>
          <p:cNvPr id="19" name="Metin kutusu 18"/>
          <p:cNvSpPr txBox="1"/>
          <p:nvPr/>
        </p:nvSpPr>
        <p:spPr>
          <a:xfrm>
            <a:off x="460375" y="1701988"/>
            <a:ext cx="4233672" cy="429348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t>Bu grafikte ham veri ile GPT ve </a:t>
            </a:r>
            <a:r>
              <a:rPr lang="tr-TR" sz="1400" dirty="0" err="1"/>
              <a:t>Claude</a:t>
            </a:r>
            <a:r>
              <a:rPr lang="tr-TR" sz="1400" dirty="0"/>
              <a:t> tarafından üretilen sentetik verilerin birlikte kullanıldığı tam </a:t>
            </a:r>
            <a:r>
              <a:rPr lang="tr-TR" sz="1400" dirty="0" err="1"/>
              <a:t>hibrit</a:t>
            </a:r>
            <a:r>
              <a:rPr lang="tr-TR" sz="1400" dirty="0"/>
              <a:t> senaryonun sonuçları görülmektedir</a:t>
            </a:r>
            <a:r>
              <a:rPr lang="tr-TR" sz="1400" dirty="0" smtClean="0"/>
              <a:t>.</a:t>
            </a:r>
          </a:p>
          <a:p>
            <a:pPr marL="285750" indent="-285750" algn="just">
              <a:lnSpc>
                <a:spcPct val="150000"/>
              </a:lnSpc>
              <a:buFont typeface="Wingdings" panose="05000000000000000000" pitchFamily="2" charset="2"/>
              <a:buChar char="q"/>
            </a:pPr>
            <a:r>
              <a:rPr lang="tr-TR" sz="1400" dirty="0" smtClean="0"/>
              <a:t>Tüm </a:t>
            </a:r>
            <a:r>
              <a:rPr lang="tr-TR" sz="1400" dirty="0"/>
              <a:t>metrikler birlikte değerlendirildiğinde, </a:t>
            </a:r>
            <a:r>
              <a:rPr lang="tr-TR" sz="1400" dirty="0" err="1"/>
              <a:t>hibrit</a:t>
            </a:r>
            <a:r>
              <a:rPr lang="tr-TR" sz="1400" dirty="0"/>
              <a:t> veri kullanımının en yüksek ve en dengeli performansı sağladığı görülmektedir. Bu durum, sentetik verinin farklı kaynaklardan üretilmesinin veri çeşitliliğini artırarak model öğrenmesini güçlendirdiğini göstermektedir.</a:t>
            </a:r>
            <a:endParaRPr lang="tr-TR" sz="1400" dirty="0" smtClean="0"/>
          </a:p>
          <a:p>
            <a:pPr marL="285750" indent="-285750" algn="just">
              <a:lnSpc>
                <a:spcPct val="150000"/>
              </a:lnSpc>
              <a:buFont typeface="Wingdings" panose="05000000000000000000" pitchFamily="2" charset="2"/>
              <a:buChar char="q"/>
            </a:pPr>
            <a:r>
              <a:rPr lang="tr-TR" sz="1400" dirty="0"/>
              <a:t>BERT modeli yine en yüksek performansı gösterirken, diğer modellerde de genel bir performans artışı gözlemlenmektedir</a:t>
            </a:r>
            <a:r>
              <a:rPr lang="tr-TR" sz="1400" dirty="0" smtClean="0"/>
              <a:t>. </a:t>
            </a:r>
          </a:p>
          <a:p>
            <a:pPr algn="just">
              <a:lnSpc>
                <a:spcPct val="150000"/>
              </a:lnSpc>
            </a:pPr>
            <a:endParaRPr lang="tr-TR" sz="1400" dirty="0" smtClean="0"/>
          </a:p>
        </p:txBody>
      </p:sp>
      <p:pic>
        <p:nvPicPr>
          <p:cNvPr id="14" name="Resim 13"/>
          <p:cNvPicPr/>
          <p:nvPr/>
        </p:nvPicPr>
        <p:blipFill>
          <a:blip r:embed="rId5" cstate="print">
            <a:extLst>
              <a:ext uri="{28A0092B-C50C-407E-A947-70E740481C1C}">
                <a14:useLocalDpi xmlns:a14="http://schemas.microsoft.com/office/drawing/2010/main" val="0"/>
              </a:ext>
            </a:extLst>
          </a:blip>
          <a:stretch>
            <a:fillRect/>
          </a:stretch>
        </p:blipFill>
        <p:spPr>
          <a:xfrm>
            <a:off x="5748169" y="1634294"/>
            <a:ext cx="6131770" cy="4874409"/>
          </a:xfrm>
          <a:prstGeom prst="rect">
            <a:avLst/>
          </a:prstGeom>
        </p:spPr>
      </p:pic>
    </p:spTree>
    <p:extLst>
      <p:ext uri="{BB962C8B-B14F-4D97-AF65-F5344CB8AC3E}">
        <p14:creationId xmlns:p14="http://schemas.microsoft.com/office/powerpoint/2010/main" val="39606370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054007" y="1178768"/>
            <a:ext cx="6091156" cy="369332"/>
          </a:xfrm>
          <a:prstGeom prst="rect">
            <a:avLst/>
          </a:prstGeom>
          <a:noFill/>
        </p:spPr>
        <p:txBody>
          <a:bodyPr wrap="square" rtlCol="0">
            <a:spAutoFit/>
          </a:bodyPr>
          <a:lstStyle/>
          <a:p>
            <a:pPr algn="ctr"/>
            <a:r>
              <a:rPr lang="tr-TR" b="1" u="sng" dirty="0" smtClean="0">
                <a:solidFill>
                  <a:srgbClr val="C00000"/>
                </a:solidFill>
              </a:rPr>
              <a:t>Model Performans Analizi – BERT</a:t>
            </a:r>
            <a:endParaRPr lang="tr-TR" b="1" u="sng" dirty="0">
              <a:solidFill>
                <a:srgbClr val="C00000"/>
              </a:solidFill>
            </a:endParaRPr>
          </a:p>
        </p:txBody>
      </p:sp>
      <p:sp>
        <p:nvSpPr>
          <p:cNvPr id="19" name="Metin kutusu 18"/>
          <p:cNvSpPr txBox="1"/>
          <p:nvPr/>
        </p:nvSpPr>
        <p:spPr>
          <a:xfrm>
            <a:off x="436408" y="1793126"/>
            <a:ext cx="4233672" cy="461664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t>Ham ve </a:t>
            </a:r>
            <a:r>
              <a:rPr lang="tr-TR" sz="1400" dirty="0" err="1"/>
              <a:t>hibrit</a:t>
            </a:r>
            <a:r>
              <a:rPr lang="tr-TR" sz="1400" dirty="0"/>
              <a:t> veri kümelerinde </a:t>
            </a:r>
            <a:r>
              <a:rPr lang="tr-TR" sz="1400" dirty="0" err="1"/>
              <a:t>BERT’in</a:t>
            </a:r>
            <a:r>
              <a:rPr lang="tr-TR" sz="1400" dirty="0"/>
              <a:t> tüm metriklerde yüksek ve dengeli performans sergilediği </a:t>
            </a:r>
            <a:r>
              <a:rPr lang="tr-TR" sz="1400" dirty="0" smtClean="0"/>
              <a:t>görülmektedir.</a:t>
            </a:r>
          </a:p>
          <a:p>
            <a:pPr marL="285750" indent="-285750" algn="just">
              <a:lnSpc>
                <a:spcPct val="150000"/>
              </a:lnSpc>
              <a:buFont typeface="Wingdings" panose="05000000000000000000" pitchFamily="2" charset="2"/>
              <a:buChar char="q"/>
            </a:pPr>
            <a:r>
              <a:rPr lang="tr-TR" sz="1400" dirty="0"/>
              <a:t>Ham veri ile </a:t>
            </a:r>
            <a:r>
              <a:rPr lang="tr-TR" sz="1400" dirty="0" err="1"/>
              <a:t>hibrit</a:t>
            </a:r>
            <a:r>
              <a:rPr lang="tr-TR" sz="1400" dirty="0"/>
              <a:t> veri senaryoları arasında performans farkının oldukça düşük olması, sentetik verinin modele zarar vermediğini göstermektedir</a:t>
            </a:r>
            <a:r>
              <a:rPr lang="tr-TR" sz="1400" dirty="0" smtClean="0"/>
              <a:t>.</a:t>
            </a:r>
          </a:p>
          <a:p>
            <a:pPr marL="285750" indent="-285750" algn="just">
              <a:lnSpc>
                <a:spcPct val="150000"/>
              </a:lnSpc>
              <a:buFont typeface="Wingdings" panose="05000000000000000000" pitchFamily="2" charset="2"/>
              <a:buChar char="q"/>
            </a:pPr>
            <a:r>
              <a:rPr lang="tr-TR" sz="1400" dirty="0"/>
              <a:t>Buna karşılık yalnızca sentetik veri kullanılan senaryolarda performansın belirgin şekilde düştüğü </a:t>
            </a:r>
            <a:r>
              <a:rPr lang="tr-TR" sz="1400" dirty="0" err="1"/>
              <a:t>görülmektedir.Özellikle</a:t>
            </a:r>
            <a:r>
              <a:rPr lang="tr-TR" sz="1400" dirty="0"/>
              <a:t> </a:t>
            </a:r>
            <a:r>
              <a:rPr lang="tr-TR" sz="1400" dirty="0" err="1"/>
              <a:t>recall</a:t>
            </a:r>
            <a:r>
              <a:rPr lang="tr-TR" sz="1400" dirty="0"/>
              <a:t> ve F1-score değerlerindeki düşüş, modelin duygu yakalama kapasitesinin azaldığını göstermektedir</a:t>
            </a:r>
            <a:r>
              <a:rPr lang="tr-TR" sz="1400" dirty="0" smtClean="0"/>
              <a:t>.</a:t>
            </a:r>
          </a:p>
          <a:p>
            <a:pPr marL="285750" indent="-285750" algn="just">
              <a:lnSpc>
                <a:spcPct val="150000"/>
              </a:lnSpc>
              <a:buFont typeface="Wingdings" panose="05000000000000000000" pitchFamily="2" charset="2"/>
              <a:buChar char="q"/>
            </a:pPr>
            <a:r>
              <a:rPr lang="tr-TR" sz="1400" dirty="0"/>
              <a:t>Ayrıca sentetik veri senaryolarında standart sapma değerlerinin artması, model performansının daha değişken hale geldiğini göstermektedir.</a:t>
            </a:r>
            <a:endParaRPr lang="tr-TR" sz="1400" dirty="0" smtClean="0"/>
          </a:p>
        </p:txBody>
      </p:sp>
      <p:pic>
        <p:nvPicPr>
          <p:cNvPr id="13" name="Resim 12"/>
          <p:cNvPicPr/>
          <p:nvPr/>
        </p:nvPicPr>
        <p:blipFill>
          <a:blip r:embed="rId5">
            <a:extLst>
              <a:ext uri="{28A0092B-C50C-407E-A947-70E740481C1C}">
                <a14:useLocalDpi xmlns:a14="http://schemas.microsoft.com/office/drawing/2010/main" val="0"/>
              </a:ext>
            </a:extLst>
          </a:blip>
          <a:stretch>
            <a:fillRect/>
          </a:stretch>
        </p:blipFill>
        <p:spPr>
          <a:xfrm>
            <a:off x="5102352" y="1827943"/>
            <a:ext cx="6989064" cy="4755809"/>
          </a:xfrm>
          <a:prstGeom prst="rect">
            <a:avLst/>
          </a:prstGeom>
        </p:spPr>
      </p:pic>
    </p:spTree>
    <p:extLst>
      <p:ext uri="{BB962C8B-B14F-4D97-AF65-F5344CB8AC3E}">
        <p14:creationId xmlns:p14="http://schemas.microsoft.com/office/powerpoint/2010/main" val="34030447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«Deney ve Bulgular»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054007" y="1178768"/>
            <a:ext cx="6091156" cy="369332"/>
          </a:xfrm>
          <a:prstGeom prst="rect">
            <a:avLst/>
          </a:prstGeom>
          <a:noFill/>
        </p:spPr>
        <p:txBody>
          <a:bodyPr wrap="square" rtlCol="0">
            <a:spAutoFit/>
          </a:bodyPr>
          <a:lstStyle/>
          <a:p>
            <a:pPr algn="ctr"/>
            <a:r>
              <a:rPr lang="tr-TR" b="1" u="sng" dirty="0" smtClean="0">
                <a:solidFill>
                  <a:srgbClr val="C00000"/>
                </a:solidFill>
              </a:rPr>
              <a:t>Model Performans Analizi – BERT Detaylı Analiz</a:t>
            </a:r>
            <a:endParaRPr lang="tr-TR" b="1" u="sng" dirty="0">
              <a:solidFill>
                <a:srgbClr val="C00000"/>
              </a:solidFill>
            </a:endParaRPr>
          </a:p>
        </p:txBody>
      </p:sp>
      <p:pic>
        <p:nvPicPr>
          <p:cNvPr id="7" name="Resim 6"/>
          <p:cNvPicPr>
            <a:picLocks noChangeAspect="1"/>
          </p:cNvPicPr>
          <p:nvPr/>
        </p:nvPicPr>
        <p:blipFill>
          <a:blip r:embed="rId5"/>
          <a:stretch>
            <a:fillRect/>
          </a:stretch>
        </p:blipFill>
        <p:spPr>
          <a:xfrm>
            <a:off x="612775" y="2348293"/>
            <a:ext cx="4480948" cy="4023709"/>
          </a:xfrm>
          <a:prstGeom prst="rect">
            <a:avLst/>
          </a:prstGeom>
        </p:spPr>
      </p:pic>
      <p:graphicFrame>
        <p:nvGraphicFramePr>
          <p:cNvPr id="11" name="Tablo 10"/>
          <p:cNvGraphicFramePr>
            <a:graphicFrameLocks noGrp="1"/>
          </p:cNvGraphicFramePr>
          <p:nvPr>
            <p:extLst>
              <p:ext uri="{D42A27DB-BD31-4B8C-83A1-F6EECF244321}">
                <p14:modId xmlns:p14="http://schemas.microsoft.com/office/powerpoint/2010/main" val="910428333"/>
              </p:ext>
            </p:extLst>
          </p:nvPr>
        </p:nvGraphicFramePr>
        <p:xfrm>
          <a:off x="5467574" y="2348293"/>
          <a:ext cx="5405120" cy="2468880"/>
        </p:xfrm>
        <a:graphic>
          <a:graphicData uri="http://schemas.openxmlformats.org/drawingml/2006/table">
            <a:tbl>
              <a:tblPr firstRow="1" firstCol="1" bandRow="1">
                <a:tableStyleId>{F5AB1C69-6EDB-4FF4-983F-18BD219EF322}</a:tableStyleId>
              </a:tblPr>
              <a:tblGrid>
                <a:gridCol w="1155065"/>
                <a:gridCol w="804545"/>
                <a:gridCol w="537845"/>
                <a:gridCol w="628650"/>
                <a:gridCol w="803910"/>
                <a:gridCol w="626745"/>
                <a:gridCol w="848360"/>
              </a:tblGrid>
              <a:tr h="0">
                <a:tc>
                  <a:txBody>
                    <a:bodyPr/>
                    <a:lstStyle/>
                    <a:p>
                      <a:pPr algn="ctr">
                        <a:lnSpc>
                          <a:spcPct val="150000"/>
                        </a:lnSpc>
                        <a:spcBef>
                          <a:spcPts val="1200"/>
                        </a:spcBef>
                        <a:spcAft>
                          <a:spcPts val="0"/>
                        </a:spcAft>
                      </a:pPr>
                      <a:r>
                        <a:rPr lang="tr-TR" sz="1200" b="1" dirty="0">
                          <a:solidFill>
                            <a:schemeClr val="tx1"/>
                          </a:solidFill>
                          <a:effectLst/>
                        </a:rPr>
                        <a:t>Veri Kümeleri</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dirty="0">
                          <a:solidFill>
                            <a:schemeClr val="tx1"/>
                          </a:solidFill>
                          <a:effectLst/>
                        </a:rPr>
                        <a:t>BERT</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CNN</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LSTM</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Naive Bayes</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SVM</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Logistic Regression</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ctr">
                        <a:lnSpc>
                          <a:spcPct val="150000"/>
                        </a:lnSpc>
                        <a:spcBef>
                          <a:spcPts val="1200"/>
                        </a:spcBef>
                        <a:spcAft>
                          <a:spcPts val="0"/>
                        </a:spcAft>
                      </a:pPr>
                      <a:r>
                        <a:rPr lang="tr-TR" sz="1200" b="1">
                          <a:solidFill>
                            <a:schemeClr val="tx1"/>
                          </a:solidFill>
                          <a:effectLst/>
                        </a:rPr>
                        <a:t>Ham</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1.00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5.00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6.00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2.00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3.00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4.00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ctr">
                        <a:lnSpc>
                          <a:spcPct val="150000"/>
                        </a:lnSpc>
                        <a:spcBef>
                          <a:spcPts val="1200"/>
                        </a:spcBef>
                        <a:spcAft>
                          <a:spcPts val="0"/>
                        </a:spcAft>
                      </a:pPr>
                      <a:r>
                        <a:rPr lang="tr-TR" sz="1200" b="1">
                          <a:solidFill>
                            <a:schemeClr val="tx1"/>
                          </a:solidFill>
                          <a:effectLst/>
                        </a:rPr>
                        <a:t>Ham + GPT</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1.00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5.00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5.40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3.00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2.60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4.00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ctr">
                        <a:lnSpc>
                          <a:spcPct val="150000"/>
                        </a:lnSpc>
                        <a:spcBef>
                          <a:spcPts val="1200"/>
                        </a:spcBef>
                        <a:spcAft>
                          <a:spcPts val="0"/>
                        </a:spcAft>
                      </a:pPr>
                      <a:r>
                        <a:rPr lang="tr-TR" sz="1200" b="1">
                          <a:solidFill>
                            <a:schemeClr val="tx1"/>
                          </a:solidFill>
                          <a:effectLst/>
                        </a:rPr>
                        <a:t>Ham + Claude</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1.00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4.00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5.60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3.80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3.00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4.00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ctr">
                        <a:lnSpc>
                          <a:spcPct val="150000"/>
                        </a:lnSpc>
                        <a:spcBef>
                          <a:spcPts val="1200"/>
                        </a:spcBef>
                        <a:spcAft>
                          <a:spcPts val="0"/>
                        </a:spcAft>
                      </a:pPr>
                      <a:r>
                        <a:rPr lang="tr-TR" sz="1200" b="1">
                          <a:solidFill>
                            <a:schemeClr val="tx1"/>
                          </a:solidFill>
                          <a:effectLst/>
                        </a:rPr>
                        <a:t>Ham + GPT + Claude</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1.00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4.60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5.80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4.60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3.00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4.00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ctr">
                        <a:lnSpc>
                          <a:spcPct val="150000"/>
                        </a:lnSpc>
                        <a:spcBef>
                          <a:spcPts val="1200"/>
                        </a:spcBef>
                        <a:spcAft>
                          <a:spcPts val="0"/>
                        </a:spcAft>
                      </a:pPr>
                      <a:r>
                        <a:rPr lang="tr-TR" sz="1200" b="1">
                          <a:solidFill>
                            <a:schemeClr val="tx1"/>
                          </a:solidFill>
                          <a:effectLst/>
                        </a:rPr>
                        <a:t>GPT</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1.00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2.00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3.00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5.00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4.00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6.00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r>
              <a:tr h="0">
                <a:tc>
                  <a:txBody>
                    <a:bodyPr/>
                    <a:lstStyle/>
                    <a:p>
                      <a:pPr algn="ctr">
                        <a:lnSpc>
                          <a:spcPct val="150000"/>
                        </a:lnSpc>
                        <a:spcBef>
                          <a:spcPts val="1200"/>
                        </a:spcBef>
                        <a:spcAft>
                          <a:spcPts val="0"/>
                        </a:spcAft>
                      </a:pPr>
                      <a:r>
                        <a:rPr lang="tr-TR" sz="1200" b="1">
                          <a:solidFill>
                            <a:schemeClr val="tx1"/>
                          </a:solidFill>
                          <a:effectLst/>
                        </a:rPr>
                        <a:t>Claude</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1.20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2.40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3.20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5.00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a:solidFill>
                            <a:schemeClr val="tx1"/>
                          </a:solidFill>
                          <a:effectLst/>
                        </a:rPr>
                        <a:t>3.20</a:t>
                      </a:r>
                      <a:endParaRPr lang="tr-TR" sz="1200" b="1">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algn="ctr">
                        <a:lnSpc>
                          <a:spcPct val="150000"/>
                        </a:lnSpc>
                        <a:spcBef>
                          <a:spcPts val="1200"/>
                        </a:spcBef>
                        <a:spcAft>
                          <a:spcPts val="0"/>
                        </a:spcAft>
                      </a:pPr>
                      <a:r>
                        <a:rPr lang="tr-TR" sz="1200" b="1" dirty="0">
                          <a:solidFill>
                            <a:schemeClr val="tx1"/>
                          </a:solidFill>
                          <a:effectLst/>
                        </a:rPr>
                        <a:t>6.00</a:t>
                      </a:r>
                      <a:endParaRPr lang="tr-TR" sz="1200" b="1" dirty="0">
                        <a:solidFill>
                          <a:schemeClr val="tx1"/>
                        </a:solidFill>
                        <a:effectLst/>
                        <a:latin typeface="Times New Roman" panose="02020603050405020304" pitchFamily="18" charset="0"/>
                        <a:ea typeface="Calibri" panose="020F0502020204030204" pitchFamily="34" charset="0"/>
                      </a:endParaRPr>
                    </a:p>
                  </a:txBody>
                  <a:tcPr marL="68580" marR="68580" marT="0" marB="0"/>
                </a:tc>
              </a:tr>
            </a:tbl>
          </a:graphicData>
        </a:graphic>
      </p:graphicFrame>
      <p:sp>
        <p:nvSpPr>
          <p:cNvPr id="14" name="Metin kutusu 13"/>
          <p:cNvSpPr txBox="1"/>
          <p:nvPr/>
        </p:nvSpPr>
        <p:spPr>
          <a:xfrm>
            <a:off x="460375" y="1823630"/>
            <a:ext cx="4815713" cy="523220"/>
          </a:xfrm>
          <a:prstGeom prst="rect">
            <a:avLst/>
          </a:prstGeom>
          <a:noFill/>
        </p:spPr>
        <p:txBody>
          <a:bodyPr wrap="square" rtlCol="0">
            <a:spAutoFit/>
          </a:bodyPr>
          <a:lstStyle/>
          <a:p>
            <a:pPr marL="285750" indent="-285750" algn="ctr">
              <a:buFont typeface="Wingdings" panose="05000000000000000000" pitchFamily="2" charset="2"/>
              <a:buChar char="v"/>
            </a:pPr>
            <a:r>
              <a:rPr lang="tr-TR" sz="1400" b="1" i="1" dirty="0">
                <a:solidFill>
                  <a:srgbClr val="C00000"/>
                </a:solidFill>
                <a:latin typeface="Times New Roman" panose="02020603050405020304" pitchFamily="18" charset="0"/>
                <a:cs typeface="Times New Roman" panose="02020603050405020304" pitchFamily="18" charset="0"/>
              </a:rPr>
              <a:t>Tüm Veri Kümeleri Üzerinde Her Bir Metrik İçin </a:t>
            </a:r>
            <a:r>
              <a:rPr lang="tr-TR" sz="1400" b="1" i="1" dirty="0" err="1">
                <a:solidFill>
                  <a:srgbClr val="C00000"/>
                </a:solidFill>
                <a:latin typeface="Times New Roman" panose="02020603050405020304" pitchFamily="18" charset="0"/>
                <a:cs typeface="Times New Roman" panose="02020603050405020304" pitchFamily="18" charset="0"/>
              </a:rPr>
              <a:t>Friedman</a:t>
            </a:r>
            <a:r>
              <a:rPr lang="tr-TR" sz="1400" b="1" i="1" dirty="0">
                <a:solidFill>
                  <a:srgbClr val="C00000"/>
                </a:solidFill>
                <a:latin typeface="Times New Roman" panose="02020603050405020304" pitchFamily="18" charset="0"/>
                <a:cs typeface="Times New Roman" panose="02020603050405020304" pitchFamily="18" charset="0"/>
              </a:rPr>
              <a:t> Testi Sonuçları</a:t>
            </a:r>
          </a:p>
        </p:txBody>
      </p:sp>
      <p:sp>
        <p:nvSpPr>
          <p:cNvPr id="16" name="Metin kutusu 15"/>
          <p:cNvSpPr txBox="1"/>
          <p:nvPr/>
        </p:nvSpPr>
        <p:spPr>
          <a:xfrm>
            <a:off x="5467574" y="5011340"/>
            <a:ext cx="2869423" cy="1846659"/>
          </a:xfrm>
          <a:prstGeom prst="rect">
            <a:avLst/>
          </a:prstGeom>
          <a:noFill/>
        </p:spPr>
        <p:txBody>
          <a:bodyPr wrap="square" rtlCol="0">
            <a:spAutoFit/>
          </a:bodyPr>
          <a:lstStyle/>
          <a:p>
            <a:pPr algn="just"/>
            <a:r>
              <a:rPr lang="tr-TR" sz="1600" b="1" u="sng" dirty="0" err="1" smtClean="0">
                <a:solidFill>
                  <a:srgbClr val="C00000"/>
                </a:solidFill>
                <a:latin typeface="Times New Roman" panose="02020603050405020304" pitchFamily="18" charset="0"/>
                <a:cs typeface="Times New Roman" panose="02020603050405020304" pitchFamily="18" charset="0"/>
              </a:rPr>
              <a:t>Friedman</a:t>
            </a:r>
            <a:r>
              <a:rPr lang="tr-TR" sz="1600" b="1" u="sng" dirty="0" smtClean="0">
                <a:solidFill>
                  <a:srgbClr val="C00000"/>
                </a:solidFill>
                <a:latin typeface="Times New Roman" panose="02020603050405020304" pitchFamily="18" charset="0"/>
                <a:cs typeface="Times New Roman" panose="02020603050405020304" pitchFamily="18" charset="0"/>
              </a:rPr>
              <a:t> </a:t>
            </a:r>
            <a:r>
              <a:rPr lang="tr-TR" sz="1600" b="1" u="sng" dirty="0">
                <a:solidFill>
                  <a:srgbClr val="C00000"/>
                </a:solidFill>
                <a:latin typeface="Times New Roman" panose="02020603050405020304" pitchFamily="18" charset="0"/>
                <a:cs typeface="Times New Roman" panose="02020603050405020304" pitchFamily="18" charset="0"/>
              </a:rPr>
              <a:t>testi</a:t>
            </a:r>
            <a:r>
              <a:rPr lang="tr-TR" sz="1600" dirty="0">
                <a:latin typeface="Times New Roman" panose="02020603050405020304" pitchFamily="18" charset="0"/>
                <a:cs typeface="Times New Roman" panose="02020603050405020304" pitchFamily="18" charset="0"/>
              </a:rPr>
              <a:t>, modellerin performanslarını doğrudan metrik değerleri üzerinden değil, sıralama (</a:t>
            </a:r>
            <a:r>
              <a:rPr lang="tr-TR" sz="1600" dirty="0" err="1">
                <a:latin typeface="Times New Roman" panose="02020603050405020304" pitchFamily="18" charset="0"/>
                <a:cs typeface="Times New Roman" panose="02020603050405020304" pitchFamily="18" charset="0"/>
              </a:rPr>
              <a:t>rank</a:t>
            </a:r>
            <a:r>
              <a:rPr lang="tr-TR" sz="1600" dirty="0">
                <a:latin typeface="Times New Roman" panose="02020603050405020304" pitchFamily="18" charset="0"/>
                <a:cs typeface="Times New Roman" panose="02020603050405020304" pitchFamily="18" charset="0"/>
              </a:rPr>
              <a:t>) temelli olarak karşılaştıran parametrik olmayan bir yöntemdir.</a:t>
            </a:r>
            <a:endParaRPr lang="tr-TR" sz="1600" dirty="0" smtClean="0">
              <a:latin typeface="Times New Roman" panose="02020603050405020304" pitchFamily="18" charset="0"/>
              <a:cs typeface="Times New Roman" panose="02020603050405020304" pitchFamily="18" charset="0"/>
            </a:endParaRPr>
          </a:p>
          <a:p>
            <a:endParaRPr lang="tr-TR" dirty="0"/>
          </a:p>
        </p:txBody>
      </p:sp>
      <p:pic>
        <p:nvPicPr>
          <p:cNvPr id="17" name="Resim 16"/>
          <p:cNvPicPr>
            <a:picLocks noChangeAspect="1"/>
          </p:cNvPicPr>
          <p:nvPr/>
        </p:nvPicPr>
        <p:blipFill>
          <a:blip r:embed="rId6"/>
          <a:stretch>
            <a:fillRect/>
          </a:stretch>
        </p:blipFill>
        <p:spPr>
          <a:xfrm>
            <a:off x="8936103" y="4858145"/>
            <a:ext cx="2270957" cy="510584"/>
          </a:xfrm>
          <a:prstGeom prst="rect">
            <a:avLst/>
          </a:prstGeom>
        </p:spPr>
      </p:pic>
      <p:pic>
        <p:nvPicPr>
          <p:cNvPr id="18" name="Resim 17"/>
          <p:cNvPicPr>
            <a:picLocks noChangeAspect="1"/>
          </p:cNvPicPr>
          <p:nvPr/>
        </p:nvPicPr>
        <p:blipFill>
          <a:blip r:embed="rId7"/>
          <a:stretch>
            <a:fillRect/>
          </a:stretch>
        </p:blipFill>
        <p:spPr>
          <a:xfrm>
            <a:off x="8793711" y="5530774"/>
            <a:ext cx="2941575" cy="807790"/>
          </a:xfrm>
          <a:prstGeom prst="rect">
            <a:avLst/>
          </a:prstGeom>
        </p:spPr>
      </p:pic>
      <p:sp>
        <p:nvSpPr>
          <p:cNvPr id="20" name="Metin kutusu 19"/>
          <p:cNvSpPr txBox="1"/>
          <p:nvPr/>
        </p:nvSpPr>
        <p:spPr>
          <a:xfrm>
            <a:off x="5971393" y="1791885"/>
            <a:ext cx="4815713" cy="523220"/>
          </a:xfrm>
          <a:prstGeom prst="rect">
            <a:avLst/>
          </a:prstGeom>
          <a:noFill/>
        </p:spPr>
        <p:txBody>
          <a:bodyPr wrap="square" rtlCol="0">
            <a:spAutoFit/>
          </a:bodyPr>
          <a:lstStyle/>
          <a:p>
            <a:pPr marL="285750" indent="-285750" algn="ctr">
              <a:buFont typeface="Wingdings" panose="05000000000000000000" pitchFamily="2" charset="2"/>
              <a:buChar char="v"/>
            </a:pPr>
            <a:r>
              <a:rPr lang="tr-TR" sz="1400" b="1" i="1" dirty="0">
                <a:solidFill>
                  <a:srgbClr val="C00000"/>
                </a:solidFill>
                <a:latin typeface="Times New Roman" panose="02020603050405020304" pitchFamily="18" charset="0"/>
                <a:cs typeface="Times New Roman" panose="02020603050405020304" pitchFamily="18" charset="0"/>
              </a:rPr>
              <a:t>Veri kümeleri genelinde F1 puanına göre modellerin ortalama sıralaması </a:t>
            </a:r>
          </a:p>
        </p:txBody>
      </p:sp>
    </p:spTree>
    <p:extLst>
      <p:ext uri="{BB962C8B-B14F-4D97-AF65-F5344CB8AC3E}">
        <p14:creationId xmlns:p14="http://schemas.microsoft.com/office/powerpoint/2010/main" val="399663231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5093119" y="1236549"/>
            <a:ext cx="6091156" cy="369332"/>
          </a:xfrm>
          <a:prstGeom prst="rect">
            <a:avLst/>
          </a:prstGeom>
          <a:noFill/>
        </p:spPr>
        <p:txBody>
          <a:bodyPr wrap="square" rtlCol="0">
            <a:spAutoFit/>
          </a:bodyPr>
          <a:lstStyle/>
          <a:p>
            <a:pPr algn="ctr"/>
            <a:r>
              <a:rPr lang="tr-TR" b="1" u="sng" dirty="0" smtClean="0">
                <a:solidFill>
                  <a:srgbClr val="C00000"/>
                </a:solidFill>
              </a:rPr>
              <a:t>Karışıklık Matrisi(</a:t>
            </a:r>
            <a:r>
              <a:rPr lang="tr-TR" b="1" u="sng" dirty="0" err="1" smtClean="0">
                <a:solidFill>
                  <a:srgbClr val="C00000"/>
                </a:solidFill>
              </a:rPr>
              <a:t>Confusion</a:t>
            </a:r>
            <a:r>
              <a:rPr lang="tr-TR" b="1" u="sng" dirty="0" smtClean="0">
                <a:solidFill>
                  <a:srgbClr val="C00000"/>
                </a:solidFill>
              </a:rPr>
              <a:t> </a:t>
            </a:r>
            <a:r>
              <a:rPr lang="tr-TR" b="1" u="sng" dirty="0" err="1" smtClean="0">
                <a:solidFill>
                  <a:srgbClr val="C00000"/>
                </a:solidFill>
              </a:rPr>
              <a:t>Matrix</a:t>
            </a:r>
            <a:r>
              <a:rPr lang="tr-TR" b="1" u="sng" dirty="0" smtClean="0">
                <a:solidFill>
                  <a:srgbClr val="C00000"/>
                </a:solidFill>
              </a:rPr>
              <a:t>) – BERT Model</a:t>
            </a:r>
            <a:endParaRPr lang="tr-TR" b="1" u="sng" dirty="0">
              <a:solidFill>
                <a:srgbClr val="C00000"/>
              </a:solidFill>
            </a:endParaRPr>
          </a:p>
        </p:txBody>
      </p:sp>
      <p:pic>
        <p:nvPicPr>
          <p:cNvPr id="19" name="Resim 18"/>
          <p:cNvPicPr/>
          <p:nvPr/>
        </p:nvPicPr>
        <p:blipFill>
          <a:blip r:embed="rId5" cstate="print">
            <a:extLst>
              <a:ext uri="{28A0092B-C50C-407E-A947-70E740481C1C}">
                <a14:useLocalDpi xmlns:a14="http://schemas.microsoft.com/office/drawing/2010/main" val="0"/>
              </a:ext>
            </a:extLst>
          </a:blip>
          <a:stretch>
            <a:fillRect/>
          </a:stretch>
        </p:blipFill>
        <p:spPr>
          <a:xfrm>
            <a:off x="178154" y="1295478"/>
            <a:ext cx="4503574" cy="5316335"/>
          </a:xfrm>
          <a:prstGeom prst="rect">
            <a:avLst/>
          </a:prstGeom>
        </p:spPr>
      </p:pic>
      <p:sp>
        <p:nvSpPr>
          <p:cNvPr id="13" name="Metin kutusu 12"/>
          <p:cNvSpPr txBox="1"/>
          <p:nvPr/>
        </p:nvSpPr>
        <p:spPr>
          <a:xfrm>
            <a:off x="5660136" y="2173799"/>
            <a:ext cx="4910328" cy="329320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600" dirty="0" err="1">
                <a:latin typeface="Times New Roman" panose="02020603050405020304" pitchFamily="18" charset="0"/>
                <a:cs typeface="Times New Roman" panose="02020603050405020304" pitchFamily="18" charset="0"/>
              </a:rPr>
              <a:t>Confusion</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matrix</a:t>
            </a:r>
            <a:r>
              <a:rPr lang="tr-TR" sz="1600" dirty="0">
                <a:latin typeface="Times New Roman" panose="02020603050405020304" pitchFamily="18" charset="0"/>
                <a:cs typeface="Times New Roman" panose="02020603050405020304" pitchFamily="18" charset="0"/>
              </a:rPr>
              <a:t>, bir sınıflandırma modelinin tahmin ettiği etiketler ile gerçek etiketler arasındaki ilişkiyi gösteren bir değerlendirme aracıdır ve modelin doğru ve yanlış sınıflandırmalarını dört temel kategori altında sunar: TP, TN, FP ve FN </a:t>
            </a:r>
            <a:endParaRPr lang="tr-TR" sz="16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600" dirty="0">
                <a:latin typeface="Times New Roman" panose="02020603050405020304" pitchFamily="18" charset="0"/>
                <a:cs typeface="Times New Roman" panose="02020603050405020304" pitchFamily="18" charset="0"/>
              </a:rPr>
              <a:t>Bu matris sayesinde hangi sınıfların doğru şekilde ayırt edilebildiği ve hangi durumlarda hata oluştuğu ayrıntılı olarak analiz edilebilmektedir.</a:t>
            </a:r>
            <a:endParaRPr lang="tr-TR" sz="1600"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tr-T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71934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5093119" y="1236549"/>
            <a:ext cx="6091156" cy="369332"/>
          </a:xfrm>
          <a:prstGeom prst="rect">
            <a:avLst/>
          </a:prstGeom>
          <a:noFill/>
        </p:spPr>
        <p:txBody>
          <a:bodyPr wrap="square" rtlCol="0">
            <a:spAutoFit/>
          </a:bodyPr>
          <a:lstStyle/>
          <a:p>
            <a:pPr algn="ctr"/>
            <a:r>
              <a:rPr lang="tr-TR" b="1" u="sng" dirty="0" smtClean="0">
                <a:solidFill>
                  <a:srgbClr val="C00000"/>
                </a:solidFill>
              </a:rPr>
              <a:t>N-Gram Tabanlı Hata Analizi – BERT Model</a:t>
            </a:r>
            <a:endParaRPr lang="tr-TR" b="1" u="sng" dirty="0">
              <a:solidFill>
                <a:srgbClr val="C00000"/>
              </a:solidFill>
            </a:endParaRPr>
          </a:p>
        </p:txBody>
      </p:sp>
      <p:sp>
        <p:nvSpPr>
          <p:cNvPr id="13" name="Metin kutusu 12"/>
          <p:cNvSpPr txBox="1"/>
          <p:nvPr/>
        </p:nvSpPr>
        <p:spPr>
          <a:xfrm>
            <a:off x="6016752" y="1841627"/>
            <a:ext cx="4910328" cy="453970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Yanlış </a:t>
            </a:r>
            <a:r>
              <a:rPr lang="tr-TR" sz="1400" dirty="0">
                <a:latin typeface="Times New Roman" panose="02020603050405020304" pitchFamily="18" charset="0"/>
                <a:cs typeface="Times New Roman" panose="02020603050405020304" pitchFamily="18" charset="0"/>
              </a:rPr>
              <a:t>sınıflandırılan örneklerde (FP ve FN) tekrar eden kelime dizilerini belirlemek için N-gram tabanlı hata analizi uygulanmıştır. Bu analiz, modelin hangi dilsel örüntülerde zorlandığını ortaya koymayı amaçlamaktadır</a:t>
            </a:r>
            <a:r>
              <a:rPr lang="tr-TR" sz="1400" dirty="0" smtClean="0">
                <a:latin typeface="Times New Roman" panose="02020603050405020304" pitchFamily="18" charset="0"/>
                <a:cs typeface="Times New Roman" panose="02020603050405020304" pitchFamily="18" charset="0"/>
              </a:rPr>
              <a:t>.</a:t>
            </a:r>
            <a:r>
              <a:rPr lang="tr-TR" sz="1400" dirty="0">
                <a:latin typeface="Times New Roman" panose="02020603050405020304" pitchFamily="18" charset="0"/>
                <a:cs typeface="Times New Roman" panose="02020603050405020304" pitchFamily="18" charset="0"/>
              </a:rPr>
              <a:t> Hata analizi kapsamında yanlış sınıflandırılan örnekler FP ve FN olarak ayrılmıştır.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örnekler </a:t>
            </a:r>
            <a:r>
              <a:rPr lang="tr-TR" sz="1400" dirty="0" err="1">
                <a:latin typeface="Times New Roman" panose="02020603050405020304" pitchFamily="18" charset="0"/>
                <a:cs typeface="Times New Roman" panose="02020603050405020304" pitchFamily="18" charset="0"/>
              </a:rPr>
              <a:t>corpus</a:t>
            </a:r>
            <a:r>
              <a:rPr lang="tr-TR" sz="1400" dirty="0">
                <a:latin typeface="Times New Roman" panose="02020603050405020304" pitchFamily="18" charset="0"/>
                <a:cs typeface="Times New Roman" panose="02020603050405020304" pitchFamily="18" charset="0"/>
              </a:rPr>
              <a:t> düzeyinde birleştirilerek analiz edilmiş ve metinler küçük harfe dönüştürülmüştür.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N-gram özellikleri </a:t>
            </a:r>
            <a:r>
              <a:rPr lang="tr-TR" sz="1400" dirty="0" err="1">
                <a:latin typeface="Times New Roman" panose="02020603050405020304" pitchFamily="18" charset="0"/>
                <a:cs typeface="Times New Roman" panose="02020603050405020304" pitchFamily="18" charset="0"/>
              </a:rPr>
              <a:t>CountVectorizer</a:t>
            </a:r>
            <a:r>
              <a:rPr lang="tr-TR" sz="1400" dirty="0">
                <a:latin typeface="Times New Roman" panose="02020603050405020304" pitchFamily="18" charset="0"/>
                <a:cs typeface="Times New Roman" panose="02020603050405020304" pitchFamily="18" charset="0"/>
              </a:rPr>
              <a:t> kullanılarak çıkarılmış ve </a:t>
            </a:r>
            <a:r>
              <a:rPr lang="tr-TR" sz="1400" dirty="0" err="1">
                <a:latin typeface="Times New Roman" panose="02020603050405020304" pitchFamily="18" charset="0"/>
                <a:cs typeface="Times New Roman" panose="02020603050405020304" pitchFamily="18" charset="0"/>
              </a:rPr>
              <a:t>unigram</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bigram</a:t>
            </a:r>
            <a:r>
              <a:rPr lang="tr-TR" sz="1400" dirty="0">
                <a:latin typeface="Times New Roman" panose="02020603050405020304" pitchFamily="18" charset="0"/>
                <a:cs typeface="Times New Roman" panose="02020603050405020304" pitchFamily="18" charset="0"/>
              </a:rPr>
              <a:t> ve </a:t>
            </a:r>
            <a:r>
              <a:rPr lang="tr-TR" sz="1400" dirty="0" err="1">
                <a:latin typeface="Times New Roman" panose="02020603050405020304" pitchFamily="18" charset="0"/>
                <a:cs typeface="Times New Roman" panose="02020603050405020304" pitchFamily="18" charset="0"/>
              </a:rPr>
              <a:t>trigram</a:t>
            </a:r>
            <a:r>
              <a:rPr lang="tr-TR" sz="1400" dirty="0">
                <a:latin typeface="Times New Roman" panose="02020603050405020304" pitchFamily="18" charset="0"/>
                <a:cs typeface="Times New Roman" panose="02020603050405020304" pitchFamily="18" charset="0"/>
              </a:rPr>
              <a:t> düzeylerinde en sık tekrar eden ifadeler incelenmiştir.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sayede modelin hangi dilsel örüntülerde hata yaptığı sistematik olarak belirlenmiştir.</a:t>
            </a:r>
          </a:p>
          <a:p>
            <a:pPr marL="285750" indent="-285750" algn="just">
              <a:buFont typeface="Wingdings" panose="05000000000000000000" pitchFamily="2" charset="2"/>
              <a:buChar char="q"/>
            </a:pPr>
            <a:endParaRPr lang="tr-TR" sz="1600" dirty="0" smtClean="0">
              <a:latin typeface="Times New Roman" panose="02020603050405020304" pitchFamily="18" charset="0"/>
              <a:cs typeface="Times New Roman" panose="02020603050405020304" pitchFamily="18" charset="0"/>
            </a:endParaRPr>
          </a:p>
        </p:txBody>
      </p:sp>
      <p:pic>
        <p:nvPicPr>
          <p:cNvPr id="14" name="Resim 13"/>
          <p:cNvPicPr/>
          <p:nvPr/>
        </p:nvPicPr>
        <p:blipFill>
          <a:blip r:embed="rId5" cstate="print">
            <a:extLst>
              <a:ext uri="{28A0092B-C50C-407E-A947-70E740481C1C}">
                <a14:useLocalDpi xmlns:a14="http://schemas.microsoft.com/office/drawing/2010/main" val="0"/>
              </a:ext>
            </a:extLst>
          </a:blip>
          <a:stretch>
            <a:fillRect/>
          </a:stretch>
        </p:blipFill>
        <p:spPr>
          <a:xfrm>
            <a:off x="258909" y="1191545"/>
            <a:ext cx="5011710" cy="5375265"/>
          </a:xfrm>
          <a:prstGeom prst="rect">
            <a:avLst/>
          </a:prstGeom>
        </p:spPr>
      </p:pic>
    </p:spTree>
    <p:extLst>
      <p:ext uri="{BB962C8B-B14F-4D97-AF65-F5344CB8AC3E}">
        <p14:creationId xmlns:p14="http://schemas.microsoft.com/office/powerpoint/2010/main" val="37279477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5093119" y="1236549"/>
            <a:ext cx="6091156" cy="369332"/>
          </a:xfrm>
          <a:prstGeom prst="rect">
            <a:avLst/>
          </a:prstGeom>
          <a:noFill/>
        </p:spPr>
        <p:txBody>
          <a:bodyPr wrap="square" rtlCol="0">
            <a:spAutoFit/>
          </a:bodyPr>
          <a:lstStyle/>
          <a:p>
            <a:pPr algn="ctr"/>
            <a:r>
              <a:rPr lang="tr-TR" b="1" u="sng" dirty="0" smtClean="0">
                <a:solidFill>
                  <a:srgbClr val="C00000"/>
                </a:solidFill>
              </a:rPr>
              <a:t>N-Gram Tabanlı Hata Analizi – BERT Model</a:t>
            </a:r>
            <a:endParaRPr lang="tr-TR" b="1" u="sng" dirty="0">
              <a:solidFill>
                <a:srgbClr val="C00000"/>
              </a:solidFill>
            </a:endParaRPr>
          </a:p>
        </p:txBody>
      </p:sp>
      <p:sp>
        <p:nvSpPr>
          <p:cNvPr id="13" name="Metin kutusu 12"/>
          <p:cNvSpPr txBox="1"/>
          <p:nvPr/>
        </p:nvSpPr>
        <p:spPr>
          <a:xfrm>
            <a:off x="6016752" y="1841627"/>
            <a:ext cx="4910328" cy="453970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Yanlış </a:t>
            </a:r>
            <a:r>
              <a:rPr lang="tr-TR" sz="1400" dirty="0">
                <a:latin typeface="Times New Roman" panose="02020603050405020304" pitchFamily="18" charset="0"/>
                <a:cs typeface="Times New Roman" panose="02020603050405020304" pitchFamily="18" charset="0"/>
              </a:rPr>
              <a:t>sınıflandırılan örneklerde (FP ve FN) tekrar eden kelime dizilerini belirlemek için N-gram tabanlı hata analizi uygulanmıştır. Bu analiz, modelin hangi dilsel örüntülerde zorlandığını ortaya koymayı amaçlamaktadır</a:t>
            </a:r>
            <a:r>
              <a:rPr lang="tr-TR" sz="1400" dirty="0" smtClean="0">
                <a:latin typeface="Times New Roman" panose="02020603050405020304" pitchFamily="18" charset="0"/>
                <a:cs typeface="Times New Roman" panose="02020603050405020304" pitchFamily="18" charset="0"/>
              </a:rPr>
              <a:t>.</a:t>
            </a:r>
            <a:r>
              <a:rPr lang="tr-TR" sz="1400" dirty="0">
                <a:latin typeface="Times New Roman" panose="02020603050405020304" pitchFamily="18" charset="0"/>
                <a:cs typeface="Times New Roman" panose="02020603050405020304" pitchFamily="18" charset="0"/>
              </a:rPr>
              <a:t> Hata analizi kapsamında yanlış sınıflandırılan örnekler FP ve FN olarak ayrılmıştır.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örnekler </a:t>
            </a:r>
            <a:r>
              <a:rPr lang="tr-TR" sz="1400" dirty="0" err="1">
                <a:latin typeface="Times New Roman" panose="02020603050405020304" pitchFamily="18" charset="0"/>
                <a:cs typeface="Times New Roman" panose="02020603050405020304" pitchFamily="18" charset="0"/>
              </a:rPr>
              <a:t>corpus</a:t>
            </a:r>
            <a:r>
              <a:rPr lang="tr-TR" sz="1400" dirty="0">
                <a:latin typeface="Times New Roman" panose="02020603050405020304" pitchFamily="18" charset="0"/>
                <a:cs typeface="Times New Roman" panose="02020603050405020304" pitchFamily="18" charset="0"/>
              </a:rPr>
              <a:t> düzeyinde birleştirilerek analiz edilmiş ve metinler küçük harfe dönüştürülmüştür.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N-gram özellikleri </a:t>
            </a:r>
            <a:r>
              <a:rPr lang="tr-TR" sz="1400" dirty="0" err="1">
                <a:latin typeface="Times New Roman" panose="02020603050405020304" pitchFamily="18" charset="0"/>
                <a:cs typeface="Times New Roman" panose="02020603050405020304" pitchFamily="18" charset="0"/>
              </a:rPr>
              <a:t>CountVectorizer</a:t>
            </a:r>
            <a:r>
              <a:rPr lang="tr-TR" sz="1400" dirty="0">
                <a:latin typeface="Times New Roman" panose="02020603050405020304" pitchFamily="18" charset="0"/>
                <a:cs typeface="Times New Roman" panose="02020603050405020304" pitchFamily="18" charset="0"/>
              </a:rPr>
              <a:t> kullanılarak çıkarılmış ve </a:t>
            </a:r>
            <a:r>
              <a:rPr lang="tr-TR" sz="1400" dirty="0" err="1">
                <a:latin typeface="Times New Roman" panose="02020603050405020304" pitchFamily="18" charset="0"/>
                <a:cs typeface="Times New Roman" panose="02020603050405020304" pitchFamily="18" charset="0"/>
              </a:rPr>
              <a:t>unigram</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bigram</a:t>
            </a:r>
            <a:r>
              <a:rPr lang="tr-TR" sz="1400" dirty="0">
                <a:latin typeface="Times New Roman" panose="02020603050405020304" pitchFamily="18" charset="0"/>
                <a:cs typeface="Times New Roman" panose="02020603050405020304" pitchFamily="18" charset="0"/>
              </a:rPr>
              <a:t> ve </a:t>
            </a:r>
            <a:r>
              <a:rPr lang="tr-TR" sz="1400" dirty="0" err="1">
                <a:latin typeface="Times New Roman" panose="02020603050405020304" pitchFamily="18" charset="0"/>
                <a:cs typeface="Times New Roman" panose="02020603050405020304" pitchFamily="18" charset="0"/>
              </a:rPr>
              <a:t>trigram</a:t>
            </a:r>
            <a:r>
              <a:rPr lang="tr-TR" sz="1400" dirty="0">
                <a:latin typeface="Times New Roman" panose="02020603050405020304" pitchFamily="18" charset="0"/>
                <a:cs typeface="Times New Roman" panose="02020603050405020304" pitchFamily="18" charset="0"/>
              </a:rPr>
              <a:t> düzeylerinde en sık tekrar eden ifadeler incelenmiştir.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sayede modelin hangi dilsel örüntülerde hata yaptığı sistematik olarak belirlenmiştir.</a:t>
            </a:r>
          </a:p>
          <a:p>
            <a:pPr marL="285750" indent="-285750" algn="just">
              <a:buFont typeface="Wingdings" panose="05000000000000000000" pitchFamily="2" charset="2"/>
              <a:buChar char="q"/>
            </a:pPr>
            <a:endParaRPr lang="tr-TR" sz="1600" dirty="0" smtClean="0">
              <a:latin typeface="Times New Roman" panose="02020603050405020304" pitchFamily="18" charset="0"/>
              <a:cs typeface="Times New Roman" panose="02020603050405020304" pitchFamily="18" charset="0"/>
            </a:endParaRPr>
          </a:p>
        </p:txBody>
      </p:sp>
      <p:pic>
        <p:nvPicPr>
          <p:cNvPr id="16" name="Resim 15"/>
          <p:cNvPicPr/>
          <p:nvPr/>
        </p:nvPicPr>
        <p:blipFill>
          <a:blip r:embed="rId5" cstate="print">
            <a:extLst>
              <a:ext uri="{28A0092B-C50C-407E-A947-70E740481C1C}">
                <a14:useLocalDpi xmlns:a14="http://schemas.microsoft.com/office/drawing/2010/main" val="0"/>
              </a:ext>
            </a:extLst>
          </a:blip>
          <a:stretch>
            <a:fillRect/>
          </a:stretch>
        </p:blipFill>
        <p:spPr>
          <a:xfrm>
            <a:off x="1" y="1236549"/>
            <a:ext cx="5312664" cy="5375265"/>
          </a:xfrm>
          <a:prstGeom prst="rect">
            <a:avLst/>
          </a:prstGeom>
        </p:spPr>
      </p:pic>
    </p:spTree>
    <p:extLst>
      <p:ext uri="{BB962C8B-B14F-4D97-AF65-F5344CB8AC3E}">
        <p14:creationId xmlns:p14="http://schemas.microsoft.com/office/powerpoint/2010/main" val="26856603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377456" y="1498542"/>
            <a:ext cx="6091156" cy="369332"/>
          </a:xfrm>
          <a:prstGeom prst="rect">
            <a:avLst/>
          </a:prstGeom>
          <a:noFill/>
        </p:spPr>
        <p:txBody>
          <a:bodyPr wrap="square" rtlCol="0">
            <a:spAutoFit/>
          </a:bodyPr>
          <a:lstStyle/>
          <a:p>
            <a:pPr algn="ctr"/>
            <a:r>
              <a:rPr lang="tr-TR" b="1" u="sng" dirty="0" err="1" smtClean="0">
                <a:solidFill>
                  <a:srgbClr val="C00000"/>
                </a:solidFill>
              </a:rPr>
              <a:t>Sözlüksel</a:t>
            </a:r>
            <a:r>
              <a:rPr lang="tr-TR" b="1" u="sng" dirty="0" smtClean="0">
                <a:solidFill>
                  <a:srgbClr val="C00000"/>
                </a:solidFill>
              </a:rPr>
              <a:t> Çeşitlilik(</a:t>
            </a:r>
            <a:r>
              <a:rPr lang="tr-TR" b="1" u="sng" dirty="0" err="1" smtClean="0">
                <a:solidFill>
                  <a:srgbClr val="C00000"/>
                </a:solidFill>
              </a:rPr>
              <a:t>Lexical</a:t>
            </a:r>
            <a:r>
              <a:rPr lang="tr-TR" b="1" u="sng" dirty="0" smtClean="0">
                <a:solidFill>
                  <a:srgbClr val="C00000"/>
                </a:solidFill>
              </a:rPr>
              <a:t> </a:t>
            </a:r>
            <a:r>
              <a:rPr lang="tr-TR" b="1" u="sng" dirty="0" err="1" smtClean="0">
                <a:solidFill>
                  <a:srgbClr val="C00000"/>
                </a:solidFill>
              </a:rPr>
              <a:t>Diversity</a:t>
            </a:r>
            <a:r>
              <a:rPr lang="tr-TR" b="1" u="sng" dirty="0" smtClean="0">
                <a:solidFill>
                  <a:srgbClr val="C00000"/>
                </a:solidFill>
              </a:rPr>
              <a:t>)– BERT Model</a:t>
            </a:r>
            <a:endParaRPr lang="tr-TR" b="1" u="sng" dirty="0">
              <a:solidFill>
                <a:srgbClr val="C00000"/>
              </a:solidFill>
            </a:endParaRPr>
          </a:p>
        </p:txBody>
      </p:sp>
      <p:sp>
        <p:nvSpPr>
          <p:cNvPr id="13" name="Metin kutusu 12"/>
          <p:cNvSpPr txBox="1"/>
          <p:nvPr/>
        </p:nvSpPr>
        <p:spPr>
          <a:xfrm>
            <a:off x="460375" y="2251412"/>
            <a:ext cx="4910328" cy="267765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err="1">
                <a:latin typeface="Times New Roman" panose="02020603050405020304" pitchFamily="18" charset="0"/>
                <a:cs typeface="Times New Roman" panose="02020603050405020304" pitchFamily="18" charset="0"/>
              </a:rPr>
              <a:t>Sözlüksel</a:t>
            </a:r>
            <a:r>
              <a:rPr lang="tr-TR" sz="1400" dirty="0">
                <a:latin typeface="Times New Roman" panose="02020603050405020304" pitchFamily="18" charset="0"/>
                <a:cs typeface="Times New Roman" panose="02020603050405020304" pitchFamily="18" charset="0"/>
              </a:rPr>
              <a:t> çeşitlilik analizi (</a:t>
            </a:r>
            <a:r>
              <a:rPr lang="tr-TR" sz="1400" dirty="0" err="1">
                <a:latin typeface="Times New Roman" panose="02020603050405020304" pitchFamily="18" charset="0"/>
                <a:cs typeface="Times New Roman" panose="02020603050405020304" pitchFamily="18" charset="0"/>
              </a:rPr>
              <a:t>Lexical</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Diversity</a:t>
            </a:r>
            <a:r>
              <a:rPr lang="tr-TR" sz="1400" dirty="0">
                <a:latin typeface="Times New Roman" panose="02020603050405020304" pitchFamily="18" charset="0"/>
                <a:cs typeface="Times New Roman" panose="02020603050405020304" pitchFamily="18" charset="0"/>
              </a:rPr>
              <a:t>), metinlerdeki kelime çeşitliliğini ölçerek dilsel karmaşıklığın nicel olarak değerlendirilmesini sağlayan bir </a:t>
            </a:r>
            <a:r>
              <a:rPr lang="tr-TR" sz="1400" dirty="0" smtClean="0">
                <a:latin typeface="Times New Roman" panose="02020603050405020304" pitchFamily="18" charset="0"/>
                <a:cs typeface="Times New Roman" panose="02020603050405020304" pitchFamily="18" charset="0"/>
              </a:rPr>
              <a:t>yöntemdir.</a:t>
            </a:r>
          </a:p>
          <a:p>
            <a:pPr marL="285750" indent="-285750" algn="just">
              <a:lnSpc>
                <a:spcPct val="150000"/>
              </a:lnSpc>
              <a:buFont typeface="Wingdings" panose="05000000000000000000" pitchFamily="2" charset="2"/>
              <a:buChar char="q"/>
            </a:pPr>
            <a:r>
              <a:rPr lang="tr-TR" sz="1400" dirty="0" err="1">
                <a:latin typeface="Times New Roman" panose="02020603050405020304" pitchFamily="18" charset="0"/>
                <a:cs typeface="Times New Roman" panose="02020603050405020304" pitchFamily="18" charset="0"/>
              </a:rPr>
              <a:t>Sözlüksel</a:t>
            </a:r>
            <a:r>
              <a:rPr lang="tr-TR" sz="1400" dirty="0">
                <a:latin typeface="Times New Roman" panose="02020603050405020304" pitchFamily="18" charset="0"/>
                <a:cs typeface="Times New Roman" panose="02020603050405020304" pitchFamily="18" charset="0"/>
              </a:rPr>
              <a:t> çeşitliliği ölçmek amacıyla </a:t>
            </a:r>
            <a:r>
              <a:rPr lang="tr-TR" sz="1400" dirty="0" err="1">
                <a:latin typeface="Times New Roman" panose="02020603050405020304" pitchFamily="18" charset="0"/>
                <a:cs typeface="Times New Roman" panose="02020603050405020304" pitchFamily="18" charset="0"/>
              </a:rPr>
              <a:t>Type</a:t>
            </a:r>
            <a:r>
              <a:rPr lang="tr-TR" sz="1400" dirty="0">
                <a:latin typeface="Times New Roman" panose="02020603050405020304" pitchFamily="18" charset="0"/>
                <a:cs typeface="Times New Roman" panose="02020603050405020304" pitchFamily="18" charset="0"/>
              </a:rPr>
              <a:t>–</a:t>
            </a:r>
            <a:r>
              <a:rPr lang="tr-TR" sz="1400" dirty="0" err="1">
                <a:latin typeface="Times New Roman" panose="02020603050405020304" pitchFamily="18" charset="0"/>
                <a:cs typeface="Times New Roman" panose="02020603050405020304" pitchFamily="18" charset="0"/>
              </a:rPr>
              <a:t>Token</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Ratio</a:t>
            </a:r>
            <a:r>
              <a:rPr lang="tr-TR" sz="1400" dirty="0">
                <a:latin typeface="Times New Roman" panose="02020603050405020304" pitchFamily="18" charset="0"/>
                <a:cs typeface="Times New Roman" panose="02020603050405020304" pitchFamily="18" charset="0"/>
              </a:rPr>
              <a:t> (TTR) ve </a:t>
            </a:r>
            <a:r>
              <a:rPr lang="tr-TR" sz="1400" dirty="0" err="1">
                <a:latin typeface="Times New Roman" panose="02020603050405020304" pitchFamily="18" charset="0"/>
                <a:cs typeface="Times New Roman" panose="02020603050405020304" pitchFamily="18" charset="0"/>
              </a:rPr>
              <a:t>Distinct</a:t>
            </a:r>
            <a:r>
              <a:rPr lang="tr-TR" sz="1400" dirty="0">
                <a:latin typeface="Times New Roman" panose="02020603050405020304" pitchFamily="18" charset="0"/>
                <a:cs typeface="Times New Roman" panose="02020603050405020304" pitchFamily="18" charset="0"/>
              </a:rPr>
              <a:t>-N metrikleri </a:t>
            </a:r>
            <a:r>
              <a:rPr lang="tr-TR" sz="1400" dirty="0" smtClean="0">
                <a:latin typeface="Times New Roman" panose="02020603050405020304" pitchFamily="18" charset="0"/>
                <a:cs typeface="Times New Roman" panose="02020603050405020304" pitchFamily="18" charset="0"/>
              </a:rPr>
              <a:t>kullanılmıştır.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TTR → Kelime çeşitliliği </a:t>
            </a:r>
            <a:r>
              <a:rPr lang="tr-TR" sz="1400" dirty="0" smtClean="0">
                <a:latin typeface="Times New Roman" panose="02020603050405020304" pitchFamily="18" charset="0"/>
                <a:cs typeface="Times New Roman" panose="02020603050405020304" pitchFamily="18" charset="0"/>
              </a:rPr>
              <a:t>oranı</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Distinct-1 </a:t>
            </a:r>
            <a:r>
              <a:rPr lang="tr-TR" sz="1400" dirty="0">
                <a:latin typeface="Times New Roman" panose="02020603050405020304" pitchFamily="18" charset="0"/>
                <a:cs typeface="Times New Roman" panose="02020603050405020304" pitchFamily="18" charset="0"/>
              </a:rPr>
              <a:t>→ Benzersiz </a:t>
            </a:r>
            <a:r>
              <a:rPr lang="tr-TR" sz="1400" dirty="0" err="1">
                <a:latin typeface="Times New Roman" panose="02020603050405020304" pitchFamily="18" charset="0"/>
                <a:cs typeface="Times New Roman" panose="02020603050405020304" pitchFamily="18" charset="0"/>
              </a:rPr>
              <a:t>unigram</a:t>
            </a:r>
            <a:r>
              <a:rPr lang="tr-TR" sz="1400" dirty="0">
                <a:latin typeface="Times New Roman" panose="02020603050405020304" pitchFamily="18" charset="0"/>
                <a:cs typeface="Times New Roman" panose="02020603050405020304" pitchFamily="18" charset="0"/>
              </a:rPr>
              <a:t> </a:t>
            </a:r>
            <a:r>
              <a:rPr lang="tr-TR" sz="1400" dirty="0" smtClean="0">
                <a:latin typeface="Times New Roman" panose="02020603050405020304" pitchFamily="18" charset="0"/>
                <a:cs typeface="Times New Roman" panose="02020603050405020304" pitchFamily="18" charset="0"/>
              </a:rPr>
              <a:t>oranı</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Distinct-2 </a:t>
            </a:r>
            <a:r>
              <a:rPr lang="tr-TR" sz="1400" dirty="0">
                <a:latin typeface="Times New Roman" panose="02020603050405020304" pitchFamily="18" charset="0"/>
                <a:cs typeface="Times New Roman" panose="02020603050405020304" pitchFamily="18" charset="0"/>
              </a:rPr>
              <a:t>→ Benzersiz </a:t>
            </a:r>
            <a:r>
              <a:rPr lang="tr-TR" sz="1400" dirty="0" err="1">
                <a:latin typeface="Times New Roman" panose="02020603050405020304" pitchFamily="18" charset="0"/>
                <a:cs typeface="Times New Roman" panose="02020603050405020304" pitchFamily="18" charset="0"/>
              </a:rPr>
              <a:t>bigram</a:t>
            </a:r>
            <a:r>
              <a:rPr lang="tr-TR" sz="1400" dirty="0">
                <a:latin typeface="Times New Roman" panose="02020603050405020304" pitchFamily="18" charset="0"/>
                <a:cs typeface="Times New Roman" panose="02020603050405020304" pitchFamily="18" charset="0"/>
              </a:rPr>
              <a:t> oranı</a:t>
            </a:r>
            <a:endParaRPr lang="tr-TR" sz="1400" dirty="0" smtClean="0">
              <a:latin typeface="Times New Roman" panose="02020603050405020304" pitchFamily="18" charset="0"/>
              <a:cs typeface="Times New Roman" panose="02020603050405020304" pitchFamily="18" charset="0"/>
            </a:endParaRPr>
          </a:p>
        </p:txBody>
      </p:sp>
      <p:pic>
        <p:nvPicPr>
          <p:cNvPr id="5" name="Resim 4"/>
          <p:cNvPicPr>
            <a:picLocks noChangeAspect="1"/>
          </p:cNvPicPr>
          <p:nvPr/>
        </p:nvPicPr>
        <p:blipFill>
          <a:blip r:embed="rId5"/>
          <a:stretch>
            <a:fillRect/>
          </a:stretch>
        </p:blipFill>
        <p:spPr>
          <a:xfrm>
            <a:off x="6827060" y="3180919"/>
            <a:ext cx="1036410" cy="510584"/>
          </a:xfrm>
          <a:prstGeom prst="rect">
            <a:avLst/>
          </a:prstGeom>
        </p:spPr>
      </p:pic>
      <p:pic>
        <p:nvPicPr>
          <p:cNvPr id="7" name="Resim 6"/>
          <p:cNvPicPr>
            <a:picLocks noChangeAspect="1"/>
          </p:cNvPicPr>
          <p:nvPr/>
        </p:nvPicPr>
        <p:blipFill>
          <a:blip r:embed="rId6"/>
          <a:stretch>
            <a:fillRect/>
          </a:stretch>
        </p:blipFill>
        <p:spPr>
          <a:xfrm>
            <a:off x="8949123" y="3061401"/>
            <a:ext cx="2124261" cy="803005"/>
          </a:xfrm>
          <a:prstGeom prst="rect">
            <a:avLst/>
          </a:prstGeom>
        </p:spPr>
      </p:pic>
    </p:spTree>
    <p:extLst>
      <p:ext uri="{BB962C8B-B14F-4D97-AF65-F5344CB8AC3E}">
        <p14:creationId xmlns:p14="http://schemas.microsoft.com/office/powerpoint/2010/main" val="382569138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3136303" y="1440851"/>
            <a:ext cx="6091156" cy="369332"/>
          </a:xfrm>
          <a:prstGeom prst="rect">
            <a:avLst/>
          </a:prstGeom>
          <a:noFill/>
        </p:spPr>
        <p:txBody>
          <a:bodyPr wrap="square" rtlCol="0">
            <a:spAutoFit/>
          </a:bodyPr>
          <a:lstStyle/>
          <a:p>
            <a:pPr algn="ctr"/>
            <a:r>
              <a:rPr lang="tr-TR" b="1" u="sng" dirty="0" err="1" smtClean="0">
                <a:solidFill>
                  <a:srgbClr val="C00000"/>
                </a:solidFill>
              </a:rPr>
              <a:t>Sözlüksel</a:t>
            </a:r>
            <a:r>
              <a:rPr lang="tr-TR" b="1" u="sng" dirty="0" smtClean="0">
                <a:solidFill>
                  <a:srgbClr val="C00000"/>
                </a:solidFill>
              </a:rPr>
              <a:t> Çeşitlilik(</a:t>
            </a:r>
            <a:r>
              <a:rPr lang="tr-TR" b="1" u="sng" dirty="0" err="1" smtClean="0">
                <a:solidFill>
                  <a:srgbClr val="C00000"/>
                </a:solidFill>
              </a:rPr>
              <a:t>Lexical</a:t>
            </a:r>
            <a:r>
              <a:rPr lang="tr-TR" b="1" u="sng" dirty="0" smtClean="0">
                <a:solidFill>
                  <a:srgbClr val="C00000"/>
                </a:solidFill>
              </a:rPr>
              <a:t> </a:t>
            </a:r>
            <a:r>
              <a:rPr lang="tr-TR" b="1" u="sng" dirty="0" err="1" smtClean="0">
                <a:solidFill>
                  <a:srgbClr val="C00000"/>
                </a:solidFill>
              </a:rPr>
              <a:t>Diversity</a:t>
            </a:r>
            <a:r>
              <a:rPr lang="tr-TR" b="1" u="sng" dirty="0" smtClean="0">
                <a:solidFill>
                  <a:srgbClr val="C00000"/>
                </a:solidFill>
              </a:rPr>
              <a:t>)– BERT Model</a:t>
            </a:r>
            <a:endParaRPr lang="tr-TR" b="1" u="sng" dirty="0">
              <a:solidFill>
                <a:srgbClr val="C00000"/>
              </a:solidFill>
            </a:endParaRPr>
          </a:p>
        </p:txBody>
      </p:sp>
      <p:pic>
        <p:nvPicPr>
          <p:cNvPr id="17" name="Resim 16"/>
          <p:cNvPicPr/>
          <p:nvPr/>
        </p:nvPicPr>
        <p:blipFill>
          <a:blip r:embed="rId5">
            <a:extLst>
              <a:ext uri="{28A0092B-C50C-407E-A947-70E740481C1C}">
                <a14:useLocalDpi xmlns:a14="http://schemas.microsoft.com/office/drawing/2010/main" val="0"/>
              </a:ext>
            </a:extLst>
          </a:blip>
          <a:stretch>
            <a:fillRect/>
          </a:stretch>
        </p:blipFill>
        <p:spPr>
          <a:xfrm>
            <a:off x="307975" y="2179515"/>
            <a:ext cx="5525897" cy="3787910"/>
          </a:xfrm>
          <a:prstGeom prst="rect">
            <a:avLst/>
          </a:prstGeom>
        </p:spPr>
      </p:pic>
      <p:pic>
        <p:nvPicPr>
          <p:cNvPr id="18" name="Resim 17"/>
          <p:cNvPicPr/>
          <p:nvPr/>
        </p:nvPicPr>
        <p:blipFill>
          <a:blip r:embed="rId6">
            <a:extLst>
              <a:ext uri="{28A0092B-C50C-407E-A947-70E740481C1C}">
                <a14:useLocalDpi xmlns:a14="http://schemas.microsoft.com/office/drawing/2010/main" val="0"/>
              </a:ext>
            </a:extLst>
          </a:blip>
          <a:stretch>
            <a:fillRect/>
          </a:stretch>
        </p:blipFill>
        <p:spPr>
          <a:xfrm>
            <a:off x="6062472" y="2198607"/>
            <a:ext cx="5816663" cy="3768817"/>
          </a:xfrm>
          <a:prstGeom prst="rect">
            <a:avLst/>
          </a:prstGeom>
        </p:spPr>
      </p:pic>
    </p:spTree>
    <p:extLst>
      <p:ext uri="{BB962C8B-B14F-4D97-AF65-F5344CB8AC3E}">
        <p14:creationId xmlns:p14="http://schemas.microsoft.com/office/powerpoint/2010/main" val="177279686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5635048" y="1330058"/>
            <a:ext cx="6091156" cy="369332"/>
          </a:xfrm>
          <a:prstGeom prst="rect">
            <a:avLst/>
          </a:prstGeom>
          <a:noFill/>
        </p:spPr>
        <p:txBody>
          <a:bodyPr wrap="square" rtlCol="0">
            <a:spAutoFit/>
          </a:bodyPr>
          <a:lstStyle/>
          <a:p>
            <a:pPr algn="ctr"/>
            <a:r>
              <a:rPr lang="tr-TR" b="1" u="sng" dirty="0" smtClean="0">
                <a:solidFill>
                  <a:srgbClr val="C00000"/>
                </a:solidFill>
              </a:rPr>
              <a:t>Anlamsal Benzerlik(</a:t>
            </a:r>
            <a:r>
              <a:rPr lang="tr-TR" b="1" u="sng" dirty="0" err="1" smtClean="0">
                <a:solidFill>
                  <a:srgbClr val="C00000"/>
                </a:solidFill>
              </a:rPr>
              <a:t>Semantic</a:t>
            </a:r>
            <a:r>
              <a:rPr lang="tr-TR" b="1" u="sng" dirty="0" smtClean="0">
                <a:solidFill>
                  <a:srgbClr val="C00000"/>
                </a:solidFill>
              </a:rPr>
              <a:t> </a:t>
            </a:r>
            <a:r>
              <a:rPr lang="tr-TR" b="1" u="sng" dirty="0" err="1" smtClean="0">
                <a:solidFill>
                  <a:srgbClr val="C00000"/>
                </a:solidFill>
              </a:rPr>
              <a:t>Similarity</a:t>
            </a:r>
            <a:r>
              <a:rPr lang="tr-TR" b="1" u="sng" dirty="0" smtClean="0">
                <a:solidFill>
                  <a:srgbClr val="C00000"/>
                </a:solidFill>
              </a:rPr>
              <a:t>)– BERT Model</a:t>
            </a:r>
            <a:endParaRPr lang="tr-TR" b="1" u="sng" dirty="0">
              <a:solidFill>
                <a:srgbClr val="C00000"/>
              </a:solidFill>
            </a:endParaRPr>
          </a:p>
        </p:txBody>
      </p:sp>
      <p:pic>
        <p:nvPicPr>
          <p:cNvPr id="13" name="Resim 12"/>
          <p:cNvPicPr/>
          <p:nvPr/>
        </p:nvPicPr>
        <p:blipFill>
          <a:blip r:embed="rId5">
            <a:extLst>
              <a:ext uri="{28A0092B-C50C-407E-A947-70E740481C1C}">
                <a14:useLocalDpi xmlns:a14="http://schemas.microsoft.com/office/drawing/2010/main" val="0"/>
              </a:ext>
            </a:extLst>
          </a:blip>
          <a:stretch>
            <a:fillRect/>
          </a:stretch>
        </p:blipFill>
        <p:spPr>
          <a:xfrm>
            <a:off x="436408" y="2002536"/>
            <a:ext cx="5858129" cy="4012732"/>
          </a:xfrm>
          <a:prstGeom prst="rect">
            <a:avLst/>
          </a:prstGeom>
        </p:spPr>
      </p:pic>
      <p:sp>
        <p:nvSpPr>
          <p:cNvPr id="5" name="Metin kutusu 4"/>
          <p:cNvSpPr txBox="1"/>
          <p:nvPr/>
        </p:nvSpPr>
        <p:spPr>
          <a:xfrm>
            <a:off x="6510528" y="1810183"/>
            <a:ext cx="5385816" cy="397031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Modelin hatalı sınıflandırmalarının yalnızca nicel performans metrikleri üzerinden değil, anlamsal düzeyde de incelenebilmesi amacıyla kosinüs benzerliği (</a:t>
            </a:r>
            <a:r>
              <a:rPr lang="tr-TR" sz="1400" dirty="0" err="1">
                <a:latin typeface="Times New Roman" panose="02020603050405020304" pitchFamily="18" charset="0"/>
                <a:cs typeface="Times New Roman" panose="02020603050405020304" pitchFamily="18" charset="0"/>
              </a:rPr>
              <a:t>cosine</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similarity</a:t>
            </a:r>
            <a:r>
              <a:rPr lang="tr-TR" sz="1400" dirty="0">
                <a:latin typeface="Times New Roman" panose="02020603050405020304" pitchFamily="18" charset="0"/>
                <a:cs typeface="Times New Roman" panose="02020603050405020304" pitchFamily="18" charset="0"/>
              </a:rPr>
              <a:t>) temelli bir analiz gerçekleştirilmiştir. </a:t>
            </a:r>
            <a:endParaRPr lang="tr-TR" sz="14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analizde, metinler </a:t>
            </a:r>
            <a:r>
              <a:rPr lang="tr-TR" sz="1400" dirty="0" err="1">
                <a:latin typeface="Times New Roman" panose="02020603050405020304" pitchFamily="18" charset="0"/>
                <a:cs typeface="Times New Roman" panose="02020603050405020304" pitchFamily="18" charset="0"/>
              </a:rPr>
              <a:t>Sentence</a:t>
            </a:r>
            <a:r>
              <a:rPr lang="tr-TR" sz="1400" dirty="0">
                <a:latin typeface="Times New Roman" panose="02020603050405020304" pitchFamily="18" charset="0"/>
                <a:cs typeface="Times New Roman" panose="02020603050405020304" pitchFamily="18" charset="0"/>
              </a:rPr>
              <a:t>-BERT modeli kullanılarak vektör temsillere dönüştürülmüştür.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Ardından kosinüs benzerliği metriği kullanılarak metinler arasındaki anlamsal yakınlık hesaplanmıştır.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Amaç, modelin hata yaptığı örneklerin semantik olarak hangi sınıfa daha yakın olduğunu belirlemektir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endParaRPr lang="tr-TR" sz="14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endParaRPr lang="tr-TR" sz="1400" dirty="0">
              <a:latin typeface="Times New Roman" panose="02020603050405020304" pitchFamily="18" charset="0"/>
              <a:cs typeface="Times New Roman" panose="02020603050405020304" pitchFamily="18" charset="0"/>
            </a:endParaRPr>
          </a:p>
        </p:txBody>
      </p:sp>
      <p:pic>
        <p:nvPicPr>
          <p:cNvPr id="7" name="Resim 6"/>
          <p:cNvPicPr>
            <a:picLocks noChangeAspect="1"/>
          </p:cNvPicPr>
          <p:nvPr/>
        </p:nvPicPr>
        <p:blipFill>
          <a:blip r:embed="rId6"/>
          <a:stretch>
            <a:fillRect/>
          </a:stretch>
        </p:blipFill>
        <p:spPr>
          <a:xfrm>
            <a:off x="6866909" y="5179221"/>
            <a:ext cx="1813717" cy="495343"/>
          </a:xfrm>
          <a:prstGeom prst="rect">
            <a:avLst/>
          </a:prstGeom>
        </p:spPr>
      </p:pic>
      <p:pic>
        <p:nvPicPr>
          <p:cNvPr id="11" name="Resim 10"/>
          <p:cNvPicPr>
            <a:picLocks noChangeAspect="1"/>
          </p:cNvPicPr>
          <p:nvPr/>
        </p:nvPicPr>
        <p:blipFill>
          <a:blip r:embed="rId7"/>
          <a:stretch>
            <a:fillRect/>
          </a:stretch>
        </p:blipFill>
        <p:spPr>
          <a:xfrm>
            <a:off x="8789727" y="5179221"/>
            <a:ext cx="3322608" cy="784928"/>
          </a:xfrm>
          <a:prstGeom prst="rect">
            <a:avLst/>
          </a:prstGeom>
        </p:spPr>
      </p:pic>
    </p:spTree>
    <p:extLst>
      <p:ext uri="{BB962C8B-B14F-4D97-AF65-F5344CB8AC3E}">
        <p14:creationId xmlns:p14="http://schemas.microsoft.com/office/powerpoint/2010/main" val="197078160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5635048" y="1330058"/>
            <a:ext cx="6091156" cy="369332"/>
          </a:xfrm>
          <a:prstGeom prst="rect">
            <a:avLst/>
          </a:prstGeom>
          <a:noFill/>
        </p:spPr>
        <p:txBody>
          <a:bodyPr wrap="square" rtlCol="0">
            <a:spAutoFit/>
          </a:bodyPr>
          <a:lstStyle/>
          <a:p>
            <a:pPr algn="ctr"/>
            <a:r>
              <a:rPr lang="tr-TR" b="1" u="sng" dirty="0" smtClean="0">
                <a:solidFill>
                  <a:srgbClr val="C00000"/>
                </a:solidFill>
              </a:rPr>
              <a:t>ROC-AUC – BERT Model</a:t>
            </a:r>
            <a:endParaRPr lang="tr-TR" b="1" u="sng" dirty="0">
              <a:solidFill>
                <a:srgbClr val="C00000"/>
              </a:solidFill>
            </a:endParaRPr>
          </a:p>
        </p:txBody>
      </p:sp>
      <p:sp>
        <p:nvSpPr>
          <p:cNvPr id="5" name="Metin kutusu 4"/>
          <p:cNvSpPr txBox="1"/>
          <p:nvPr/>
        </p:nvSpPr>
        <p:spPr>
          <a:xfrm>
            <a:off x="6510528" y="1810183"/>
            <a:ext cx="5385816" cy="364715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err="1">
                <a:latin typeface="Times New Roman" panose="02020603050405020304" pitchFamily="18" charset="0"/>
                <a:cs typeface="Times New Roman" panose="02020603050405020304" pitchFamily="18" charset="0"/>
              </a:rPr>
              <a:t>Accuracy</a:t>
            </a:r>
            <a:r>
              <a:rPr lang="tr-TR" sz="1400" dirty="0">
                <a:latin typeface="Times New Roman" panose="02020603050405020304" pitchFamily="18" charset="0"/>
                <a:cs typeface="Times New Roman" panose="02020603050405020304" pitchFamily="18" charset="0"/>
              </a:rPr>
              <a:t>, Precision ve F1-score gibi metrikler belirli bir eşik değerine bağlıdır</a:t>
            </a:r>
            <a:r>
              <a:rPr lang="tr-TR" sz="1400" dirty="0" smtClean="0">
                <a:latin typeface="Times New Roman" panose="02020603050405020304" pitchFamily="18" charset="0"/>
                <a:cs typeface="Times New Roman" panose="02020603050405020304" pitchFamily="18" charset="0"/>
              </a:rPr>
              <a:t>. Bu </a:t>
            </a:r>
            <a:r>
              <a:rPr lang="tr-TR" sz="1400" dirty="0">
                <a:latin typeface="Times New Roman" panose="02020603050405020304" pitchFamily="18" charset="0"/>
                <a:cs typeface="Times New Roman" panose="02020603050405020304" pitchFamily="18" charset="0"/>
              </a:rPr>
              <a:t>nedenle modelin genel ayırt edici gücünü değerlendirmek için ROC–AUC analizi kullanılmıştır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ROC </a:t>
            </a:r>
            <a:r>
              <a:rPr lang="tr-TR" sz="1400" dirty="0">
                <a:latin typeface="Times New Roman" panose="02020603050405020304" pitchFamily="18" charset="0"/>
                <a:cs typeface="Times New Roman" panose="02020603050405020304" pitchFamily="18" charset="0"/>
              </a:rPr>
              <a:t>eğrisi, farklı eşik değerleri altında TPR ve FPR arasındaki ilişkiyi göstermektedir</a:t>
            </a:r>
            <a:r>
              <a:rPr lang="tr-TR" sz="1400" dirty="0" smtClean="0">
                <a:latin typeface="Times New Roman" panose="02020603050405020304" pitchFamily="18" charset="0"/>
                <a:cs typeface="Times New Roman" panose="02020603050405020304" pitchFamily="18" charset="0"/>
              </a:rPr>
              <a:t>. Eğri </a:t>
            </a:r>
            <a:r>
              <a:rPr lang="tr-TR" sz="1400" dirty="0">
                <a:latin typeface="Times New Roman" panose="02020603050405020304" pitchFamily="18" charset="0"/>
                <a:cs typeface="Times New Roman" panose="02020603050405020304" pitchFamily="18" charset="0"/>
              </a:rPr>
              <a:t>altında kalan alan yani AUC değeri, modelin sınıfları ayırt etme başarısını özetlemektedir</a:t>
            </a:r>
            <a:r>
              <a:rPr lang="tr-TR"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AUC </a:t>
            </a:r>
            <a:r>
              <a:rPr lang="en-US" sz="1400" dirty="0" err="1">
                <a:latin typeface="Times New Roman" panose="02020603050405020304" pitchFamily="18" charset="0"/>
                <a:cs typeface="Times New Roman" panose="02020603050405020304" pitchFamily="18" charset="0"/>
              </a:rPr>
              <a:t>değerinin</a:t>
            </a:r>
            <a:r>
              <a:rPr lang="en-US" sz="1400" dirty="0">
                <a:latin typeface="Times New Roman" panose="02020603050405020304" pitchFamily="18" charset="0"/>
                <a:cs typeface="Times New Roman" panose="02020603050405020304" pitchFamily="18" charset="0"/>
              </a:rPr>
              <a:t> 0.5 </a:t>
            </a:r>
            <a:r>
              <a:rPr lang="en-US" sz="1400" dirty="0" err="1">
                <a:latin typeface="Times New Roman" panose="02020603050405020304" pitchFamily="18" charset="0"/>
                <a:cs typeface="Times New Roman" panose="02020603050405020304" pitchFamily="18" charset="0"/>
              </a:rPr>
              <a:t>olması</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modelin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rastgele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tahmin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düzeyinde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performans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gösterdiğini</a:t>
            </a:r>
            <a:r>
              <a:rPr lang="en-US" sz="1400" dirty="0">
                <a:latin typeface="Times New Roman" panose="02020603050405020304" pitchFamily="18" charset="0"/>
                <a:cs typeface="Times New Roman" panose="02020603050405020304" pitchFamily="18" charset="0"/>
              </a:rPr>
              <a:t>, 1.0’a </a:t>
            </a:r>
            <a:r>
              <a:rPr lang="en-US" sz="1400" dirty="0" err="1">
                <a:latin typeface="Times New Roman" panose="02020603050405020304" pitchFamily="18" charset="0"/>
                <a:cs typeface="Times New Roman" panose="02020603050405020304" pitchFamily="18" charset="0"/>
              </a:rPr>
              <a:t>yaklaşması</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ise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sınıflar</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arasında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güçlü</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bir</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ayrım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kapasitesine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sahip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olduğunu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göstermektedir</a:t>
            </a:r>
            <a:r>
              <a:rPr lang="en-US" sz="1400" dirty="0">
                <a:latin typeface="Times New Roman" panose="02020603050405020304" pitchFamily="18" charset="0"/>
                <a:cs typeface="Times New Roman" panose="02020603050405020304" pitchFamily="18" charset="0"/>
              </a:rPr>
              <a:t>.</a:t>
            </a:r>
            <a:endParaRPr lang="tr-TR" sz="14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endParaRPr lang="tr-TR" sz="14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endParaRPr lang="tr-TR" sz="1400" dirty="0">
              <a:latin typeface="Times New Roman" panose="02020603050405020304" pitchFamily="18" charset="0"/>
              <a:cs typeface="Times New Roman" panose="02020603050405020304" pitchFamily="18" charset="0"/>
            </a:endParaRPr>
          </a:p>
        </p:txBody>
      </p:sp>
      <p:pic>
        <p:nvPicPr>
          <p:cNvPr id="14" name="Resim 13"/>
          <p:cNvPicPr>
            <a:picLocks noChangeAspect="1"/>
          </p:cNvPicPr>
          <p:nvPr/>
        </p:nvPicPr>
        <p:blipFill>
          <a:blip r:embed="rId5"/>
          <a:stretch>
            <a:fillRect/>
          </a:stretch>
        </p:blipFill>
        <p:spPr>
          <a:xfrm>
            <a:off x="6880250" y="4988819"/>
            <a:ext cx="2766300" cy="457240"/>
          </a:xfrm>
          <a:prstGeom prst="rect">
            <a:avLst/>
          </a:prstGeom>
        </p:spPr>
      </p:pic>
      <p:pic>
        <p:nvPicPr>
          <p:cNvPr id="16" name="Resim 15"/>
          <p:cNvPicPr>
            <a:picLocks noChangeAspect="1"/>
          </p:cNvPicPr>
          <p:nvPr/>
        </p:nvPicPr>
        <p:blipFill>
          <a:blip r:embed="rId6"/>
          <a:stretch>
            <a:fillRect/>
          </a:stretch>
        </p:blipFill>
        <p:spPr>
          <a:xfrm>
            <a:off x="9835355" y="4988819"/>
            <a:ext cx="2103302" cy="632515"/>
          </a:xfrm>
          <a:prstGeom prst="rect">
            <a:avLst/>
          </a:prstGeom>
        </p:spPr>
      </p:pic>
      <p:pic>
        <p:nvPicPr>
          <p:cNvPr id="17" name="Resim 16"/>
          <p:cNvPicPr/>
          <p:nvPr/>
        </p:nvPicPr>
        <p:blipFill>
          <a:blip r:embed="rId7">
            <a:extLst>
              <a:ext uri="{28A0092B-C50C-407E-A947-70E740481C1C}">
                <a14:useLocalDpi xmlns:a14="http://schemas.microsoft.com/office/drawing/2010/main" val="0"/>
              </a:ext>
            </a:extLst>
          </a:blip>
          <a:stretch>
            <a:fillRect/>
          </a:stretch>
        </p:blipFill>
        <p:spPr>
          <a:xfrm>
            <a:off x="155575" y="1330058"/>
            <a:ext cx="5852813" cy="4514417"/>
          </a:xfrm>
          <a:prstGeom prst="rect">
            <a:avLst/>
          </a:prstGeom>
        </p:spPr>
      </p:pic>
    </p:spTree>
    <p:extLst>
      <p:ext uri="{BB962C8B-B14F-4D97-AF65-F5344CB8AC3E}">
        <p14:creationId xmlns:p14="http://schemas.microsoft.com/office/powerpoint/2010/main" val="39094373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5635048" y="1330058"/>
            <a:ext cx="6091156" cy="369332"/>
          </a:xfrm>
          <a:prstGeom prst="rect">
            <a:avLst/>
          </a:prstGeom>
          <a:noFill/>
        </p:spPr>
        <p:txBody>
          <a:bodyPr wrap="square" rtlCol="0">
            <a:spAutoFit/>
          </a:bodyPr>
          <a:lstStyle/>
          <a:p>
            <a:pPr algn="ctr"/>
            <a:r>
              <a:rPr lang="tr-TR" b="1" u="sng" dirty="0" smtClean="0">
                <a:solidFill>
                  <a:srgbClr val="C00000"/>
                </a:solidFill>
              </a:rPr>
              <a:t>Kalibrasyon Eğrisi(</a:t>
            </a:r>
            <a:r>
              <a:rPr lang="tr-TR" b="1" u="sng" dirty="0" err="1" smtClean="0">
                <a:solidFill>
                  <a:srgbClr val="C00000"/>
                </a:solidFill>
              </a:rPr>
              <a:t>Calibration</a:t>
            </a:r>
            <a:r>
              <a:rPr lang="tr-TR" b="1" u="sng" dirty="0" smtClean="0">
                <a:solidFill>
                  <a:srgbClr val="C00000"/>
                </a:solidFill>
              </a:rPr>
              <a:t> </a:t>
            </a:r>
            <a:r>
              <a:rPr lang="tr-TR" b="1" u="sng" dirty="0" err="1" smtClean="0">
                <a:solidFill>
                  <a:srgbClr val="C00000"/>
                </a:solidFill>
              </a:rPr>
              <a:t>Curve</a:t>
            </a:r>
            <a:r>
              <a:rPr lang="tr-TR" b="1" u="sng" dirty="0" smtClean="0">
                <a:solidFill>
                  <a:srgbClr val="C00000"/>
                </a:solidFill>
              </a:rPr>
              <a:t>) – BERT Model</a:t>
            </a:r>
            <a:endParaRPr lang="tr-TR" b="1" u="sng" dirty="0">
              <a:solidFill>
                <a:srgbClr val="C00000"/>
              </a:solidFill>
            </a:endParaRPr>
          </a:p>
        </p:txBody>
      </p:sp>
      <p:sp>
        <p:nvSpPr>
          <p:cNvPr id="5" name="Metin kutusu 4"/>
          <p:cNvSpPr txBox="1"/>
          <p:nvPr/>
        </p:nvSpPr>
        <p:spPr>
          <a:xfrm>
            <a:off x="5982906" y="1810183"/>
            <a:ext cx="5840285" cy="461664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Kalibrasyon analizi, modelin verdiği olasılık tahminlerinin ne kadar güvenilir olduğunu değerlendirmek amacıyla yapılmıştır</a:t>
            </a:r>
            <a:r>
              <a:rPr lang="tr-TR" sz="1400" dirty="0" smtClean="0">
                <a:latin typeface="Times New Roman" panose="02020603050405020304" pitchFamily="18" charset="0"/>
                <a:cs typeface="Times New Roman" panose="02020603050405020304" pitchFamily="18" charset="0"/>
              </a:rPr>
              <a:t>. Yani </a:t>
            </a:r>
            <a:r>
              <a:rPr lang="tr-TR" sz="1400" dirty="0">
                <a:latin typeface="Times New Roman" panose="02020603050405020304" pitchFamily="18" charset="0"/>
                <a:cs typeface="Times New Roman" panose="02020603050405020304" pitchFamily="18" charset="0"/>
              </a:rPr>
              <a:t>İdeal bir modelde, örneğin %80 olasılıkla pozitif dediği örneklerin gerçekten %80’inin pozitif olması beklenir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Grafiklerde kesikli çizgi mükemmel kalibrasyonu, yani ideal durumu göstermektedir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Kalibrasyon performansını ölçmek için </a:t>
            </a:r>
            <a:r>
              <a:rPr lang="tr-TR" sz="1400" dirty="0" err="1">
                <a:latin typeface="Times New Roman" panose="02020603050405020304" pitchFamily="18" charset="0"/>
                <a:cs typeface="Times New Roman" panose="02020603050405020304" pitchFamily="18" charset="0"/>
              </a:rPr>
              <a:t>Expected</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Calibration</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Error</a:t>
            </a:r>
            <a:r>
              <a:rPr lang="tr-TR" sz="1400" dirty="0">
                <a:latin typeface="Times New Roman" panose="02020603050405020304" pitchFamily="18" charset="0"/>
                <a:cs typeface="Times New Roman" panose="02020603050405020304" pitchFamily="18" charset="0"/>
              </a:rPr>
              <a:t> yani ECE metriği kullanılmıştır.</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ECE, modelin tahmin ettiği olasılık ile gerçek doğruluk arasındaki farkı ölçmektedir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Düşük ECE değeri, modelin daha iyi kalibre edildiğini göstermektedir.</a:t>
            </a:r>
          </a:p>
          <a:p>
            <a:pPr marL="285750" indent="-285750" algn="just">
              <a:lnSpc>
                <a:spcPct val="150000"/>
              </a:lnSpc>
              <a:buFont typeface="Wingdings" panose="05000000000000000000" pitchFamily="2" charset="2"/>
              <a:buChar char="q"/>
            </a:pPr>
            <a:endParaRPr lang="tr-TR" sz="1400" dirty="0" smtClean="0"/>
          </a:p>
          <a:p>
            <a:pPr marL="285750" indent="-285750" algn="just">
              <a:lnSpc>
                <a:spcPct val="150000"/>
              </a:lnSpc>
              <a:buFont typeface="Wingdings" panose="05000000000000000000" pitchFamily="2" charset="2"/>
              <a:buChar char="q"/>
            </a:pPr>
            <a:endParaRPr lang="tr-TR" sz="1400" dirty="0"/>
          </a:p>
          <a:p>
            <a:pPr marL="285750" indent="-285750" algn="just">
              <a:lnSpc>
                <a:spcPct val="150000"/>
              </a:lnSpc>
              <a:buFont typeface="Wingdings" panose="05000000000000000000" pitchFamily="2" charset="2"/>
              <a:buChar char="q"/>
            </a:pPr>
            <a:endParaRPr lang="tr-TR" sz="1400" dirty="0">
              <a:latin typeface="Times New Roman" panose="02020603050405020304" pitchFamily="18" charset="0"/>
              <a:cs typeface="Times New Roman" panose="02020603050405020304" pitchFamily="18" charset="0"/>
            </a:endParaRPr>
          </a:p>
        </p:txBody>
      </p:sp>
      <p:pic>
        <p:nvPicPr>
          <p:cNvPr id="18" name="Resim 17"/>
          <p:cNvPicPr/>
          <p:nvPr/>
        </p:nvPicPr>
        <p:blipFill>
          <a:blip r:embed="rId5" cstate="print">
            <a:extLst>
              <a:ext uri="{28A0092B-C50C-407E-A947-70E740481C1C}">
                <a14:useLocalDpi xmlns:a14="http://schemas.microsoft.com/office/drawing/2010/main" val="0"/>
              </a:ext>
            </a:extLst>
          </a:blip>
          <a:stretch>
            <a:fillRect/>
          </a:stretch>
        </p:blipFill>
        <p:spPr>
          <a:xfrm>
            <a:off x="160213" y="1197082"/>
            <a:ext cx="4999418" cy="5620795"/>
          </a:xfrm>
          <a:prstGeom prst="rect">
            <a:avLst/>
          </a:prstGeom>
        </p:spPr>
      </p:pic>
      <p:pic>
        <p:nvPicPr>
          <p:cNvPr id="7" name="Resim 6"/>
          <p:cNvPicPr>
            <a:picLocks noChangeAspect="1"/>
          </p:cNvPicPr>
          <p:nvPr/>
        </p:nvPicPr>
        <p:blipFill>
          <a:blip r:embed="rId6"/>
          <a:stretch>
            <a:fillRect/>
          </a:stretch>
        </p:blipFill>
        <p:spPr>
          <a:xfrm>
            <a:off x="6515384" y="5524827"/>
            <a:ext cx="2476715" cy="662997"/>
          </a:xfrm>
          <a:prstGeom prst="rect">
            <a:avLst/>
          </a:prstGeom>
        </p:spPr>
      </p:pic>
      <p:pic>
        <p:nvPicPr>
          <p:cNvPr id="11" name="Resim 10"/>
          <p:cNvPicPr>
            <a:picLocks noChangeAspect="1"/>
          </p:cNvPicPr>
          <p:nvPr/>
        </p:nvPicPr>
        <p:blipFill>
          <a:blip r:embed="rId7"/>
          <a:stretch>
            <a:fillRect/>
          </a:stretch>
        </p:blipFill>
        <p:spPr>
          <a:xfrm>
            <a:off x="9286650" y="5448890"/>
            <a:ext cx="2720576" cy="1104996"/>
          </a:xfrm>
          <a:prstGeom prst="rect">
            <a:avLst/>
          </a:prstGeom>
        </p:spPr>
      </p:pic>
    </p:spTree>
    <p:extLst>
      <p:ext uri="{BB962C8B-B14F-4D97-AF65-F5344CB8AC3E}">
        <p14:creationId xmlns:p14="http://schemas.microsoft.com/office/powerpoint/2010/main" val="11511537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5635048" y="1248010"/>
            <a:ext cx="6091156" cy="646331"/>
          </a:xfrm>
          <a:prstGeom prst="rect">
            <a:avLst/>
          </a:prstGeom>
          <a:noFill/>
        </p:spPr>
        <p:txBody>
          <a:bodyPr wrap="square" rtlCol="0">
            <a:spAutoFit/>
          </a:bodyPr>
          <a:lstStyle/>
          <a:p>
            <a:pPr algn="ctr"/>
            <a:r>
              <a:rPr lang="tr-TR" b="1" u="sng" dirty="0" smtClean="0">
                <a:solidFill>
                  <a:srgbClr val="C00000"/>
                </a:solidFill>
              </a:rPr>
              <a:t>Model Olasılık Dağılımı(</a:t>
            </a:r>
            <a:r>
              <a:rPr lang="tr-TR" b="1" u="sng" dirty="0" err="1" smtClean="0">
                <a:solidFill>
                  <a:srgbClr val="C00000"/>
                </a:solidFill>
              </a:rPr>
              <a:t>Prediction</a:t>
            </a:r>
            <a:r>
              <a:rPr lang="tr-TR" b="1" u="sng" dirty="0" smtClean="0">
                <a:solidFill>
                  <a:srgbClr val="C00000"/>
                </a:solidFill>
              </a:rPr>
              <a:t> </a:t>
            </a:r>
            <a:r>
              <a:rPr lang="tr-TR" b="1" u="sng" dirty="0" err="1" smtClean="0">
                <a:solidFill>
                  <a:srgbClr val="C00000"/>
                </a:solidFill>
              </a:rPr>
              <a:t>Probability</a:t>
            </a:r>
            <a:r>
              <a:rPr lang="tr-TR" b="1" u="sng" dirty="0" smtClean="0">
                <a:solidFill>
                  <a:srgbClr val="C00000"/>
                </a:solidFill>
              </a:rPr>
              <a:t> Distribution)– BERT Model</a:t>
            </a:r>
            <a:endParaRPr lang="tr-TR" b="1" u="sng" dirty="0">
              <a:solidFill>
                <a:srgbClr val="C00000"/>
              </a:solidFill>
            </a:endParaRPr>
          </a:p>
        </p:txBody>
      </p:sp>
      <p:sp>
        <p:nvSpPr>
          <p:cNvPr id="5" name="Metin kutusu 4"/>
          <p:cNvSpPr txBox="1"/>
          <p:nvPr/>
        </p:nvSpPr>
        <p:spPr>
          <a:xfrm>
            <a:off x="5885919" y="2259510"/>
            <a:ext cx="5840285" cy="300082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analizde modelin ürettiği tahmin olasılıkları incelenerek doğru ve yanlış tahminlerin güven düzeyleri karşılaştırılmıştır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a:t>Doğru tahminlerin 0 ve 1’e yakın bölgelerde yoğunlaşması, yanlış tahminlerin ise karar sınırına yakın olması beklenmektedir</a:t>
            </a:r>
            <a:r>
              <a:rPr lang="tr-TR" sz="1400" dirty="0" smtClean="0"/>
              <a:t>.</a:t>
            </a:r>
          </a:p>
          <a:p>
            <a:pPr marL="285750" indent="-285750" algn="just">
              <a:lnSpc>
                <a:spcPct val="150000"/>
              </a:lnSpc>
              <a:buFont typeface="Wingdings" panose="05000000000000000000" pitchFamily="2" charset="2"/>
              <a:buChar char="q"/>
            </a:pPr>
            <a:r>
              <a:rPr lang="tr-TR" sz="1400" dirty="0"/>
              <a:t>Olasılık dağılımları, görsel karşılaştırmayı kolaylaştırmak amacıyla eşit genişlikte 30 </a:t>
            </a:r>
            <a:r>
              <a:rPr lang="tr-TR" sz="1400" dirty="0" err="1"/>
              <a:t>histogram</a:t>
            </a:r>
            <a:r>
              <a:rPr lang="tr-TR" sz="1400" dirty="0"/>
              <a:t> dilimi kullanılarak görselleştirilmiş ve yoğunluk (</a:t>
            </a:r>
            <a:r>
              <a:rPr lang="tr-TR" sz="1400" dirty="0" err="1"/>
              <a:t>density</a:t>
            </a:r>
            <a:r>
              <a:rPr lang="tr-TR" sz="1400" dirty="0"/>
              <a:t>) ölçeğinde </a:t>
            </a:r>
            <a:r>
              <a:rPr lang="tr-TR" sz="1400" dirty="0" err="1"/>
              <a:t>normalize</a:t>
            </a:r>
            <a:r>
              <a:rPr lang="tr-TR" sz="1400" dirty="0"/>
              <a:t> edilmiştir.</a:t>
            </a:r>
            <a:endParaRPr lang="tr-TR" sz="1400" dirty="0" smtClean="0"/>
          </a:p>
          <a:p>
            <a:pPr marL="285750" indent="-285750" algn="just">
              <a:lnSpc>
                <a:spcPct val="150000"/>
              </a:lnSpc>
              <a:buFont typeface="Wingdings" panose="05000000000000000000" pitchFamily="2" charset="2"/>
              <a:buChar char="q"/>
            </a:pPr>
            <a:endParaRPr lang="tr-TR" sz="1400" dirty="0"/>
          </a:p>
          <a:p>
            <a:pPr marL="285750" indent="-285750" algn="just">
              <a:lnSpc>
                <a:spcPct val="150000"/>
              </a:lnSpc>
              <a:buFont typeface="Wingdings" panose="05000000000000000000" pitchFamily="2" charset="2"/>
              <a:buChar char="q"/>
            </a:pPr>
            <a:endParaRPr lang="tr-TR" sz="1400" dirty="0">
              <a:latin typeface="Times New Roman" panose="02020603050405020304" pitchFamily="18" charset="0"/>
              <a:cs typeface="Times New Roman" panose="02020603050405020304" pitchFamily="18" charset="0"/>
            </a:endParaRPr>
          </a:p>
        </p:txBody>
      </p:sp>
      <p:pic>
        <p:nvPicPr>
          <p:cNvPr id="16" name="Resim 15"/>
          <p:cNvPicPr/>
          <p:nvPr/>
        </p:nvPicPr>
        <p:blipFill>
          <a:blip r:embed="rId5" cstate="print">
            <a:extLst>
              <a:ext uri="{28A0092B-C50C-407E-A947-70E740481C1C}">
                <a14:useLocalDpi xmlns:a14="http://schemas.microsoft.com/office/drawing/2010/main" val="0"/>
              </a:ext>
            </a:extLst>
          </a:blip>
          <a:stretch>
            <a:fillRect/>
          </a:stretch>
        </p:blipFill>
        <p:spPr>
          <a:xfrm>
            <a:off x="155575" y="1139154"/>
            <a:ext cx="5083937" cy="5696975"/>
          </a:xfrm>
          <a:prstGeom prst="rect">
            <a:avLst/>
          </a:prstGeom>
        </p:spPr>
      </p:pic>
    </p:spTree>
    <p:extLst>
      <p:ext uri="{BB962C8B-B14F-4D97-AF65-F5344CB8AC3E}">
        <p14:creationId xmlns:p14="http://schemas.microsoft.com/office/powerpoint/2010/main" val="193229061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2224189" y="1376640"/>
            <a:ext cx="7736450" cy="369332"/>
          </a:xfrm>
          <a:prstGeom prst="rect">
            <a:avLst/>
          </a:prstGeom>
          <a:noFill/>
        </p:spPr>
        <p:txBody>
          <a:bodyPr wrap="square" rtlCol="0">
            <a:spAutoFit/>
          </a:bodyPr>
          <a:lstStyle/>
          <a:p>
            <a:pPr algn="ctr"/>
            <a:r>
              <a:rPr lang="tr-TR" b="1" u="sng" dirty="0" smtClean="0">
                <a:solidFill>
                  <a:srgbClr val="C00000"/>
                </a:solidFill>
              </a:rPr>
              <a:t>Veri Kümeleri Yapılandırmaları Arasında İstatistiksel Doğrulama - BERT </a:t>
            </a:r>
            <a:r>
              <a:rPr lang="tr-TR" b="1" u="sng" dirty="0" smtClean="0">
                <a:solidFill>
                  <a:srgbClr val="C00000"/>
                </a:solidFill>
              </a:rPr>
              <a:t>Model</a:t>
            </a:r>
            <a:endParaRPr lang="tr-TR" b="1" u="sng" dirty="0">
              <a:solidFill>
                <a:srgbClr val="C00000"/>
              </a:solidFill>
            </a:endParaRPr>
          </a:p>
        </p:txBody>
      </p:sp>
      <p:graphicFrame>
        <p:nvGraphicFramePr>
          <p:cNvPr id="7" name="Tablo 6"/>
          <p:cNvGraphicFramePr>
            <a:graphicFrameLocks noGrp="1"/>
          </p:cNvGraphicFramePr>
          <p:nvPr>
            <p:extLst>
              <p:ext uri="{D42A27DB-BD31-4B8C-83A1-F6EECF244321}">
                <p14:modId xmlns:p14="http://schemas.microsoft.com/office/powerpoint/2010/main" val="3526583196"/>
              </p:ext>
            </p:extLst>
          </p:nvPr>
        </p:nvGraphicFramePr>
        <p:xfrm>
          <a:off x="460375" y="3100062"/>
          <a:ext cx="4677896" cy="1600200"/>
        </p:xfrm>
        <a:graphic>
          <a:graphicData uri="http://schemas.openxmlformats.org/drawingml/2006/table">
            <a:tbl>
              <a:tblPr firstRow="1" firstCol="1" bandRow="1">
                <a:tableStyleId>{F5AB1C69-6EDB-4FF4-983F-18BD219EF322}</a:tableStyleId>
              </a:tblPr>
              <a:tblGrid>
                <a:gridCol w="1459208"/>
                <a:gridCol w="1316736"/>
                <a:gridCol w="1901952"/>
              </a:tblGrid>
              <a:tr h="0">
                <a:tc>
                  <a:txBody>
                    <a:bodyPr/>
                    <a:lstStyle/>
                    <a:p>
                      <a:pPr algn="ctr">
                        <a:lnSpc>
                          <a:spcPct val="150000"/>
                        </a:lnSpc>
                        <a:spcBef>
                          <a:spcPts val="1200"/>
                        </a:spcBef>
                        <a:spcAft>
                          <a:spcPts val="0"/>
                        </a:spcAft>
                      </a:pPr>
                      <a:r>
                        <a:rPr lang="en-US" sz="1400" b="1" dirty="0" err="1">
                          <a:solidFill>
                            <a:schemeClr val="tx1"/>
                          </a:solidFill>
                          <a:effectLst/>
                          <a:latin typeface="Times New Roman" panose="02020603050405020304" pitchFamily="18" charset="0"/>
                          <a:cs typeface="Times New Roman" panose="02020603050405020304" pitchFamily="18" charset="0"/>
                        </a:rPr>
                        <a:t>Metrik</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Chi-square (χ2)</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p-value</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Accuracy</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19.63</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0.0015</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Precision</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6.71</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0.2430</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Recall</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20.31</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0.0011</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F1-Score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21.46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0.007</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14" name="Metin kutusu 13"/>
          <p:cNvSpPr txBox="1"/>
          <p:nvPr/>
        </p:nvSpPr>
        <p:spPr>
          <a:xfrm>
            <a:off x="418927" y="2179515"/>
            <a:ext cx="4815713" cy="523220"/>
          </a:xfrm>
          <a:prstGeom prst="rect">
            <a:avLst/>
          </a:prstGeom>
          <a:noFill/>
        </p:spPr>
        <p:txBody>
          <a:bodyPr wrap="square" rtlCol="0">
            <a:spAutoFit/>
          </a:bodyPr>
          <a:lstStyle/>
          <a:p>
            <a:pPr marL="285750" indent="-285750" algn="ctr">
              <a:buFont typeface="Wingdings" panose="05000000000000000000" pitchFamily="2" charset="2"/>
              <a:buChar char="v"/>
            </a:pPr>
            <a:r>
              <a:rPr lang="tr-TR" sz="1400" b="1" i="1" dirty="0" smtClean="0">
                <a:solidFill>
                  <a:srgbClr val="C00000"/>
                </a:solidFill>
                <a:latin typeface="Times New Roman" panose="02020603050405020304" pitchFamily="18" charset="0"/>
                <a:cs typeface="Times New Roman" panose="02020603050405020304" pitchFamily="18" charset="0"/>
              </a:rPr>
              <a:t>Veri Seti Yapılandırmalarında BERT modeli için </a:t>
            </a:r>
            <a:r>
              <a:rPr lang="tr-TR" sz="1400" b="1" i="1" dirty="0" err="1" smtClean="0">
                <a:solidFill>
                  <a:srgbClr val="C00000"/>
                </a:solidFill>
                <a:latin typeface="Times New Roman" panose="02020603050405020304" pitchFamily="18" charset="0"/>
                <a:cs typeface="Times New Roman" panose="02020603050405020304" pitchFamily="18" charset="0"/>
              </a:rPr>
              <a:t>Friedman</a:t>
            </a:r>
            <a:r>
              <a:rPr lang="tr-TR" sz="1400" b="1" i="1" dirty="0" smtClean="0">
                <a:solidFill>
                  <a:srgbClr val="C00000"/>
                </a:solidFill>
                <a:latin typeface="Times New Roman" panose="02020603050405020304" pitchFamily="18" charset="0"/>
                <a:cs typeface="Times New Roman" panose="02020603050405020304" pitchFamily="18" charset="0"/>
              </a:rPr>
              <a:t> testi sonuçları</a:t>
            </a:r>
            <a:endParaRPr lang="tr-TR" sz="1400" b="1" i="1" dirty="0">
              <a:solidFill>
                <a:srgbClr val="C00000"/>
              </a:solidFill>
              <a:latin typeface="Times New Roman" panose="02020603050405020304" pitchFamily="18" charset="0"/>
              <a:cs typeface="Times New Roman" panose="02020603050405020304" pitchFamily="18" charset="0"/>
            </a:endParaRPr>
          </a:p>
        </p:txBody>
      </p:sp>
      <p:graphicFrame>
        <p:nvGraphicFramePr>
          <p:cNvPr id="11" name="Tablo 10"/>
          <p:cNvGraphicFramePr>
            <a:graphicFrameLocks noGrp="1"/>
          </p:cNvGraphicFramePr>
          <p:nvPr>
            <p:extLst>
              <p:ext uri="{D42A27DB-BD31-4B8C-83A1-F6EECF244321}">
                <p14:modId xmlns:p14="http://schemas.microsoft.com/office/powerpoint/2010/main" val="370038615"/>
              </p:ext>
            </p:extLst>
          </p:nvPr>
        </p:nvGraphicFramePr>
        <p:xfrm>
          <a:off x="6099585" y="2918393"/>
          <a:ext cx="5215487" cy="2560320"/>
        </p:xfrm>
        <a:graphic>
          <a:graphicData uri="http://schemas.openxmlformats.org/drawingml/2006/table">
            <a:tbl>
              <a:tblPr firstRow="1" firstCol="1" bandRow="1">
                <a:tableStyleId>{F5AB1C69-6EDB-4FF4-983F-18BD219EF322}</a:tableStyleId>
              </a:tblPr>
              <a:tblGrid>
                <a:gridCol w="1456400"/>
                <a:gridCol w="933591"/>
                <a:gridCol w="877824"/>
                <a:gridCol w="902865"/>
                <a:gridCol w="1044807"/>
              </a:tblGrid>
              <a:tr h="0">
                <a:tc>
                  <a:txBody>
                    <a:bodyPr/>
                    <a:lstStyle/>
                    <a:p>
                      <a:pPr algn="ctr">
                        <a:lnSpc>
                          <a:spcPct val="150000"/>
                        </a:lnSpc>
                        <a:spcBef>
                          <a:spcPts val="1200"/>
                        </a:spcBef>
                        <a:spcAft>
                          <a:spcPts val="0"/>
                        </a:spcAft>
                      </a:pPr>
                      <a:r>
                        <a:rPr lang="en-US" sz="1400" b="1" dirty="0" err="1">
                          <a:solidFill>
                            <a:schemeClr val="tx1"/>
                          </a:solidFill>
                          <a:effectLst/>
                          <a:latin typeface="Times New Roman" panose="02020603050405020304" pitchFamily="18" charset="0"/>
                          <a:cs typeface="Times New Roman" panose="02020603050405020304" pitchFamily="18" charset="0"/>
                        </a:rPr>
                        <a:t>Veri</a:t>
                      </a:r>
                      <a:r>
                        <a:rPr lang="en-US" sz="1400" b="1" dirty="0">
                          <a:solidFill>
                            <a:schemeClr val="tx1"/>
                          </a:solidFill>
                          <a:effectLst/>
                          <a:latin typeface="Times New Roman" panose="02020603050405020304" pitchFamily="18" charset="0"/>
                          <a:cs typeface="Times New Roman" panose="02020603050405020304" pitchFamily="18" charset="0"/>
                        </a:rPr>
                        <a:t> </a:t>
                      </a:r>
                      <a:r>
                        <a:rPr lang="en-US" sz="1400" b="1" dirty="0" err="1">
                          <a:solidFill>
                            <a:schemeClr val="tx1"/>
                          </a:solidFill>
                          <a:effectLst/>
                          <a:latin typeface="Times New Roman" panose="02020603050405020304" pitchFamily="18" charset="0"/>
                          <a:cs typeface="Times New Roman" panose="02020603050405020304" pitchFamily="18" charset="0"/>
                        </a:rPr>
                        <a:t>Kümeleri</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Accuracy</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Precision</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Recall</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F1-Score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Ham</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1.4</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4.2</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1.6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1.2</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Ham + 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3.0</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4.8</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2.0</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2.8</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Ham + GPT</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2.6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3.2</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2.</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Ham + GPT + 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3.0</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3.2</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GPT</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5.4</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2.6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5.2</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5.4</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5.6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2.2</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5.8</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5.6</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17" name="Metin kutusu 16"/>
          <p:cNvSpPr txBox="1"/>
          <p:nvPr/>
        </p:nvSpPr>
        <p:spPr>
          <a:xfrm>
            <a:off x="5705847" y="2155391"/>
            <a:ext cx="5833511" cy="523220"/>
          </a:xfrm>
          <a:prstGeom prst="rect">
            <a:avLst/>
          </a:prstGeom>
          <a:noFill/>
        </p:spPr>
        <p:txBody>
          <a:bodyPr wrap="square" rtlCol="0">
            <a:spAutoFit/>
          </a:bodyPr>
          <a:lstStyle/>
          <a:p>
            <a:pPr marL="285750" indent="-285750" algn="ctr">
              <a:buFont typeface="Wingdings" panose="05000000000000000000" pitchFamily="2" charset="2"/>
              <a:buChar char="v"/>
            </a:pPr>
            <a:r>
              <a:rPr lang="tr-TR" sz="1400" b="1" i="1" dirty="0">
                <a:solidFill>
                  <a:srgbClr val="C00000"/>
                </a:solidFill>
                <a:latin typeface="Times New Roman" panose="02020603050405020304" pitchFamily="18" charset="0"/>
                <a:cs typeface="Times New Roman" panose="02020603050405020304" pitchFamily="18" charset="0"/>
              </a:rPr>
              <a:t>BERT modeli için değerlendirme ölçütleri genelinde veri seti yapılandırmalarının ortalama sıralamaları (5 katlı çapraz doğrulama)</a:t>
            </a:r>
            <a:endParaRPr lang="tr-TR" sz="1400" b="1" i="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830062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 name="Resim 8">
            <a:extLst>
              <a:ext uri="{FF2B5EF4-FFF2-40B4-BE49-F238E27FC236}">
                <a16:creationId xmlns="" xmlns:a16="http://schemas.microsoft.com/office/drawing/2014/main" id="{89A0FB58-FED7-AA44-A962-15EC7EEF363A}"/>
              </a:ext>
            </a:extLst>
          </p:cNvPr>
          <p:cNvPicPr>
            <a:picLocks noChangeAspect="1"/>
          </p:cNvPicPr>
          <p:nvPr/>
        </p:nvPicPr>
        <p:blipFill>
          <a:blip r:embed="rId4"/>
          <a:stretch>
            <a:fillRect/>
          </a:stretch>
        </p:blipFill>
        <p:spPr>
          <a:xfrm>
            <a:off x="10787106" y="298937"/>
            <a:ext cx="1504504" cy="840217"/>
          </a:xfrm>
          <a:prstGeom prst="rect">
            <a:avLst/>
          </a:prstGeom>
        </p:spPr>
      </p:pic>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7" name="Metin kutusu 16"/>
          <p:cNvSpPr txBox="1"/>
          <p:nvPr/>
        </p:nvSpPr>
        <p:spPr>
          <a:xfrm>
            <a:off x="5748169" y="1413168"/>
            <a:ext cx="5833511" cy="738664"/>
          </a:xfrm>
          <a:prstGeom prst="rect">
            <a:avLst/>
          </a:prstGeom>
          <a:noFill/>
        </p:spPr>
        <p:txBody>
          <a:bodyPr wrap="square" rtlCol="0">
            <a:spAutoFit/>
          </a:bodyPr>
          <a:lstStyle/>
          <a:p>
            <a:pPr marL="285750" indent="-285750" algn="ctr">
              <a:buFont typeface="Wingdings" panose="05000000000000000000" pitchFamily="2" charset="2"/>
              <a:buChar char="v"/>
            </a:pPr>
            <a:r>
              <a:rPr lang="tr-TR" sz="1400" b="1" i="1" dirty="0">
                <a:solidFill>
                  <a:srgbClr val="C00000"/>
                </a:solidFill>
                <a:latin typeface="Times New Roman" panose="02020603050405020304" pitchFamily="18" charset="0"/>
                <a:cs typeface="Times New Roman" panose="02020603050405020304" pitchFamily="18" charset="0"/>
              </a:rPr>
              <a:t>BERT modeli için ortalama sıra farklarına dayalı </a:t>
            </a:r>
            <a:r>
              <a:rPr lang="tr-TR" sz="1400" b="1" i="1" dirty="0" err="1">
                <a:solidFill>
                  <a:srgbClr val="C00000"/>
                </a:solidFill>
                <a:latin typeface="Times New Roman" panose="02020603050405020304" pitchFamily="18" charset="0"/>
                <a:cs typeface="Times New Roman" panose="02020603050405020304" pitchFamily="18" charset="0"/>
              </a:rPr>
              <a:t>Nemenyi</a:t>
            </a:r>
            <a:r>
              <a:rPr lang="tr-TR" sz="1400" b="1" i="1" dirty="0">
                <a:solidFill>
                  <a:srgbClr val="C00000"/>
                </a:solidFill>
                <a:latin typeface="Times New Roman" panose="02020603050405020304" pitchFamily="18" charset="0"/>
                <a:cs typeface="Times New Roman" panose="02020603050405020304" pitchFamily="18" charset="0"/>
              </a:rPr>
              <a:t> post-hoc karşılaştırmaları (CD ≈ 3.37). |Sıra farkı| &gt; CD olan çiftler </a:t>
            </a:r>
            <a:r>
              <a:rPr lang="el-GR" sz="1400" b="1" i="1" dirty="0">
                <a:solidFill>
                  <a:srgbClr val="C00000"/>
                </a:solidFill>
                <a:latin typeface="Times New Roman" panose="02020603050405020304" pitchFamily="18" charset="0"/>
                <a:cs typeface="Times New Roman" panose="02020603050405020304" pitchFamily="18" charset="0"/>
              </a:rPr>
              <a:t>α = 0.05 </a:t>
            </a:r>
            <a:r>
              <a:rPr lang="tr-TR" sz="1400" b="1" i="1" dirty="0">
                <a:solidFill>
                  <a:srgbClr val="C00000"/>
                </a:solidFill>
                <a:latin typeface="Times New Roman" panose="02020603050405020304" pitchFamily="18" charset="0"/>
                <a:cs typeface="Times New Roman" panose="02020603050405020304" pitchFamily="18" charset="0"/>
              </a:rPr>
              <a:t>düzeyinde istatistiksel olarak anlamlıdır.</a:t>
            </a:r>
            <a:endParaRPr lang="tr-TR" sz="1400" b="1" i="1" dirty="0">
              <a:solidFill>
                <a:srgbClr val="C00000"/>
              </a:solidFill>
              <a:latin typeface="Times New Roman" panose="02020603050405020304" pitchFamily="18" charset="0"/>
              <a:cs typeface="Times New Roman" panose="02020603050405020304" pitchFamily="18" charset="0"/>
            </a:endParaRPr>
          </a:p>
        </p:txBody>
      </p:sp>
      <p:pic>
        <p:nvPicPr>
          <p:cNvPr id="13" name="Resim 12"/>
          <p:cNvPicPr>
            <a:picLocks noChangeAspect="1"/>
          </p:cNvPicPr>
          <p:nvPr/>
        </p:nvPicPr>
        <p:blipFill>
          <a:blip r:embed="rId5"/>
          <a:stretch>
            <a:fillRect/>
          </a:stretch>
        </p:blipFill>
        <p:spPr>
          <a:xfrm>
            <a:off x="307975" y="4692961"/>
            <a:ext cx="1920406" cy="777307"/>
          </a:xfrm>
          <a:prstGeom prst="rect">
            <a:avLst/>
          </a:prstGeom>
        </p:spPr>
      </p:pic>
      <p:sp>
        <p:nvSpPr>
          <p:cNvPr id="18" name="Dikdörtgen 17"/>
          <p:cNvSpPr/>
          <p:nvPr/>
        </p:nvSpPr>
        <p:spPr>
          <a:xfrm>
            <a:off x="115827" y="1934219"/>
            <a:ext cx="5343141" cy="3370153"/>
          </a:xfrm>
          <a:prstGeom prst="rect">
            <a:avLst/>
          </a:prstGeom>
        </p:spPr>
        <p:txBody>
          <a:bodyPr wrap="square">
            <a:spAutoFit/>
          </a:bodyPr>
          <a:lstStyle/>
          <a:p>
            <a:pPr marL="360000" indent="-285750" algn="just">
              <a:lnSpc>
                <a:spcPct val="150000"/>
              </a:lnSpc>
              <a:spcAft>
                <a:spcPts val="1200"/>
              </a:spcAft>
              <a:buFont typeface="Wingdings" panose="05000000000000000000" pitchFamily="2" charset="2"/>
              <a:buChar char="q"/>
            </a:pPr>
            <a:r>
              <a:rPr lang="tr-TR" sz="1400" dirty="0" err="1">
                <a:latin typeface="Times New Roman" panose="02020603050405020304" pitchFamily="18" charset="0"/>
                <a:cs typeface="Times New Roman" panose="02020603050405020304" pitchFamily="18" charset="0"/>
              </a:rPr>
              <a:t>Nemenyi</a:t>
            </a:r>
            <a:r>
              <a:rPr lang="tr-TR" sz="1400" dirty="0">
                <a:latin typeface="Times New Roman" panose="02020603050405020304" pitchFamily="18" charset="0"/>
                <a:cs typeface="Times New Roman" panose="02020603050405020304" pitchFamily="18" charset="0"/>
              </a:rPr>
              <a:t> testinde iki yapılandırma arasındaki farkın anlamlı kabul edilebilmesi için ortalama sıralama farkının kritik mesafe değerini aşması gerekmektedir</a:t>
            </a:r>
            <a:r>
              <a:rPr lang="tr-TR" sz="1400" dirty="0" smtClean="0">
                <a:latin typeface="Times New Roman" panose="02020603050405020304" pitchFamily="18" charset="0"/>
                <a:cs typeface="Times New Roman" panose="02020603050405020304" pitchFamily="18" charset="0"/>
              </a:rPr>
              <a:t>.</a:t>
            </a:r>
            <a:endParaRPr lang="tr-TR" sz="1400" dirty="0" smtClean="0">
              <a:latin typeface="Times New Roman" panose="02020603050405020304" pitchFamily="18" charset="0"/>
              <a:ea typeface="Calibri" panose="020F0502020204030204" pitchFamily="34" charset="0"/>
              <a:cs typeface="Times New Roman" panose="02020603050405020304" pitchFamily="18" charset="0"/>
            </a:endParaRPr>
          </a:p>
          <a:p>
            <a:pPr marL="360000" indent="-285750" algn="just">
              <a:lnSpc>
                <a:spcPct val="150000"/>
              </a:lnSpc>
              <a:spcAft>
                <a:spcPts val="1200"/>
              </a:spcAft>
              <a:buFont typeface="Wingdings" panose="05000000000000000000" pitchFamily="2" charset="2"/>
              <a:buChar char="q"/>
            </a:pPr>
            <a:r>
              <a:rPr lang="en-US" sz="1400" dirty="0" err="1" smtClean="0">
                <a:latin typeface="Times New Roman" panose="02020603050405020304" pitchFamily="18" charset="0"/>
                <a:ea typeface="Calibri" panose="020F0502020204030204" pitchFamily="34" charset="0"/>
                <a:cs typeface="Times New Roman" panose="02020603050405020304" pitchFamily="18" charset="0"/>
              </a:rPr>
              <a:t>Burada</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400" dirty="0">
                <a:latin typeface="Times New Roman" panose="02020603050405020304" pitchFamily="18" charset="0"/>
                <a:ea typeface="Calibri" panose="020F0502020204030204" pitchFamily="34" charset="0"/>
                <a:cs typeface="Times New Roman" panose="02020603050405020304" pitchFamily="18" charset="0"/>
              </a:rPr>
              <a:t>𝑞 </a:t>
            </a:r>
            <a:r>
              <a:rPr lang="en-US" sz="1400" baseline="-25000" dirty="0">
                <a:latin typeface="Times New Roman" panose="02020603050405020304" pitchFamily="18" charset="0"/>
                <a:ea typeface="Calibri" panose="020F0502020204030204" pitchFamily="34" charset="0"/>
                <a:cs typeface="Times New Roman" panose="02020603050405020304" pitchFamily="18" charset="0"/>
              </a:rPr>
              <a:t>𝛼</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latin typeface="Times New Roman" panose="02020603050405020304" pitchFamily="18" charset="0"/>
                <a:ea typeface="Calibri" panose="020F0502020204030204" pitchFamily="34" charset="0"/>
                <a:cs typeface="Times New Roman" panose="02020603050405020304" pitchFamily="18" charset="0"/>
              </a:rPr>
              <a:t>Studentized</a:t>
            </a:r>
            <a:r>
              <a:rPr lang="en-US" sz="1400" dirty="0">
                <a:latin typeface="Times New Roman" panose="02020603050405020304" pitchFamily="18" charset="0"/>
                <a:ea typeface="Calibri" panose="020F0502020204030204" pitchFamily="34" charset="0"/>
                <a:cs typeface="Times New Roman" panose="02020603050405020304" pitchFamily="18" charset="0"/>
              </a:rPr>
              <a:t> range </a:t>
            </a:r>
            <a:r>
              <a:rPr lang="en-US" sz="1400" dirty="0" err="1">
                <a:latin typeface="Times New Roman" panose="02020603050405020304" pitchFamily="18" charset="0"/>
                <a:ea typeface="Calibri" panose="020F0502020204030204" pitchFamily="34" charset="0"/>
                <a:cs typeface="Times New Roman" panose="02020603050405020304" pitchFamily="18" charset="0"/>
              </a:rPr>
              <a:t>dağılımının</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latin typeface="Times New Roman" panose="02020603050405020304" pitchFamily="18" charset="0"/>
                <a:ea typeface="Calibri" panose="020F0502020204030204" pitchFamily="34" charset="0"/>
                <a:cs typeface="Times New Roman" panose="02020603050405020304" pitchFamily="18" charset="0"/>
              </a:rPr>
              <a:t>kritik</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latin typeface="Times New Roman" panose="02020603050405020304" pitchFamily="18" charset="0"/>
                <a:ea typeface="Calibri" panose="020F0502020204030204" pitchFamily="34" charset="0"/>
                <a:cs typeface="Times New Roman" panose="02020603050405020304" pitchFamily="18" charset="0"/>
              </a:rPr>
              <a:t>değeridir</a:t>
            </a:r>
            <a:r>
              <a:rPr lang="en-US" sz="1400" dirty="0">
                <a:latin typeface="Times New Roman" panose="02020603050405020304" pitchFamily="18" charset="0"/>
                <a:ea typeface="Calibri" panose="020F0502020204030204" pitchFamily="34" charset="0"/>
                <a:cs typeface="Times New Roman" panose="02020603050405020304" pitchFamily="18" charset="0"/>
              </a:rPr>
              <a:t>. Bu </a:t>
            </a:r>
            <a:r>
              <a:rPr lang="en-US" sz="1400" dirty="0" err="1">
                <a:latin typeface="Times New Roman" panose="02020603050405020304" pitchFamily="18" charset="0"/>
                <a:ea typeface="Calibri" panose="020F0502020204030204" pitchFamily="34" charset="0"/>
                <a:cs typeface="Times New Roman" panose="02020603050405020304" pitchFamily="18" charset="0"/>
              </a:rPr>
              <a:t>çalışmada</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α=0.05</a:t>
            </a:r>
            <a:r>
              <a:rPr lang="tr-TR" sz="1400" dirty="0" smtClean="0">
                <a:latin typeface="Times New Roman" panose="02020603050405020304" pitchFamily="18" charset="0"/>
                <a:ea typeface="Calibri" panose="020F0502020204030204" pitchFamily="34" charset="0"/>
                <a:cs typeface="Times New Roman" panose="02020603050405020304" pitchFamily="18" charset="0"/>
              </a:rPr>
              <a:t>(standart anlamlılık düzeyi)</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 k=6</a:t>
            </a:r>
            <a:r>
              <a:rPr lang="tr-TR" sz="1400" dirty="0" smtClean="0">
                <a:latin typeface="Times New Roman" panose="02020603050405020304" pitchFamily="18" charset="0"/>
                <a:ea typeface="Calibri" panose="020F0502020204030204" pitchFamily="34" charset="0"/>
                <a:cs typeface="Times New Roman" panose="02020603050405020304" pitchFamily="18" charset="0"/>
              </a:rPr>
              <a:t>(veri kümesi sayısı)</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latin typeface="Times New Roman" panose="02020603050405020304" pitchFamily="18" charset="0"/>
                <a:ea typeface="Calibri" panose="020F0502020204030204" pitchFamily="34" charset="0"/>
                <a:cs typeface="Times New Roman" panose="02020603050405020304" pitchFamily="18" charset="0"/>
              </a:rPr>
              <a:t>ve</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N=5</a:t>
            </a:r>
            <a:r>
              <a:rPr lang="tr-TR" sz="1400" dirty="0" smtClean="0">
                <a:latin typeface="Times New Roman" panose="02020603050405020304" pitchFamily="18" charset="0"/>
                <a:ea typeface="Calibri" panose="020F0502020204030204" pitchFamily="34" charset="0"/>
                <a:cs typeface="Times New Roman" panose="02020603050405020304" pitchFamily="18" charset="0"/>
              </a:rPr>
              <a:t>(</a:t>
            </a:r>
            <a:r>
              <a:rPr lang="tr-TR" sz="1400" dirty="0" err="1" smtClean="0">
                <a:latin typeface="Times New Roman" panose="02020603050405020304" pitchFamily="18" charset="0"/>
                <a:ea typeface="Calibri" panose="020F0502020204030204" pitchFamily="34" charset="0"/>
                <a:cs typeface="Times New Roman" panose="02020603050405020304" pitchFamily="18" charset="0"/>
              </a:rPr>
              <a:t>fold</a:t>
            </a:r>
            <a:r>
              <a:rPr lang="tr-TR" sz="1400" dirty="0" smtClean="0">
                <a:latin typeface="Times New Roman" panose="02020603050405020304" pitchFamily="18" charset="0"/>
                <a:ea typeface="Calibri" panose="020F0502020204030204" pitchFamily="34" charset="0"/>
                <a:cs typeface="Times New Roman" panose="02020603050405020304" pitchFamily="18" charset="0"/>
              </a:rPr>
              <a:t> sayısı)</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latin typeface="Times New Roman" panose="02020603050405020304" pitchFamily="18" charset="0"/>
                <a:ea typeface="Calibri" panose="020F0502020204030204" pitchFamily="34" charset="0"/>
                <a:cs typeface="Times New Roman" panose="02020603050405020304" pitchFamily="18" charset="0"/>
              </a:rPr>
              <a:t>için</a:t>
            </a:r>
            <a:r>
              <a:rPr lang="en-US" sz="1400" dirty="0">
                <a:latin typeface="Times New Roman" panose="02020603050405020304" pitchFamily="18" charset="0"/>
                <a:ea typeface="Calibri" panose="020F0502020204030204" pitchFamily="34" charset="0"/>
                <a:cs typeface="Times New Roman" panose="02020603050405020304" pitchFamily="18" charset="0"/>
              </a:rPr>
              <a:t> 𝑞</a:t>
            </a:r>
            <a:r>
              <a:rPr lang="en-US" sz="1400" baseline="-25000" dirty="0">
                <a:latin typeface="Times New Roman" panose="02020603050405020304" pitchFamily="18" charset="0"/>
                <a:ea typeface="Calibri" panose="020F0502020204030204" pitchFamily="34" charset="0"/>
                <a:cs typeface="Times New Roman" panose="02020603050405020304" pitchFamily="18" charset="0"/>
              </a:rPr>
              <a:t>0.05</a:t>
            </a:r>
            <a:r>
              <a:rPr lang="en-US" sz="1400" dirty="0">
                <a:latin typeface="Times New Roman" panose="02020603050405020304" pitchFamily="18" charset="0"/>
                <a:ea typeface="Calibri" panose="020F0502020204030204" pitchFamily="34" charset="0"/>
                <a:cs typeface="Times New Roman" panose="02020603050405020304" pitchFamily="18" charset="0"/>
              </a:rPr>
              <a:t>≈2.85 </a:t>
            </a:r>
            <a:r>
              <a:rPr lang="en-US" sz="1400" dirty="0" err="1">
                <a:latin typeface="Times New Roman" panose="02020603050405020304" pitchFamily="18" charset="0"/>
                <a:ea typeface="Calibri" panose="020F0502020204030204" pitchFamily="34" charset="0"/>
                <a:cs typeface="Times New Roman" panose="02020603050405020304" pitchFamily="18" charset="0"/>
              </a:rPr>
              <a:t>alınmıştır</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latin typeface="Times New Roman" panose="02020603050405020304" pitchFamily="18" charset="0"/>
                <a:ea typeface="Calibri" panose="020F0502020204030204" pitchFamily="34" charset="0"/>
                <a:cs typeface="Times New Roman" panose="02020603050405020304" pitchFamily="18" charset="0"/>
              </a:rPr>
              <a:t>Dolayısıyla</a:t>
            </a:r>
            <a:r>
              <a:rPr lang="en-US" sz="1400" dirty="0" smtClean="0">
                <a:latin typeface="Times New Roman" panose="02020603050405020304" pitchFamily="18" charset="0"/>
                <a:ea typeface="Calibri" panose="020F0502020204030204" pitchFamily="34" charset="0"/>
                <a:cs typeface="Times New Roman" panose="02020603050405020304" pitchFamily="18" charset="0"/>
              </a:rPr>
              <a:t>:</a:t>
            </a:r>
            <a:endParaRPr lang="tr-TR" sz="1400" dirty="0" smtClean="0">
              <a:latin typeface="Times New Roman" panose="02020603050405020304" pitchFamily="18" charset="0"/>
              <a:ea typeface="Calibri" panose="020F0502020204030204" pitchFamily="34" charset="0"/>
              <a:cs typeface="Times New Roman" panose="02020603050405020304" pitchFamily="18" charset="0"/>
            </a:endParaRPr>
          </a:p>
          <a:p>
            <a:pPr marL="360000" indent="-285750" algn="just">
              <a:lnSpc>
                <a:spcPct val="150000"/>
              </a:lnSpc>
              <a:spcAft>
                <a:spcPts val="1200"/>
              </a:spcAft>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çalışmada kritik mesafe değeri 3.37 olarak hesaplanmıştır.</a:t>
            </a:r>
            <a:endParaRPr lang="tr-TR" sz="1400" dirty="0" smtClean="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ctr">
              <a:lnSpc>
                <a:spcPct val="150000"/>
              </a:lnSpc>
              <a:spcBef>
                <a:spcPts val="1800"/>
              </a:spcBef>
              <a:spcAft>
                <a:spcPts val="1200"/>
              </a:spcAft>
              <a:buFont typeface="Wingdings" panose="05000000000000000000" pitchFamily="2" charset="2"/>
              <a:buChar char="q"/>
            </a:pPr>
            <a:endParaRPr lang="tr-TR" sz="1400" dirty="0" smtClean="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9" name="Resim 18"/>
          <p:cNvPicPr>
            <a:picLocks noChangeAspect="1"/>
          </p:cNvPicPr>
          <p:nvPr/>
        </p:nvPicPr>
        <p:blipFill>
          <a:blip r:embed="rId6"/>
          <a:stretch>
            <a:fillRect/>
          </a:stretch>
        </p:blipFill>
        <p:spPr>
          <a:xfrm>
            <a:off x="2407856" y="4784971"/>
            <a:ext cx="3086367" cy="655377"/>
          </a:xfrm>
          <a:prstGeom prst="rect">
            <a:avLst/>
          </a:prstGeom>
        </p:spPr>
      </p:pic>
      <p:sp>
        <p:nvSpPr>
          <p:cNvPr id="21" name="Metin kutusu 20"/>
          <p:cNvSpPr txBox="1"/>
          <p:nvPr/>
        </p:nvSpPr>
        <p:spPr>
          <a:xfrm>
            <a:off x="0" y="1431645"/>
            <a:ext cx="4815713" cy="307777"/>
          </a:xfrm>
          <a:prstGeom prst="rect">
            <a:avLst/>
          </a:prstGeom>
          <a:noFill/>
        </p:spPr>
        <p:txBody>
          <a:bodyPr wrap="square" rtlCol="0">
            <a:spAutoFit/>
          </a:bodyPr>
          <a:lstStyle/>
          <a:p>
            <a:pPr marL="285750" indent="-285750" algn="ctr">
              <a:buFont typeface="Wingdings" panose="05000000000000000000" pitchFamily="2" charset="2"/>
              <a:buChar char="v"/>
            </a:pPr>
            <a:r>
              <a:rPr lang="tr-TR" sz="1400" b="1" i="1" dirty="0" err="1" smtClean="0">
                <a:solidFill>
                  <a:srgbClr val="C00000"/>
                </a:solidFill>
                <a:latin typeface="Times New Roman" panose="02020603050405020304" pitchFamily="18" charset="0"/>
                <a:cs typeface="Times New Roman" panose="02020603050405020304" pitchFamily="18" charset="0"/>
              </a:rPr>
              <a:t>Nemenyi</a:t>
            </a:r>
            <a:r>
              <a:rPr lang="tr-TR" sz="1400" b="1" i="1" dirty="0" smtClean="0">
                <a:solidFill>
                  <a:srgbClr val="C00000"/>
                </a:solidFill>
                <a:latin typeface="Times New Roman" panose="02020603050405020304" pitchFamily="18" charset="0"/>
                <a:cs typeface="Times New Roman" panose="02020603050405020304" pitchFamily="18" charset="0"/>
              </a:rPr>
              <a:t> + Critical </a:t>
            </a:r>
            <a:r>
              <a:rPr lang="tr-TR" sz="1400" b="1" i="1" dirty="0" err="1" smtClean="0">
                <a:solidFill>
                  <a:srgbClr val="C00000"/>
                </a:solidFill>
                <a:latin typeface="Times New Roman" panose="02020603050405020304" pitchFamily="18" charset="0"/>
                <a:cs typeface="Times New Roman" panose="02020603050405020304" pitchFamily="18" charset="0"/>
              </a:rPr>
              <a:t>Distance</a:t>
            </a:r>
            <a:endParaRPr lang="tr-TR" sz="1400" b="1" i="1" dirty="0">
              <a:solidFill>
                <a:srgbClr val="C00000"/>
              </a:solidFill>
              <a:latin typeface="Times New Roman" panose="02020603050405020304" pitchFamily="18" charset="0"/>
              <a:cs typeface="Times New Roman" panose="02020603050405020304" pitchFamily="18" charset="0"/>
            </a:endParaRPr>
          </a:p>
        </p:txBody>
      </p:sp>
      <p:graphicFrame>
        <p:nvGraphicFramePr>
          <p:cNvPr id="5" name="Tablo 4"/>
          <p:cNvGraphicFramePr>
            <a:graphicFrameLocks noGrp="1"/>
          </p:cNvGraphicFramePr>
          <p:nvPr>
            <p:extLst>
              <p:ext uri="{D42A27DB-BD31-4B8C-83A1-F6EECF244321}">
                <p14:modId xmlns:p14="http://schemas.microsoft.com/office/powerpoint/2010/main" val="4098988810"/>
              </p:ext>
            </p:extLst>
          </p:nvPr>
        </p:nvGraphicFramePr>
        <p:xfrm>
          <a:off x="6099585" y="2386497"/>
          <a:ext cx="5311140" cy="2240280"/>
        </p:xfrm>
        <a:graphic>
          <a:graphicData uri="http://schemas.openxmlformats.org/drawingml/2006/table">
            <a:tbl>
              <a:tblPr firstRow="1" firstCol="1" bandRow="1">
                <a:tableStyleId>{F5AB1C69-6EDB-4FF4-983F-18BD219EF322}</a:tableStyleId>
              </a:tblPr>
              <a:tblGrid>
                <a:gridCol w="894958"/>
                <a:gridCol w="987552"/>
                <a:gridCol w="804672"/>
                <a:gridCol w="1095869"/>
                <a:gridCol w="810745"/>
                <a:gridCol w="717344"/>
              </a:tblGrid>
              <a:tr h="0">
                <a:tc>
                  <a:txBody>
                    <a:bodyPr/>
                    <a:lstStyle/>
                    <a:p>
                      <a:pPr algn="ctr">
                        <a:lnSpc>
                          <a:spcPct val="150000"/>
                        </a:lnSpc>
                        <a:spcBef>
                          <a:spcPts val="1200"/>
                        </a:spcBef>
                        <a:spcAft>
                          <a:spcPts val="0"/>
                        </a:spcAft>
                      </a:pPr>
                      <a:r>
                        <a:rPr lang="en-US" sz="1400" dirty="0" err="1">
                          <a:solidFill>
                            <a:schemeClr val="tx1"/>
                          </a:solidFill>
                          <a:effectLst/>
                          <a:latin typeface="Times New Roman" panose="02020603050405020304" pitchFamily="18" charset="0"/>
                          <a:cs typeface="Times New Roman" panose="02020603050405020304" pitchFamily="18" charset="0"/>
                        </a:rPr>
                        <a:t>Metrik</a:t>
                      </a:r>
                      <a:endParaRPr lang="tr-TR"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Ham / Ham+GPT</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Ham  /  Ham +Claude</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Ham /  Ham +</a:t>
                      </a:r>
                      <a:r>
                        <a:rPr lang="en-US" sz="1400" dirty="0" err="1">
                          <a:solidFill>
                            <a:schemeClr val="tx1"/>
                          </a:solidFill>
                          <a:effectLst/>
                          <a:latin typeface="Times New Roman" panose="02020603050405020304" pitchFamily="18" charset="0"/>
                          <a:cs typeface="Times New Roman" panose="02020603050405020304" pitchFamily="18" charset="0"/>
                        </a:rPr>
                        <a:t>GPT+Cluade</a:t>
                      </a:r>
                      <a:endParaRPr lang="tr-TR"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Ham /GPT</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Ham /Claude</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Accuracy</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1.2</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1.6</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1.6</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b="1" dirty="0">
                          <a:solidFill>
                            <a:srgbClr val="C00000"/>
                          </a:solidFill>
                          <a:effectLst/>
                          <a:latin typeface="Times New Roman" panose="02020603050405020304" pitchFamily="18" charset="0"/>
                          <a:cs typeface="Times New Roman" panose="02020603050405020304" pitchFamily="18" charset="0"/>
                        </a:rPr>
                        <a:t>4.0</a:t>
                      </a:r>
                      <a:endParaRPr lang="tr-TR" sz="14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b="1" dirty="0">
                          <a:solidFill>
                            <a:srgbClr val="C00000"/>
                          </a:solidFill>
                          <a:effectLst/>
                          <a:latin typeface="Times New Roman" panose="02020603050405020304" pitchFamily="18" charset="0"/>
                          <a:cs typeface="Times New Roman" panose="02020603050405020304" pitchFamily="18" charset="0"/>
                        </a:rPr>
                        <a:t>4.2</a:t>
                      </a:r>
                      <a:endParaRPr lang="tr-TR" sz="14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Precision</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1.2</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0.6</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0.6</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1.6</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2.0</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Recall</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1.6</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0.4</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1.6</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b="1" dirty="0">
                          <a:solidFill>
                            <a:srgbClr val="C00000"/>
                          </a:solidFill>
                          <a:effectLst/>
                          <a:latin typeface="Times New Roman" panose="02020603050405020304" pitchFamily="18" charset="0"/>
                          <a:cs typeface="Times New Roman" panose="02020603050405020304" pitchFamily="18" charset="0"/>
                        </a:rPr>
                        <a:t>3.6</a:t>
                      </a:r>
                      <a:endParaRPr lang="tr-TR" sz="14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b="1" dirty="0">
                          <a:solidFill>
                            <a:srgbClr val="C00000"/>
                          </a:solidFill>
                          <a:effectLst/>
                          <a:latin typeface="Times New Roman" panose="02020603050405020304" pitchFamily="18" charset="0"/>
                          <a:cs typeface="Times New Roman" panose="02020603050405020304" pitchFamily="18" charset="0"/>
                        </a:rPr>
                        <a:t>4.2</a:t>
                      </a:r>
                      <a:endParaRPr lang="tr-TR" sz="14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just">
                        <a:lnSpc>
                          <a:spcPct val="150000"/>
                        </a:lnSpc>
                        <a:spcBef>
                          <a:spcPts val="120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F1-Score</a:t>
                      </a:r>
                      <a:endParaRPr lang="tr-TR"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1.6</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1.2</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2.4</a:t>
                      </a:r>
                      <a:endParaRPr lang="tr-TR"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b="1" dirty="0">
                          <a:solidFill>
                            <a:srgbClr val="C00000"/>
                          </a:solidFill>
                          <a:effectLst/>
                          <a:latin typeface="Times New Roman" panose="02020603050405020304" pitchFamily="18" charset="0"/>
                          <a:cs typeface="Times New Roman" panose="02020603050405020304" pitchFamily="18" charset="0"/>
                        </a:rPr>
                        <a:t>4.2</a:t>
                      </a:r>
                      <a:endParaRPr lang="tr-TR" sz="14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1200"/>
                        </a:spcBef>
                        <a:spcAft>
                          <a:spcPts val="0"/>
                        </a:spcAft>
                      </a:pPr>
                      <a:r>
                        <a:rPr lang="en-US" sz="1400" b="1" dirty="0">
                          <a:solidFill>
                            <a:srgbClr val="C00000"/>
                          </a:solidFill>
                          <a:effectLst/>
                          <a:latin typeface="Times New Roman" panose="02020603050405020304" pitchFamily="18" charset="0"/>
                          <a:cs typeface="Times New Roman" panose="02020603050405020304" pitchFamily="18" charset="0"/>
                        </a:rPr>
                        <a:t>4.4</a:t>
                      </a:r>
                      <a:endParaRPr lang="tr-TR" sz="14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pic>
        <p:nvPicPr>
          <p:cNvPr id="20" name="Resim 19"/>
          <p:cNvPicPr/>
          <p:nvPr/>
        </p:nvPicPr>
        <p:blipFill>
          <a:blip r:embed="rId7">
            <a:extLst>
              <a:ext uri="{28A0092B-C50C-407E-A947-70E740481C1C}">
                <a14:useLocalDpi xmlns:a14="http://schemas.microsoft.com/office/drawing/2010/main" val="0"/>
              </a:ext>
            </a:extLst>
          </a:blip>
          <a:stretch>
            <a:fillRect/>
          </a:stretch>
        </p:blipFill>
        <p:spPr>
          <a:xfrm>
            <a:off x="6099586" y="4868203"/>
            <a:ext cx="5311140" cy="1743611"/>
          </a:xfrm>
          <a:prstGeom prst="rect">
            <a:avLst/>
          </a:prstGeom>
        </p:spPr>
      </p:pic>
    </p:spTree>
    <p:extLst>
      <p:ext uri="{BB962C8B-B14F-4D97-AF65-F5344CB8AC3E}">
        <p14:creationId xmlns:p14="http://schemas.microsoft.com/office/powerpoint/2010/main" val="26933673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7" name="Metin kutusu 16"/>
          <p:cNvSpPr txBox="1"/>
          <p:nvPr/>
        </p:nvSpPr>
        <p:spPr>
          <a:xfrm>
            <a:off x="155575" y="1363434"/>
            <a:ext cx="5833511" cy="307777"/>
          </a:xfrm>
          <a:prstGeom prst="rect">
            <a:avLst/>
          </a:prstGeom>
          <a:noFill/>
        </p:spPr>
        <p:txBody>
          <a:bodyPr wrap="square" rtlCol="0">
            <a:spAutoFit/>
          </a:bodyPr>
          <a:lstStyle/>
          <a:p>
            <a:pPr marL="285750" indent="-285750" algn="ctr">
              <a:buFont typeface="Wingdings" panose="05000000000000000000" pitchFamily="2" charset="2"/>
              <a:buChar char="v"/>
            </a:pPr>
            <a:r>
              <a:rPr lang="tr-TR" sz="1400" b="1" i="1">
                <a:solidFill>
                  <a:srgbClr val="C00000"/>
                </a:solidFill>
                <a:latin typeface="Times New Roman" panose="02020603050405020304" pitchFamily="18" charset="0"/>
                <a:cs typeface="Times New Roman" panose="02020603050405020304" pitchFamily="18" charset="0"/>
              </a:rPr>
              <a:t>Nemenyi Post-hoc Analizi (p-değerleri Isı Haritası)</a:t>
            </a:r>
            <a:endParaRPr lang="tr-TR" sz="1400" b="1" i="1" dirty="0">
              <a:solidFill>
                <a:srgbClr val="C00000"/>
              </a:solidFill>
              <a:latin typeface="Times New Roman" panose="02020603050405020304" pitchFamily="18" charset="0"/>
              <a:cs typeface="Times New Roman" panose="02020603050405020304" pitchFamily="18" charset="0"/>
            </a:endParaRPr>
          </a:p>
        </p:txBody>
      </p:sp>
      <p:pic>
        <p:nvPicPr>
          <p:cNvPr id="22" name="Resim 21"/>
          <p:cNvPicPr/>
          <p:nvPr/>
        </p:nvPicPr>
        <p:blipFill>
          <a:blip r:embed="rId4">
            <a:extLst>
              <a:ext uri="{28A0092B-C50C-407E-A947-70E740481C1C}">
                <a14:useLocalDpi xmlns:a14="http://schemas.microsoft.com/office/drawing/2010/main" val="0"/>
              </a:ext>
            </a:extLst>
          </a:blip>
          <a:stretch>
            <a:fillRect/>
          </a:stretch>
        </p:blipFill>
        <p:spPr>
          <a:xfrm>
            <a:off x="6318504" y="429178"/>
            <a:ext cx="5866325" cy="6421249"/>
          </a:xfrm>
          <a:prstGeom prst="rect">
            <a:avLst/>
          </a:prstGeom>
        </p:spPr>
      </p:pic>
      <p:sp>
        <p:nvSpPr>
          <p:cNvPr id="7" name="Metin kutusu 6"/>
          <p:cNvSpPr txBox="1"/>
          <p:nvPr/>
        </p:nvSpPr>
        <p:spPr>
          <a:xfrm>
            <a:off x="307975" y="1690937"/>
            <a:ext cx="5440194" cy="429348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Isı haritaları, veri kümesi yapılandırmaları arasındaki ikili karşılaştırmaların p-değerlerini göstermektedir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p </a:t>
            </a:r>
            <a:r>
              <a:rPr lang="tr-TR" sz="1400" dirty="0">
                <a:latin typeface="Times New Roman" panose="02020603050405020304" pitchFamily="18" charset="0"/>
                <a:cs typeface="Times New Roman" panose="02020603050405020304" pitchFamily="18" charset="0"/>
              </a:rPr>
              <a:t>&lt; 0.05 olan hücreler, istatistiksel olarak anlamlı farkları ifade etmektedir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err="1" smtClean="0">
                <a:latin typeface="Times New Roman" panose="02020603050405020304" pitchFamily="18" charset="0"/>
                <a:cs typeface="Times New Roman" panose="02020603050405020304" pitchFamily="18" charset="0"/>
              </a:rPr>
              <a:t>Accuracy</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Recall</a:t>
            </a:r>
            <a:r>
              <a:rPr lang="tr-TR" sz="1400" dirty="0">
                <a:latin typeface="Times New Roman" panose="02020603050405020304" pitchFamily="18" charset="0"/>
                <a:cs typeface="Times New Roman" panose="02020603050405020304" pitchFamily="18" charset="0"/>
              </a:rPr>
              <a:t> ve F1-score metriklerinde:→ Sentetik veri (GPT, </a:t>
            </a:r>
            <a:r>
              <a:rPr lang="tr-TR" sz="1400" dirty="0" err="1">
                <a:latin typeface="Times New Roman" panose="02020603050405020304" pitchFamily="18" charset="0"/>
                <a:cs typeface="Times New Roman" panose="02020603050405020304" pitchFamily="18" charset="0"/>
              </a:rPr>
              <a:t>Claude</a:t>
            </a:r>
            <a:r>
              <a:rPr lang="tr-TR" sz="1400" dirty="0">
                <a:latin typeface="Times New Roman" panose="02020603050405020304" pitchFamily="18" charset="0"/>
                <a:cs typeface="Times New Roman" panose="02020603050405020304" pitchFamily="18" charset="0"/>
              </a:rPr>
              <a:t>) ile diğer yapılandırmalar arasında anlamlı fark bulunmaktadır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Ham </a:t>
            </a:r>
            <a:r>
              <a:rPr lang="tr-TR" sz="1400" dirty="0">
                <a:latin typeface="Times New Roman" panose="02020603050405020304" pitchFamily="18" charset="0"/>
                <a:cs typeface="Times New Roman" panose="02020603050405020304" pitchFamily="18" charset="0"/>
              </a:rPr>
              <a:t>ve </a:t>
            </a:r>
            <a:r>
              <a:rPr lang="tr-TR" sz="1400" dirty="0" err="1">
                <a:latin typeface="Times New Roman" panose="02020603050405020304" pitchFamily="18" charset="0"/>
                <a:cs typeface="Times New Roman" panose="02020603050405020304" pitchFamily="18" charset="0"/>
              </a:rPr>
              <a:t>hibrit</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Ham+GPT</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Ham+Claude</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Ham+GPT+Claude</a:t>
            </a:r>
            <a:r>
              <a:rPr lang="tr-TR" sz="1400" dirty="0">
                <a:latin typeface="Times New Roman" panose="02020603050405020304" pitchFamily="18" charset="0"/>
                <a:cs typeface="Times New Roman" panose="02020603050405020304" pitchFamily="18" charset="0"/>
              </a:rPr>
              <a:t>) yapılandırmaları arasında:→ Anlamlı fark bulunmamaktadır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Precision </a:t>
            </a:r>
            <a:r>
              <a:rPr lang="tr-TR" sz="1400" dirty="0">
                <a:latin typeface="Times New Roman" panose="02020603050405020304" pitchFamily="18" charset="0"/>
                <a:cs typeface="Times New Roman" panose="02020603050405020304" pitchFamily="18" charset="0"/>
              </a:rPr>
              <a:t>metriğinde:→ Tüm karşılaştırmalarda anlamlı fark gözlenmemektedir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Sentetik veri tek başına performansı düşürürken, </a:t>
            </a:r>
            <a:r>
              <a:rPr lang="tr-TR" sz="1400" dirty="0" err="1">
                <a:latin typeface="Times New Roman" panose="02020603050405020304" pitchFamily="18" charset="0"/>
                <a:cs typeface="Times New Roman" panose="02020603050405020304" pitchFamily="18" charset="0"/>
              </a:rPr>
              <a:t>hibrit</a:t>
            </a:r>
            <a:r>
              <a:rPr lang="tr-TR" sz="1400" dirty="0">
                <a:latin typeface="Times New Roman" panose="02020603050405020304" pitchFamily="18" charset="0"/>
                <a:cs typeface="Times New Roman" panose="02020603050405020304" pitchFamily="18" charset="0"/>
              </a:rPr>
              <a:t> veri yapıları ham veri ile istatistiksel olarak benzer performans sergilemektedir.</a:t>
            </a:r>
          </a:p>
        </p:txBody>
      </p:sp>
    </p:spTree>
    <p:extLst>
      <p:ext uri="{BB962C8B-B14F-4D97-AF65-F5344CB8AC3E}">
        <p14:creationId xmlns:p14="http://schemas.microsoft.com/office/powerpoint/2010/main" val="348429887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2874084" y="1286963"/>
            <a:ext cx="6091156" cy="369332"/>
          </a:xfrm>
          <a:prstGeom prst="rect">
            <a:avLst/>
          </a:prstGeom>
          <a:noFill/>
        </p:spPr>
        <p:txBody>
          <a:bodyPr wrap="square" rtlCol="0">
            <a:spAutoFit/>
          </a:bodyPr>
          <a:lstStyle/>
          <a:p>
            <a:pPr algn="ctr"/>
            <a:r>
              <a:rPr lang="tr-TR" b="1" u="sng">
                <a:solidFill>
                  <a:srgbClr val="C00000"/>
                </a:solidFill>
              </a:rPr>
              <a:t>Sentetik Veri Kalitesi ve Etiket Güvenilirliği Analizi</a:t>
            </a:r>
            <a:endParaRPr lang="tr-TR" b="1" u="sng" dirty="0">
              <a:solidFill>
                <a:srgbClr val="C00000"/>
              </a:solidFill>
            </a:endParaRPr>
          </a:p>
        </p:txBody>
      </p:sp>
      <p:sp>
        <p:nvSpPr>
          <p:cNvPr id="9" name="Metin kutusu 8"/>
          <p:cNvSpPr txBox="1"/>
          <p:nvPr/>
        </p:nvSpPr>
        <p:spPr>
          <a:xfrm>
            <a:off x="616142" y="2112513"/>
            <a:ext cx="5702362" cy="300082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Önceki analizlerde sentetik veri kullanımının özellikle </a:t>
            </a:r>
            <a:r>
              <a:rPr lang="tr-TR" sz="1400" dirty="0" err="1">
                <a:latin typeface="Times New Roman" panose="02020603050405020304" pitchFamily="18" charset="0"/>
                <a:cs typeface="Times New Roman" panose="02020603050405020304" pitchFamily="18" charset="0"/>
              </a:rPr>
              <a:t>Recall</a:t>
            </a:r>
            <a:r>
              <a:rPr lang="tr-TR" sz="1400" dirty="0">
                <a:latin typeface="Times New Roman" panose="02020603050405020304" pitchFamily="18" charset="0"/>
                <a:cs typeface="Times New Roman" panose="02020603050405020304" pitchFamily="18" charset="0"/>
              </a:rPr>
              <a:t> ve F1-score metriklerinde performans düşüşüne neden olduğu görülmüştür</a:t>
            </a:r>
            <a:r>
              <a:rPr lang="tr-TR" sz="1400" dirty="0" smtClean="0">
                <a:latin typeface="Times New Roman" panose="02020603050405020304" pitchFamily="18" charset="0"/>
                <a:cs typeface="Times New Roman" panose="02020603050405020304" pitchFamily="18" charset="0"/>
              </a:rPr>
              <a:t>. Bu </a:t>
            </a:r>
            <a:r>
              <a:rPr lang="tr-TR" sz="1400" dirty="0">
                <a:latin typeface="Times New Roman" panose="02020603050405020304" pitchFamily="18" charset="0"/>
                <a:cs typeface="Times New Roman" panose="02020603050405020304" pitchFamily="18" charset="0"/>
              </a:rPr>
              <a:t>nedenle sentetik veri yalnızca performans açısından </a:t>
            </a:r>
            <a:r>
              <a:rPr lang="tr-TR" sz="1400" dirty="0" smtClean="0">
                <a:latin typeface="Times New Roman" panose="02020603050405020304" pitchFamily="18" charset="0"/>
                <a:cs typeface="Times New Roman" panose="02020603050405020304" pitchFamily="18" charset="0"/>
              </a:rPr>
              <a:t>değil,</a:t>
            </a:r>
          </a:p>
          <a:p>
            <a:pPr marL="742950" lvl="1"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Kalite </a:t>
            </a:r>
            <a:r>
              <a:rPr lang="tr-TR" sz="1400" dirty="0">
                <a:latin typeface="Times New Roman" panose="02020603050405020304" pitchFamily="18" charset="0"/>
                <a:cs typeface="Times New Roman" panose="02020603050405020304" pitchFamily="18" charset="0"/>
              </a:rPr>
              <a:t>ve güvenilirlik açısından da incelenmiştir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Bu </a:t>
            </a:r>
            <a:r>
              <a:rPr lang="tr-TR" sz="1400" dirty="0">
                <a:latin typeface="Times New Roman" panose="02020603050405020304" pitchFamily="18" charset="0"/>
                <a:cs typeface="Times New Roman" panose="02020603050405020304" pitchFamily="18" charset="0"/>
              </a:rPr>
              <a:t>bölümde sentetik veri iki temel boyutta değerlendirilmiştir</a:t>
            </a:r>
            <a:r>
              <a:rPr lang="tr-TR" sz="1400"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Duygu </a:t>
            </a:r>
            <a:r>
              <a:rPr lang="tr-TR" sz="1400" dirty="0">
                <a:latin typeface="Times New Roman" panose="02020603050405020304" pitchFamily="18" charset="0"/>
                <a:cs typeface="Times New Roman" panose="02020603050405020304" pitchFamily="18" charset="0"/>
              </a:rPr>
              <a:t>etiketi </a:t>
            </a:r>
            <a:r>
              <a:rPr lang="tr-TR" sz="1400" dirty="0" smtClean="0">
                <a:latin typeface="Times New Roman" panose="02020603050405020304" pitchFamily="18" charset="0"/>
                <a:cs typeface="Times New Roman" panose="02020603050405020304" pitchFamily="18" charset="0"/>
              </a:rPr>
              <a:t>tutarlılığı</a:t>
            </a:r>
          </a:p>
          <a:p>
            <a:pPr marL="742950" lvl="1"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Gerçek </a:t>
            </a:r>
            <a:r>
              <a:rPr lang="tr-TR" sz="1400" dirty="0">
                <a:latin typeface="Times New Roman" panose="02020603050405020304" pitchFamily="18" charset="0"/>
                <a:cs typeface="Times New Roman" panose="02020603050405020304" pitchFamily="18" charset="0"/>
              </a:rPr>
              <a:t>veri ile semantik </a:t>
            </a:r>
            <a:r>
              <a:rPr lang="tr-TR" sz="1400" dirty="0" smtClean="0">
                <a:latin typeface="Times New Roman" panose="02020603050405020304" pitchFamily="18" charset="0"/>
                <a:cs typeface="Times New Roman" panose="02020603050405020304" pitchFamily="18" charset="0"/>
              </a:rPr>
              <a:t>benzerlik</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Amaç: Sentetik </a:t>
            </a:r>
            <a:r>
              <a:rPr lang="tr-TR" sz="1400" dirty="0">
                <a:latin typeface="Times New Roman" panose="02020603050405020304" pitchFamily="18" charset="0"/>
                <a:cs typeface="Times New Roman" panose="02020603050405020304" pitchFamily="18" charset="0"/>
              </a:rPr>
              <a:t>verinin tek başına öğrenme kapasitesini </a:t>
            </a:r>
            <a:r>
              <a:rPr lang="tr-TR" sz="1400" dirty="0" smtClean="0">
                <a:latin typeface="Times New Roman" panose="02020603050405020304" pitchFamily="18" charset="0"/>
                <a:cs typeface="Times New Roman" panose="02020603050405020304" pitchFamily="18" charset="0"/>
              </a:rPr>
              <a:t>ve </a:t>
            </a:r>
            <a:r>
              <a:rPr lang="tr-TR" sz="1400" dirty="0">
                <a:latin typeface="Times New Roman" panose="02020603050405020304" pitchFamily="18" charset="0"/>
                <a:cs typeface="Times New Roman" panose="02020603050405020304" pitchFamily="18" charset="0"/>
              </a:rPr>
              <a:t>gerçek veri dağılımını ne kadar temsil ettiğini analiz </a:t>
            </a:r>
            <a:r>
              <a:rPr lang="tr-TR" sz="1400" dirty="0" smtClean="0">
                <a:latin typeface="Times New Roman" panose="02020603050405020304" pitchFamily="18" charset="0"/>
                <a:cs typeface="Times New Roman" panose="02020603050405020304" pitchFamily="18" charset="0"/>
              </a:rPr>
              <a:t>etmek.</a:t>
            </a:r>
            <a:endParaRPr lang="tr-TR" sz="1400" dirty="0">
              <a:latin typeface="Times New Roman" panose="02020603050405020304" pitchFamily="18" charset="0"/>
              <a:cs typeface="Times New Roman" panose="02020603050405020304" pitchFamily="18" charset="0"/>
            </a:endParaRPr>
          </a:p>
        </p:txBody>
      </p:sp>
      <p:sp>
        <p:nvSpPr>
          <p:cNvPr id="13" name="Metin kutusu 12"/>
          <p:cNvSpPr txBox="1"/>
          <p:nvPr/>
        </p:nvSpPr>
        <p:spPr>
          <a:xfrm>
            <a:off x="6894206" y="2846998"/>
            <a:ext cx="5056632" cy="830997"/>
          </a:xfrm>
          <a:prstGeom prst="rect">
            <a:avLst/>
          </a:prstGeom>
          <a:noFill/>
        </p:spPr>
        <p:txBody>
          <a:bodyPr wrap="square" rtlCol="0">
            <a:spAutoFit/>
          </a:bodyPr>
          <a:lstStyle/>
          <a:p>
            <a:pPr marL="285750" indent="-285750" algn="just">
              <a:buFont typeface="Wingdings" panose="05000000000000000000" pitchFamily="2" charset="2"/>
              <a:buChar char="Ø"/>
            </a:pPr>
            <a:r>
              <a:rPr lang="tr-TR" sz="1600" b="1" dirty="0">
                <a:solidFill>
                  <a:srgbClr val="C00000"/>
                </a:solidFill>
                <a:latin typeface="Times New Roman" panose="02020603050405020304" pitchFamily="18" charset="0"/>
                <a:cs typeface="Times New Roman" panose="02020603050405020304" pitchFamily="18" charset="0"/>
              </a:rPr>
              <a:t>Sentetik verinin performans üzerindeki etkisini anlamak için yalnızca sonuçlar değil, veri kalitesi de analiz edilmiştir.</a:t>
            </a:r>
          </a:p>
        </p:txBody>
      </p:sp>
    </p:spTree>
    <p:extLst>
      <p:ext uri="{BB962C8B-B14F-4D97-AF65-F5344CB8AC3E}">
        <p14:creationId xmlns:p14="http://schemas.microsoft.com/office/powerpoint/2010/main" val="146801758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2874084" y="1286963"/>
            <a:ext cx="6091156" cy="369332"/>
          </a:xfrm>
          <a:prstGeom prst="rect">
            <a:avLst/>
          </a:prstGeom>
          <a:noFill/>
        </p:spPr>
        <p:txBody>
          <a:bodyPr wrap="square" rtlCol="0">
            <a:spAutoFit/>
          </a:bodyPr>
          <a:lstStyle/>
          <a:p>
            <a:pPr algn="ctr"/>
            <a:r>
              <a:rPr lang="tr-TR" b="1" u="sng">
                <a:solidFill>
                  <a:srgbClr val="C00000"/>
                </a:solidFill>
              </a:rPr>
              <a:t>Sentetik Veri Kalitesi ve Etiket Güvenilirliği Analizi</a:t>
            </a:r>
            <a:endParaRPr lang="tr-TR" b="1" u="sng" dirty="0">
              <a:solidFill>
                <a:srgbClr val="C00000"/>
              </a:solidFill>
            </a:endParaRPr>
          </a:p>
        </p:txBody>
      </p:sp>
      <p:sp>
        <p:nvSpPr>
          <p:cNvPr id="9" name="Metin kutusu 8"/>
          <p:cNvSpPr txBox="1"/>
          <p:nvPr/>
        </p:nvSpPr>
        <p:spPr>
          <a:xfrm>
            <a:off x="307975" y="2174840"/>
            <a:ext cx="6063784" cy="235449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Sentetik veride en kritik risk</a:t>
            </a:r>
            <a:r>
              <a:rPr lang="tr-TR" sz="1400"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Ø"/>
            </a:pPr>
            <a:r>
              <a:rPr lang="tr-TR" sz="1400" dirty="0" smtClean="0">
                <a:latin typeface="Times New Roman" panose="02020603050405020304" pitchFamily="18" charset="0"/>
                <a:cs typeface="Times New Roman" panose="02020603050405020304" pitchFamily="18" charset="0"/>
              </a:rPr>
              <a:t>Metin </a:t>
            </a:r>
            <a:r>
              <a:rPr lang="tr-TR" sz="1400" dirty="0">
                <a:latin typeface="Times New Roman" panose="02020603050405020304" pitchFamily="18" charset="0"/>
                <a:cs typeface="Times New Roman" panose="02020603050405020304" pitchFamily="18" charset="0"/>
              </a:rPr>
              <a:t>ile etiket uyumsuzluğu (</a:t>
            </a:r>
            <a:r>
              <a:rPr lang="tr-TR" sz="1400" dirty="0" err="1">
                <a:latin typeface="Times New Roman" panose="02020603050405020304" pitchFamily="18" charset="0"/>
                <a:cs typeface="Times New Roman" panose="02020603050405020304" pitchFamily="18" charset="0"/>
              </a:rPr>
              <a:t>label</a:t>
            </a:r>
            <a:r>
              <a:rPr lang="tr-TR" sz="1400" dirty="0">
                <a:latin typeface="Times New Roman" panose="02020603050405020304" pitchFamily="18" charset="0"/>
                <a:cs typeface="Times New Roman" panose="02020603050405020304" pitchFamily="18" charset="0"/>
              </a:rPr>
              <a:t> </a:t>
            </a:r>
            <a:r>
              <a:rPr lang="tr-TR" sz="1400" dirty="0" err="1">
                <a:latin typeface="Times New Roman" panose="02020603050405020304" pitchFamily="18" charset="0"/>
                <a:cs typeface="Times New Roman" panose="02020603050405020304" pitchFamily="18" charset="0"/>
              </a:rPr>
              <a:t>noise</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Bu </a:t>
            </a:r>
            <a:r>
              <a:rPr lang="tr-TR" sz="1400" dirty="0">
                <a:latin typeface="Times New Roman" panose="02020603050405020304" pitchFamily="18" charset="0"/>
                <a:cs typeface="Times New Roman" panose="02020603050405020304" pitchFamily="18" charset="0"/>
              </a:rPr>
              <a:t>riski ölçmek için</a:t>
            </a:r>
            <a:r>
              <a:rPr lang="tr-TR" sz="1400"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Ø"/>
            </a:pPr>
            <a:r>
              <a:rPr lang="tr-TR" sz="1400" dirty="0" smtClean="0">
                <a:latin typeface="Times New Roman" panose="02020603050405020304" pitchFamily="18" charset="0"/>
                <a:cs typeface="Times New Roman" panose="02020603050405020304" pitchFamily="18" charset="0"/>
              </a:rPr>
              <a:t>Sadece </a:t>
            </a:r>
            <a:r>
              <a:rPr lang="tr-TR" sz="1400" dirty="0">
                <a:latin typeface="Times New Roman" panose="02020603050405020304" pitchFamily="18" charset="0"/>
                <a:cs typeface="Times New Roman" panose="02020603050405020304" pitchFamily="18" charset="0"/>
              </a:rPr>
              <a:t>ham veri ile eğitilmiş BERT referans model </a:t>
            </a:r>
            <a:r>
              <a:rPr lang="tr-TR" sz="1400" dirty="0" smtClean="0">
                <a:latin typeface="Times New Roman" panose="02020603050405020304" pitchFamily="18" charset="0"/>
                <a:cs typeface="Times New Roman" panose="02020603050405020304" pitchFamily="18" charset="0"/>
              </a:rPr>
              <a:t>kullanıldı</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Amaç: </a:t>
            </a:r>
            <a:r>
              <a:rPr lang="tr-TR" sz="1400" dirty="0">
                <a:latin typeface="Times New Roman" panose="02020603050405020304" pitchFamily="18" charset="0"/>
                <a:cs typeface="Times New Roman" panose="02020603050405020304" pitchFamily="18" charset="0"/>
              </a:rPr>
              <a:t>Sentetik etiketlerin ne kadar güvenilir olduğunu </a:t>
            </a:r>
            <a:r>
              <a:rPr lang="tr-TR" sz="1400" dirty="0" smtClean="0">
                <a:latin typeface="Times New Roman" panose="02020603050405020304" pitchFamily="18" charset="0"/>
                <a:cs typeface="Times New Roman" panose="02020603050405020304" pitchFamily="18" charset="0"/>
              </a:rPr>
              <a:t>ölçmek</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Bu üç formül birlikte, sentetik etiketlerin hem doğruluğunu hem de güven seviyesini ölçmektedir.</a:t>
            </a:r>
            <a:endParaRPr lang="tr-TR" sz="1400" dirty="0" smtClean="0">
              <a:latin typeface="Times New Roman" panose="02020603050405020304" pitchFamily="18" charset="0"/>
              <a:cs typeface="Times New Roman" panose="02020603050405020304" pitchFamily="18" charset="0"/>
            </a:endParaRPr>
          </a:p>
        </p:txBody>
      </p:sp>
      <p:sp>
        <p:nvSpPr>
          <p:cNvPr id="13" name="Metin kutusu 12"/>
          <p:cNvSpPr txBox="1"/>
          <p:nvPr/>
        </p:nvSpPr>
        <p:spPr>
          <a:xfrm>
            <a:off x="612775" y="1867063"/>
            <a:ext cx="5056632" cy="307777"/>
          </a:xfrm>
          <a:prstGeom prst="rect">
            <a:avLst/>
          </a:prstGeom>
          <a:noFill/>
        </p:spPr>
        <p:txBody>
          <a:bodyPr wrap="square" rtlCol="0">
            <a:spAutoFit/>
          </a:bodyPr>
          <a:lstStyle/>
          <a:p>
            <a:pPr marL="285750" indent="-285750" algn="just">
              <a:buFont typeface="Wingdings" panose="05000000000000000000" pitchFamily="2" charset="2"/>
              <a:buChar char="v"/>
            </a:pPr>
            <a:r>
              <a:rPr lang="tr-TR" sz="1400" b="1" i="1" dirty="0">
                <a:solidFill>
                  <a:srgbClr val="C00000"/>
                </a:solidFill>
                <a:latin typeface="Times New Roman" panose="02020603050405020304" pitchFamily="18" charset="0"/>
                <a:cs typeface="Times New Roman" panose="02020603050405020304" pitchFamily="18" charset="0"/>
              </a:rPr>
              <a:t>Duygu Etiketi Tutarlılığı (</a:t>
            </a:r>
            <a:r>
              <a:rPr lang="tr-TR" sz="1400" b="1" i="1" dirty="0" err="1">
                <a:solidFill>
                  <a:srgbClr val="C00000"/>
                </a:solidFill>
                <a:latin typeface="Times New Roman" panose="02020603050405020304" pitchFamily="18" charset="0"/>
                <a:cs typeface="Times New Roman" panose="02020603050405020304" pitchFamily="18" charset="0"/>
              </a:rPr>
              <a:t>Label</a:t>
            </a:r>
            <a:r>
              <a:rPr lang="tr-TR" sz="1400" b="1" i="1" dirty="0">
                <a:solidFill>
                  <a:srgbClr val="C00000"/>
                </a:solidFill>
                <a:latin typeface="Times New Roman" panose="02020603050405020304" pitchFamily="18" charset="0"/>
                <a:cs typeface="Times New Roman" panose="02020603050405020304" pitchFamily="18" charset="0"/>
              </a:rPr>
              <a:t> </a:t>
            </a:r>
            <a:r>
              <a:rPr lang="tr-TR" sz="1400" b="1" i="1" dirty="0" err="1">
                <a:solidFill>
                  <a:srgbClr val="C00000"/>
                </a:solidFill>
                <a:latin typeface="Times New Roman" panose="02020603050405020304" pitchFamily="18" charset="0"/>
                <a:cs typeface="Times New Roman" panose="02020603050405020304" pitchFamily="18" charset="0"/>
              </a:rPr>
              <a:t>Consistency</a:t>
            </a:r>
            <a:r>
              <a:rPr lang="tr-TR" sz="1400" b="1" i="1" dirty="0">
                <a:solidFill>
                  <a:srgbClr val="C00000"/>
                </a:solidFill>
                <a:latin typeface="Times New Roman" panose="02020603050405020304" pitchFamily="18" charset="0"/>
                <a:cs typeface="Times New Roman" panose="02020603050405020304" pitchFamily="18" charset="0"/>
              </a:rPr>
              <a:t> Analysis)</a:t>
            </a:r>
          </a:p>
        </p:txBody>
      </p:sp>
      <p:graphicFrame>
        <p:nvGraphicFramePr>
          <p:cNvPr id="5" name="Tablo 4"/>
          <p:cNvGraphicFramePr>
            <a:graphicFrameLocks noGrp="1"/>
          </p:cNvGraphicFramePr>
          <p:nvPr>
            <p:extLst>
              <p:ext uri="{D42A27DB-BD31-4B8C-83A1-F6EECF244321}">
                <p14:modId xmlns:p14="http://schemas.microsoft.com/office/powerpoint/2010/main" val="286194542"/>
              </p:ext>
            </p:extLst>
          </p:nvPr>
        </p:nvGraphicFramePr>
        <p:xfrm>
          <a:off x="6661975" y="1881303"/>
          <a:ext cx="5344097" cy="2560320"/>
        </p:xfrm>
        <a:graphic>
          <a:graphicData uri="http://schemas.openxmlformats.org/drawingml/2006/table">
            <a:tbl>
              <a:tblPr firstRow="1" firstCol="1" bandRow="1">
                <a:tableStyleId>{F5AB1C69-6EDB-4FF4-983F-18BD219EF322}</a:tableStyleId>
              </a:tblPr>
              <a:tblGrid>
                <a:gridCol w="1076960"/>
                <a:gridCol w="640715"/>
                <a:gridCol w="916305"/>
                <a:gridCol w="981901"/>
                <a:gridCol w="742124"/>
                <a:gridCol w="986092"/>
              </a:tblGrid>
              <a:tr h="0">
                <a:tc>
                  <a:txBody>
                    <a:bodyPr/>
                    <a:lstStyle/>
                    <a:p>
                      <a:pPr algn="ctr">
                        <a:lnSpc>
                          <a:spcPct val="200000"/>
                        </a:lnSpc>
                        <a:spcBef>
                          <a:spcPts val="1200"/>
                        </a:spcBef>
                        <a:spcAft>
                          <a:spcPts val="0"/>
                        </a:spcAft>
                      </a:pPr>
                      <a:r>
                        <a:rPr lang="en-US" sz="1400" b="1" dirty="0" err="1">
                          <a:solidFill>
                            <a:schemeClr val="tx1"/>
                          </a:solidFill>
                          <a:effectLst/>
                          <a:latin typeface="Times New Roman" panose="02020603050405020304" pitchFamily="18" charset="0"/>
                          <a:cs typeface="Times New Roman" panose="02020603050405020304" pitchFamily="18" charset="0"/>
                        </a:rPr>
                        <a:t>Kaynak</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Örnek Sayısı</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Genel Tutarlılık (%)</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Pos.</a:t>
                      </a:r>
                      <a:endParaRPr lang="tr-TR" sz="1400" b="1" dirty="0">
                        <a:solidFill>
                          <a:schemeClr val="tx1"/>
                        </a:solidFill>
                        <a:effectLst/>
                        <a:latin typeface="Times New Roman" panose="02020603050405020304" pitchFamily="18" charset="0"/>
                        <a:cs typeface="Times New Roman" panose="02020603050405020304" pitchFamily="18" charset="0"/>
                      </a:endParaRPr>
                    </a:p>
                    <a:p>
                      <a:pPr algn="ctr">
                        <a:lnSpc>
                          <a:spcPct val="200000"/>
                        </a:lnSpc>
                        <a:spcBef>
                          <a:spcPts val="1200"/>
                        </a:spcBef>
                        <a:spcAft>
                          <a:spcPts val="0"/>
                        </a:spcAft>
                      </a:pPr>
                      <a:r>
                        <a:rPr lang="en-US" sz="1400" b="1" dirty="0" err="1">
                          <a:solidFill>
                            <a:schemeClr val="tx1"/>
                          </a:solidFill>
                          <a:effectLst/>
                          <a:latin typeface="Times New Roman" panose="02020603050405020304" pitchFamily="18" charset="0"/>
                          <a:cs typeface="Times New Roman" panose="02020603050405020304" pitchFamily="18" charset="0"/>
                        </a:rPr>
                        <a:t>Tutarlılık</a:t>
                      </a:r>
                      <a:endParaRPr lang="tr-TR" sz="1400" b="1" dirty="0">
                        <a:solidFill>
                          <a:schemeClr val="tx1"/>
                        </a:solidFill>
                        <a:effectLst/>
                        <a:latin typeface="Times New Roman" panose="02020603050405020304" pitchFamily="18" charset="0"/>
                        <a:cs typeface="Times New Roman" panose="02020603050405020304" pitchFamily="18" charset="0"/>
                      </a:endParaRPr>
                    </a:p>
                    <a:p>
                      <a:pPr algn="ctr">
                        <a:lnSpc>
                          <a:spcPct val="20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Neg.</a:t>
                      </a:r>
                      <a:endParaRPr lang="tr-TR" sz="1400" b="1">
                        <a:solidFill>
                          <a:schemeClr val="tx1"/>
                        </a:solidFill>
                        <a:effectLst/>
                        <a:latin typeface="Times New Roman" panose="02020603050405020304" pitchFamily="18" charset="0"/>
                        <a:cs typeface="Times New Roman" panose="02020603050405020304" pitchFamily="18" charset="0"/>
                      </a:endParaRPr>
                    </a:p>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Tutarlılık(%)</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Gerçek Etiketin Ortalama Olasılığı</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GPT</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35,310</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93.57</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99.16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89.25</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0.932</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36,384</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98.76</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99.28</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98.28</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0.983</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pic>
        <p:nvPicPr>
          <p:cNvPr id="14" name="Resim 13"/>
          <p:cNvPicPr/>
          <p:nvPr/>
        </p:nvPicPr>
        <p:blipFill>
          <a:blip r:embed="rId4"/>
          <a:stretch>
            <a:fillRect/>
          </a:stretch>
        </p:blipFill>
        <p:spPr>
          <a:xfrm>
            <a:off x="321852" y="4503187"/>
            <a:ext cx="1417320" cy="350520"/>
          </a:xfrm>
          <a:prstGeom prst="rect">
            <a:avLst/>
          </a:prstGeom>
        </p:spPr>
      </p:pic>
      <p:pic>
        <p:nvPicPr>
          <p:cNvPr id="16" name="Resim 15"/>
          <p:cNvPicPr/>
          <p:nvPr/>
        </p:nvPicPr>
        <p:blipFill>
          <a:blip r:embed="rId5"/>
          <a:stretch>
            <a:fillRect/>
          </a:stretch>
        </p:blipFill>
        <p:spPr>
          <a:xfrm>
            <a:off x="2444006" y="4383554"/>
            <a:ext cx="1866900" cy="568960"/>
          </a:xfrm>
          <a:prstGeom prst="rect">
            <a:avLst/>
          </a:prstGeom>
        </p:spPr>
      </p:pic>
      <p:pic>
        <p:nvPicPr>
          <p:cNvPr id="17" name="Resim 16"/>
          <p:cNvPicPr/>
          <p:nvPr/>
        </p:nvPicPr>
        <p:blipFill>
          <a:blip r:embed="rId6"/>
          <a:stretch>
            <a:fillRect/>
          </a:stretch>
        </p:blipFill>
        <p:spPr>
          <a:xfrm>
            <a:off x="4802039" y="4409893"/>
            <a:ext cx="1569720" cy="358140"/>
          </a:xfrm>
          <a:prstGeom prst="rect">
            <a:avLst/>
          </a:prstGeom>
        </p:spPr>
      </p:pic>
      <p:pic>
        <p:nvPicPr>
          <p:cNvPr id="7" name="Resim 6"/>
          <p:cNvPicPr>
            <a:picLocks noChangeAspect="1"/>
          </p:cNvPicPr>
          <p:nvPr/>
        </p:nvPicPr>
        <p:blipFill>
          <a:blip r:embed="rId7"/>
          <a:stretch>
            <a:fillRect/>
          </a:stretch>
        </p:blipFill>
        <p:spPr>
          <a:xfrm>
            <a:off x="212262" y="4980412"/>
            <a:ext cx="1699407" cy="426757"/>
          </a:xfrm>
          <a:prstGeom prst="rect">
            <a:avLst/>
          </a:prstGeom>
        </p:spPr>
      </p:pic>
      <p:pic>
        <p:nvPicPr>
          <p:cNvPr id="11" name="Resim 10"/>
          <p:cNvPicPr>
            <a:picLocks noChangeAspect="1"/>
          </p:cNvPicPr>
          <p:nvPr/>
        </p:nvPicPr>
        <p:blipFill>
          <a:blip r:embed="rId8"/>
          <a:stretch>
            <a:fillRect/>
          </a:stretch>
        </p:blipFill>
        <p:spPr>
          <a:xfrm>
            <a:off x="2418853" y="4937870"/>
            <a:ext cx="1958510" cy="289585"/>
          </a:xfrm>
          <a:prstGeom prst="rect">
            <a:avLst/>
          </a:prstGeom>
        </p:spPr>
      </p:pic>
      <p:pic>
        <p:nvPicPr>
          <p:cNvPr id="18" name="Resim 17"/>
          <p:cNvPicPr>
            <a:picLocks noChangeAspect="1"/>
          </p:cNvPicPr>
          <p:nvPr/>
        </p:nvPicPr>
        <p:blipFill>
          <a:blip r:embed="rId9"/>
          <a:stretch>
            <a:fillRect/>
          </a:stretch>
        </p:blipFill>
        <p:spPr>
          <a:xfrm>
            <a:off x="4745156" y="4879753"/>
            <a:ext cx="1889924" cy="457240"/>
          </a:xfrm>
          <a:prstGeom prst="rect">
            <a:avLst/>
          </a:prstGeom>
        </p:spPr>
      </p:pic>
      <p:sp>
        <p:nvSpPr>
          <p:cNvPr id="21" name="Dikdörtgen 20"/>
          <p:cNvSpPr/>
          <p:nvPr/>
        </p:nvSpPr>
        <p:spPr>
          <a:xfrm>
            <a:off x="91567" y="5376879"/>
            <a:ext cx="2157857" cy="1200329"/>
          </a:xfrm>
          <a:prstGeom prst="rect">
            <a:avLst/>
          </a:prstGeom>
        </p:spPr>
        <p:txBody>
          <a:bodyPr wrap="square">
            <a:spAutoFit/>
          </a:bodyPr>
          <a:lstStyle/>
          <a:p>
            <a:pPr algn="just"/>
            <a:r>
              <a:rPr lang="tr-TR" sz="1200" dirty="0">
                <a:latin typeface="Times New Roman" panose="02020603050405020304" pitchFamily="18" charset="0"/>
                <a:cs typeface="Times New Roman" panose="02020603050405020304" pitchFamily="18" charset="0"/>
              </a:rPr>
              <a:t>Gösterge fonksiyonu (</a:t>
            </a:r>
            <a:r>
              <a:rPr lang="tr-TR" sz="1200" dirty="0" err="1">
                <a:latin typeface="Times New Roman" panose="02020603050405020304" pitchFamily="18" charset="0"/>
                <a:cs typeface="Times New Roman" panose="02020603050405020304" pitchFamily="18" charset="0"/>
              </a:rPr>
              <a:t>Indicator</a:t>
            </a:r>
            <a:r>
              <a:rPr lang="tr-TR" sz="1200" dirty="0">
                <a:latin typeface="Times New Roman" panose="02020603050405020304" pitchFamily="18" charset="0"/>
                <a:cs typeface="Times New Roman" panose="02020603050405020304" pitchFamily="18" charset="0"/>
              </a:rPr>
              <a:t>) : Bu formülde, sentetik etiket ile referans modelin tahmini karşılaştırılmaktadır. Eğer iki etiket aynıysa 1, farklıysa 0 değeri alınmaktadır.</a:t>
            </a:r>
          </a:p>
        </p:txBody>
      </p:sp>
      <p:sp>
        <p:nvSpPr>
          <p:cNvPr id="22" name="Dikdörtgen 21"/>
          <p:cNvSpPr/>
          <p:nvPr/>
        </p:nvSpPr>
        <p:spPr>
          <a:xfrm>
            <a:off x="4648709" y="5407169"/>
            <a:ext cx="2541905" cy="646331"/>
          </a:xfrm>
          <a:prstGeom prst="rect">
            <a:avLst/>
          </a:prstGeom>
        </p:spPr>
        <p:txBody>
          <a:bodyPr wrap="square">
            <a:spAutoFit/>
          </a:bodyPr>
          <a:lstStyle/>
          <a:p>
            <a:pPr algn="just"/>
            <a:r>
              <a:rPr lang="tr-TR" sz="1200" dirty="0">
                <a:latin typeface="Times New Roman" panose="02020603050405020304" pitchFamily="18" charset="0"/>
                <a:cs typeface="Times New Roman" panose="02020603050405020304" pitchFamily="18" charset="0"/>
              </a:rPr>
              <a:t>Bu değer, tüm örnekler üzerinde ortalama alınarak genel tutarlılığı vermektedir.</a:t>
            </a:r>
          </a:p>
        </p:txBody>
      </p:sp>
      <p:sp>
        <p:nvSpPr>
          <p:cNvPr id="23" name="Dikdörtgen 22"/>
          <p:cNvSpPr/>
          <p:nvPr/>
        </p:nvSpPr>
        <p:spPr>
          <a:xfrm>
            <a:off x="2342642" y="5396523"/>
            <a:ext cx="2034721" cy="646331"/>
          </a:xfrm>
          <a:prstGeom prst="rect">
            <a:avLst/>
          </a:prstGeom>
        </p:spPr>
        <p:txBody>
          <a:bodyPr wrap="square">
            <a:spAutoFit/>
          </a:bodyPr>
          <a:lstStyle/>
          <a:p>
            <a:pPr algn="just"/>
            <a:r>
              <a:rPr lang="tr-TR" sz="1200" dirty="0">
                <a:latin typeface="Times New Roman" panose="02020603050405020304" pitchFamily="18" charset="0"/>
                <a:cs typeface="Times New Roman" panose="02020603050405020304" pitchFamily="18" charset="0"/>
              </a:rPr>
              <a:t>Bu değer, tüm örnekler üzerinde ortalama alınarak genel tutarlılığı vermektedir.</a:t>
            </a:r>
          </a:p>
        </p:txBody>
      </p:sp>
      <p:sp>
        <p:nvSpPr>
          <p:cNvPr id="24" name="Dikdörtgen 23"/>
          <p:cNvSpPr/>
          <p:nvPr/>
        </p:nvSpPr>
        <p:spPr>
          <a:xfrm>
            <a:off x="7190614" y="4573726"/>
            <a:ext cx="4642168" cy="307777"/>
          </a:xfrm>
          <a:prstGeom prst="rect">
            <a:avLst/>
          </a:prstGeom>
        </p:spPr>
        <p:txBody>
          <a:bodyPr wrap="none">
            <a:spAutoFit/>
          </a:bodyPr>
          <a:lstStyle/>
          <a:p>
            <a:pPr algn="just"/>
            <a:r>
              <a:rPr lang="tr-TR" sz="1400" b="1" dirty="0">
                <a:solidFill>
                  <a:srgbClr val="C00000"/>
                </a:solidFill>
                <a:latin typeface="Times New Roman" panose="02020603050405020304" pitchFamily="18" charset="0"/>
                <a:cs typeface="Times New Roman" panose="02020603050405020304" pitchFamily="18" charset="0"/>
              </a:rPr>
              <a:t>Etiket gürültüsü arttıkça model performansı düşmektedir.</a:t>
            </a:r>
          </a:p>
        </p:txBody>
      </p:sp>
      <p:sp>
        <p:nvSpPr>
          <p:cNvPr id="25" name="Dikdörtgen 24"/>
          <p:cNvSpPr/>
          <p:nvPr/>
        </p:nvSpPr>
        <p:spPr>
          <a:xfrm>
            <a:off x="7314727" y="5039658"/>
            <a:ext cx="4870102" cy="1061829"/>
          </a:xfrm>
          <a:prstGeom prst="rect">
            <a:avLst/>
          </a:prstGeom>
        </p:spPr>
        <p:txBody>
          <a:bodyPr wrap="square">
            <a:spAutoFit/>
          </a:bodyPr>
          <a:lstStyle/>
          <a:p>
            <a:pPr marL="285750" indent="-285750" algn="just">
              <a:lnSpc>
                <a:spcPct val="150000"/>
              </a:lnSpc>
              <a:buFont typeface="Wingdings" panose="05000000000000000000" pitchFamily="2" charset="2"/>
              <a:buChar char="ü"/>
            </a:pPr>
            <a:r>
              <a:rPr lang="tr-TR" sz="1400" dirty="0">
                <a:latin typeface="Times New Roman" panose="02020603050405020304" pitchFamily="18" charset="0"/>
                <a:cs typeface="Times New Roman" panose="02020603050405020304" pitchFamily="18" charset="0"/>
              </a:rPr>
              <a:t>Sentetik veri kalitesi model performansını doğrudan etkiliyor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ü"/>
            </a:pPr>
            <a:r>
              <a:rPr lang="tr-TR" sz="1400" dirty="0"/>
              <a:t>Bu analiz, performans farklarının veri kalitesinden kaynaklandığını göstermektedir.</a:t>
            </a:r>
            <a:endParaRPr lang="tr-TR"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81080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2874084" y="1286963"/>
            <a:ext cx="6091156" cy="369332"/>
          </a:xfrm>
          <a:prstGeom prst="rect">
            <a:avLst/>
          </a:prstGeom>
          <a:noFill/>
        </p:spPr>
        <p:txBody>
          <a:bodyPr wrap="square" rtlCol="0">
            <a:spAutoFit/>
          </a:bodyPr>
          <a:lstStyle/>
          <a:p>
            <a:pPr algn="ctr"/>
            <a:r>
              <a:rPr lang="tr-TR" b="1" u="sng">
                <a:solidFill>
                  <a:srgbClr val="C00000"/>
                </a:solidFill>
              </a:rPr>
              <a:t>Sentetik Veri Kalitesi ve Etiket Güvenilirliği Analizi</a:t>
            </a:r>
            <a:endParaRPr lang="tr-TR" b="1" u="sng" dirty="0">
              <a:solidFill>
                <a:srgbClr val="C00000"/>
              </a:solidFill>
            </a:endParaRPr>
          </a:p>
        </p:txBody>
      </p:sp>
      <p:sp>
        <p:nvSpPr>
          <p:cNvPr id="9" name="Metin kutusu 8"/>
          <p:cNvSpPr txBox="1"/>
          <p:nvPr/>
        </p:nvSpPr>
        <p:spPr>
          <a:xfrm>
            <a:off x="307974" y="2174840"/>
            <a:ext cx="6275705" cy="364715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Sentetik verinin kalitesini sadece etiket doğruluğu ile ölçmek yeterli değildir</a:t>
            </a:r>
            <a:r>
              <a:rPr lang="tr-TR" sz="1400" dirty="0" smtClean="0">
                <a:latin typeface="Times New Roman" panose="02020603050405020304" pitchFamily="18" charset="0"/>
                <a:cs typeface="Times New Roman" panose="02020603050405020304" pitchFamily="18" charset="0"/>
              </a:rPr>
              <a:t>. Metinlerin </a:t>
            </a:r>
            <a:r>
              <a:rPr lang="tr-TR" sz="1400" dirty="0">
                <a:latin typeface="Times New Roman" panose="02020603050405020304" pitchFamily="18" charset="0"/>
                <a:cs typeface="Times New Roman" panose="02020603050405020304" pitchFamily="18" charset="0"/>
              </a:rPr>
              <a:t>gerçek veriyle anlamsal olarak ne kadar benzer olduğu da değerlendirilmelidir</a:t>
            </a:r>
            <a:r>
              <a:rPr lang="tr-TR"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latin typeface="Times New Roman" panose="02020603050405020304" pitchFamily="18" charset="0"/>
                <a:cs typeface="Times New Roman" panose="02020603050405020304" pitchFamily="18" charset="0"/>
              </a:rPr>
              <a:t>BLEU </a:t>
            </a:r>
            <a:r>
              <a:rPr lang="tr-TR" sz="1400" dirty="0">
                <a:latin typeface="Times New Roman" panose="02020603050405020304" pitchFamily="18" charset="0"/>
                <a:cs typeface="Times New Roman" panose="02020603050405020304" pitchFamily="18" charset="0"/>
              </a:rPr>
              <a:t>/ ROUGE → kelime eşleşmesine </a:t>
            </a:r>
            <a:r>
              <a:rPr lang="tr-TR" sz="1400" dirty="0" smtClean="0">
                <a:latin typeface="Times New Roman" panose="02020603050405020304" pitchFamily="18" charset="0"/>
                <a:cs typeface="Times New Roman" panose="02020603050405020304" pitchFamily="18" charset="0"/>
              </a:rPr>
              <a:t>bakar. Ama </a:t>
            </a:r>
            <a:r>
              <a:rPr lang="tr-TR" sz="1400" dirty="0" err="1">
                <a:latin typeface="Times New Roman" panose="02020603050405020304" pitchFamily="18" charset="0"/>
                <a:cs typeface="Times New Roman" panose="02020603050405020304" pitchFamily="18" charset="0"/>
              </a:rPr>
              <a:t>LLM’ler:Aynı</a:t>
            </a:r>
            <a:r>
              <a:rPr lang="tr-TR" sz="1400" dirty="0">
                <a:latin typeface="Times New Roman" panose="02020603050405020304" pitchFamily="18" charset="0"/>
                <a:cs typeface="Times New Roman" panose="02020603050405020304" pitchFamily="18" charset="0"/>
              </a:rPr>
              <a:t> anlamı farklı şekilde ifade </a:t>
            </a:r>
            <a:r>
              <a:rPr lang="tr-TR" sz="1400" dirty="0" smtClean="0">
                <a:latin typeface="Times New Roman" panose="02020603050405020304" pitchFamily="18" charset="0"/>
                <a:cs typeface="Times New Roman" panose="02020603050405020304" pitchFamily="18" charset="0"/>
              </a:rPr>
              <a:t>eder</a:t>
            </a:r>
          </a:p>
          <a:p>
            <a:pPr marL="742950" lvl="1" indent="-285750" algn="just">
              <a:lnSpc>
                <a:spcPct val="150000"/>
              </a:lnSpc>
              <a:buFont typeface="Wingdings" panose="05000000000000000000" pitchFamily="2" charset="2"/>
              <a:buChar char="Ø"/>
            </a:pPr>
            <a:r>
              <a:rPr lang="tr-TR" sz="1400" dirty="0" smtClean="0">
                <a:latin typeface="Times New Roman" panose="02020603050405020304" pitchFamily="18" charset="0"/>
                <a:cs typeface="Times New Roman" panose="02020603050405020304" pitchFamily="18" charset="0"/>
              </a:rPr>
              <a:t> </a:t>
            </a:r>
            <a:r>
              <a:rPr lang="tr-TR" sz="1400" dirty="0" err="1" smtClean="0">
                <a:latin typeface="Times New Roman" panose="02020603050405020304" pitchFamily="18" charset="0"/>
                <a:cs typeface="Times New Roman" panose="02020603050405020304" pitchFamily="18" charset="0"/>
              </a:rPr>
              <a:t>Örnek:“Film</a:t>
            </a:r>
            <a:r>
              <a:rPr lang="tr-TR" sz="1400" dirty="0" smtClean="0">
                <a:latin typeface="Times New Roman" panose="02020603050405020304" pitchFamily="18" charset="0"/>
                <a:cs typeface="Times New Roman" panose="02020603050405020304" pitchFamily="18" charset="0"/>
              </a:rPr>
              <a:t> çok güzeldi”</a:t>
            </a:r>
          </a:p>
          <a:p>
            <a:pPr marL="742950" lvl="1" indent="-285750" algn="just">
              <a:lnSpc>
                <a:spcPct val="150000"/>
              </a:lnSpc>
              <a:buFont typeface="Wingdings" panose="05000000000000000000" pitchFamily="2" charset="2"/>
              <a:buChar char="Ø"/>
            </a:pPr>
            <a:r>
              <a:rPr lang="tr-TR" sz="1400" dirty="0" smtClean="0">
                <a:latin typeface="Times New Roman" panose="02020603050405020304" pitchFamily="18" charset="0"/>
                <a:cs typeface="Times New Roman" panose="02020603050405020304" pitchFamily="18" charset="0"/>
              </a:rPr>
              <a:t>“Gerçekten etkileyici bir filmdi”➡️ Anlam aynı, kelimeler farklı✅</a:t>
            </a:r>
          </a:p>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Çözüm: </a:t>
            </a:r>
            <a:r>
              <a:rPr lang="tr-TR" sz="1400" dirty="0" err="1">
                <a:latin typeface="Times New Roman" panose="02020603050405020304" pitchFamily="18" charset="0"/>
                <a:cs typeface="Times New Roman" panose="02020603050405020304" pitchFamily="18" charset="0"/>
              </a:rPr>
              <a:t>BERTScore</a:t>
            </a:r>
            <a:endParaRPr lang="tr-TR" sz="14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err="1" smtClean="0">
                <a:latin typeface="Times New Roman" panose="02020603050405020304" pitchFamily="18" charset="0"/>
                <a:cs typeface="Times New Roman" panose="02020603050405020304" pitchFamily="18" charset="0"/>
              </a:rPr>
              <a:t>BERTScore</a:t>
            </a:r>
            <a:r>
              <a:rPr lang="tr-TR" sz="1400" dirty="0">
                <a:latin typeface="Times New Roman" panose="02020603050405020304" pitchFamily="18" charset="0"/>
                <a:cs typeface="Times New Roman" panose="02020603050405020304" pitchFamily="18" charset="0"/>
              </a:rPr>
              <a:t>, önceden eğitilmiş </a:t>
            </a:r>
            <a:r>
              <a:rPr lang="tr-TR" sz="1400" dirty="0" err="1">
                <a:latin typeface="Times New Roman" panose="02020603050405020304" pitchFamily="18" charset="0"/>
                <a:cs typeface="Times New Roman" panose="02020603050405020304" pitchFamily="18" charset="0"/>
              </a:rPr>
              <a:t>transformer</a:t>
            </a:r>
            <a:r>
              <a:rPr lang="tr-TR" sz="1400" dirty="0">
                <a:latin typeface="Times New Roman" panose="02020603050405020304" pitchFamily="18" charset="0"/>
                <a:cs typeface="Times New Roman" panose="02020603050405020304" pitchFamily="18" charset="0"/>
              </a:rPr>
              <a:t> tabanlı bir model tarafından üretilen bağlamsal vektör temsilleri üzerinden </a:t>
            </a:r>
            <a:r>
              <a:rPr lang="tr-TR" sz="1400" dirty="0" err="1">
                <a:latin typeface="Times New Roman" panose="02020603050405020304" pitchFamily="18" charset="0"/>
                <a:cs typeface="Times New Roman" panose="02020603050405020304" pitchFamily="18" charset="0"/>
              </a:rPr>
              <a:t>token</a:t>
            </a:r>
            <a:r>
              <a:rPr lang="tr-TR" sz="1400" dirty="0">
                <a:latin typeface="Times New Roman" panose="02020603050405020304" pitchFamily="18" charset="0"/>
                <a:cs typeface="Times New Roman" panose="02020603050405020304" pitchFamily="18" charset="0"/>
              </a:rPr>
              <a:t> düzeyinde kosinüs benzerliği </a:t>
            </a:r>
            <a:r>
              <a:rPr lang="tr-TR" sz="1400" dirty="0" smtClean="0">
                <a:latin typeface="Times New Roman" panose="02020603050405020304" pitchFamily="18" charset="0"/>
                <a:cs typeface="Times New Roman" panose="02020603050405020304" pitchFamily="18" charset="0"/>
              </a:rPr>
              <a:t>hesaplamaktadır.</a:t>
            </a:r>
          </a:p>
        </p:txBody>
      </p:sp>
      <p:sp>
        <p:nvSpPr>
          <p:cNvPr id="13" name="Metin kutusu 12"/>
          <p:cNvSpPr txBox="1"/>
          <p:nvPr/>
        </p:nvSpPr>
        <p:spPr>
          <a:xfrm>
            <a:off x="612775" y="1867063"/>
            <a:ext cx="5056632" cy="307777"/>
          </a:xfrm>
          <a:prstGeom prst="rect">
            <a:avLst/>
          </a:prstGeom>
          <a:noFill/>
        </p:spPr>
        <p:txBody>
          <a:bodyPr wrap="square" rtlCol="0">
            <a:spAutoFit/>
          </a:bodyPr>
          <a:lstStyle/>
          <a:p>
            <a:pPr marL="285750" indent="-285750" algn="just">
              <a:buFont typeface="Wingdings" panose="05000000000000000000" pitchFamily="2" charset="2"/>
              <a:buChar char="v"/>
            </a:pPr>
            <a:r>
              <a:rPr lang="tr-TR" sz="1400" b="1" i="1" dirty="0">
                <a:solidFill>
                  <a:srgbClr val="C00000"/>
                </a:solidFill>
                <a:latin typeface="Times New Roman" panose="02020603050405020304" pitchFamily="18" charset="0"/>
                <a:cs typeface="Times New Roman" panose="02020603050405020304" pitchFamily="18" charset="0"/>
              </a:rPr>
              <a:t>Semantik Hizalanma Analizi (</a:t>
            </a:r>
            <a:r>
              <a:rPr lang="tr-TR" sz="1400" b="1" i="1" dirty="0" err="1">
                <a:solidFill>
                  <a:srgbClr val="C00000"/>
                </a:solidFill>
                <a:latin typeface="Times New Roman" panose="02020603050405020304" pitchFamily="18" charset="0"/>
                <a:cs typeface="Times New Roman" panose="02020603050405020304" pitchFamily="18" charset="0"/>
              </a:rPr>
              <a:t>Semantic</a:t>
            </a:r>
            <a:r>
              <a:rPr lang="tr-TR" sz="1400" b="1" i="1" dirty="0">
                <a:solidFill>
                  <a:srgbClr val="C00000"/>
                </a:solidFill>
                <a:latin typeface="Times New Roman" panose="02020603050405020304" pitchFamily="18" charset="0"/>
                <a:cs typeface="Times New Roman" panose="02020603050405020304" pitchFamily="18" charset="0"/>
              </a:rPr>
              <a:t> </a:t>
            </a:r>
            <a:r>
              <a:rPr lang="tr-TR" sz="1400" b="1" i="1" dirty="0" err="1">
                <a:solidFill>
                  <a:srgbClr val="C00000"/>
                </a:solidFill>
                <a:latin typeface="Times New Roman" panose="02020603050405020304" pitchFamily="18" charset="0"/>
                <a:cs typeface="Times New Roman" panose="02020603050405020304" pitchFamily="18" charset="0"/>
              </a:rPr>
              <a:t>Alignment</a:t>
            </a:r>
            <a:r>
              <a:rPr lang="tr-TR" sz="1400" b="1" i="1" dirty="0">
                <a:solidFill>
                  <a:srgbClr val="C00000"/>
                </a:solidFill>
                <a:latin typeface="Times New Roman" panose="02020603050405020304" pitchFamily="18" charset="0"/>
                <a:cs typeface="Times New Roman" panose="02020603050405020304" pitchFamily="18" charset="0"/>
              </a:rPr>
              <a:t> Analysis)</a:t>
            </a:r>
          </a:p>
        </p:txBody>
      </p:sp>
      <p:pic>
        <p:nvPicPr>
          <p:cNvPr id="26" name="Resim 25"/>
          <p:cNvPicPr/>
          <p:nvPr/>
        </p:nvPicPr>
        <p:blipFill>
          <a:blip r:embed="rId4"/>
          <a:stretch>
            <a:fillRect/>
          </a:stretch>
        </p:blipFill>
        <p:spPr>
          <a:xfrm>
            <a:off x="612775" y="5786939"/>
            <a:ext cx="1910080" cy="410845"/>
          </a:xfrm>
          <a:prstGeom prst="rect">
            <a:avLst/>
          </a:prstGeom>
        </p:spPr>
      </p:pic>
      <p:pic>
        <p:nvPicPr>
          <p:cNvPr id="19" name="Resim 18"/>
          <p:cNvPicPr>
            <a:picLocks noChangeAspect="1"/>
          </p:cNvPicPr>
          <p:nvPr/>
        </p:nvPicPr>
        <p:blipFill>
          <a:blip r:embed="rId5"/>
          <a:stretch>
            <a:fillRect/>
          </a:stretch>
        </p:blipFill>
        <p:spPr>
          <a:xfrm>
            <a:off x="2827655" y="5597100"/>
            <a:ext cx="2764653" cy="982988"/>
          </a:xfrm>
          <a:prstGeom prst="rect">
            <a:avLst/>
          </a:prstGeom>
        </p:spPr>
      </p:pic>
      <p:sp>
        <p:nvSpPr>
          <p:cNvPr id="20" name="Dikdörtgen 19"/>
          <p:cNvSpPr/>
          <p:nvPr/>
        </p:nvSpPr>
        <p:spPr>
          <a:xfrm>
            <a:off x="6748271" y="4632362"/>
            <a:ext cx="5257801" cy="954107"/>
          </a:xfrm>
          <a:prstGeom prst="rect">
            <a:avLst/>
          </a:prstGeom>
        </p:spPr>
        <p:txBody>
          <a:bodyPr wrap="square">
            <a:spAutoFit/>
          </a:bodyPr>
          <a:lstStyle/>
          <a:p>
            <a:pPr algn="just"/>
            <a:r>
              <a:rPr lang="tr-TR" sz="1400" b="1" i="1" dirty="0">
                <a:solidFill>
                  <a:srgbClr val="C00000"/>
                </a:solidFill>
                <a:latin typeface="Times New Roman" panose="02020603050405020304" pitchFamily="18" charset="0"/>
                <a:cs typeface="Times New Roman" panose="02020603050405020304" pitchFamily="18" charset="0"/>
              </a:rPr>
              <a:t>Sentetik veri tek başına </a:t>
            </a:r>
            <a:r>
              <a:rPr lang="tr-TR" sz="1400" b="1" i="1" dirty="0" err="1">
                <a:solidFill>
                  <a:srgbClr val="C00000"/>
                </a:solidFill>
                <a:latin typeface="Times New Roman" panose="02020603050405020304" pitchFamily="18" charset="0"/>
                <a:cs typeface="Times New Roman" panose="02020603050405020304" pitchFamily="18" charset="0"/>
              </a:rPr>
              <a:t>kullanıldığında,etiket</a:t>
            </a:r>
            <a:r>
              <a:rPr lang="tr-TR" sz="1400" b="1" i="1" dirty="0">
                <a:solidFill>
                  <a:srgbClr val="C00000"/>
                </a:solidFill>
                <a:latin typeface="Times New Roman" panose="02020603050405020304" pitchFamily="18" charset="0"/>
                <a:cs typeface="Times New Roman" panose="02020603050405020304" pitchFamily="18" charset="0"/>
              </a:rPr>
              <a:t> hataları ve semantik sapmalar model performansını düşürmektedir</a:t>
            </a:r>
            <a:r>
              <a:rPr lang="tr-TR" sz="1400" b="1" i="1" dirty="0" smtClean="0">
                <a:solidFill>
                  <a:srgbClr val="C00000"/>
                </a:solidFill>
                <a:latin typeface="Times New Roman" panose="02020603050405020304" pitchFamily="18" charset="0"/>
                <a:cs typeface="Times New Roman" panose="02020603050405020304" pitchFamily="18" charset="0"/>
              </a:rPr>
              <a:t>. Ancak </a:t>
            </a:r>
            <a:r>
              <a:rPr lang="tr-TR" sz="1400" b="1" i="1" dirty="0" err="1">
                <a:solidFill>
                  <a:srgbClr val="C00000"/>
                </a:solidFill>
                <a:latin typeface="Times New Roman" panose="02020603050405020304" pitchFamily="18" charset="0"/>
                <a:cs typeface="Times New Roman" panose="02020603050405020304" pitchFamily="18" charset="0"/>
              </a:rPr>
              <a:t>hibrit</a:t>
            </a:r>
            <a:r>
              <a:rPr lang="tr-TR" sz="1400" b="1" i="1" dirty="0">
                <a:solidFill>
                  <a:srgbClr val="C00000"/>
                </a:solidFill>
                <a:latin typeface="Times New Roman" panose="02020603050405020304" pitchFamily="18" charset="0"/>
                <a:cs typeface="Times New Roman" panose="02020603050405020304" pitchFamily="18" charset="0"/>
              </a:rPr>
              <a:t> </a:t>
            </a:r>
            <a:r>
              <a:rPr lang="tr-TR" sz="1400" b="1" i="1" dirty="0" err="1">
                <a:solidFill>
                  <a:srgbClr val="C00000"/>
                </a:solidFill>
                <a:latin typeface="Times New Roman" panose="02020603050405020304" pitchFamily="18" charset="0"/>
                <a:cs typeface="Times New Roman" panose="02020603050405020304" pitchFamily="18" charset="0"/>
              </a:rPr>
              <a:t>kullanımda:gerçek</a:t>
            </a:r>
            <a:r>
              <a:rPr lang="tr-TR" sz="1400" b="1" i="1" dirty="0">
                <a:solidFill>
                  <a:srgbClr val="C00000"/>
                </a:solidFill>
                <a:latin typeface="Times New Roman" panose="02020603050405020304" pitchFamily="18" charset="0"/>
                <a:cs typeface="Times New Roman" panose="02020603050405020304" pitchFamily="18" charset="0"/>
              </a:rPr>
              <a:t> veri bu hataları dengelemekte ve modelin genelleme kapasitesini korumaktadır.</a:t>
            </a:r>
          </a:p>
        </p:txBody>
      </p:sp>
      <p:sp>
        <p:nvSpPr>
          <p:cNvPr id="27" name="Dikdörtgen 26"/>
          <p:cNvSpPr/>
          <p:nvPr/>
        </p:nvSpPr>
        <p:spPr>
          <a:xfrm>
            <a:off x="6748271" y="5722032"/>
            <a:ext cx="4948821" cy="523220"/>
          </a:xfrm>
          <a:prstGeom prst="rect">
            <a:avLst/>
          </a:prstGeom>
        </p:spPr>
        <p:txBody>
          <a:bodyPr wrap="square">
            <a:spAutoFit/>
          </a:bodyPr>
          <a:lstStyle/>
          <a:p>
            <a:pPr algn="just"/>
            <a:r>
              <a:rPr lang="tr-TR" sz="1400" b="1" i="1" dirty="0" err="1">
                <a:solidFill>
                  <a:srgbClr val="C00000"/>
                </a:solidFill>
                <a:latin typeface="Times New Roman" panose="02020603050405020304" pitchFamily="18" charset="0"/>
                <a:cs typeface="Times New Roman" panose="02020603050405020304" pitchFamily="18" charset="0"/>
              </a:rPr>
              <a:t>Hibrit</a:t>
            </a:r>
            <a:r>
              <a:rPr lang="tr-TR" sz="1400" b="1" i="1" dirty="0">
                <a:solidFill>
                  <a:srgbClr val="C00000"/>
                </a:solidFill>
                <a:latin typeface="Times New Roman" panose="02020603050405020304" pitchFamily="18" charset="0"/>
                <a:cs typeface="Times New Roman" panose="02020603050405020304" pitchFamily="18" charset="0"/>
              </a:rPr>
              <a:t> veri, sentetik verinin çeşitlilik avantajını korurken, gerçek verinin doğruluğu ile performansı dengeler.</a:t>
            </a:r>
          </a:p>
        </p:txBody>
      </p:sp>
      <p:graphicFrame>
        <p:nvGraphicFramePr>
          <p:cNvPr id="28" name="Tablo 27"/>
          <p:cNvGraphicFramePr>
            <a:graphicFrameLocks noGrp="1"/>
          </p:cNvGraphicFramePr>
          <p:nvPr>
            <p:extLst>
              <p:ext uri="{D42A27DB-BD31-4B8C-83A1-F6EECF244321}">
                <p14:modId xmlns:p14="http://schemas.microsoft.com/office/powerpoint/2010/main" val="1071725595"/>
              </p:ext>
            </p:extLst>
          </p:nvPr>
        </p:nvGraphicFramePr>
        <p:xfrm>
          <a:off x="6870260" y="2337086"/>
          <a:ext cx="5213985" cy="1512000"/>
        </p:xfrm>
        <a:graphic>
          <a:graphicData uri="http://schemas.openxmlformats.org/drawingml/2006/table">
            <a:tbl>
              <a:tblPr firstRow="1" firstCol="1" bandRow="1">
                <a:tableStyleId>{F5AB1C69-6EDB-4FF4-983F-18BD219EF322}</a:tableStyleId>
              </a:tblPr>
              <a:tblGrid>
                <a:gridCol w="1737995"/>
                <a:gridCol w="1737995"/>
                <a:gridCol w="1737995"/>
              </a:tblGrid>
              <a:tr h="0">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Kaynak</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Örnek Sayısı</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BERTScore-F1 (Mean ± Std)</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GPT</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35,310</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0.501 ± 0.073</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Claude</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a:solidFill>
                            <a:schemeClr val="tx1"/>
                          </a:solidFill>
                          <a:effectLst/>
                          <a:latin typeface="Times New Roman" panose="02020603050405020304" pitchFamily="18" charset="0"/>
                          <a:cs typeface="Times New Roman" panose="02020603050405020304" pitchFamily="18" charset="0"/>
                        </a:rPr>
                        <a:t>36,385</a:t>
                      </a:r>
                      <a:endParaRPr lang="tr-TR" sz="14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0.533 ± 0.062</a:t>
                      </a:r>
                      <a:endParaRPr lang="tr-TR" sz="1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2621368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 xmlns:a16="http://schemas.microsoft.com/office/drawing/2014/main" id="{74DF2700-41FB-DD43-A206-1555853F4399}"/>
              </a:ext>
            </a:extLst>
          </p:cNvPr>
          <p:cNvPicPr>
            <a:picLocks noChangeAspect="1"/>
          </p:cNvPicPr>
          <p:nvPr/>
        </p:nvPicPr>
        <p:blipFill>
          <a:blip r:embed="rId3"/>
          <a:stretch>
            <a:fillRect/>
          </a:stretch>
        </p:blipFill>
        <p:spPr>
          <a:xfrm flipV="1">
            <a:off x="0" y="-1"/>
            <a:ext cx="5748169" cy="597877"/>
          </a:xfrm>
          <a:prstGeom prst="rect">
            <a:avLst/>
          </a:prstGeom>
          <a:noFill/>
          <a:ln>
            <a:noFill/>
          </a:ln>
        </p:spPr>
      </p:pic>
      <p:sp>
        <p:nvSpPr>
          <p:cNvPr id="3" name="Dikdörtgen 2">
            <a:extLst>
              <a:ext uri="{FF2B5EF4-FFF2-40B4-BE49-F238E27FC236}">
                <a16:creationId xmlns="" xmlns:a16="http://schemas.microsoft.com/office/drawing/2014/main" id="{C47A22D8-14D8-2942-B197-787336436216}"/>
              </a:ext>
            </a:extLst>
          </p:cNvPr>
          <p:cNvSpPr/>
          <p:nvPr/>
        </p:nvSpPr>
        <p:spPr>
          <a:xfrm flipV="1">
            <a:off x="0" y="-20300"/>
            <a:ext cx="12184829" cy="32531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 xmlns:a16="http://schemas.microsoft.com/office/drawing/2014/main" id="{0F9AD185-E517-D44C-B1B6-92637C488647}"/>
              </a:ext>
            </a:extLst>
          </p:cNvPr>
          <p:cNvSpPr txBox="1"/>
          <p:nvPr/>
        </p:nvSpPr>
        <p:spPr>
          <a:xfrm>
            <a:off x="436408" y="719045"/>
            <a:ext cx="5882096" cy="523220"/>
          </a:xfrm>
          <a:prstGeom prst="rect">
            <a:avLst/>
          </a:prstGeom>
          <a:noFill/>
        </p:spPr>
        <p:txBody>
          <a:bodyPr wrap="square" rtlCol="0">
            <a:spAutoFit/>
          </a:bodyPr>
          <a:lstStyle/>
          <a:p>
            <a:r>
              <a:rPr lang="tr-TR" sz="2800" b="1" dirty="0" smtClean="0">
                <a:solidFill>
                  <a:srgbClr val="C00000"/>
                </a:solidFill>
              </a:rPr>
              <a:t>«Hata ve Tanısal Analizler»</a:t>
            </a:r>
            <a:endParaRPr lang="tr-TR" sz="2800" b="1" dirty="0">
              <a:solidFill>
                <a:srgbClr val="C00000"/>
              </a:solidFill>
            </a:endParaRPr>
          </a:p>
        </p:txBody>
      </p:sp>
      <p:sp>
        <p:nvSpPr>
          <p:cNvPr id="15" name="Dikdörtgen 14">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p:cNvSpPr txBox="1"/>
          <p:nvPr/>
        </p:nvSpPr>
        <p:spPr>
          <a:xfrm>
            <a:off x="7753742" y="1810183"/>
            <a:ext cx="3785616" cy="369332"/>
          </a:xfrm>
          <a:prstGeom prst="rect">
            <a:avLst/>
          </a:prstGeom>
          <a:noFill/>
        </p:spPr>
        <p:txBody>
          <a:bodyPr wrap="square" rtlCol="0">
            <a:spAutoFit/>
          </a:bodyPr>
          <a:lstStyle/>
          <a:p>
            <a:endParaRPr lang="tr-TR" dirty="0"/>
          </a:p>
        </p:txBody>
      </p:sp>
      <p:sp>
        <p:nvSpPr>
          <p:cNvPr id="4" name="AutoShape 2" descr="Deneysel ortam ve altyapı mimari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4" descr="Deneysel ortam ve altyapı mimaris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2" name="Metin kutusu 11"/>
          <p:cNvSpPr txBox="1"/>
          <p:nvPr/>
        </p:nvSpPr>
        <p:spPr>
          <a:xfrm>
            <a:off x="2874084" y="1286963"/>
            <a:ext cx="6091156" cy="369332"/>
          </a:xfrm>
          <a:prstGeom prst="rect">
            <a:avLst/>
          </a:prstGeom>
          <a:noFill/>
        </p:spPr>
        <p:txBody>
          <a:bodyPr wrap="square" rtlCol="0">
            <a:spAutoFit/>
          </a:bodyPr>
          <a:lstStyle/>
          <a:p>
            <a:pPr algn="ctr"/>
            <a:r>
              <a:rPr lang="tr-TR" b="1" u="sng">
                <a:solidFill>
                  <a:srgbClr val="C00000"/>
                </a:solidFill>
              </a:rPr>
              <a:t>Sentetik Veri Kalitesi ve Etiket Güvenilirliği Analizi</a:t>
            </a:r>
            <a:endParaRPr lang="tr-TR" b="1" u="sng" dirty="0">
              <a:solidFill>
                <a:srgbClr val="C00000"/>
              </a:solidFill>
            </a:endParaRPr>
          </a:p>
        </p:txBody>
      </p:sp>
      <p:sp>
        <p:nvSpPr>
          <p:cNvPr id="9" name="Metin kutusu 8"/>
          <p:cNvSpPr txBox="1"/>
          <p:nvPr/>
        </p:nvSpPr>
        <p:spPr>
          <a:xfrm>
            <a:off x="307975" y="2390283"/>
            <a:ext cx="6275705" cy="267765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tr-TR" sz="1400" dirty="0">
                <a:latin typeface="Times New Roman" panose="02020603050405020304" pitchFamily="18" charset="0"/>
                <a:cs typeface="Times New Roman" panose="02020603050405020304" pitchFamily="18" charset="0"/>
              </a:rPr>
              <a:t>Sentetik verinin kalite boyutunun incelenmesinin ardından, bu verinin eğitim sürecine farklı oranlarda dahil edilmesinin model performansı üzerindeki etkisi analiz </a:t>
            </a:r>
            <a:r>
              <a:rPr lang="tr-TR" sz="1400" dirty="0" smtClean="0">
                <a:latin typeface="Times New Roman" panose="02020603050405020304" pitchFamily="18" charset="0"/>
                <a:cs typeface="Times New Roman" panose="02020603050405020304" pitchFamily="18" charset="0"/>
              </a:rPr>
              <a:t>edilmiştir</a:t>
            </a:r>
          </a:p>
          <a:p>
            <a:pPr marL="285750" indent="-285750" algn="just">
              <a:lnSpc>
                <a:spcPct val="150000"/>
              </a:lnSpc>
              <a:buFont typeface="Wingdings" panose="05000000000000000000" pitchFamily="2" charset="2"/>
              <a:buChar char="q"/>
            </a:pPr>
            <a:r>
              <a:rPr lang="tr-TR" sz="1400" dirty="0"/>
              <a:t>Sentetik örnekler eğitim kümesine eklenirken sınıf dağılımının korunması amacıyla katmanlı örnekleme (</a:t>
            </a:r>
            <a:r>
              <a:rPr lang="tr-TR" sz="1400" dirty="0" err="1"/>
              <a:t>stratified</a:t>
            </a:r>
            <a:r>
              <a:rPr lang="tr-TR" sz="1400" dirty="0"/>
              <a:t> </a:t>
            </a:r>
            <a:r>
              <a:rPr lang="tr-TR" sz="1400" dirty="0" err="1"/>
              <a:t>sampling</a:t>
            </a:r>
            <a:r>
              <a:rPr lang="tr-TR" sz="1400" dirty="0"/>
              <a:t>) yaklaşımı uygulanmıştır. Ham ve sentetik veri kümeleri birleştirildikten sonra eğitim veri kümesi rastgele karıştırılmış (</a:t>
            </a:r>
            <a:r>
              <a:rPr lang="tr-TR" sz="1400" dirty="0" err="1"/>
              <a:t>shuffle</a:t>
            </a:r>
            <a:r>
              <a:rPr lang="tr-TR" sz="1400" dirty="0"/>
              <a:t>) ve model eğitimi bu birleşik veri kümesi üzerinde </a:t>
            </a:r>
            <a:r>
              <a:rPr lang="tr-TR" sz="1400" dirty="0" smtClean="0"/>
              <a:t>gerçekleştirilmiştir.</a:t>
            </a:r>
            <a:endParaRPr lang="tr-TR" sz="1400" dirty="0" smtClean="0">
              <a:latin typeface="Times New Roman" panose="02020603050405020304" pitchFamily="18" charset="0"/>
              <a:cs typeface="Times New Roman" panose="02020603050405020304" pitchFamily="18" charset="0"/>
            </a:endParaRPr>
          </a:p>
        </p:txBody>
      </p:sp>
      <p:sp>
        <p:nvSpPr>
          <p:cNvPr id="13" name="Metin kutusu 12"/>
          <p:cNvSpPr txBox="1"/>
          <p:nvPr/>
        </p:nvSpPr>
        <p:spPr>
          <a:xfrm>
            <a:off x="612775" y="1867063"/>
            <a:ext cx="5056632" cy="523220"/>
          </a:xfrm>
          <a:prstGeom prst="rect">
            <a:avLst/>
          </a:prstGeom>
          <a:noFill/>
        </p:spPr>
        <p:txBody>
          <a:bodyPr wrap="square" rtlCol="0">
            <a:spAutoFit/>
          </a:bodyPr>
          <a:lstStyle/>
          <a:p>
            <a:pPr marL="285750" indent="-285750" algn="just">
              <a:buFont typeface="Wingdings" panose="05000000000000000000" pitchFamily="2" charset="2"/>
              <a:buChar char="v"/>
            </a:pPr>
            <a:r>
              <a:rPr lang="tr-TR" sz="1400" b="1" i="1">
                <a:solidFill>
                  <a:srgbClr val="C00000"/>
                </a:solidFill>
                <a:latin typeface="Times New Roman" panose="02020603050405020304" pitchFamily="18" charset="0"/>
                <a:cs typeface="Times New Roman" panose="02020603050405020304" pitchFamily="18" charset="0"/>
              </a:rPr>
              <a:t>Sentetik Veri Oranına Duyarlılık Analizi (Proportion Sensitivity Analysis – Fusion Ratio Study)</a:t>
            </a:r>
            <a:endParaRPr lang="tr-TR" sz="1400" b="1" i="1" dirty="0">
              <a:solidFill>
                <a:srgbClr val="C00000"/>
              </a:solidFill>
              <a:latin typeface="Times New Roman" panose="02020603050405020304" pitchFamily="18" charset="0"/>
              <a:cs typeface="Times New Roman" panose="02020603050405020304" pitchFamily="18" charset="0"/>
            </a:endParaRPr>
          </a:p>
        </p:txBody>
      </p:sp>
      <p:pic>
        <p:nvPicPr>
          <p:cNvPr id="17" name="Resim 16"/>
          <p:cNvPicPr/>
          <p:nvPr/>
        </p:nvPicPr>
        <p:blipFill>
          <a:blip r:embed="rId4"/>
          <a:stretch>
            <a:fillRect/>
          </a:stretch>
        </p:blipFill>
        <p:spPr>
          <a:xfrm>
            <a:off x="943356" y="5572338"/>
            <a:ext cx="1691640" cy="396240"/>
          </a:xfrm>
          <a:prstGeom prst="rect">
            <a:avLst/>
          </a:prstGeom>
        </p:spPr>
      </p:pic>
      <p:pic>
        <p:nvPicPr>
          <p:cNvPr id="7" name="Resim 6"/>
          <p:cNvPicPr>
            <a:picLocks noChangeAspect="1"/>
          </p:cNvPicPr>
          <p:nvPr/>
        </p:nvPicPr>
        <p:blipFill>
          <a:blip r:embed="rId5"/>
          <a:stretch>
            <a:fillRect/>
          </a:stretch>
        </p:blipFill>
        <p:spPr>
          <a:xfrm>
            <a:off x="3063141" y="5288228"/>
            <a:ext cx="2606266" cy="845893"/>
          </a:xfrm>
          <a:prstGeom prst="rect">
            <a:avLst/>
          </a:prstGeom>
        </p:spPr>
      </p:pic>
      <p:graphicFrame>
        <p:nvGraphicFramePr>
          <p:cNvPr id="11" name="Tablo 10"/>
          <p:cNvGraphicFramePr>
            <a:graphicFrameLocks noGrp="1"/>
          </p:cNvGraphicFramePr>
          <p:nvPr>
            <p:extLst>
              <p:ext uri="{D42A27DB-BD31-4B8C-83A1-F6EECF244321}">
                <p14:modId xmlns:p14="http://schemas.microsoft.com/office/powerpoint/2010/main" val="2615083312"/>
              </p:ext>
            </p:extLst>
          </p:nvPr>
        </p:nvGraphicFramePr>
        <p:xfrm>
          <a:off x="6826567" y="2179515"/>
          <a:ext cx="5213985" cy="2535809"/>
        </p:xfrm>
        <a:graphic>
          <a:graphicData uri="http://schemas.openxmlformats.org/drawingml/2006/table">
            <a:tbl>
              <a:tblPr firstRow="1" firstCol="1" bandRow="1">
                <a:tableStyleId>{F5AB1C69-6EDB-4FF4-983F-18BD219EF322}</a:tableStyleId>
              </a:tblPr>
              <a:tblGrid>
                <a:gridCol w="744855"/>
                <a:gridCol w="744855"/>
                <a:gridCol w="744855"/>
                <a:gridCol w="744855"/>
                <a:gridCol w="744855"/>
                <a:gridCol w="744855"/>
                <a:gridCol w="744855"/>
              </a:tblGrid>
              <a:tr h="0">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Kaynak</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Oran</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Sentetik k</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Accuracy</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Precision</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Recall</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F1-Score</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Claude</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25%</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11,228</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0.9451</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0.9494</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0.9399</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0.9446</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Claude</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50%</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22,456</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0.9463</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0.9470</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0.9450</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0.9460</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Claude</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75%</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33,683</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0.9460</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0.9460</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0.9455</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0.9458</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GPT</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25%</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11,228</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0.9425</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0.9262</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0.9612</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0.9434</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GPT</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50%</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22,456</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0.9413</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0.9243</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0.9608</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0.9422</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GPT</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75%</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33,683</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0.9446</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0.9406</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a:solidFill>
                            <a:schemeClr val="tx1"/>
                          </a:solidFill>
                          <a:effectLst/>
                          <a:latin typeface="Times New Roman" panose="02020603050405020304" pitchFamily="18" charset="0"/>
                          <a:cs typeface="Times New Roman" panose="02020603050405020304" pitchFamily="18" charset="0"/>
                        </a:rPr>
                        <a:t>0.9486</a:t>
                      </a:r>
                      <a:endParaRPr lang="tr-TR" sz="1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Bef>
                          <a:spcPts val="1200"/>
                        </a:spcBef>
                        <a:spcAft>
                          <a:spcPts val="0"/>
                        </a:spcAft>
                      </a:pPr>
                      <a:r>
                        <a:rPr lang="en-US" sz="1200" b="1" dirty="0">
                          <a:solidFill>
                            <a:schemeClr val="tx1"/>
                          </a:solidFill>
                          <a:effectLst/>
                          <a:latin typeface="Times New Roman" panose="02020603050405020304" pitchFamily="18" charset="0"/>
                          <a:cs typeface="Times New Roman" panose="02020603050405020304" pitchFamily="18" charset="0"/>
                        </a:rPr>
                        <a:t>0.9446</a:t>
                      </a:r>
                      <a:endParaRPr lang="tr-TR" sz="1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14" name="Dikdörtgen 13"/>
          <p:cNvSpPr/>
          <p:nvPr/>
        </p:nvSpPr>
        <p:spPr>
          <a:xfrm>
            <a:off x="6826567" y="4987563"/>
            <a:ext cx="6096000" cy="584775"/>
          </a:xfrm>
          <a:prstGeom prst="rect">
            <a:avLst/>
          </a:prstGeom>
        </p:spPr>
        <p:txBody>
          <a:bodyPr>
            <a:spAutoFit/>
          </a:bodyPr>
          <a:lstStyle/>
          <a:p>
            <a:pPr algn="just"/>
            <a:r>
              <a:rPr lang="tr-TR" sz="1600" b="1" dirty="0">
                <a:solidFill>
                  <a:srgbClr val="C00000"/>
                </a:solidFill>
                <a:latin typeface="Times New Roman" panose="02020603050405020304" pitchFamily="18" charset="0"/>
                <a:cs typeface="Times New Roman" panose="02020603050405020304" pitchFamily="18" charset="0"/>
              </a:rPr>
              <a:t>Sentetik veri arttıkça performans </a:t>
            </a:r>
            <a:r>
              <a:rPr lang="tr-TR" sz="1600" b="1" dirty="0" smtClean="0">
                <a:solidFill>
                  <a:srgbClr val="C00000"/>
                </a:solidFill>
                <a:latin typeface="Times New Roman" panose="02020603050405020304" pitchFamily="18" charset="0"/>
                <a:cs typeface="Times New Roman" panose="02020603050405020304" pitchFamily="18" charset="0"/>
              </a:rPr>
              <a:t>çökmüyor</a:t>
            </a:r>
          </a:p>
          <a:p>
            <a:pPr marL="285750" indent="-285750" algn="just">
              <a:buFont typeface="Wingdings" panose="05000000000000000000" pitchFamily="2" charset="2"/>
              <a:buChar char="ü"/>
            </a:pPr>
            <a:r>
              <a:rPr lang="tr-TR" sz="1600" b="1" dirty="0" smtClean="0">
                <a:solidFill>
                  <a:srgbClr val="C00000"/>
                </a:solidFill>
                <a:latin typeface="Times New Roman" panose="02020603050405020304" pitchFamily="18" charset="0"/>
                <a:cs typeface="Times New Roman" panose="02020603050405020304" pitchFamily="18" charset="0"/>
              </a:rPr>
              <a:t>Bu </a:t>
            </a:r>
            <a:r>
              <a:rPr lang="tr-TR" sz="1600" b="1" dirty="0">
                <a:solidFill>
                  <a:srgbClr val="C00000"/>
                </a:solidFill>
                <a:latin typeface="Times New Roman" panose="02020603050405020304" pitchFamily="18" charset="0"/>
                <a:cs typeface="Times New Roman" panose="02020603050405020304" pitchFamily="18" charset="0"/>
              </a:rPr>
              <a:t>çok </a:t>
            </a:r>
            <a:r>
              <a:rPr lang="tr-TR" sz="1600" b="1" dirty="0" err="1">
                <a:solidFill>
                  <a:srgbClr val="C00000"/>
                </a:solidFill>
                <a:latin typeface="Times New Roman" panose="02020603050405020304" pitchFamily="18" charset="0"/>
                <a:cs typeface="Times New Roman" panose="02020603050405020304" pitchFamily="18" charset="0"/>
              </a:rPr>
              <a:t>önemli:Model</a:t>
            </a:r>
            <a:r>
              <a:rPr lang="tr-TR" sz="1600" b="1" dirty="0">
                <a:solidFill>
                  <a:srgbClr val="C00000"/>
                </a:solidFill>
                <a:latin typeface="Times New Roman" panose="02020603050405020304" pitchFamily="18" charset="0"/>
                <a:cs typeface="Times New Roman" panose="02020603050405020304" pitchFamily="18" charset="0"/>
              </a:rPr>
              <a:t> sentetik veriden “zarar görmüyor”</a:t>
            </a:r>
          </a:p>
        </p:txBody>
      </p:sp>
    </p:spTree>
    <p:extLst>
      <p:ext uri="{BB962C8B-B14F-4D97-AF65-F5344CB8AC3E}">
        <p14:creationId xmlns:p14="http://schemas.microsoft.com/office/powerpoint/2010/main" val="195716670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5755340" y="616593"/>
            <a:ext cx="4217536" cy="523220"/>
          </a:xfrm>
          <a:prstGeom prst="rect">
            <a:avLst/>
          </a:prstGeom>
          <a:noFill/>
        </p:spPr>
        <p:txBody>
          <a:bodyPr wrap="square" rtlCol="0">
            <a:spAutoFit/>
          </a:bodyPr>
          <a:lstStyle/>
          <a:p>
            <a:r>
              <a:rPr lang="tr-TR" sz="2800" b="1" dirty="0" smtClean="0">
                <a:solidFill>
                  <a:srgbClr val="C00000"/>
                </a:solidFill>
              </a:rPr>
              <a:t>«SONUÇ»</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226535" y="1409711"/>
            <a:ext cx="6483096" cy="3970318"/>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285750" indent="-2857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Bu çalışmada, LLM tabanlı sentetik veri artırmanın duygu analizi üzerindeki etkisi kapsamlı şekilde incelenmiştir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en-US" sz="1400" dirty="0">
                <a:solidFill>
                  <a:schemeClr val="tx1"/>
                </a:solidFill>
                <a:latin typeface="Times New Roman" panose="02020603050405020304" pitchFamily="18" charset="0"/>
                <a:cs typeface="Times New Roman" panose="02020603050405020304" pitchFamily="18" charset="0"/>
              </a:rPr>
              <a:t>Ham, </a:t>
            </a:r>
            <a:r>
              <a:rPr lang="en-US" sz="1400" dirty="0" err="1">
                <a:solidFill>
                  <a:schemeClr val="tx1"/>
                </a:solidFill>
                <a:latin typeface="Times New Roman" panose="02020603050405020304" pitchFamily="18" charset="0"/>
                <a:cs typeface="Times New Roman" panose="02020603050405020304" pitchFamily="18" charset="0"/>
              </a:rPr>
              <a:t>sentetik</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ve</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hibrit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veri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kümesi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yapılandırmaları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altında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altı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farklı</a:t>
            </a:r>
            <a:r>
              <a:rPr lang="en-US" sz="1400" dirty="0">
                <a:solidFill>
                  <a:schemeClr val="tx1"/>
                </a:solidFill>
                <a:latin typeface="Times New Roman" panose="02020603050405020304" pitchFamily="18" charset="0"/>
                <a:cs typeface="Times New Roman" panose="02020603050405020304" pitchFamily="18" charset="0"/>
              </a:rPr>
              <a:t> model </a:t>
            </a:r>
            <a:r>
              <a:rPr lang="en-US" sz="1400" dirty="0" err="1">
                <a:solidFill>
                  <a:schemeClr val="tx1"/>
                </a:solidFill>
                <a:latin typeface="Times New Roman" panose="02020603050405020304" pitchFamily="18" charset="0"/>
                <a:cs typeface="Times New Roman" panose="02020603050405020304" pitchFamily="18" charset="0"/>
              </a:rPr>
              <a:t>değerlendirilmiş</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performans</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metrikleri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hata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analizleri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kalibrasyon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eğrileri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istatistiksel</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doğrulama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testleri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ve</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sentetik</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veri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kalite</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analizleri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birlikte</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ele</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alınarak</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çok</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boyutlu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bir</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değerlendirme</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gerçekleştirilmiştir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sv-SE" sz="1400" dirty="0">
                <a:solidFill>
                  <a:schemeClr val="tx1"/>
                </a:solidFill>
                <a:latin typeface="Times New Roman" panose="02020603050405020304" pitchFamily="18" charset="0"/>
                <a:cs typeface="Times New Roman" panose="02020603050405020304" pitchFamily="18" charset="0"/>
              </a:rPr>
              <a:t>BERT tüm senaryolarda en yüksek ve en stabil performansı göstermiştir</a:t>
            </a:r>
            <a:r>
              <a:rPr lang="sv-SE" sz="1400" dirty="0" smtClean="0">
                <a:solidFill>
                  <a:schemeClr val="tx1"/>
                </a:solidFill>
                <a:latin typeface="Times New Roman" panose="02020603050405020304" pitchFamily="18" charset="0"/>
                <a:cs typeface="Times New Roman" panose="02020603050405020304" pitchFamily="18" charset="0"/>
              </a:rPr>
              <a:t>.</a:t>
            </a:r>
            <a:endParaRPr lang="tr-TR" sz="1400" dirty="0" smtClean="0">
              <a:solidFill>
                <a:schemeClr val="tx1"/>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Sadece sentetik veri ile eğitilen modellerde performans düşüşü gözlenmiştir.</a:t>
            </a:r>
            <a:br>
              <a:rPr lang="tr-TR" sz="1400" dirty="0">
                <a:solidFill>
                  <a:schemeClr val="tx1"/>
                </a:solidFill>
                <a:latin typeface="Times New Roman" panose="02020603050405020304" pitchFamily="18" charset="0"/>
                <a:cs typeface="Times New Roman" panose="02020603050405020304" pitchFamily="18" charset="0"/>
              </a:rPr>
            </a:br>
            <a:r>
              <a:rPr lang="tr-TR" sz="1400" dirty="0">
                <a:solidFill>
                  <a:schemeClr val="tx1"/>
                </a:solidFill>
                <a:latin typeface="Times New Roman" panose="02020603050405020304" pitchFamily="18" charset="0"/>
                <a:cs typeface="Times New Roman" panose="02020603050405020304" pitchFamily="18" charset="0"/>
              </a:rPr>
              <a:t>Bu düşüş özellikle </a:t>
            </a:r>
            <a:r>
              <a:rPr lang="tr-TR" sz="1400" dirty="0" err="1">
                <a:solidFill>
                  <a:schemeClr val="tx1"/>
                </a:solidFill>
                <a:latin typeface="Times New Roman" panose="02020603050405020304" pitchFamily="18" charset="0"/>
                <a:cs typeface="Times New Roman" panose="02020603050405020304" pitchFamily="18" charset="0"/>
              </a:rPr>
              <a:t>Recall</a:t>
            </a:r>
            <a:r>
              <a:rPr lang="tr-TR" sz="1400" dirty="0">
                <a:solidFill>
                  <a:schemeClr val="tx1"/>
                </a:solidFill>
                <a:latin typeface="Times New Roman" panose="02020603050405020304" pitchFamily="18" charset="0"/>
                <a:cs typeface="Times New Roman" panose="02020603050405020304" pitchFamily="18" charset="0"/>
              </a:rPr>
              <a:t> ve F1-score metriklerinde belirgindir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Ham + sentetik veri birlikte kullanıldığında</a:t>
            </a:r>
            <a:r>
              <a:rPr lang="tr-TR" sz="1400" dirty="0" smtClean="0">
                <a:solidFill>
                  <a:schemeClr val="tx1"/>
                </a:solidFill>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Model </a:t>
            </a:r>
            <a:r>
              <a:rPr lang="tr-TR" sz="1400" dirty="0">
                <a:solidFill>
                  <a:schemeClr val="tx1"/>
                </a:solidFill>
                <a:latin typeface="Times New Roman" panose="02020603050405020304" pitchFamily="18" charset="0"/>
                <a:cs typeface="Times New Roman" panose="02020603050405020304" pitchFamily="18" charset="0"/>
              </a:rPr>
              <a:t>kararlılığı </a:t>
            </a:r>
            <a:r>
              <a:rPr lang="tr-TR" sz="1400" dirty="0" smtClean="0">
                <a:solidFill>
                  <a:schemeClr val="tx1"/>
                </a:solidFill>
                <a:latin typeface="Times New Roman" panose="02020603050405020304" pitchFamily="18" charset="0"/>
                <a:cs typeface="Times New Roman" panose="02020603050405020304" pitchFamily="18" charset="0"/>
              </a:rPr>
              <a:t>korunmuştur</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Performans </a:t>
            </a:r>
            <a:r>
              <a:rPr lang="tr-TR" sz="1400" dirty="0">
                <a:solidFill>
                  <a:schemeClr val="tx1"/>
                </a:solidFill>
                <a:latin typeface="Times New Roman" panose="02020603050405020304" pitchFamily="18" charset="0"/>
                <a:cs typeface="Times New Roman" panose="02020603050405020304" pitchFamily="18" charset="0"/>
              </a:rPr>
              <a:t>ham veri ile eşdeğer veya daha iyi </a:t>
            </a:r>
            <a:r>
              <a:rPr lang="tr-TR" sz="1400" dirty="0" smtClean="0">
                <a:solidFill>
                  <a:schemeClr val="tx1"/>
                </a:solidFill>
                <a:latin typeface="Times New Roman" panose="02020603050405020304" pitchFamily="18" charset="0"/>
                <a:cs typeface="Times New Roman" panose="02020603050405020304" pitchFamily="18" charset="0"/>
              </a:rPr>
              <a:t>olmuştur</a:t>
            </a:r>
          </a:p>
        </p:txBody>
      </p:sp>
      <p:sp>
        <p:nvSpPr>
          <p:cNvPr id="13" name="Metin kutusu 12">
            <a:extLst>
              <a:ext uri="{FF2B5EF4-FFF2-40B4-BE49-F238E27FC236}">
                <a16:creationId xmlns="" xmlns:a16="http://schemas.microsoft.com/office/drawing/2014/main" id="{0F9AD185-E517-D44C-B1B6-92637C488647}"/>
              </a:ext>
            </a:extLst>
          </p:cNvPr>
          <p:cNvSpPr txBox="1"/>
          <p:nvPr/>
        </p:nvSpPr>
        <p:spPr>
          <a:xfrm>
            <a:off x="7363968" y="1409711"/>
            <a:ext cx="4525782" cy="3000821"/>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285750" indent="-2857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Sentetik verinin başarısı:</a:t>
            </a:r>
          </a:p>
          <a:p>
            <a:pPr marL="742950" lvl="1" indent="-2857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Etiket doğruluğuna</a:t>
            </a:r>
          </a:p>
          <a:p>
            <a:pPr marL="742950" lvl="1" indent="-285750" algn="just">
              <a:lnSpc>
                <a:spcPct val="150000"/>
              </a:lnSpc>
              <a:buFont typeface="Wingdings" panose="05000000000000000000" pitchFamily="2" charset="2"/>
              <a:buChar char="Ø"/>
            </a:pPr>
            <a:r>
              <a:rPr lang="tr-TR" sz="1400" dirty="0">
                <a:solidFill>
                  <a:schemeClr val="tx1"/>
                </a:solidFill>
                <a:latin typeface="Times New Roman" panose="02020603050405020304" pitchFamily="18" charset="0"/>
                <a:cs typeface="Times New Roman" panose="02020603050405020304" pitchFamily="18" charset="0"/>
              </a:rPr>
              <a:t>Semantik uyuma bağlıdır</a:t>
            </a:r>
          </a:p>
          <a:p>
            <a:pPr marL="285750" indent="-2857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 </a:t>
            </a:r>
            <a:r>
              <a:rPr lang="tr-TR" sz="1400" dirty="0" err="1">
                <a:solidFill>
                  <a:schemeClr val="tx1"/>
                </a:solidFill>
                <a:latin typeface="Times New Roman" panose="02020603050405020304" pitchFamily="18" charset="0"/>
                <a:cs typeface="Times New Roman" panose="02020603050405020304" pitchFamily="18" charset="0"/>
              </a:rPr>
              <a:t>Claude</a:t>
            </a:r>
            <a:r>
              <a:rPr lang="tr-TR" sz="1400" dirty="0">
                <a:solidFill>
                  <a:schemeClr val="tx1"/>
                </a:solidFill>
                <a:latin typeface="Times New Roman" panose="02020603050405020304" pitchFamily="18" charset="0"/>
                <a:cs typeface="Times New Roman" panose="02020603050405020304" pitchFamily="18" charset="0"/>
              </a:rPr>
              <a:t> &gt; GPT (daha kaliteli üretim</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Sentetik </a:t>
            </a:r>
            <a:r>
              <a:rPr lang="tr-TR" sz="1400" dirty="0">
                <a:solidFill>
                  <a:schemeClr val="tx1"/>
                </a:solidFill>
                <a:latin typeface="Times New Roman" panose="02020603050405020304" pitchFamily="18" charset="0"/>
                <a:cs typeface="Times New Roman" panose="02020603050405020304" pitchFamily="18" charset="0"/>
              </a:rPr>
              <a:t>veri arttıkça performans </a:t>
            </a:r>
            <a:r>
              <a:rPr lang="tr-TR" sz="1400" dirty="0" smtClean="0">
                <a:solidFill>
                  <a:schemeClr val="tx1"/>
                </a:solidFill>
                <a:latin typeface="Times New Roman" panose="02020603050405020304" pitchFamily="18" charset="0"/>
                <a:cs typeface="Times New Roman" panose="02020603050405020304" pitchFamily="18" charset="0"/>
              </a:rPr>
              <a:t>çökmez ancak </a:t>
            </a:r>
            <a:r>
              <a:rPr lang="tr-TR" sz="1400" dirty="0">
                <a:solidFill>
                  <a:schemeClr val="tx1"/>
                </a:solidFill>
                <a:latin typeface="Times New Roman" panose="02020603050405020304" pitchFamily="18" charset="0"/>
                <a:cs typeface="Times New Roman" panose="02020603050405020304" pitchFamily="18" charset="0"/>
              </a:rPr>
              <a:t>belirli bir noktadan sonra katkı doygunluğa </a:t>
            </a:r>
            <a:r>
              <a:rPr lang="tr-TR" sz="1400" dirty="0" smtClean="0">
                <a:solidFill>
                  <a:schemeClr val="tx1"/>
                </a:solidFill>
                <a:latin typeface="Times New Roman" panose="02020603050405020304" pitchFamily="18" charset="0"/>
                <a:cs typeface="Times New Roman" panose="02020603050405020304" pitchFamily="18" charset="0"/>
              </a:rPr>
              <a:t>ulaşır.</a:t>
            </a:r>
          </a:p>
          <a:p>
            <a:pPr marL="285750" indent="-2857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Sentetik veri, tek başına bir alternatif </a:t>
            </a:r>
            <a:r>
              <a:rPr lang="tr-TR" sz="1400" dirty="0" err="1">
                <a:solidFill>
                  <a:schemeClr val="tx1"/>
                </a:solidFill>
                <a:latin typeface="Times New Roman" panose="02020603050405020304" pitchFamily="18" charset="0"/>
                <a:cs typeface="Times New Roman" panose="02020603050405020304" pitchFamily="18" charset="0"/>
              </a:rPr>
              <a:t>değil,gerçek</a:t>
            </a:r>
            <a:r>
              <a:rPr lang="tr-TR" sz="1400" dirty="0">
                <a:solidFill>
                  <a:schemeClr val="tx1"/>
                </a:solidFill>
                <a:latin typeface="Times New Roman" panose="02020603050405020304" pitchFamily="18" charset="0"/>
                <a:cs typeface="Times New Roman" panose="02020603050405020304" pitchFamily="18" charset="0"/>
              </a:rPr>
              <a:t> veri ile birlikte kullanıldığında etkili bir tamamlayıcıdır.</a:t>
            </a:r>
          </a:p>
          <a:p>
            <a:pPr algn="just">
              <a:lnSpc>
                <a:spcPct val="150000"/>
              </a:lnSpc>
            </a:pPr>
            <a:endParaRPr lang="tr-TR" sz="1400" dirty="0">
              <a:solidFill>
                <a:schemeClr val="tx1"/>
              </a:solidFill>
              <a:latin typeface="Times New Roman" panose="02020603050405020304" pitchFamily="18" charset="0"/>
              <a:cs typeface="Times New Roman" panose="02020603050405020304" pitchFamily="18" charset="0"/>
            </a:endParaRPr>
          </a:p>
        </p:txBody>
      </p:sp>
      <p:sp>
        <p:nvSpPr>
          <p:cNvPr id="14" name="Yuvarlatılmış Dikdörtgen 13"/>
          <p:cNvSpPr/>
          <p:nvPr/>
        </p:nvSpPr>
        <p:spPr>
          <a:xfrm>
            <a:off x="7212843" y="4874715"/>
            <a:ext cx="4828032" cy="159011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r>
              <a:rPr lang="tr-TR" sz="1400" b="1" dirty="0">
                <a:latin typeface="Times New Roman" panose="02020603050405020304" pitchFamily="18" charset="0"/>
                <a:cs typeface="Times New Roman" panose="02020603050405020304" pitchFamily="18" charset="0"/>
              </a:rPr>
              <a:t>LLM tabanlı </a:t>
            </a:r>
            <a:r>
              <a:rPr lang="tr-TR" sz="1400" b="1" dirty="0" smtClean="0">
                <a:latin typeface="Times New Roman" panose="02020603050405020304" pitchFamily="18" charset="0"/>
                <a:cs typeface="Times New Roman" panose="02020603050405020304" pitchFamily="18" charset="0"/>
              </a:rPr>
              <a:t>veri artırma </a:t>
            </a:r>
            <a:r>
              <a:rPr lang="tr-TR" sz="1400" b="1" dirty="0">
                <a:latin typeface="Times New Roman" panose="02020603050405020304" pitchFamily="18" charset="0"/>
                <a:cs typeface="Times New Roman" panose="02020603050405020304" pitchFamily="18" charset="0"/>
              </a:rPr>
              <a:t>yaklaşımlarının düşük kaynaklı diller için önemli bir potansiyel taşıdığını deneysel ve istatistiksel kanıtlarla ortaya koymaktadır. </a:t>
            </a:r>
          </a:p>
        </p:txBody>
      </p:sp>
    </p:spTree>
    <p:extLst>
      <p:ext uri="{BB962C8B-B14F-4D97-AF65-F5344CB8AC3E}">
        <p14:creationId xmlns:p14="http://schemas.microsoft.com/office/powerpoint/2010/main" val="336999988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 xmlns:a16="http://schemas.microsoft.com/office/drawing/2014/main" id="{79DCCC49-7637-6546-94B4-C2C7EBB13320}"/>
              </a:ext>
            </a:extLst>
          </p:cNvPr>
          <p:cNvSpPr/>
          <p:nvPr/>
        </p:nvSpPr>
        <p:spPr>
          <a:xfrm>
            <a:off x="656216" y="2507580"/>
            <a:ext cx="6096000" cy="369332"/>
          </a:xfrm>
          <a:prstGeom prst="rect">
            <a:avLst/>
          </a:prstGeom>
        </p:spPr>
        <p:txBody>
          <a:bodyPr>
            <a:spAutoFit/>
          </a:bodyPr>
          <a:lstStyle/>
          <a:p>
            <a:endParaRPr lang="tr-TR" dirty="0" smtClean="0"/>
          </a:p>
        </p:txBody>
      </p:sp>
      <p:sp>
        <p:nvSpPr>
          <p:cNvPr id="3" name="Metin kutusu 2">
            <a:extLst>
              <a:ext uri="{FF2B5EF4-FFF2-40B4-BE49-F238E27FC236}">
                <a16:creationId xmlns="" xmlns:a16="http://schemas.microsoft.com/office/drawing/2014/main" id="{0F9AD185-E517-D44C-B1B6-92637C488647}"/>
              </a:ext>
            </a:extLst>
          </p:cNvPr>
          <p:cNvSpPr txBox="1"/>
          <p:nvPr/>
        </p:nvSpPr>
        <p:spPr>
          <a:xfrm>
            <a:off x="4643448" y="267012"/>
            <a:ext cx="4217536" cy="523220"/>
          </a:xfrm>
          <a:prstGeom prst="rect">
            <a:avLst/>
          </a:prstGeom>
          <a:noFill/>
        </p:spPr>
        <p:txBody>
          <a:bodyPr wrap="square" rtlCol="0">
            <a:spAutoFit/>
          </a:bodyPr>
          <a:lstStyle/>
          <a:p>
            <a:r>
              <a:rPr lang="tr-TR" sz="2800" b="1" dirty="0" smtClean="0">
                <a:solidFill>
                  <a:srgbClr val="C00000"/>
                </a:solidFill>
              </a:rPr>
              <a:t>«Gelecek Çalışmalar»</a:t>
            </a:r>
            <a:endParaRPr lang="tr-TR" sz="2800" b="1" dirty="0">
              <a:solidFill>
                <a:srgbClr val="C00000"/>
              </a:solidFill>
            </a:endParaRPr>
          </a:p>
        </p:txBody>
      </p:sp>
      <p:pic>
        <p:nvPicPr>
          <p:cNvPr id="5" name="Resim 4">
            <a:extLst>
              <a:ext uri="{FF2B5EF4-FFF2-40B4-BE49-F238E27FC236}">
                <a16:creationId xmlns="" xmlns:a16="http://schemas.microsoft.com/office/drawing/2014/main" id="{EBB840E5-C94E-3E40-9A26-4CD01291ED22}"/>
              </a:ext>
            </a:extLst>
          </p:cNvPr>
          <p:cNvPicPr>
            <a:picLocks noChangeAspect="1"/>
          </p:cNvPicPr>
          <p:nvPr/>
        </p:nvPicPr>
        <p:blipFill>
          <a:blip r:embed="rId3"/>
          <a:stretch>
            <a:fillRect/>
          </a:stretch>
        </p:blipFill>
        <p:spPr>
          <a:xfrm>
            <a:off x="7171" y="6400800"/>
            <a:ext cx="5748169" cy="457200"/>
          </a:xfrm>
          <a:prstGeom prst="rect">
            <a:avLst/>
          </a:prstGeom>
          <a:noFill/>
          <a:ln>
            <a:noFill/>
          </a:ln>
        </p:spPr>
      </p:pic>
      <p:sp>
        <p:nvSpPr>
          <p:cNvPr id="11" name="Dikdörtgen 10">
            <a:extLst>
              <a:ext uri="{FF2B5EF4-FFF2-40B4-BE49-F238E27FC236}">
                <a16:creationId xmlns="" xmlns:a16="http://schemas.microsoft.com/office/drawing/2014/main" id="{E1983A1D-C393-6A4F-87DC-B4A9138242F0}"/>
              </a:ext>
            </a:extLst>
          </p:cNvPr>
          <p:cNvSpPr/>
          <p:nvPr/>
        </p:nvSpPr>
        <p:spPr>
          <a:xfrm>
            <a:off x="7171" y="6611814"/>
            <a:ext cx="12184829" cy="246185"/>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2" name="Resim 11">
            <a:extLst>
              <a:ext uri="{FF2B5EF4-FFF2-40B4-BE49-F238E27FC236}">
                <a16:creationId xmlns="" xmlns:a16="http://schemas.microsoft.com/office/drawing/2014/main" id="{34C12792-B8D6-A74B-B6F9-8AE21F685070}"/>
              </a:ext>
            </a:extLst>
          </p:cNvPr>
          <p:cNvPicPr>
            <a:picLocks noChangeAspect="1"/>
          </p:cNvPicPr>
          <p:nvPr/>
        </p:nvPicPr>
        <p:blipFill>
          <a:blip r:embed="rId4"/>
          <a:stretch>
            <a:fillRect/>
          </a:stretch>
        </p:blipFill>
        <p:spPr>
          <a:xfrm>
            <a:off x="226535" y="192517"/>
            <a:ext cx="1504504" cy="840217"/>
          </a:xfrm>
          <a:prstGeom prst="rect">
            <a:avLst/>
          </a:prstGeom>
        </p:spPr>
      </p:pic>
      <p:sp>
        <p:nvSpPr>
          <p:cNvPr id="7" name="Metin kutusu 6">
            <a:extLst>
              <a:ext uri="{FF2B5EF4-FFF2-40B4-BE49-F238E27FC236}">
                <a16:creationId xmlns="" xmlns:a16="http://schemas.microsoft.com/office/drawing/2014/main" id="{0F9AD185-E517-D44C-B1B6-92637C488647}"/>
              </a:ext>
            </a:extLst>
          </p:cNvPr>
          <p:cNvSpPr txBox="1"/>
          <p:nvPr/>
        </p:nvSpPr>
        <p:spPr>
          <a:xfrm>
            <a:off x="86735" y="1067856"/>
            <a:ext cx="4738657" cy="2723823"/>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285750" indent="-285750" algn="ctr">
              <a:lnSpc>
                <a:spcPct val="150000"/>
              </a:lnSpc>
              <a:buFont typeface="Wingdings" panose="05000000000000000000" pitchFamily="2" charset="2"/>
              <a:buChar char="§"/>
            </a:pPr>
            <a:r>
              <a:rPr lang="tr-TR" sz="1600" b="1" u="sng" dirty="0" smtClean="0">
                <a:solidFill>
                  <a:srgbClr val="C00000"/>
                </a:solidFill>
                <a:latin typeface="Times New Roman" panose="02020603050405020304" pitchFamily="18" charset="0"/>
                <a:cs typeface="Times New Roman" panose="02020603050405020304" pitchFamily="18" charset="0"/>
              </a:rPr>
              <a:t>Farklı Üretim Stratejileri</a:t>
            </a:r>
          </a:p>
          <a:p>
            <a:pPr marL="285750"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Bu </a:t>
            </a:r>
            <a:r>
              <a:rPr lang="tr-TR" sz="1400" dirty="0">
                <a:solidFill>
                  <a:schemeClr val="tx1"/>
                </a:solidFill>
                <a:latin typeface="Times New Roman" panose="02020603050405020304" pitchFamily="18" charset="0"/>
                <a:cs typeface="Times New Roman" panose="02020603050405020304" pitchFamily="18" charset="0"/>
              </a:rPr>
              <a:t>çalışmada sentetik veri üretimi </a:t>
            </a:r>
            <a:r>
              <a:rPr lang="tr-TR" sz="1400" dirty="0" err="1">
                <a:solidFill>
                  <a:schemeClr val="tx1"/>
                </a:solidFill>
                <a:latin typeface="Times New Roman" panose="02020603050405020304" pitchFamily="18" charset="0"/>
                <a:cs typeface="Times New Roman" panose="02020603050405020304" pitchFamily="18" charset="0"/>
              </a:rPr>
              <a:t>zero-shot</a:t>
            </a:r>
            <a:r>
              <a:rPr lang="tr-TR" sz="1400" dirty="0">
                <a:solidFill>
                  <a:schemeClr val="tx1"/>
                </a:solidFill>
                <a:latin typeface="Times New Roman" panose="02020603050405020304" pitchFamily="18" charset="0"/>
                <a:cs typeface="Times New Roman" panose="02020603050405020304" pitchFamily="18" charset="0"/>
              </a:rPr>
              <a:t> yaklaşımı ile gerçekleştirilmiştir</a:t>
            </a:r>
            <a:r>
              <a:rPr lang="tr-TR" sz="1400" dirty="0" smtClean="0">
                <a:solidFill>
                  <a:schemeClr val="tx1"/>
                </a:solidFill>
                <a:latin typeface="Times New Roman" panose="02020603050405020304" pitchFamily="18" charset="0"/>
                <a:cs typeface="Times New Roman" panose="02020603050405020304" pitchFamily="18" charset="0"/>
              </a:rPr>
              <a:t>. Gelecek çalışmalarda : </a:t>
            </a:r>
          </a:p>
          <a:p>
            <a:pPr marL="742950" lvl="1"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few-shot</a:t>
            </a:r>
            <a:endParaRPr lang="tr-TR" sz="1400" dirty="0">
              <a:solidFill>
                <a:schemeClr val="tx1"/>
              </a:solidFill>
              <a:latin typeface="Times New Roman" panose="02020603050405020304" pitchFamily="18" charset="0"/>
              <a:cs typeface="Times New Roman" panose="02020603050405020304" pitchFamily="18" charset="0"/>
            </a:endParaRPr>
          </a:p>
          <a:p>
            <a:pPr marL="742950" lvl="1"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instruction</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err="1" smtClean="0">
                <a:solidFill>
                  <a:schemeClr val="tx1"/>
                </a:solidFill>
                <a:latin typeface="Times New Roman" panose="02020603050405020304" pitchFamily="18" charset="0"/>
                <a:cs typeface="Times New Roman" panose="02020603050405020304" pitchFamily="18" charset="0"/>
              </a:rPr>
              <a:t>tuning</a:t>
            </a:r>
            <a:endParaRPr lang="tr-TR" sz="1400" dirty="0" smtClean="0">
              <a:solidFill>
                <a:schemeClr val="tx1"/>
              </a:solidFill>
              <a:latin typeface="Times New Roman" panose="02020603050405020304" pitchFamily="18" charset="0"/>
              <a:cs typeface="Times New Roman" panose="02020603050405020304" pitchFamily="18" charset="0"/>
            </a:endParaRPr>
          </a:p>
          <a:p>
            <a:pPr marL="742950" lvl="1"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chain</a:t>
            </a:r>
            <a:r>
              <a:rPr lang="tr-TR" sz="1400" dirty="0" smtClean="0">
                <a:solidFill>
                  <a:schemeClr val="tx1"/>
                </a:solidFill>
                <a:latin typeface="Times New Roman" panose="02020603050405020304" pitchFamily="18" charset="0"/>
                <a:cs typeface="Times New Roman" panose="02020603050405020304" pitchFamily="18" charset="0"/>
              </a:rPr>
              <a:t>-of-</a:t>
            </a:r>
            <a:r>
              <a:rPr lang="tr-TR" sz="1400" dirty="0" err="1" smtClean="0">
                <a:solidFill>
                  <a:schemeClr val="tx1"/>
                </a:solidFill>
                <a:latin typeface="Times New Roman" panose="02020603050405020304" pitchFamily="18" charset="0"/>
                <a:cs typeface="Times New Roman" panose="02020603050405020304" pitchFamily="18" charset="0"/>
              </a:rPr>
              <a:t>thought</a:t>
            </a:r>
            <a:r>
              <a:rPr lang="tr-TR" sz="1400" dirty="0" smtClean="0">
                <a:solidFill>
                  <a:schemeClr val="tx1"/>
                </a:solidFill>
                <a:latin typeface="Times New Roman" panose="02020603050405020304" pitchFamily="18" charset="0"/>
                <a:cs typeface="Times New Roman" panose="02020603050405020304" pitchFamily="18" charset="0"/>
              </a:rPr>
              <a:t> gibi daha </a:t>
            </a:r>
            <a:r>
              <a:rPr lang="tr-TR" sz="1400" dirty="0">
                <a:solidFill>
                  <a:schemeClr val="tx1"/>
                </a:solidFill>
                <a:latin typeface="Times New Roman" panose="02020603050405020304" pitchFamily="18" charset="0"/>
                <a:cs typeface="Times New Roman" panose="02020603050405020304" pitchFamily="18" charset="0"/>
              </a:rPr>
              <a:t>gelişmiş yöntemler denenebilir</a:t>
            </a:r>
            <a:r>
              <a:rPr lang="tr-TR" sz="1400" dirty="0" smtClean="0">
                <a:solidFill>
                  <a:schemeClr val="tx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Amaç: Daha </a:t>
            </a:r>
            <a:r>
              <a:rPr lang="tr-TR" sz="1400" dirty="0">
                <a:solidFill>
                  <a:schemeClr val="tx1"/>
                </a:solidFill>
                <a:latin typeface="Times New Roman" panose="02020603050405020304" pitchFamily="18" charset="0"/>
                <a:cs typeface="Times New Roman" panose="02020603050405020304" pitchFamily="18" charset="0"/>
              </a:rPr>
              <a:t>doğru ve daha tutarlı sentetik veri üretmek</a:t>
            </a:r>
            <a:endParaRPr lang="tr-TR" sz="1400" dirty="0" smtClean="0">
              <a:solidFill>
                <a:schemeClr val="tx1"/>
              </a:solidFill>
              <a:latin typeface="Times New Roman" panose="02020603050405020304" pitchFamily="18" charset="0"/>
              <a:cs typeface="Times New Roman" panose="02020603050405020304" pitchFamily="18" charset="0"/>
            </a:endParaRPr>
          </a:p>
        </p:txBody>
      </p:sp>
      <p:sp>
        <p:nvSpPr>
          <p:cNvPr id="10" name="Metin kutusu 9">
            <a:extLst>
              <a:ext uri="{FF2B5EF4-FFF2-40B4-BE49-F238E27FC236}">
                <a16:creationId xmlns="" xmlns:a16="http://schemas.microsoft.com/office/drawing/2014/main" id="{0F9AD185-E517-D44C-B1B6-92637C488647}"/>
              </a:ext>
            </a:extLst>
          </p:cNvPr>
          <p:cNvSpPr txBox="1"/>
          <p:nvPr/>
        </p:nvSpPr>
        <p:spPr>
          <a:xfrm>
            <a:off x="4910018" y="997199"/>
            <a:ext cx="3506947" cy="3046988"/>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285750" indent="-285750" algn="ctr">
              <a:lnSpc>
                <a:spcPct val="150000"/>
              </a:lnSpc>
              <a:buFont typeface="Wingdings" panose="05000000000000000000" pitchFamily="2" charset="2"/>
              <a:buChar char="§"/>
            </a:pPr>
            <a:r>
              <a:rPr lang="tr-TR" sz="1600" b="1" u="sng" dirty="0">
                <a:solidFill>
                  <a:srgbClr val="C00000"/>
                </a:solidFill>
                <a:latin typeface="Times New Roman" panose="02020603050405020304" pitchFamily="18" charset="0"/>
                <a:cs typeface="Times New Roman" panose="02020603050405020304" pitchFamily="18" charset="0"/>
              </a:rPr>
              <a:t>Veri </a:t>
            </a:r>
            <a:r>
              <a:rPr lang="tr-TR" sz="1600" b="1" u="sng" dirty="0" smtClean="0">
                <a:solidFill>
                  <a:srgbClr val="C00000"/>
                </a:solidFill>
                <a:latin typeface="Times New Roman" panose="02020603050405020304" pitchFamily="18" charset="0"/>
                <a:cs typeface="Times New Roman" panose="02020603050405020304" pitchFamily="18" charset="0"/>
              </a:rPr>
              <a:t>Kalitesi </a:t>
            </a:r>
            <a:r>
              <a:rPr lang="tr-TR" sz="1600" b="1" u="sng" dirty="0">
                <a:solidFill>
                  <a:srgbClr val="C00000"/>
                </a:solidFill>
                <a:latin typeface="Times New Roman" panose="02020603050405020304" pitchFamily="18" charset="0"/>
                <a:cs typeface="Times New Roman" panose="02020603050405020304" pitchFamily="18" charset="0"/>
              </a:rPr>
              <a:t>İ</a:t>
            </a:r>
            <a:r>
              <a:rPr lang="tr-TR" sz="1600" b="1" u="sng" dirty="0" smtClean="0">
                <a:solidFill>
                  <a:srgbClr val="C00000"/>
                </a:solidFill>
                <a:latin typeface="Times New Roman" panose="02020603050405020304" pitchFamily="18" charset="0"/>
                <a:cs typeface="Times New Roman" panose="02020603050405020304" pitchFamily="18" charset="0"/>
              </a:rPr>
              <a:t>yileştirme</a:t>
            </a:r>
          </a:p>
          <a:p>
            <a:pPr marL="285750"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Sentetik </a:t>
            </a:r>
            <a:r>
              <a:rPr lang="tr-TR" sz="1400" dirty="0">
                <a:solidFill>
                  <a:schemeClr val="tx1"/>
                </a:solidFill>
                <a:latin typeface="Times New Roman" panose="02020603050405020304" pitchFamily="18" charset="0"/>
                <a:cs typeface="Times New Roman" panose="02020603050405020304" pitchFamily="18" charset="0"/>
              </a:rPr>
              <a:t>verinin en büyük problemi gürültüdür</a:t>
            </a:r>
            <a:r>
              <a:rPr lang="tr-TR" sz="1400" dirty="0" smtClean="0">
                <a:solidFill>
                  <a:schemeClr val="tx1"/>
                </a:solidFill>
                <a:latin typeface="Times New Roman" panose="02020603050405020304" pitchFamily="18" charset="0"/>
                <a:cs typeface="Times New Roman" panose="02020603050405020304" pitchFamily="18" charset="0"/>
              </a:rPr>
              <a:t>. </a:t>
            </a:r>
          </a:p>
          <a:p>
            <a:pPr marL="285750"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Bu </a:t>
            </a:r>
            <a:r>
              <a:rPr lang="tr-TR" sz="1400" dirty="0">
                <a:solidFill>
                  <a:schemeClr val="tx1"/>
                </a:solidFill>
                <a:latin typeface="Times New Roman" panose="02020603050405020304" pitchFamily="18" charset="0"/>
                <a:cs typeface="Times New Roman" panose="02020603050405020304" pitchFamily="18" charset="0"/>
              </a:rPr>
              <a:t>nedenle</a:t>
            </a:r>
            <a:r>
              <a:rPr lang="tr-TR" sz="1400" dirty="0" smtClean="0">
                <a:solidFill>
                  <a:schemeClr val="tx1"/>
                </a:solidFill>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düşük </a:t>
            </a:r>
            <a:r>
              <a:rPr lang="tr-TR" sz="1400" dirty="0">
                <a:solidFill>
                  <a:schemeClr val="tx1"/>
                </a:solidFill>
                <a:latin typeface="Times New Roman" panose="02020603050405020304" pitchFamily="18" charset="0"/>
                <a:cs typeface="Times New Roman" panose="02020603050405020304" pitchFamily="18" charset="0"/>
              </a:rPr>
              <a:t>kaliteli örneklerin </a:t>
            </a:r>
            <a:r>
              <a:rPr lang="tr-TR" sz="1400" dirty="0" smtClean="0">
                <a:solidFill>
                  <a:schemeClr val="tx1"/>
                </a:solidFill>
                <a:latin typeface="Times New Roman" panose="02020603050405020304" pitchFamily="18" charset="0"/>
                <a:cs typeface="Times New Roman" panose="02020603050405020304" pitchFamily="18" charset="0"/>
              </a:rPr>
              <a:t>filtrelenmesi</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güven </a:t>
            </a:r>
            <a:r>
              <a:rPr lang="tr-TR" sz="1400" dirty="0">
                <a:solidFill>
                  <a:schemeClr val="tx1"/>
                </a:solidFill>
                <a:latin typeface="Times New Roman" panose="02020603050405020304" pitchFamily="18" charset="0"/>
                <a:cs typeface="Times New Roman" panose="02020603050405020304" pitchFamily="18" charset="0"/>
              </a:rPr>
              <a:t>skoruna göre </a:t>
            </a:r>
            <a:r>
              <a:rPr lang="tr-TR" sz="1400" dirty="0" smtClean="0">
                <a:solidFill>
                  <a:schemeClr val="tx1"/>
                </a:solidFill>
                <a:latin typeface="Times New Roman" panose="02020603050405020304" pitchFamily="18" charset="0"/>
                <a:cs typeface="Times New Roman" panose="02020603050405020304" pitchFamily="18" charset="0"/>
              </a:rPr>
              <a:t>eleme</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semantik </a:t>
            </a:r>
            <a:r>
              <a:rPr lang="tr-TR" sz="1400" dirty="0">
                <a:solidFill>
                  <a:schemeClr val="tx1"/>
                </a:solidFill>
                <a:latin typeface="Times New Roman" panose="02020603050405020304" pitchFamily="18" charset="0"/>
                <a:cs typeface="Times New Roman" panose="02020603050405020304" pitchFamily="18" charset="0"/>
              </a:rPr>
              <a:t>benzerlik </a:t>
            </a:r>
            <a:r>
              <a:rPr lang="tr-TR" sz="1400" dirty="0" err="1" smtClean="0">
                <a:solidFill>
                  <a:schemeClr val="tx1"/>
                </a:solidFill>
                <a:latin typeface="Times New Roman" panose="02020603050405020304" pitchFamily="18" charset="0"/>
                <a:cs typeface="Times New Roman" panose="02020603050405020304" pitchFamily="18" charset="0"/>
              </a:rPr>
              <a:t>eşikleme</a:t>
            </a:r>
            <a:r>
              <a:rPr lang="tr-TR" sz="1400" dirty="0" smtClean="0">
                <a:solidFill>
                  <a:schemeClr val="tx1"/>
                </a:solidFill>
                <a:latin typeface="Times New Roman" panose="02020603050405020304" pitchFamily="18" charset="0"/>
                <a:cs typeface="Times New Roman" panose="02020603050405020304" pitchFamily="18" charset="0"/>
              </a:rPr>
              <a:t> gibi </a:t>
            </a:r>
            <a:r>
              <a:rPr lang="tr-TR" sz="1400" dirty="0">
                <a:solidFill>
                  <a:schemeClr val="tx1"/>
                </a:solidFill>
                <a:latin typeface="Times New Roman" panose="02020603050405020304" pitchFamily="18" charset="0"/>
                <a:cs typeface="Times New Roman" panose="02020603050405020304" pitchFamily="18" charset="0"/>
              </a:rPr>
              <a:t>yöntemler geliştirilebilir</a:t>
            </a:r>
            <a:endParaRPr lang="tr-TR" sz="1400" dirty="0" smtClean="0">
              <a:solidFill>
                <a:schemeClr val="tx1"/>
              </a:solidFill>
              <a:latin typeface="Times New Roman" panose="02020603050405020304" pitchFamily="18" charset="0"/>
              <a:cs typeface="Times New Roman" panose="02020603050405020304" pitchFamily="18" charset="0"/>
            </a:endParaRPr>
          </a:p>
        </p:txBody>
      </p:sp>
      <p:sp>
        <p:nvSpPr>
          <p:cNvPr id="16" name="Metin kutusu 15">
            <a:extLst>
              <a:ext uri="{FF2B5EF4-FFF2-40B4-BE49-F238E27FC236}">
                <a16:creationId xmlns="" xmlns:a16="http://schemas.microsoft.com/office/drawing/2014/main" id="{0F9AD185-E517-D44C-B1B6-92637C488647}"/>
              </a:ext>
            </a:extLst>
          </p:cNvPr>
          <p:cNvSpPr txBox="1"/>
          <p:nvPr/>
        </p:nvSpPr>
        <p:spPr>
          <a:xfrm>
            <a:off x="4699214" y="4182947"/>
            <a:ext cx="3717751" cy="2400657"/>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285750" indent="-285750" algn="ctr">
              <a:lnSpc>
                <a:spcPct val="150000"/>
              </a:lnSpc>
              <a:buFont typeface="Wingdings" panose="05000000000000000000" pitchFamily="2" charset="2"/>
              <a:buChar char="§"/>
            </a:pPr>
            <a:r>
              <a:rPr lang="tr-TR" sz="1600" b="1" u="sng" dirty="0">
                <a:solidFill>
                  <a:srgbClr val="C00000"/>
                </a:solidFill>
                <a:latin typeface="Times New Roman" panose="02020603050405020304" pitchFamily="18" charset="0"/>
                <a:cs typeface="Times New Roman" panose="02020603050405020304" pitchFamily="18" charset="0"/>
              </a:rPr>
              <a:t>Model </a:t>
            </a:r>
            <a:r>
              <a:rPr lang="tr-TR" sz="1600" b="1" u="sng" dirty="0" smtClean="0">
                <a:solidFill>
                  <a:srgbClr val="C00000"/>
                </a:solidFill>
                <a:latin typeface="Times New Roman" panose="02020603050405020304" pitchFamily="18" charset="0"/>
                <a:cs typeface="Times New Roman" panose="02020603050405020304" pitchFamily="18" charset="0"/>
              </a:rPr>
              <a:t>Tarafında </a:t>
            </a:r>
            <a:r>
              <a:rPr lang="tr-TR" sz="1600" b="1" u="sng" dirty="0">
                <a:solidFill>
                  <a:srgbClr val="C00000"/>
                </a:solidFill>
                <a:latin typeface="Times New Roman" panose="02020603050405020304" pitchFamily="18" charset="0"/>
                <a:cs typeface="Times New Roman" panose="02020603050405020304" pitchFamily="18" charset="0"/>
              </a:rPr>
              <a:t>G</a:t>
            </a:r>
            <a:r>
              <a:rPr lang="tr-TR" sz="1600" b="1" u="sng" dirty="0" smtClean="0">
                <a:solidFill>
                  <a:srgbClr val="C00000"/>
                </a:solidFill>
                <a:latin typeface="Times New Roman" panose="02020603050405020304" pitchFamily="18" charset="0"/>
                <a:cs typeface="Times New Roman" panose="02020603050405020304" pitchFamily="18" charset="0"/>
              </a:rPr>
              <a:t>enişleme</a:t>
            </a:r>
          </a:p>
          <a:p>
            <a:pPr marL="285750" indent="-2857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Bu çalışmada BERT kullanılmıştır</a:t>
            </a:r>
            <a:r>
              <a:rPr lang="tr-TR" sz="1400" dirty="0" smtClean="0">
                <a:solidFill>
                  <a:schemeClr val="tx1"/>
                </a:solidFill>
                <a:latin typeface="Times New Roman" panose="02020603050405020304" pitchFamily="18" charset="0"/>
                <a:cs typeface="Times New Roman" panose="02020603050405020304" pitchFamily="18" charset="0"/>
              </a:rPr>
              <a:t>. Ancak </a:t>
            </a:r>
            <a:r>
              <a:rPr lang="tr-TR" sz="1400" dirty="0">
                <a:solidFill>
                  <a:schemeClr val="tx1"/>
                </a:solidFill>
                <a:latin typeface="Times New Roman" panose="02020603050405020304" pitchFamily="18" charset="0"/>
                <a:cs typeface="Times New Roman" panose="02020603050405020304" pitchFamily="18" charset="0"/>
              </a:rPr>
              <a:t>gelecekte</a:t>
            </a:r>
            <a:r>
              <a:rPr lang="tr-TR" sz="1400" dirty="0" smtClean="0">
                <a:solidFill>
                  <a:schemeClr val="tx1"/>
                </a:solidFill>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RoBERTa</a:t>
            </a:r>
            <a:endParaRPr lang="tr-TR" sz="1400" dirty="0" smtClean="0">
              <a:solidFill>
                <a:schemeClr val="tx1"/>
              </a:solidFill>
              <a:latin typeface="Times New Roman" panose="02020603050405020304" pitchFamily="18" charset="0"/>
              <a:cs typeface="Times New Roman" panose="02020603050405020304" pitchFamily="18" charset="0"/>
            </a:endParaRPr>
          </a:p>
          <a:p>
            <a:pPr marL="742950" lvl="1"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DeBERTa</a:t>
            </a:r>
            <a:endParaRPr lang="tr-TR" sz="1400" dirty="0" smtClean="0">
              <a:solidFill>
                <a:schemeClr val="tx1"/>
              </a:solidFill>
              <a:latin typeface="Times New Roman" panose="02020603050405020304" pitchFamily="18" charset="0"/>
              <a:cs typeface="Times New Roman" panose="02020603050405020304" pitchFamily="18" charset="0"/>
            </a:endParaRP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XLM-</a:t>
            </a:r>
            <a:r>
              <a:rPr lang="tr-TR" sz="1400" dirty="0" err="1" smtClean="0">
                <a:solidFill>
                  <a:schemeClr val="tx1"/>
                </a:solidFill>
                <a:latin typeface="Times New Roman" panose="02020603050405020304" pitchFamily="18" charset="0"/>
                <a:cs typeface="Times New Roman" panose="02020603050405020304" pitchFamily="18" charset="0"/>
              </a:rPr>
              <a:t>Rgibi</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a:solidFill>
                  <a:schemeClr val="tx1"/>
                </a:solidFill>
                <a:latin typeface="Times New Roman" panose="02020603050405020304" pitchFamily="18" charset="0"/>
                <a:cs typeface="Times New Roman" panose="02020603050405020304" pitchFamily="18" charset="0"/>
              </a:rPr>
              <a:t>daha gelişmiş modeller incelenebilir</a:t>
            </a:r>
            <a:endParaRPr lang="tr-TR" sz="1400" dirty="0" smtClean="0">
              <a:solidFill>
                <a:schemeClr val="tx1"/>
              </a:solidFill>
              <a:latin typeface="Times New Roman" panose="02020603050405020304" pitchFamily="18" charset="0"/>
              <a:cs typeface="Times New Roman" panose="02020603050405020304" pitchFamily="18" charset="0"/>
            </a:endParaRPr>
          </a:p>
        </p:txBody>
      </p:sp>
      <p:sp>
        <p:nvSpPr>
          <p:cNvPr id="17" name="Metin kutusu 16">
            <a:extLst>
              <a:ext uri="{FF2B5EF4-FFF2-40B4-BE49-F238E27FC236}">
                <a16:creationId xmlns="" xmlns:a16="http://schemas.microsoft.com/office/drawing/2014/main" id="{0F9AD185-E517-D44C-B1B6-92637C488647}"/>
              </a:ext>
            </a:extLst>
          </p:cNvPr>
          <p:cNvSpPr txBox="1"/>
          <p:nvPr/>
        </p:nvSpPr>
        <p:spPr>
          <a:xfrm>
            <a:off x="8586216" y="997199"/>
            <a:ext cx="3495652" cy="2723823"/>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285750" indent="-285750" algn="ctr">
              <a:lnSpc>
                <a:spcPct val="150000"/>
              </a:lnSpc>
              <a:buFont typeface="Wingdings" panose="05000000000000000000" pitchFamily="2" charset="2"/>
              <a:buChar char="§"/>
            </a:pPr>
            <a:r>
              <a:rPr lang="tr-TR" sz="1600" b="1" u="sng" dirty="0">
                <a:solidFill>
                  <a:srgbClr val="C00000"/>
                </a:solidFill>
                <a:latin typeface="Times New Roman" panose="02020603050405020304" pitchFamily="18" charset="0"/>
                <a:cs typeface="Times New Roman" panose="02020603050405020304" pitchFamily="18" charset="0"/>
              </a:rPr>
              <a:t>Dinamik </a:t>
            </a:r>
            <a:r>
              <a:rPr lang="tr-TR" sz="1600" b="1" u="sng" dirty="0" smtClean="0">
                <a:solidFill>
                  <a:srgbClr val="C00000"/>
                </a:solidFill>
                <a:latin typeface="Times New Roman" panose="02020603050405020304" pitchFamily="18" charset="0"/>
                <a:cs typeface="Times New Roman" panose="02020603050405020304" pitchFamily="18" charset="0"/>
              </a:rPr>
              <a:t>Veri </a:t>
            </a:r>
            <a:r>
              <a:rPr lang="tr-TR" sz="1600" b="1" u="sng" dirty="0">
                <a:solidFill>
                  <a:srgbClr val="C00000"/>
                </a:solidFill>
                <a:latin typeface="Times New Roman" panose="02020603050405020304" pitchFamily="18" charset="0"/>
                <a:cs typeface="Times New Roman" panose="02020603050405020304" pitchFamily="18" charset="0"/>
              </a:rPr>
              <a:t>O</a:t>
            </a:r>
            <a:r>
              <a:rPr lang="tr-TR" sz="1600" b="1" u="sng" dirty="0" smtClean="0">
                <a:solidFill>
                  <a:srgbClr val="C00000"/>
                </a:solidFill>
                <a:latin typeface="Times New Roman" panose="02020603050405020304" pitchFamily="18" charset="0"/>
                <a:cs typeface="Times New Roman" panose="02020603050405020304" pitchFamily="18" charset="0"/>
              </a:rPr>
              <a:t>ranı</a:t>
            </a:r>
          </a:p>
          <a:p>
            <a:pPr marL="285750" indent="-2857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Bu çalışmada sentetik veri sabit oranlarda eklenmiştir</a:t>
            </a:r>
            <a:r>
              <a:rPr lang="tr-TR" sz="1400" dirty="0" smtClean="0">
                <a:solidFill>
                  <a:schemeClr val="tx1"/>
                </a:solidFill>
                <a:latin typeface="Times New Roman" panose="02020603050405020304" pitchFamily="18" charset="0"/>
                <a:cs typeface="Times New Roman" panose="02020603050405020304" pitchFamily="18" charset="0"/>
              </a:rPr>
              <a:t>. Ama </a:t>
            </a:r>
            <a:r>
              <a:rPr lang="tr-TR" sz="1400" dirty="0">
                <a:solidFill>
                  <a:schemeClr val="tx1"/>
                </a:solidFill>
                <a:latin typeface="Times New Roman" panose="02020603050405020304" pitchFamily="18" charset="0"/>
                <a:cs typeface="Times New Roman" panose="02020603050405020304" pitchFamily="18" charset="0"/>
              </a:rPr>
              <a:t>gelecekte</a:t>
            </a:r>
            <a:r>
              <a:rPr lang="tr-TR" sz="1400" dirty="0" smtClean="0">
                <a:solidFill>
                  <a:schemeClr val="tx1"/>
                </a:solidFill>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eğitim </a:t>
            </a:r>
            <a:r>
              <a:rPr lang="tr-TR" sz="1400" dirty="0">
                <a:solidFill>
                  <a:schemeClr val="tx1"/>
                </a:solidFill>
                <a:latin typeface="Times New Roman" panose="02020603050405020304" pitchFamily="18" charset="0"/>
                <a:cs typeface="Times New Roman" panose="02020603050405020304" pitchFamily="18" charset="0"/>
              </a:rPr>
              <a:t>sırasında oran </a:t>
            </a:r>
            <a:r>
              <a:rPr lang="tr-TR" sz="1400" dirty="0" smtClean="0">
                <a:solidFill>
                  <a:schemeClr val="tx1"/>
                </a:solidFill>
                <a:latin typeface="Times New Roman" panose="02020603050405020304" pitchFamily="18" charset="0"/>
                <a:cs typeface="Times New Roman" panose="02020603050405020304" pitchFamily="18" charset="0"/>
              </a:rPr>
              <a:t>değiştirilebilir</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örneğin </a:t>
            </a:r>
            <a:r>
              <a:rPr lang="tr-TR" sz="1400" dirty="0">
                <a:solidFill>
                  <a:schemeClr val="tx1"/>
                </a:solidFill>
                <a:latin typeface="Times New Roman" panose="02020603050405020304" pitchFamily="18" charset="0"/>
                <a:cs typeface="Times New Roman" panose="02020603050405020304" pitchFamily="18" charset="0"/>
              </a:rPr>
              <a:t>başta sentetik, sonra gerçek veri ağırlıklı </a:t>
            </a:r>
            <a:r>
              <a:rPr lang="tr-TR" sz="1400" dirty="0" smtClean="0">
                <a:solidFill>
                  <a:schemeClr val="tx1"/>
                </a:solidFill>
                <a:latin typeface="Times New Roman" panose="02020603050405020304" pitchFamily="18" charset="0"/>
                <a:cs typeface="Times New Roman" panose="02020603050405020304" pitchFamily="18" charset="0"/>
              </a:rPr>
              <a:t>olabilir</a:t>
            </a:r>
          </a:p>
          <a:p>
            <a:pPr marL="285750"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Bu</a:t>
            </a:r>
            <a:r>
              <a:rPr lang="tr-TR" sz="1400" dirty="0">
                <a:solidFill>
                  <a:schemeClr val="tx1"/>
                </a:solidFill>
                <a:latin typeface="Times New Roman" panose="02020603050405020304" pitchFamily="18" charset="0"/>
                <a:cs typeface="Times New Roman" panose="02020603050405020304" pitchFamily="18" charset="0"/>
              </a:rPr>
              <a:t>, model öğrenmesini daha da iyileştirebilir</a:t>
            </a:r>
            <a:endParaRPr lang="tr-TR" sz="1400" dirty="0" smtClean="0">
              <a:solidFill>
                <a:schemeClr val="tx1"/>
              </a:solidFill>
              <a:latin typeface="Times New Roman" panose="02020603050405020304" pitchFamily="18" charset="0"/>
              <a:cs typeface="Times New Roman" panose="02020603050405020304" pitchFamily="18" charset="0"/>
            </a:endParaRPr>
          </a:p>
        </p:txBody>
      </p:sp>
      <p:sp>
        <p:nvSpPr>
          <p:cNvPr id="18" name="Metin kutusu 17">
            <a:extLst>
              <a:ext uri="{FF2B5EF4-FFF2-40B4-BE49-F238E27FC236}">
                <a16:creationId xmlns="" xmlns:a16="http://schemas.microsoft.com/office/drawing/2014/main" id="{0F9AD185-E517-D44C-B1B6-92637C488647}"/>
              </a:ext>
            </a:extLst>
          </p:cNvPr>
          <p:cNvSpPr txBox="1"/>
          <p:nvPr/>
        </p:nvSpPr>
        <p:spPr>
          <a:xfrm>
            <a:off x="120571" y="3861383"/>
            <a:ext cx="4409392" cy="2400657"/>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285750" indent="-285750" algn="ctr">
              <a:lnSpc>
                <a:spcPct val="150000"/>
              </a:lnSpc>
              <a:buFont typeface="Wingdings" panose="05000000000000000000" pitchFamily="2" charset="2"/>
              <a:buChar char="§"/>
            </a:pPr>
            <a:r>
              <a:rPr lang="tr-TR" sz="1600" b="1" u="sng" dirty="0">
                <a:solidFill>
                  <a:srgbClr val="C00000"/>
                </a:solidFill>
                <a:latin typeface="Times New Roman" panose="02020603050405020304" pitchFamily="18" charset="0"/>
                <a:cs typeface="Times New Roman" panose="02020603050405020304" pitchFamily="18" charset="0"/>
              </a:rPr>
              <a:t>Çok </a:t>
            </a:r>
            <a:r>
              <a:rPr lang="tr-TR" sz="1600" b="1" u="sng" dirty="0" smtClean="0">
                <a:solidFill>
                  <a:srgbClr val="C00000"/>
                </a:solidFill>
                <a:latin typeface="Times New Roman" panose="02020603050405020304" pitchFamily="18" charset="0"/>
                <a:cs typeface="Times New Roman" panose="02020603050405020304" pitchFamily="18" charset="0"/>
              </a:rPr>
              <a:t>Dilli </a:t>
            </a:r>
            <a:r>
              <a:rPr lang="tr-TR" sz="1600" b="1" u="sng" dirty="0">
                <a:solidFill>
                  <a:srgbClr val="C00000"/>
                </a:solidFill>
                <a:latin typeface="Times New Roman" panose="02020603050405020304" pitchFamily="18" charset="0"/>
                <a:cs typeface="Times New Roman" panose="02020603050405020304" pitchFamily="18" charset="0"/>
              </a:rPr>
              <a:t>Ç</a:t>
            </a:r>
            <a:r>
              <a:rPr lang="tr-TR" sz="1600" b="1" u="sng" dirty="0" smtClean="0">
                <a:solidFill>
                  <a:srgbClr val="C00000"/>
                </a:solidFill>
                <a:latin typeface="Times New Roman" panose="02020603050405020304" pitchFamily="18" charset="0"/>
                <a:cs typeface="Times New Roman" panose="02020603050405020304" pitchFamily="18" charset="0"/>
              </a:rPr>
              <a:t>alışmalar</a:t>
            </a:r>
          </a:p>
          <a:p>
            <a:pPr marL="285750"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Bu </a:t>
            </a:r>
            <a:r>
              <a:rPr lang="tr-TR" sz="1400" dirty="0">
                <a:solidFill>
                  <a:schemeClr val="tx1"/>
                </a:solidFill>
                <a:latin typeface="Times New Roman" panose="02020603050405020304" pitchFamily="18" charset="0"/>
                <a:cs typeface="Times New Roman" panose="02020603050405020304" pitchFamily="18" charset="0"/>
              </a:rPr>
              <a:t>çalışmada sentetik veri sabit oranlarda eklenmiştir</a:t>
            </a:r>
            <a:r>
              <a:rPr lang="tr-TR" sz="1400" dirty="0" smtClean="0">
                <a:solidFill>
                  <a:schemeClr val="tx1"/>
                </a:solidFill>
                <a:latin typeface="Times New Roman" panose="02020603050405020304" pitchFamily="18" charset="0"/>
                <a:cs typeface="Times New Roman" panose="02020603050405020304" pitchFamily="18" charset="0"/>
              </a:rPr>
              <a:t>. Ama </a:t>
            </a:r>
            <a:r>
              <a:rPr lang="tr-TR" sz="1400" dirty="0">
                <a:solidFill>
                  <a:schemeClr val="tx1"/>
                </a:solidFill>
                <a:latin typeface="Times New Roman" panose="02020603050405020304" pitchFamily="18" charset="0"/>
                <a:cs typeface="Times New Roman" panose="02020603050405020304" pitchFamily="18" charset="0"/>
              </a:rPr>
              <a:t>gelecekte</a:t>
            </a:r>
            <a:r>
              <a:rPr lang="tr-TR" sz="1400" dirty="0" smtClean="0">
                <a:solidFill>
                  <a:schemeClr val="tx1"/>
                </a:solidFill>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eğitim </a:t>
            </a:r>
            <a:r>
              <a:rPr lang="tr-TR" sz="1400" dirty="0">
                <a:solidFill>
                  <a:schemeClr val="tx1"/>
                </a:solidFill>
                <a:latin typeface="Times New Roman" panose="02020603050405020304" pitchFamily="18" charset="0"/>
                <a:cs typeface="Times New Roman" panose="02020603050405020304" pitchFamily="18" charset="0"/>
              </a:rPr>
              <a:t>sırasında oran </a:t>
            </a:r>
            <a:r>
              <a:rPr lang="tr-TR" sz="1400" dirty="0" smtClean="0">
                <a:solidFill>
                  <a:schemeClr val="tx1"/>
                </a:solidFill>
                <a:latin typeface="Times New Roman" panose="02020603050405020304" pitchFamily="18" charset="0"/>
                <a:cs typeface="Times New Roman" panose="02020603050405020304" pitchFamily="18" charset="0"/>
              </a:rPr>
              <a:t>değiştirilebilir</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örneğin </a:t>
            </a:r>
            <a:r>
              <a:rPr lang="tr-TR" sz="1400" dirty="0">
                <a:solidFill>
                  <a:schemeClr val="tx1"/>
                </a:solidFill>
                <a:latin typeface="Times New Roman" panose="02020603050405020304" pitchFamily="18" charset="0"/>
                <a:cs typeface="Times New Roman" panose="02020603050405020304" pitchFamily="18" charset="0"/>
              </a:rPr>
              <a:t>başta sentetik, sonra gerçek veri ağırlıklı </a:t>
            </a:r>
            <a:r>
              <a:rPr lang="tr-TR" sz="1400" dirty="0" smtClean="0">
                <a:solidFill>
                  <a:schemeClr val="tx1"/>
                </a:solidFill>
                <a:latin typeface="Times New Roman" panose="02020603050405020304" pitchFamily="18" charset="0"/>
                <a:cs typeface="Times New Roman" panose="02020603050405020304" pitchFamily="18" charset="0"/>
              </a:rPr>
              <a:t>olabilir</a:t>
            </a:r>
          </a:p>
          <a:p>
            <a:pPr marL="285750" indent="-285750" algn="just">
              <a:lnSpc>
                <a:spcPct val="150000"/>
              </a:lnSpc>
              <a:buFont typeface="Wingdings" panose="05000000000000000000" pitchFamily="2" charset="2"/>
              <a:buChar char="q"/>
            </a:pPr>
            <a:r>
              <a:rPr lang="tr-TR" sz="1400" dirty="0" smtClean="0">
                <a:solidFill>
                  <a:schemeClr val="tx1"/>
                </a:solidFill>
                <a:latin typeface="Times New Roman" panose="02020603050405020304" pitchFamily="18" charset="0"/>
                <a:cs typeface="Times New Roman" panose="02020603050405020304" pitchFamily="18" charset="0"/>
              </a:rPr>
              <a:t>Bu</a:t>
            </a:r>
            <a:r>
              <a:rPr lang="tr-TR" sz="1400" dirty="0">
                <a:solidFill>
                  <a:schemeClr val="tx1"/>
                </a:solidFill>
                <a:latin typeface="Times New Roman" panose="02020603050405020304" pitchFamily="18" charset="0"/>
                <a:cs typeface="Times New Roman" panose="02020603050405020304" pitchFamily="18" charset="0"/>
              </a:rPr>
              <a:t>, model öğrenmesini daha da iyileştirebilir</a:t>
            </a:r>
            <a:endParaRPr lang="tr-TR" sz="1400" dirty="0" smtClean="0">
              <a:solidFill>
                <a:schemeClr val="tx1"/>
              </a:solidFill>
              <a:latin typeface="Times New Roman" panose="02020603050405020304" pitchFamily="18" charset="0"/>
              <a:cs typeface="Times New Roman" panose="02020603050405020304" pitchFamily="18" charset="0"/>
            </a:endParaRPr>
          </a:p>
        </p:txBody>
      </p:sp>
      <p:sp>
        <p:nvSpPr>
          <p:cNvPr id="19" name="Metin kutusu 18">
            <a:extLst>
              <a:ext uri="{FF2B5EF4-FFF2-40B4-BE49-F238E27FC236}">
                <a16:creationId xmlns="" xmlns:a16="http://schemas.microsoft.com/office/drawing/2014/main" id="{0F9AD185-E517-D44C-B1B6-92637C488647}"/>
              </a:ext>
            </a:extLst>
          </p:cNvPr>
          <p:cNvSpPr txBox="1"/>
          <p:nvPr/>
        </p:nvSpPr>
        <p:spPr>
          <a:xfrm>
            <a:off x="8586216" y="3905577"/>
            <a:ext cx="3531151" cy="2723823"/>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285750" indent="-285750" algn="ctr">
              <a:lnSpc>
                <a:spcPct val="150000"/>
              </a:lnSpc>
              <a:buFont typeface="Wingdings" panose="05000000000000000000" pitchFamily="2" charset="2"/>
              <a:buChar char="§"/>
            </a:pPr>
            <a:r>
              <a:rPr lang="tr-TR" sz="1600" b="1" u="sng" dirty="0" smtClean="0">
                <a:solidFill>
                  <a:srgbClr val="C00000"/>
                </a:solidFill>
                <a:latin typeface="Times New Roman" panose="02020603050405020304" pitchFamily="18" charset="0"/>
                <a:cs typeface="Times New Roman" panose="02020603050405020304" pitchFamily="18" charset="0"/>
              </a:rPr>
              <a:t>Daha Karmaşık Görevler</a:t>
            </a:r>
          </a:p>
          <a:p>
            <a:pPr marL="285750" indent="-285750" algn="just">
              <a:lnSpc>
                <a:spcPct val="150000"/>
              </a:lnSpc>
              <a:buFont typeface="Wingdings" panose="05000000000000000000" pitchFamily="2" charset="2"/>
              <a:buChar char="q"/>
            </a:pPr>
            <a:r>
              <a:rPr lang="tr-TR" sz="1400" dirty="0">
                <a:solidFill>
                  <a:schemeClr val="tx1"/>
                </a:solidFill>
                <a:latin typeface="Times New Roman" panose="02020603050405020304" pitchFamily="18" charset="0"/>
                <a:cs typeface="Times New Roman" panose="02020603050405020304" pitchFamily="18" charset="0"/>
              </a:rPr>
              <a:t>Bu çalışma </a:t>
            </a:r>
            <a:r>
              <a:rPr lang="tr-TR" sz="1400" dirty="0" err="1">
                <a:solidFill>
                  <a:schemeClr val="tx1"/>
                </a:solidFill>
                <a:latin typeface="Times New Roman" panose="02020603050405020304" pitchFamily="18" charset="0"/>
                <a:cs typeface="Times New Roman" panose="02020603050405020304" pitchFamily="18" charset="0"/>
              </a:rPr>
              <a:t>binary</a:t>
            </a:r>
            <a:r>
              <a:rPr lang="tr-TR" sz="1400" dirty="0">
                <a:solidFill>
                  <a:schemeClr val="tx1"/>
                </a:solidFill>
                <a:latin typeface="Times New Roman" panose="02020603050405020304" pitchFamily="18" charset="0"/>
                <a:cs typeface="Times New Roman" panose="02020603050405020304" pitchFamily="18" charset="0"/>
              </a:rPr>
              <a:t> </a:t>
            </a:r>
            <a:r>
              <a:rPr lang="tr-TR" sz="1400" dirty="0" err="1" smtClean="0">
                <a:solidFill>
                  <a:schemeClr val="tx1"/>
                </a:solidFill>
                <a:latin typeface="Times New Roman" panose="02020603050405020304" pitchFamily="18" charset="0"/>
                <a:cs typeface="Times New Roman" panose="02020603050405020304" pitchFamily="18" charset="0"/>
              </a:rPr>
              <a:t>sentiment</a:t>
            </a:r>
            <a:r>
              <a:rPr lang="tr-TR" sz="1400" dirty="0" smtClean="0">
                <a:solidFill>
                  <a:schemeClr val="tx1"/>
                </a:solidFill>
                <a:latin typeface="Times New Roman" panose="02020603050405020304" pitchFamily="18" charset="0"/>
                <a:cs typeface="Times New Roman" panose="02020603050405020304" pitchFamily="18" charset="0"/>
              </a:rPr>
              <a:t>(pos/</a:t>
            </a:r>
            <a:r>
              <a:rPr lang="tr-TR" sz="1400" dirty="0" err="1" smtClean="0">
                <a:solidFill>
                  <a:schemeClr val="tx1"/>
                </a:solidFill>
                <a:latin typeface="Times New Roman" panose="02020603050405020304" pitchFamily="18" charset="0"/>
                <a:cs typeface="Times New Roman" panose="02020603050405020304" pitchFamily="18" charset="0"/>
              </a:rPr>
              <a:t>neg</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a:solidFill>
                  <a:schemeClr val="tx1"/>
                </a:solidFill>
                <a:latin typeface="Times New Roman" panose="02020603050405020304" pitchFamily="18" charset="0"/>
                <a:cs typeface="Times New Roman" panose="02020603050405020304" pitchFamily="18" charset="0"/>
              </a:rPr>
              <a:t>analizi </a:t>
            </a:r>
            <a:r>
              <a:rPr lang="tr-TR" sz="1400" dirty="0" err="1">
                <a:solidFill>
                  <a:schemeClr val="tx1"/>
                </a:solidFill>
                <a:latin typeface="Times New Roman" panose="02020603050405020304" pitchFamily="18" charset="0"/>
                <a:cs typeface="Times New Roman" panose="02020603050405020304" pitchFamily="18" charset="0"/>
              </a:rPr>
              <a:t>üzerinedir.Ancak</a:t>
            </a:r>
            <a:r>
              <a:rPr lang="tr-TR" sz="1400" dirty="0">
                <a:solidFill>
                  <a:schemeClr val="tx1"/>
                </a:solidFill>
                <a:latin typeface="Times New Roman" panose="02020603050405020304" pitchFamily="18" charset="0"/>
                <a:cs typeface="Times New Roman" panose="02020603050405020304" pitchFamily="18" charset="0"/>
              </a:rPr>
              <a:t> gelecekte</a:t>
            </a:r>
            <a:r>
              <a:rPr lang="tr-TR" sz="1400" dirty="0" smtClean="0">
                <a:solidFill>
                  <a:schemeClr val="tx1"/>
                </a:solidFill>
                <a:latin typeface="Times New Roman" panose="02020603050405020304" pitchFamily="18" charset="0"/>
                <a:cs typeface="Times New Roman" panose="02020603050405020304" pitchFamily="18" charset="0"/>
              </a:rPr>
              <a:t>:</a:t>
            </a:r>
          </a:p>
          <a:p>
            <a:pPr marL="742950" lvl="1" indent="-285750" algn="just">
              <a:lnSpc>
                <a:spcPct val="150000"/>
              </a:lnSpc>
              <a:buFont typeface="Wingdings" panose="05000000000000000000" pitchFamily="2" charset="2"/>
              <a:buChar char="Ø"/>
            </a:pPr>
            <a:r>
              <a:rPr lang="tr-TR" sz="1400" dirty="0" err="1" smtClean="0">
                <a:solidFill>
                  <a:schemeClr val="tx1"/>
                </a:solidFill>
                <a:latin typeface="Times New Roman" panose="02020603050405020304" pitchFamily="18" charset="0"/>
                <a:cs typeface="Times New Roman" panose="02020603050405020304" pitchFamily="18" charset="0"/>
              </a:rPr>
              <a:t>aspect-based</a:t>
            </a:r>
            <a:r>
              <a:rPr lang="tr-TR" sz="1400" dirty="0" smtClean="0">
                <a:solidFill>
                  <a:schemeClr val="tx1"/>
                </a:solidFill>
                <a:latin typeface="Times New Roman" panose="02020603050405020304" pitchFamily="18" charset="0"/>
                <a:cs typeface="Times New Roman" panose="02020603050405020304" pitchFamily="18" charset="0"/>
              </a:rPr>
              <a:t> </a:t>
            </a:r>
            <a:r>
              <a:rPr lang="tr-TR" sz="1400" dirty="0" err="1" smtClean="0">
                <a:solidFill>
                  <a:schemeClr val="tx1"/>
                </a:solidFill>
                <a:latin typeface="Times New Roman" panose="02020603050405020304" pitchFamily="18" charset="0"/>
                <a:cs typeface="Times New Roman" panose="02020603050405020304" pitchFamily="18" charset="0"/>
              </a:rPr>
              <a:t>sentiment</a:t>
            </a:r>
            <a:r>
              <a:rPr lang="tr-TR" sz="1400" dirty="0" smtClean="0">
                <a:solidFill>
                  <a:schemeClr val="tx1"/>
                </a:solidFill>
                <a:latin typeface="Times New Roman" panose="02020603050405020304" pitchFamily="18" charset="0"/>
                <a:cs typeface="Times New Roman" panose="02020603050405020304" pitchFamily="18" charset="0"/>
              </a:rPr>
              <a:t>(özellik bazlı duygu analizi)</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ironi tespiti</a:t>
            </a:r>
          </a:p>
          <a:p>
            <a:pPr marL="742950" lvl="1" indent="-285750" algn="just">
              <a:lnSpc>
                <a:spcPct val="150000"/>
              </a:lnSpc>
              <a:buFont typeface="Wingdings" panose="05000000000000000000" pitchFamily="2" charset="2"/>
              <a:buChar char="Ø"/>
            </a:pPr>
            <a:r>
              <a:rPr lang="tr-TR" sz="1400" dirty="0" smtClean="0">
                <a:solidFill>
                  <a:schemeClr val="tx1"/>
                </a:solidFill>
                <a:latin typeface="Times New Roman" panose="02020603050405020304" pitchFamily="18" charset="0"/>
                <a:cs typeface="Times New Roman" panose="02020603050405020304" pitchFamily="18" charset="0"/>
              </a:rPr>
              <a:t>nefret söylemi gibi </a:t>
            </a:r>
            <a:r>
              <a:rPr lang="tr-TR" sz="1400" dirty="0">
                <a:solidFill>
                  <a:schemeClr val="tx1"/>
                </a:solidFill>
                <a:latin typeface="Times New Roman" panose="02020603050405020304" pitchFamily="18" charset="0"/>
                <a:cs typeface="Times New Roman" panose="02020603050405020304" pitchFamily="18" charset="0"/>
              </a:rPr>
              <a:t>daha zor görevlerde test edilebilir</a:t>
            </a:r>
            <a:endParaRPr lang="tr-TR" sz="1400" dirty="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264839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 xmlns:a16="http://schemas.microsoft.com/office/drawing/2014/main" id="{A5D58CBE-638D-E746-BC5B-14F319DCB0C0}"/>
              </a:ext>
            </a:extLst>
          </p:cNvPr>
          <p:cNvPicPr>
            <a:picLocks noChangeAspect="1"/>
          </p:cNvPicPr>
          <p:nvPr/>
        </p:nvPicPr>
        <p:blipFill>
          <a:blip r:embed="rId2"/>
          <a:stretch>
            <a:fillRect/>
          </a:stretch>
        </p:blipFill>
        <p:spPr>
          <a:xfrm>
            <a:off x="8283388" y="0"/>
            <a:ext cx="871370" cy="6858001"/>
          </a:xfrm>
          <a:prstGeom prst="rect">
            <a:avLst/>
          </a:prstGeom>
          <a:noFill/>
          <a:ln>
            <a:noFill/>
          </a:ln>
        </p:spPr>
      </p:pic>
      <p:sp>
        <p:nvSpPr>
          <p:cNvPr id="5" name="Dikdörtgen 4">
            <a:extLst>
              <a:ext uri="{FF2B5EF4-FFF2-40B4-BE49-F238E27FC236}">
                <a16:creationId xmlns="" xmlns:a16="http://schemas.microsoft.com/office/drawing/2014/main" id="{DF1234A4-7C7D-0B48-ADF6-3528D720838D}"/>
              </a:ext>
            </a:extLst>
          </p:cNvPr>
          <p:cNvSpPr/>
          <p:nvPr/>
        </p:nvSpPr>
        <p:spPr>
          <a:xfrm>
            <a:off x="8939606" y="0"/>
            <a:ext cx="3252394" cy="6858000"/>
          </a:xfrm>
          <a:prstGeom prst="rect">
            <a:avLst/>
          </a:prstGeom>
          <a:solidFill>
            <a:schemeClr val="tx1">
              <a:lumMod val="65000"/>
              <a:lumOff val="3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 xmlns:a16="http://schemas.microsoft.com/office/drawing/2014/main" id="{9D2DB034-DC4B-4840-BE8A-9945A50A529C}"/>
              </a:ext>
            </a:extLst>
          </p:cNvPr>
          <p:cNvSpPr txBox="1"/>
          <p:nvPr/>
        </p:nvSpPr>
        <p:spPr>
          <a:xfrm>
            <a:off x="1988603" y="2474236"/>
            <a:ext cx="6294785" cy="2554545"/>
          </a:xfrm>
          <a:prstGeom prst="rect">
            <a:avLst/>
          </a:prstGeom>
          <a:noFill/>
        </p:spPr>
        <p:txBody>
          <a:bodyPr wrap="square" rtlCol="0">
            <a:spAutoFit/>
          </a:bodyPr>
          <a:lstStyle/>
          <a:p>
            <a:r>
              <a:rPr lang="tr-TR" sz="72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TEŞEKKÜR EDERİM </a:t>
            </a:r>
            <a:r>
              <a:rPr lang="tr-TR" sz="8800" b="1" dirty="0" smtClean="0">
                <a:solidFill>
                  <a:srgbClr val="C00000"/>
                </a:solidFill>
                <a:sym typeface="Wingdings" panose="05000000000000000000" pitchFamily="2" charset="2"/>
              </a:rPr>
              <a:t></a:t>
            </a:r>
            <a:endParaRPr lang="tr-TR" sz="8800" b="1" dirty="0">
              <a:solidFill>
                <a:srgbClr val="C00000"/>
              </a:solidFill>
            </a:endParaRPr>
          </a:p>
        </p:txBody>
      </p:sp>
      <p:pic>
        <p:nvPicPr>
          <p:cNvPr id="7" name="Resim 6">
            <a:extLst>
              <a:ext uri="{FF2B5EF4-FFF2-40B4-BE49-F238E27FC236}">
                <a16:creationId xmlns="" xmlns:a16="http://schemas.microsoft.com/office/drawing/2014/main" id="{41DA2B1E-8345-C24D-AB49-385A422CBC26}"/>
              </a:ext>
            </a:extLst>
          </p:cNvPr>
          <p:cNvPicPr>
            <a:picLocks noChangeAspect="1"/>
          </p:cNvPicPr>
          <p:nvPr/>
        </p:nvPicPr>
        <p:blipFill>
          <a:blip r:embed="rId3"/>
          <a:stretch>
            <a:fillRect/>
          </a:stretch>
        </p:blipFill>
        <p:spPr>
          <a:xfrm>
            <a:off x="226535" y="192517"/>
            <a:ext cx="1504504" cy="840217"/>
          </a:xfrm>
          <a:prstGeom prst="rect">
            <a:avLst/>
          </a:prstGeom>
        </p:spPr>
      </p:pic>
      <p:pic>
        <p:nvPicPr>
          <p:cNvPr id="8" name="Resim 7">
            <a:extLst>
              <a:ext uri="{FF2B5EF4-FFF2-40B4-BE49-F238E27FC236}">
                <a16:creationId xmlns="" xmlns:a16="http://schemas.microsoft.com/office/drawing/2014/main" id="{76CBEF42-594E-9C4F-B798-429874813FD2}"/>
              </a:ext>
            </a:extLst>
          </p:cNvPr>
          <p:cNvPicPr>
            <a:picLocks noChangeAspect="1"/>
          </p:cNvPicPr>
          <p:nvPr/>
        </p:nvPicPr>
        <p:blipFill>
          <a:blip r:embed="rId4"/>
          <a:stretch>
            <a:fillRect/>
          </a:stretch>
        </p:blipFill>
        <p:spPr>
          <a:xfrm>
            <a:off x="0" y="3874620"/>
            <a:ext cx="402216" cy="2983380"/>
          </a:xfrm>
          <a:prstGeom prst="rect">
            <a:avLst/>
          </a:prstGeom>
        </p:spPr>
      </p:pic>
    </p:spTree>
    <p:extLst>
      <p:ext uri="{BB962C8B-B14F-4D97-AF65-F5344CB8AC3E}">
        <p14:creationId xmlns:p14="http://schemas.microsoft.com/office/powerpoint/2010/main" val="34098937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1740</TotalTime>
  <Words>9134</Words>
  <Application>Microsoft Office PowerPoint</Application>
  <PresentationFormat>Geniş ekran</PresentationFormat>
  <Paragraphs>1100</Paragraphs>
  <Slides>58</Slides>
  <Notes>55</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58</vt:i4>
      </vt:variant>
    </vt:vector>
  </HeadingPairs>
  <TitlesOfParts>
    <vt:vector size="64" baseType="lpstr">
      <vt:lpstr>Arial</vt:lpstr>
      <vt:lpstr>Calibri</vt:lpstr>
      <vt:lpstr>Calibri Light</vt:lpstr>
      <vt:lpstr>Times New Roman</vt:lpstr>
      <vt:lpstr>Wingdings</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Microsoft Office User</dc:creator>
  <cp:lastModifiedBy>Microsoft hesabı</cp:lastModifiedBy>
  <cp:revision>99</cp:revision>
  <dcterms:created xsi:type="dcterms:W3CDTF">2020-03-04T08:21:28Z</dcterms:created>
  <dcterms:modified xsi:type="dcterms:W3CDTF">2026-04-27T13:34:43Z</dcterms:modified>
</cp:coreProperties>
</file>