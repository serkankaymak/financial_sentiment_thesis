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Güncellenmiş çalışma planı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961120" y="64465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Serkan Kaymak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Aylık Tez Geliştirme Planı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21792" y="13258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Hocayla konuşulan yeni önerilere göre güncellenmiş Cuma sunumu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515600" cy="1234440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Ana fikir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Etiket güvenilirliğini artırmak, FinBERT/FinGPT eğitim kaynaklarını araştırmak ve güvenilir dış verinin bir bölümünü kontrollü biçimde eğitime ekleyerek domain shift etkisini tekrar ölçmek.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3794760"/>
            <a:ext cx="9829800" cy="6949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64B"/>
                </a:solidFill>
              </a:rPr>
              <a:t>Cuma günü sunulacak çıktı: mevcut tezi güçlendiren, veri genişletme ve tekrar değerlendirme odaklı uygulanabilir plan.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4709160"/>
            <a:ext cx="2057400" cy="310896"/>
          </a:xfrm>
          <a:prstGeom prst="rect">
            <a:avLst/>
          </a:prstGeom>
          <a:solidFill>
            <a:srgbClr val="E8EEF9"/>
          </a:solidFill>
          <a:ln>
            <a:solidFill>
              <a:srgbClr val="2457C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7C5"/>
                </a:solidFill>
              </a:rPr>
              <a:t>Multi-model labeling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4709160"/>
            <a:ext cx="2331720" cy="310896"/>
          </a:xfrm>
          <a:prstGeom prst="rect">
            <a:avLst/>
          </a:prstGeom>
          <a:solidFill>
            <a:srgbClr val="E7F4EF"/>
          </a:solidFill>
          <a:ln>
            <a:solidFill>
              <a:srgbClr val="0E7A5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A5F"/>
                </a:solidFill>
              </a:rPr>
              <a:t>FinBERT / FinGPT analizi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4709160"/>
            <a:ext cx="2423160" cy="310896"/>
          </a:xfrm>
          <a:prstGeom prst="rect">
            <a:avLst/>
          </a:prstGeom>
          <a:solidFill>
            <a:srgbClr val="FFF3D7"/>
          </a:solidFill>
          <a:ln>
            <a:solidFill>
              <a:srgbClr val="B7791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</a:rPr>
              <a:t>Train/test leakage kontrolü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Yeni plan neden gerekli?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Mevcut sonuçlar güçlü; ama etiket güvenilirliği ve veri çeşitliliği daha sistematik hale getirilebilir.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5166360" cy="1143000"/>
          </a:xfrm>
          <a:prstGeom prst="rect">
            <a:avLst/>
          </a:prstGeom>
          <a:solidFill>
            <a:srgbClr val="E7F4EF"/>
          </a:solidFill>
          <a:ln w="15240">
            <a:solidFill>
              <a:srgbClr val="0E7A5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</a:rPr>
              <a:t>Mevcut güçlü taraf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İç test, dış test, sentetik test, zero-shot, ablation ve verimlilik deneyleriyle ana hikâye kuruldu.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55080" y="1508760"/>
            <a:ext cx="5166360" cy="1143000"/>
          </a:xfrm>
          <a:prstGeom prst="rect">
            <a:avLst/>
          </a:prstGeom>
          <a:solidFill>
            <a:srgbClr val="FEE4E2"/>
          </a:solidFill>
          <a:ln w="15240">
            <a:solidFill>
              <a:srgbClr val="B4231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Ana açık nokta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S&amp;P/Reuters etiketleri tek LLM akışına dayanıyor; eğitim setindeki hazır etiketlerin de model tutarlılığı açısından yeniden kontrol edilmesi önerildi.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881360" cy="1078992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Yeni amaç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“Bir model daha denemek” değil; veri etiketlerini güvenilirleştirip, genişletilmiş veriyle domain generalization deneyini tekrar kurmak.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736592"/>
            <a:ext cx="102870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Etiketler 3 farklı modelle yeniden üretilecek.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Sadece tutarlı örnekler temiz veri havuzuna alınacak.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S&amp;P/Reuters’ın bir bölümü train adayı, bir bölümü kilitli external test olarak ayrılacak.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FinBERT ve FinGPT’nin kendi eğitim kaynakları incelenerek olası örtüşme ve metodolojik anlamı tartışılacak.
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Araştırma notu: FinBERT neyle eğitilmiş?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FinBERT’in finans bilgisi iki aşamalı bir adaptasyon sürecinden geliyor.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64B"/>
                </a:solidFill>
              </a:rPr>
              <a:t>BERT-base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2130552"/>
            <a:ext cx="914400" cy="0"/>
          </a:xfrm>
          <a:prstGeom prst="line">
            <a:avLst/>
          </a:prstGeom>
          <a:noFill/>
          <a:ln w="1651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749040" y="1737360"/>
            <a:ext cx="2194560" cy="804672"/>
          </a:xfrm>
          <a:prstGeom prst="rect">
            <a:avLst/>
          </a:prstGeom>
          <a:solidFill>
            <a:srgbClr val="E8EEF9"/>
          </a:solidFill>
          <a:ln w="12700">
            <a:solidFill>
              <a:srgbClr val="2457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64B"/>
                </a:solidFill>
              </a:rPr>
              <a:t>Reuters TRC2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364B"/>
                </a:solidFill>
              </a:rPr>
              <a:t>finans corpus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2130552"/>
            <a:ext cx="914400" cy="0"/>
          </a:xfrm>
          <a:prstGeom prst="line">
            <a:avLst/>
          </a:prstGeom>
          <a:noFill/>
          <a:ln w="1651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040880" y="1737360"/>
            <a:ext cx="2331720" cy="804672"/>
          </a:xfrm>
          <a:prstGeom prst="rect">
            <a:avLst/>
          </a:prstGeom>
          <a:solidFill>
            <a:srgbClr val="E7F4EF"/>
          </a:solidFill>
          <a:ln w="12700">
            <a:solidFill>
              <a:srgbClr val="0E7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64B"/>
                </a:solidFill>
              </a:rPr>
              <a:t>Financial PhraseBank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364B"/>
                </a:solidFill>
              </a:rPr>
              <a:t>sentiment fine-tuning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464040" y="2130552"/>
            <a:ext cx="731520" cy="0"/>
          </a:xfrm>
          <a:prstGeom prst="line">
            <a:avLst/>
          </a:prstGeom>
          <a:noFill/>
          <a:ln w="16510">
            <a:solidFill>
              <a:srgbClr val="2457C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259568" y="1737360"/>
            <a:ext cx="1417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64B"/>
                </a:solidFill>
              </a:rPr>
              <a:t>ProsusAI/finbert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64B"/>
                </a:solidFill>
              </a:rPr>
              <a:t>3 sınıf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5394960" cy="1371600"/>
          </a:xfrm>
          <a:prstGeom prst="rect">
            <a:avLst/>
          </a:prstGeom>
          <a:solidFill>
            <a:srgbClr val="FFF3D7"/>
          </a:solidFill>
          <a:ln w="15240">
            <a:solidFill>
              <a:srgbClr val="B779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Tez için anlamı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Bizim eğitim setimizde Financial PhraseBank zaten var. Bu yüzden FinBERT karşılaştırmasında “model finans biliyor” ifadesi yanında, modelin FPB ile sentiment fine-tune edilmiş olması da metodolojik not olarak açıkça yazılmalı.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337560"/>
            <a:ext cx="4983480" cy="1371600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Cuma önerisi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FinBERT’in pretraining / fine-tuning kaynakları ayrı tabloya alınacak; kullandığımız veri setleriyle örtüşme, avantaj ve sınır olarak tartışılacak.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Kaynak: ProsusAI Hugging Face model card; Prosus AI FinBERT blog; Araci (2019) FinBERT paper.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Araştırma notu: FinGPT neyi farklı yapıyor?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FinGPT tek bir sabit modelden çok, finansal LLM oluşturma ve güncelleme framework’ü olarak konumlanıyor.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474720" cy="1234440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Data-centric yaklaşım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FinGPT finansal LLM’de ana problemin kaliteli, güncel ve erişilebilir finans verisi olduğunu vurguluyor.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43400" y="1463040"/>
            <a:ext cx="3474720" cy="1234440"/>
          </a:xfrm>
          <a:prstGeom prst="rect">
            <a:avLst/>
          </a:prstGeom>
          <a:solidFill>
            <a:srgbClr val="E7F4EF"/>
          </a:solidFill>
          <a:ln w="15240">
            <a:solidFill>
              <a:srgbClr val="0E7A5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</a:rPr>
              <a:t>Veri kaynakları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Güncel arXiv sürümünde finans haberleri, sosyal medya, şirket filings/duyuruları, trend kaynakları ve akademik veri setleri sayılıyor.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0" y="1463040"/>
            <a:ext cx="3474720" cy="1234440"/>
          </a:xfrm>
          <a:prstGeom prst="rect">
            <a:avLst/>
          </a:prstGeom>
          <a:solidFill>
            <a:srgbClr val="FFF3D7"/>
          </a:solidFill>
          <a:ln w="15240">
            <a:solidFill>
              <a:srgbClr val="B779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Sentiment deneyleri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Güncel metinde 620K+ finans haber başlığı, CNBC/Reuters/Yahoo Finance/MarketWatch kaynakları ve fiyat hareketine dayalı self-labeling anlatılıyor.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06984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Bizim tez açısından çıkarım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101498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FinGPT tarafı, “etiketleri piyasa tepkisiyle hizalama” fikrini güçlendiriyor.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Bizim Reuters/S&amp;P etiketlerinde de label semantics ve market-impact ayrımı açıkça tartışılmalı.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FinGPT doğrudan yeni model olarak eklenirse maliyet yüksek olabilir; ama labeling assistant / benchmark karşılaştırması olarak kullanılabilir.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FinGPT’nin kaynakları incelenirken Reuters gibi veri kaynaklarıyla örtüşme ihtimali not edilmeli.
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Kaynak: Yang et al. (2023/2025), FinGPT arXiv HTML v2; AI4Finance FinGPT GitHub README.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Öncelik 1: 3 modelle yeniden etiketleme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Hem eğitim hem dış test verisi için etiket güvenilirliğini artıran ana adım.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47088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64B"/>
                </a:solidFill>
              </a:rPr>
              <a:t>Her metin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82296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246120" y="1417320"/>
            <a:ext cx="1920240" cy="640080"/>
          </a:xfrm>
          <a:prstGeom prst="rect">
            <a:avLst/>
          </a:prstGeom>
          <a:solidFill>
            <a:srgbClr val="E8EEF9"/>
          </a:solidFill>
          <a:ln w="12700">
            <a:solidFill>
              <a:srgbClr val="2457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64B"/>
                </a:solidFill>
              </a:rPr>
              <a:t>Model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64B"/>
                </a:solidFill>
              </a:rPr>
              <a:t>FinBERT/benzeri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46120" y="2240280"/>
            <a:ext cx="1920240" cy="640080"/>
          </a:xfrm>
          <a:prstGeom prst="rect">
            <a:avLst/>
          </a:prstGeom>
          <a:solidFill>
            <a:srgbClr val="E7F4EF"/>
          </a:solidFill>
          <a:ln w="12700">
            <a:solidFill>
              <a:srgbClr val="0E7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64B"/>
                </a:solidFill>
              </a:rPr>
              <a:t>Model 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64B"/>
                </a:solidFill>
              </a:rPr>
              <a:t>FinGPT/LLM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3063240"/>
            <a:ext cx="1920240" cy="640080"/>
          </a:xfrm>
          <a:prstGeom prst="rect">
            <a:avLst/>
          </a:prstGeom>
          <a:solidFill>
            <a:srgbClr val="FFF3D7"/>
          </a:solidFill>
          <a:ln w="12700">
            <a:solidFill>
              <a:srgbClr val="B7791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64B"/>
                </a:solidFill>
              </a:rPr>
              <a:t>Model 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64B"/>
                </a:solidFill>
              </a:rPr>
              <a:t>bağımsız LLM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0" y="2560320"/>
            <a:ext cx="96012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0" y="210312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64B"/>
                </a:solidFill>
              </a:rPr>
              <a:t>Consensus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4364B"/>
                </a:solidFill>
              </a:rPr>
              <a:t>kontrolü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66760" y="2560320"/>
            <a:ext cx="86868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372600" y="2103120"/>
            <a:ext cx="2057400" cy="868680"/>
          </a:xfrm>
          <a:prstGeom prst="rect">
            <a:avLst/>
          </a:prstGeom>
          <a:solidFill>
            <a:srgbClr val="E7F4EF"/>
          </a:solidFill>
          <a:ln w="12700">
            <a:solidFill>
              <a:srgbClr val="0E7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64B"/>
                </a:solidFill>
              </a:rPr>
              <a:t>Clean label pool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3017520" cy="713232"/>
          </a:xfrm>
          <a:prstGeom prst="rect">
            <a:avLst/>
          </a:prstGeom>
          <a:solidFill>
            <a:srgbClr val="E7F4EF"/>
          </a:solidFill>
          <a:ln w="15240">
            <a:solidFill>
              <a:srgbClr val="0E7A5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</a:rPr>
              <a:t>Katı protokol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3/3 aynı etiket: ana temiz veri seti.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4617720"/>
            <a:ext cx="3154680" cy="713232"/>
          </a:xfrm>
          <a:prstGeom prst="rect">
            <a:avLst/>
          </a:prstGeom>
          <a:solidFill>
            <a:srgbClr val="FFF3D7"/>
          </a:solidFill>
          <a:ln w="15240">
            <a:solidFill>
              <a:srgbClr val="B779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Yumuşak protokol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2/3 çoğunluk: yedek analiz veya düşük güvenli veri.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4617720"/>
            <a:ext cx="2971800" cy="713232"/>
          </a:xfrm>
          <a:prstGeom prst="rect">
            <a:avLst/>
          </a:prstGeom>
          <a:solidFill>
            <a:srgbClr val="FEE4E2"/>
          </a:solidFill>
          <a:ln w="15240">
            <a:solidFill>
              <a:srgbClr val="B4231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Atılacak veri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3 model de farklıysa: belirsiz/çelişkili örnek.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Hangi veri setleri yeniden etiketlenecek?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Hocanın önerisi sadece dış test değil, eğitim verisinin de tutarlılığını kontrol etmeyi içeriyor.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9671" y="1420063"/>
            <a:ext cx="2371954" cy="470002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 seti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7111" y="1420063"/>
            <a:ext cx="1869034" cy="470002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Mevcut rol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21631" y="1420063"/>
            <a:ext cx="3057754" cy="470002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Yeni işlem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84871" y="1420063"/>
            <a:ext cx="3423514" cy="470002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Beklenen çıktı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9671" y="1895551"/>
            <a:ext cx="23719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Twitter Financial News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47111" y="1895551"/>
            <a:ext cx="186903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Train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1631" y="1895551"/>
            <a:ext cx="30577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3 model re-label + consensus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84871" y="1895551"/>
            <a:ext cx="342351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Temiz train adayı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9671" y="2371039"/>
            <a:ext cx="23719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Financial PhraseBank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47111" y="2371039"/>
            <a:ext cx="186903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Train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1631" y="2371039"/>
            <a:ext cx="30577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3 model re-label + consensus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84871" y="2371039"/>
            <a:ext cx="342351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Etiket uyumu / çelişki raporu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9671" y="2846527"/>
            <a:ext cx="23719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S&amp;P 500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47111" y="2846527"/>
            <a:ext cx="186903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External 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1631" y="2846527"/>
            <a:ext cx="30577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Önce split, sonra consensus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84871" y="2846527"/>
            <a:ext cx="342351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Train adayı + kilitli test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9671" y="3322015"/>
            <a:ext cx="23719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Reuters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47111" y="3322015"/>
            <a:ext cx="186903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External test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1631" y="3322015"/>
            <a:ext cx="30577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Önce split, sonra consensus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84871" y="3322015"/>
            <a:ext cx="342351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Train adayı + kilitli 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9671" y="3797503"/>
            <a:ext cx="23719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Synthetic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47111" y="3797503"/>
            <a:ext cx="186903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External test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1631" y="3797503"/>
            <a:ext cx="305775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İsteğe bağlı quality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84871" y="3797503"/>
            <a:ext cx="3423514" cy="47000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Kolay benchmark yorumu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800600"/>
            <a:ext cx="10378440" cy="822960"/>
          </a:xfrm>
          <a:prstGeom prst="rect">
            <a:avLst/>
          </a:prstGeom>
          <a:solidFill>
            <a:srgbClr val="FEE4E2"/>
          </a:solidFill>
          <a:ln w="15240">
            <a:solidFill>
              <a:srgbClr val="B4231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Kritik karar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S&amp;P/Reuters için train ve external test bölümleri önce kilitlenecek. Sonradan test sonucuna göre train seçimi yapılmayacak.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Data leakage olmaması için yeni akış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Dış veri eğitime eklenecekse, external test bağımsız kalmalı.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423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64B"/>
                </a:solidFill>
              </a:rPr>
              <a:t>S&amp;P / Reuters ham veri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337560" y="1828800"/>
            <a:ext cx="73152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187952" y="1417320"/>
            <a:ext cx="2834640" cy="868680"/>
          </a:xfrm>
          <a:prstGeom prst="rect">
            <a:avLst/>
          </a:prstGeom>
          <a:solidFill>
            <a:srgbClr val="E8EEF9"/>
          </a:solidFill>
          <a:ln w="12700">
            <a:solidFill>
              <a:srgbClr val="2457C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64B"/>
                </a:solidFill>
              </a:rPr>
              <a:t>Önceden split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64B"/>
                </a:solidFill>
              </a:rPr>
              <a:t>%70 train-aday / %30 locked-test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78040" y="1828800"/>
            <a:ext cx="731520" cy="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028432" y="1417320"/>
            <a:ext cx="2788920" cy="868680"/>
          </a:xfrm>
          <a:prstGeom prst="rect">
            <a:avLst/>
          </a:prstGeom>
          <a:solidFill>
            <a:srgbClr val="E7F4EF"/>
          </a:solidFill>
          <a:ln w="12700">
            <a:solidFill>
              <a:srgbClr val="0E7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64B"/>
                </a:solidFill>
              </a:rPr>
              <a:t>3 model consensus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364B"/>
                </a:solidFill>
              </a:rPr>
              <a:t>sadece train-aday üzerinde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4389120" cy="685800"/>
          </a:xfrm>
          <a:prstGeom prst="rect">
            <a:avLst/>
          </a:prstGeom>
          <a:solidFill>
            <a:srgbClr val="E7F4EF"/>
          </a:solidFill>
          <a:ln w="12700">
            <a:solidFill>
              <a:srgbClr val="0E7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64B"/>
                </a:solidFill>
              </a:rPr>
              <a:t>Train’e eklenecek bölüm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246120"/>
            <a:ext cx="4389120" cy="685800"/>
          </a:xfrm>
          <a:prstGeom prst="rect">
            <a:avLst/>
          </a:prstGeom>
          <a:solidFill>
            <a:srgbClr val="FEE4E2"/>
          </a:solidFill>
          <a:ln w="12700">
            <a:solidFill>
              <a:srgbClr val="B4231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64B"/>
                </a:solidFill>
              </a:rPr>
              <a:t>Hiç dokunulmayacak external test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572000"/>
            <a:ext cx="10378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Locked-test, eğitim sırasında ve veri seçimi sırasında görünmeyecek.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Consensus filtrelemesi train-aday için veri kalitesini artıracak.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64B"/>
                </a:solidFill>
              </a:rPr>
              <a:t>Değerlendirme hem internal testte hem kilitli S&amp;P/Reuters testte yapılacak.
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Deney tasarımı: Eski veri vs genişletilmiş veri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Yeni plan, mevcut domain shift bulgusunu doğrudan test edecek.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9671" y="1420063"/>
            <a:ext cx="1960474" cy="524866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Deney</a:t>
            </a:r>
            <a:endParaRPr lang="en-US" sz="1160" dirty="0"/>
          </a:p>
        </p:txBody>
      </p:sp>
      <p:sp>
        <p:nvSpPr>
          <p:cNvPr id="6" name="Text 4"/>
          <p:cNvSpPr/>
          <p:nvPr/>
        </p:nvSpPr>
        <p:spPr>
          <a:xfrm>
            <a:off x="2535631" y="1420063"/>
            <a:ext cx="2829154" cy="524866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Train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5370271" y="1420063"/>
            <a:ext cx="2554834" cy="524866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Test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7930591" y="1420063"/>
            <a:ext cx="3423514" cy="524866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Soru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569671" y="1950415"/>
            <a:ext cx="196047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Baseline tekrar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2535631" y="1950415"/>
            <a:ext cx="282915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Twitter + PhraseBank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5370271" y="1950415"/>
            <a:ext cx="255483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Internal + S&amp;P + Reuters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7930591" y="1950415"/>
            <a:ext cx="342351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Mevcut sonuçlar temiz tekrar ediliyor mu?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569671" y="2480767"/>
            <a:ext cx="196047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Consensus-clean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2535631" y="2480767"/>
            <a:ext cx="282915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Sadece 3/3 tutarlı train örnekleri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5370271" y="2480767"/>
            <a:ext cx="255483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Aynı testler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7930591" y="2480767"/>
            <a:ext cx="342351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Etiket tutarlılığı performansı etkiliyor mu?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569671" y="3011119"/>
            <a:ext cx="196047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Expanded-train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2535631" y="3011119"/>
            <a:ext cx="282915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Clean train + S&amp;P/Reuters train-aday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5370271" y="3011119"/>
            <a:ext cx="255483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Locked external test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7930591" y="3011119"/>
            <a:ext cx="342351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Veri çeşitliliği domain shift’i azaltıyor mu?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569671" y="3541471"/>
            <a:ext cx="196047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Composition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2535631" y="3541471"/>
            <a:ext cx="282915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Farklı kaynak oranları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5370271" y="3541471"/>
            <a:ext cx="255483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Internal + locked external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7930591" y="3541471"/>
            <a:ext cx="3423514" cy="52486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4364B"/>
                </a:solidFill>
              </a:rPr>
              <a:t>Hangi veri karışımı en robust?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868680" y="4800600"/>
            <a:ext cx="10469880" cy="822960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Başarı ölçütü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Expanded-train modeli Reuters/S&amp;P locked-test üzerinde yükselirken internal test makul seviyede kalırsa, veri çeşitliliğinin robustness sağladığı söylenebilir.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Model eğitim kaynakları: hangi veriyle eğitilmişler?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Finans-özel modelleri yorumlarken pretraining ve sentiment fine-tuning kaynaklarını ayırmak gerekiyor.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1655" y="1356055"/>
            <a:ext cx="1594714" cy="652882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b="1" dirty="0">
                <a:solidFill>
                  <a:srgbClr val="FFFFFF"/>
                </a:solidFill>
              </a:rPr>
              <a:t>Model</a:t>
            </a:r>
            <a:endParaRPr lang="en-US" sz="1045" dirty="0"/>
          </a:p>
        </p:txBody>
      </p:sp>
      <p:sp>
        <p:nvSpPr>
          <p:cNvPr id="6" name="Text 4"/>
          <p:cNvSpPr/>
          <p:nvPr/>
        </p:nvSpPr>
        <p:spPr>
          <a:xfrm>
            <a:off x="2041855" y="1356055"/>
            <a:ext cx="5069434" cy="652882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b="1" dirty="0">
                <a:solidFill>
                  <a:srgbClr val="FFFFFF"/>
                </a:solidFill>
              </a:rPr>
              <a:t>Bilinen eğitim / adaptasyon verisi</a:t>
            </a:r>
            <a:endParaRPr lang="en-US" sz="1045" dirty="0"/>
          </a:p>
        </p:txBody>
      </p:sp>
      <p:sp>
        <p:nvSpPr>
          <p:cNvPr id="7" name="Text 5"/>
          <p:cNvSpPr/>
          <p:nvPr/>
        </p:nvSpPr>
        <p:spPr>
          <a:xfrm>
            <a:off x="7116775" y="1356055"/>
            <a:ext cx="4886554" cy="652882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b="1" dirty="0">
                <a:solidFill>
                  <a:srgbClr val="FFFFFF"/>
                </a:solidFill>
              </a:rPr>
              <a:t>Bizim tez açısından anlamı</a:t>
            </a:r>
            <a:endParaRPr lang="en-US" sz="1045" dirty="0"/>
          </a:p>
        </p:txBody>
      </p:sp>
      <p:sp>
        <p:nvSpPr>
          <p:cNvPr id="8" name="Text 6"/>
          <p:cNvSpPr/>
          <p:nvPr/>
        </p:nvSpPr>
        <p:spPr>
          <a:xfrm>
            <a:off x="441655" y="2014423"/>
            <a:ext cx="159471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ProsusAI FinBERT</a:t>
            </a:r>
            <a:endParaRPr lang="en-US" sz="1045" dirty="0"/>
          </a:p>
        </p:txBody>
      </p:sp>
      <p:sp>
        <p:nvSpPr>
          <p:cNvPr id="9" name="Text 7"/>
          <p:cNvSpPr/>
          <p:nvPr/>
        </p:nvSpPr>
        <p:spPr>
          <a:xfrm>
            <a:off x="2041855" y="2014423"/>
            <a:ext cx="506943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BERT tabanı → Reuters TRC2 finans haber corpus’u ile domain-adaptive training → Financial PhraseBank ile 3 sınıflı sentiment fine-tuning</a:t>
            </a:r>
            <a:endParaRPr lang="en-US" sz="1045" dirty="0"/>
          </a:p>
        </p:txBody>
      </p:sp>
      <p:sp>
        <p:nvSpPr>
          <p:cNvPr id="10" name="Text 8"/>
          <p:cNvSpPr/>
          <p:nvPr/>
        </p:nvSpPr>
        <p:spPr>
          <a:xfrm>
            <a:off x="7116775" y="2014423"/>
            <a:ext cx="488655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PhraseBank bizim train’de de var. Bu yüzden Original FinBERT, sentiment açısından FPB bilgisi taşıyor; örtüşme metodoloji notu olarak yazılmalı.</a:t>
            </a:r>
            <a:endParaRPr lang="en-US" sz="1045" dirty="0"/>
          </a:p>
        </p:txBody>
      </p:sp>
      <p:sp>
        <p:nvSpPr>
          <p:cNvPr id="11" name="Text 9"/>
          <p:cNvSpPr/>
          <p:nvPr/>
        </p:nvSpPr>
        <p:spPr>
          <a:xfrm>
            <a:off x="441655" y="2672791"/>
            <a:ext cx="159471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yiyanghkust FinBERT / finbert-tone</a:t>
            </a:r>
            <a:endParaRPr lang="en-US" sz="1045" dirty="0"/>
          </a:p>
        </p:txBody>
      </p:sp>
      <p:sp>
        <p:nvSpPr>
          <p:cNvPr id="12" name="Text 10"/>
          <p:cNvSpPr/>
          <p:nvPr/>
        </p:nvSpPr>
        <p:spPr>
          <a:xfrm>
            <a:off x="2041855" y="2672791"/>
            <a:ext cx="506943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10-K &amp; 10-Q raporları (2.5B token) + earnings call transcriptleri (1.3B) + analyst reports (1.1B); toplam yaklaşık 4.9B token finans communication corpus</a:t>
            </a:r>
            <a:endParaRPr lang="en-US" sz="1045" dirty="0"/>
          </a:p>
        </p:txBody>
      </p:sp>
      <p:sp>
        <p:nvSpPr>
          <p:cNvPr id="13" name="Text 11"/>
          <p:cNvSpPr/>
          <p:nvPr/>
        </p:nvSpPr>
        <p:spPr>
          <a:xfrm>
            <a:off x="7116775" y="2672791"/>
            <a:ext cx="488655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PhraseBank/Twitter yerine kurumsal rapor, çağrı ve analist raporu ağırlıklı. Yeni deney için daha bağımsız finans-özel encoder alternatifi olabilir.</a:t>
            </a:r>
            <a:endParaRPr lang="en-US" sz="1045" dirty="0"/>
          </a:p>
        </p:txBody>
      </p:sp>
      <p:sp>
        <p:nvSpPr>
          <p:cNvPr id="14" name="Text 12"/>
          <p:cNvSpPr/>
          <p:nvPr/>
        </p:nvSpPr>
        <p:spPr>
          <a:xfrm>
            <a:off x="441655" y="3331159"/>
            <a:ext cx="159471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FinGPT sentiment ailesi</a:t>
            </a:r>
            <a:endParaRPr lang="en-US" sz="1045" dirty="0"/>
          </a:p>
        </p:txBody>
      </p:sp>
      <p:sp>
        <p:nvSpPr>
          <p:cNvPr id="15" name="Text 13"/>
          <p:cNvSpPr/>
          <p:nvPr/>
        </p:nvSpPr>
        <p:spPr>
          <a:xfrm>
            <a:off x="2041855" y="3331159"/>
            <a:ext cx="506943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FinGPT framework’ü ve fingpt-sentiment-train instruction seti; örneklerde finans haberleri, tweetler ve çok sınıflı sentiment promptları bulunuyor. Kaynak havuzunda FPB / FiQA / Twitter Financial News benzeri benchmarklarla örtüşme ihtimali kontrol edilmeli.</a:t>
            </a:r>
            <a:endParaRPr lang="en-US" sz="1045" dirty="0"/>
          </a:p>
        </p:txBody>
      </p:sp>
      <p:sp>
        <p:nvSpPr>
          <p:cNvPr id="16" name="Text 14"/>
          <p:cNvSpPr/>
          <p:nvPr/>
        </p:nvSpPr>
        <p:spPr>
          <a:xfrm>
            <a:off x="7116775" y="3331159"/>
            <a:ext cx="488655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FinGPT’yi bağımsız model diye kullanmadan önce hangi sürümün hangi veriyle instruction-tune edildiği yazılmalı. Bizim Twitter/FPB ile örtüşme olursa contamination riski olarak not edilmeli.</a:t>
            </a:r>
            <a:endParaRPr lang="en-US" sz="1045" dirty="0"/>
          </a:p>
        </p:txBody>
      </p:sp>
      <p:sp>
        <p:nvSpPr>
          <p:cNvPr id="17" name="Text 15"/>
          <p:cNvSpPr/>
          <p:nvPr/>
        </p:nvSpPr>
        <p:spPr>
          <a:xfrm>
            <a:off x="441655" y="3989527"/>
            <a:ext cx="159471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General LLM / NLI</a:t>
            </a:r>
            <a:endParaRPr lang="en-US" sz="1045" dirty="0"/>
          </a:p>
        </p:txBody>
      </p:sp>
      <p:sp>
        <p:nvSpPr>
          <p:cNvPr id="18" name="Text 16"/>
          <p:cNvSpPr/>
          <p:nvPr/>
        </p:nvSpPr>
        <p:spPr>
          <a:xfrm>
            <a:off x="2041855" y="3989527"/>
            <a:ext cx="506943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Genel dil, NLI veya instruction verisi; finans-özel sentiment eğitimi sınırlı olabilir</a:t>
            </a:r>
            <a:endParaRPr lang="en-US" sz="1045" dirty="0"/>
          </a:p>
        </p:txBody>
      </p:sp>
      <p:sp>
        <p:nvSpPr>
          <p:cNvPr id="19" name="Text 17"/>
          <p:cNvSpPr/>
          <p:nvPr/>
        </p:nvSpPr>
        <p:spPr>
          <a:xfrm>
            <a:off x="7116775" y="3989527"/>
            <a:ext cx="4886554" cy="65288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5" dirty="0">
                <a:solidFill>
                  <a:srgbClr val="24364B"/>
                </a:solidFill>
              </a:rPr>
              <a:t>Etiketleme yardımcısı olarak kullanılabilir; ama tek başına gold-label kaynağı kabul edilmemeli.</a:t>
            </a:r>
            <a:endParaRPr lang="en-US" sz="1045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10835640" cy="713232"/>
          </a:xfrm>
          <a:prstGeom prst="rect">
            <a:avLst/>
          </a:prstGeom>
          <a:solidFill>
            <a:srgbClr val="FFF3D7"/>
          </a:solidFill>
          <a:ln w="15240">
            <a:solidFill>
              <a:srgbClr val="B779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Cuma cümlesi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“FinBERT/FinGPT gibi modelleri sadece isim olarak değil, hangi veriyle eğitildiklerine göre değerlendireceğiz; kendi veri setlerimizle örtüşme varsa bunu metodoloji sınırlılığı ve deney tasarımı kriteri olarak ele alacağız.”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Kaynak notları ve URL dayanakları son slaytta verilmiştir.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Riskler ve kontrol mekanizmaları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Plan uygulanabilir; ama savunulabilir olması için açık kontrol noktaları gerekiyor.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3520440" cy="1143000"/>
          </a:xfrm>
          <a:prstGeom prst="rect">
            <a:avLst/>
          </a:prstGeom>
          <a:solidFill>
            <a:srgbClr val="FFF3D7"/>
          </a:solidFill>
          <a:ln w="15240">
            <a:solidFill>
              <a:srgbClr val="B779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Risk 1: Veri çok azalabilir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3/3 consensus katı olursa çok örnek elenebilir. Çözüm: 3/3 ana set, 2/3 sensitivity analysis.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3520440" cy="1143000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Risk 2: Label semantics karışabilir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FinGPT tarzı market-reaction label ile insan sentiment etiketi aynı şey olmayabilir. Çözüm: annotation guideline.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38160" y="1463040"/>
            <a:ext cx="3520440" cy="1143000"/>
          </a:xfrm>
          <a:prstGeom prst="rect">
            <a:avLst/>
          </a:prstGeom>
          <a:solidFill>
            <a:srgbClr val="FEE4E2"/>
          </a:solidFill>
          <a:ln w="15240">
            <a:solidFill>
              <a:srgbClr val="B4231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Risk 3: Data leakage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Dış veriyi train’e eklerken aynı kaynaktan test yapmak yanıltabilir. Çözüm: önce locked split.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5303520" cy="1005840"/>
          </a:xfrm>
          <a:prstGeom prst="rect">
            <a:avLst/>
          </a:prstGeom>
          <a:solidFill>
            <a:srgbClr val="E7F4EF"/>
          </a:solidFill>
          <a:ln w="15240">
            <a:solidFill>
              <a:srgbClr val="0E7A5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</a:rPr>
              <a:t>Risk 4: Model etiketi modele öğretmek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Aynı modelle etiketleyip aynı aileyle eğitmek bias yaratabilir. Çözüm: üç farklı model ailesi + insan audit alt örneklemi.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3337560"/>
            <a:ext cx="5303520" cy="1005840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Risk 5: Çıktı yorumu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Expanded train internal F1’i düşürürse bu başarısızlık değil; robustness–specialization trade-off olabilir.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956048"/>
            <a:ext cx="10058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364B"/>
                </a:solidFill>
              </a:rPr>
              <a:t>Raporlanacak: kaç örnek 3/3 geçti, kaç örnek 2/3 kaldı, hangi sınıfta anlaşmazlık yüksek.
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364B"/>
                </a:solidFill>
              </a:rPr>
              <a:t>Her deneyde aynı test split ve Macro-F1 + sınıf bazlı F1 kullanılacak.
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8 haftalık uygulanabilir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Yeni öneriler mevcut planla birleştirildi.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9671" y="1337767"/>
            <a:ext cx="908914" cy="433426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Hafta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484071" y="1337767"/>
            <a:ext cx="4977994" cy="433426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İş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67551" y="1337767"/>
            <a:ext cx="4795114" cy="433426"/>
          </a:xfrm>
          <a:prstGeom prst="rect">
            <a:avLst/>
          </a:prstGeom>
          <a:solidFill>
            <a:srgbClr val="152238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Çıktı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9671" y="1776679"/>
            <a:ext cx="9089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484071" y="1776679"/>
            <a:ext cx="497799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FinBERT/FinGPT kaynak araştırması; veri split protokolü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467551" y="1776679"/>
            <a:ext cx="47951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Model-kaynak tablosu + locked split planı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69671" y="2215591"/>
            <a:ext cx="9089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2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484071" y="2215591"/>
            <a:ext cx="497799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3 modelle yeniden etiketleme pipeline’ı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467551" y="2215591"/>
            <a:ext cx="47951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Tüm veri için label agreement dosyaları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69671" y="2654503"/>
            <a:ext cx="9089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3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484071" y="2654503"/>
            <a:ext cx="497799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Consensus filtreleme ve audit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67551" y="2654503"/>
            <a:ext cx="47951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3/3 clean set + 2/3 sensitivity set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69671" y="3093415"/>
            <a:ext cx="9089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4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484071" y="3093415"/>
            <a:ext cx="497799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Baseline ve clean-train tekrar eğitimleri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467551" y="3093415"/>
            <a:ext cx="47951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Temiz tekrar sonuçları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69671" y="3532327"/>
            <a:ext cx="9089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5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484071" y="3532327"/>
            <a:ext cx="497799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Expanded-train deneyleri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467551" y="3532327"/>
            <a:ext cx="47951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Yeni internal + external test sonuçları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69671" y="3971239"/>
            <a:ext cx="9089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6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484071" y="3971239"/>
            <a:ext cx="497799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Data composition / fine-tuning miktarı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467551" y="3971239"/>
            <a:ext cx="47951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Robustness grafikleri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69671" y="4410151"/>
            <a:ext cx="9089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7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484071" y="4410151"/>
            <a:ext cx="497799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Error analysis + label semantics + calibration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467551" y="4410151"/>
            <a:ext cx="47951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Neden-sonuç tartışması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69671" y="4849063"/>
            <a:ext cx="9089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8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484071" y="4849063"/>
            <a:ext cx="497799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Tez revizyonu ve makale taslağı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467551" y="4849063"/>
            <a:ext cx="4795114" cy="433426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64B"/>
                </a:solidFill>
              </a:rPr>
              <a:t>Güncel metodoloji, bulgular, discussion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Cuma günü sunulacak net yapılabilecekler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Hocaya kısa ve ikna edici kapanış.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5212080" cy="960120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1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Eğitim ve dış test veri setlerini üç farklı modelle yeniden etiketleyip sadece tutarlı örneklerden temiz veri havuzu oluşturacağız.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5074920" cy="960120"/>
          </a:xfrm>
          <a:prstGeom prst="rect">
            <a:avLst/>
          </a:prstGeom>
          <a:solidFill>
            <a:srgbClr val="E7F4EF"/>
          </a:solidFill>
          <a:ln w="15240">
            <a:solidFill>
              <a:srgbClr val="0E7A5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</a:rPr>
              <a:t>2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FinBERT ve FinGPT’nin eğitim/adaptasyon kaynaklarını çıkarıp kendi verimizle örtüşme ve metodolojik anlamını yazacağız.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5212080" cy="960120"/>
          </a:xfrm>
          <a:prstGeom prst="rect">
            <a:avLst/>
          </a:prstGeom>
          <a:solidFill>
            <a:srgbClr val="FFF3D7"/>
          </a:solidFill>
          <a:ln w="15240">
            <a:solidFill>
              <a:srgbClr val="B779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3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S&amp;P/Reuters’ın bir bölümünü kontrollü biçimde eğitime ekleyip, ayrılmış kilitli external testte tekrar değerlendireceğiz.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788920"/>
            <a:ext cx="5074920" cy="960120"/>
          </a:xfrm>
          <a:prstGeom prst="rect">
            <a:avLst/>
          </a:prstGeom>
          <a:solidFill>
            <a:srgbClr val="FEE4E2"/>
          </a:solidFill>
          <a:ln w="15240">
            <a:solidFill>
              <a:srgbClr val="B42318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</a:rPr>
              <a:t>4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Yeni deneylerin ana sorusu: veri çeşitliliği domain shift etkisini azaltıyor mu, yoksa internal performans–external robustness trade-off’u mu oluşuyor?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101041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238"/>
                </a:solidFill>
              </a:rPr>
              <a:t>Beklenen akademik katkı: Tez, basit model karşılaştırmasından çıkarak etiket güvenilirliği, veri kompozisyonu ve cross-domain generalization odaklı daha sağlam bir çalışmaya dönüşür.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Kaynak notları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Cuma sunumundaki araştırma dayanakları.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0652760" cy="566928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ProsusAI/finbert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Reuters TRC2 alt kümesiyle finansal language-model adaptasyonu; Financial PhraseBank ile sentiment fine-tuning.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02536"/>
            <a:ext cx="10652760" cy="566928"/>
          </a:xfrm>
          <a:prstGeom prst="rect">
            <a:avLst/>
          </a:prstGeom>
          <a:solidFill>
            <a:srgbClr val="E7F4EF"/>
          </a:solidFill>
          <a:ln w="15240">
            <a:solidFill>
              <a:srgbClr val="0E7A5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</a:rPr>
              <a:t>Prosus AI blog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BERT’in Reuters TRC2 finans corpus’u ile domain-adaptive şekilde daha fazla eğitildiğini açıklar.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10652760" cy="566928"/>
          </a:xfrm>
          <a:prstGeom prst="rect">
            <a:avLst/>
          </a:prstGeom>
          <a:solidFill>
            <a:srgbClr val="FFF3D7"/>
          </a:solidFill>
          <a:ln w="15240">
            <a:solidFill>
              <a:srgbClr val="B779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yiyanghkust/finbert-tone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4.9B token: 10-K/10-Q raporları, earnings call transcriptleri ve analyst reports.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55848"/>
            <a:ext cx="10652760" cy="566928"/>
          </a:xfrm>
          <a:prstGeom prst="rect">
            <a:avLst/>
          </a:prstGeom>
          <a:solidFill>
            <a:srgbClr val="E8EEF9"/>
          </a:solidFill>
          <a:ln w="15240">
            <a:solidFill>
              <a:srgbClr val="2457C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57C5"/>
                </a:solidFill>
              </a:rPr>
              <a:t>FinGPT/fingpt-sentiment-train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Instruction / input / output yapısında finans haberleri ve tweet tabanlı sentiment örnekleri.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032504"/>
            <a:ext cx="10652760" cy="566928"/>
          </a:xfrm>
          <a:prstGeom prst="rect">
            <a:avLst/>
          </a:prstGeom>
          <a:solidFill>
            <a:srgbClr val="E7F4EF"/>
          </a:solidFill>
          <a:ln w="15240">
            <a:solidFill>
              <a:srgbClr val="0E7A5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7A5F"/>
                </a:solidFill>
              </a:rPr>
              <a:t>AI4Finance FinGPT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Açık kaynak finansal LLM ekosistemi ve veri-merkezli geliştirme yaklaşımı.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709160"/>
            <a:ext cx="10652760" cy="566928"/>
          </a:xfrm>
          <a:prstGeom prst="rect">
            <a:avLst/>
          </a:prstGeom>
          <a:solidFill>
            <a:srgbClr val="FFF3D7"/>
          </a:solidFill>
          <a:ln w="15240">
            <a:solidFill>
              <a:srgbClr val="B7791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</a:rPr>
              <a:t>Metodoloji notu
</a:t>
            </a:r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FinGPT sürümüne göre FPB, FiQA ve Twitter Financial News gibi benchmarklarla örtüşme ayrıca doğrulanmalı.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Kaynaklar: ProsusAI/finBERT GitHub; Hugging Face ProsusAI/finbert; Prosus AI Medium blog; Hugging Face yiyanghkust/finbert-tone; Hugging Face FinGPT/fingpt-sentiment-train; AI4Finance-Foundation/FinGPT.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4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Hocaya Sunulacak Güncellenmiş 2 Aylık Tez Geliştirme Planı</dc:title>
  <dc:subject>Tez geliştirme planı</dc:subject>
  <dc:creator>OpenAI</dc:creator>
  <cp:lastModifiedBy>OpenAI</cp:lastModifiedBy>
  <cp:revision>1</cp:revision>
  <dcterms:created xsi:type="dcterms:W3CDTF">2026-08-24T21:12:24Z</dcterms:created>
  <dcterms:modified xsi:type="dcterms:W3CDTF">2026-08-24T21:12:24Z</dcterms:modified>
</cp:coreProperties>
</file>