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107899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Finansal Duygu Analizinde Transformer Modellerinin Karşılaştırılması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208483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FinBERT, BERT, DistilBERT ve RoBERTa: İç test başarısı, dış genelleme ve verimlilik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962656"/>
            <a:ext cx="6949440" cy="658368"/>
          </a:xfrm>
          <a:prstGeom prst="roundRect">
            <a:avLst>
              <a:gd name="adj" fmla="val 11111"/>
            </a:avLst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3072384"/>
            <a:ext cx="66202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Ana soru: Finans için özel model gerçekten her zaman en iyi mi?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0" y="5303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Serkan Kaymak • Tez Savunması • Cuma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ve araştırma sorusu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Çalışmanın çıkış noktası FinBERT beklentisini test etmekti.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73152" cy="2743200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Başlangıç sezgisi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1892808"/>
            <a:ext cx="31546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FinBERT finansal metinlerle önceden eğitildiği için finansal sentiment görevinde BERT/RoBERTa gibi genel modellerden daha iyi olmalı.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389120" y="14173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417320"/>
            <a:ext cx="73152" cy="2743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Genişleyen soru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892808"/>
            <a:ext cx="31546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Alan-özgü ön eğitim mi daha önemli, yoksa hedef veri setine yapılan task-specific fine-tuning mi?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17320"/>
            <a:ext cx="73152" cy="2743200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93608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Asıl katkı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93608" y="1892808"/>
            <a:ext cx="315468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İç testte yüksek skor alan model, S&amp;P ve Reuters gibi farklı finansal kaynaklarda da başarılı kalıyor mu?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371600" y="4800600"/>
            <a:ext cx="9418320" cy="658368"/>
          </a:xfrm>
          <a:prstGeom prst="roundRect">
            <a:avLst>
              <a:gd name="adj" fmla="val 11111"/>
            </a:avLst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36192" y="4910328"/>
            <a:ext cx="908913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Tezin hikâyesi: model başarısı yalnızca mimariye değil, veri dağılımına ve etiket semantiğine de bağlı.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Veri ve değerlendirme metriği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Train verisi hazır etiketli; dış veriler sadece değerlendirme için kullanıldı.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20116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45389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78"/>
                </a:solidFill>
              </a:rPr>
              <a:t>11.931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18288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</a:rPr>
              <a:t>Twitter Financial News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886968" y="20756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C677D"/>
                </a:solidFill>
              </a:rPr>
              <a:t>hazır etiketli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2971800" y="1325880"/>
            <a:ext cx="20116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45389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</a:rPr>
              <a:t>4.846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81528" y="18288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</a:rPr>
              <a:t>Financial PhraseBank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081528" y="20756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C677D"/>
                </a:solidFill>
              </a:rPr>
              <a:t>hazır etiketli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5166360" y="1325880"/>
            <a:ext cx="20116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145389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941"/>
                </a:solidFill>
              </a:rPr>
              <a:t>16.777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76088" y="18288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</a:rPr>
              <a:t>Toplam veri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276088" y="20756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C677D"/>
                </a:solidFill>
              </a:rPr>
              <a:t>3 sınıf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7360920" y="1325880"/>
            <a:ext cx="20116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70648" y="145389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78"/>
                </a:solidFill>
              </a:rPr>
              <a:t>2.386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70648" y="18288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</a:rPr>
              <a:t>Test seti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7470648" y="20756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C677D"/>
                </a:solidFill>
              </a:rPr>
              <a:t>iç test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9555480" y="1325880"/>
            <a:ext cx="20116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65208" y="1453896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93F"/>
                </a:solidFill>
              </a:rPr>
              <a:t>~%63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65208" y="182880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</a:rPr>
              <a:t>Neutral oranı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9665208" y="20756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C677D"/>
                </a:solidFill>
              </a:rPr>
              <a:t>dengesizlik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868680" y="2971800"/>
            <a:ext cx="4937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2971800"/>
            <a:ext cx="73152" cy="2331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9848" y="311810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Neden Macro-F1?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69848" y="3447288"/>
            <a:ext cx="461772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Veri dengesiz olduğu için accuracy tek başına yanıltıcı olabilir. Macro-F1, Negative / Neutral / Positive sınıflarını eşit ağırlıkla değerlendirir.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355080" y="2971800"/>
            <a:ext cx="49377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2971800"/>
            <a:ext cx="73152" cy="2331720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56248" y="311810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Kritik ayrım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56248" y="3447288"/>
            <a:ext cx="461772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Train: Twitter + PhraseBank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Sadece external test: S&amp;P 500, Reuters, Synthetic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Bu dış veri setleri train’e sokulmadı.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Deney akışı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Önce baseline, sonra fine-tuning, sonra domain generalization.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441448" cy="1097280"/>
          </a:xfrm>
          <a:prstGeom prst="roundRect">
            <a:avLst>
              <a:gd name="adj" fmla="val 6667"/>
            </a:avLst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75104"/>
            <a:ext cx="229514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Hazır etiketli veri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Twitter + PhraseBank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18688" y="206654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C677D"/>
                </a:solidFill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83864" y="1828800"/>
            <a:ext cx="2441448" cy="1097280"/>
          </a:xfrm>
          <a:prstGeom prst="roundRect">
            <a:avLst>
              <a:gd name="adj" fmla="val 666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975104"/>
            <a:ext cx="229514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Model eğitimi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FinBERT / BERT / DistilBERT / RoBERTa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71032" y="206654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C677D"/>
                </a:solidFill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36208" y="1828800"/>
            <a:ext cx="2441448" cy="1097280"/>
          </a:xfrm>
          <a:prstGeom prst="roundRect">
            <a:avLst>
              <a:gd name="adj" fmla="val 6667"/>
            </a:avLst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75104"/>
            <a:ext cx="229514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İç test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2.386 örnek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723376" y="2066544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C677D"/>
                </a:solidFill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988552" y="1828800"/>
            <a:ext cx="2441448" cy="1097280"/>
          </a:xfrm>
          <a:prstGeom prst="roundRect">
            <a:avLst>
              <a:gd name="adj" fmla="val 6667"/>
            </a:avLst>
          </a:prstGeom>
          <a:solidFill>
            <a:srgbClr val="B4493F"/>
          </a:solidFill>
          <a:ln w="12700">
            <a:solidFill>
              <a:srgbClr val="B449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1704" y="1975104"/>
            <a:ext cx="229514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Dış test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S&amp;P / Reuters / Synthetic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914400" y="36576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657600"/>
            <a:ext cx="73152" cy="1463040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8039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Baseline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4133088"/>
            <a:ext cx="28803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Original FinBERT fine-tune edilmeden test edildi.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480560" y="36576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657600"/>
            <a:ext cx="73152" cy="1463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8039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Robustluk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81728" y="4133088"/>
            <a:ext cx="28803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Aynı eğitimler 3 seed ile tekrarlandı.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8046720" y="36576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3657600"/>
            <a:ext cx="73152" cy="1463040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38039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Genelleme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47888" y="4133088"/>
            <a:ext cx="28803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S&amp;P ve Reuters ile dağılım dışı performans incelendi.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İç test: fine-tuning büyük fark yarattı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Original FinBERT iyi bir başlangıç; ancak göreve özel fine-tuning şart.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0120" y="1463040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Original FinBERT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1481328"/>
            <a:ext cx="685800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4408" y="1481328"/>
            <a:ext cx="5177028" cy="256032"/>
          </a:xfrm>
          <a:prstGeom prst="rect">
            <a:avLst/>
          </a:prstGeom>
          <a:solidFill>
            <a:srgbClr val="5C677D"/>
          </a:solidFill>
          <a:ln w="12700">
            <a:solidFill>
              <a:srgbClr val="5C67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13848" y="1463040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677D"/>
                </a:solidFill>
              </a:rPr>
              <a:t>0.6794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029968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DistilBERT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2048256"/>
            <a:ext cx="685800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2048256"/>
            <a:ext cx="6262116" cy="2560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3848" y="2029968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0.8218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596896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BERT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2615184"/>
            <a:ext cx="685800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2615184"/>
            <a:ext cx="6384036" cy="256032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13848" y="2596896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78"/>
                </a:solidFill>
              </a:rPr>
              <a:t>0.8378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163824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Fine-tuned FinBERT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3182112"/>
            <a:ext cx="685800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3182112"/>
            <a:ext cx="6486144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13848" y="3163824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0.8512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730752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RoBERTa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3749040"/>
            <a:ext cx="685800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4408" y="3749040"/>
            <a:ext cx="6592062" cy="2560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13848" y="3730752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941"/>
                </a:solidFill>
              </a:rPr>
              <a:t>0.8651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37360" y="4663440"/>
            <a:ext cx="8869680" cy="658368"/>
          </a:xfrm>
          <a:prstGeom prst="roundRect">
            <a:avLst>
              <a:gd name="adj" fmla="val 11111"/>
            </a:avLst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01952" y="4773168"/>
            <a:ext cx="85404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FinBERT: 0.6794 → 0.8512; ama RoBERTa iç testte birinci.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Üç seed sonucu: RoBERTa üstünlüğü korundu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Tek koşuya bağlı olmayan daha güvenilir karşılaştırma.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1625346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DistilBERT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18688" y="1643634"/>
            <a:ext cx="667512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18688" y="1643634"/>
            <a:ext cx="6104768" cy="2560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1625346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C46A"/>
                </a:solidFill>
              </a:rPr>
              <a:t>0.8231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242566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BERT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2260854"/>
            <a:ext cx="667512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2260854"/>
            <a:ext cx="6227145" cy="256032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85248" y="2242566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78"/>
                </a:solidFill>
              </a:rPr>
              <a:t>0.8396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859786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Fine-tuned FinBERT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18688" y="2878074"/>
            <a:ext cx="667512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2878074"/>
            <a:ext cx="6289446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85248" y="2859786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0.848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477006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RoBERTa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18688" y="3495294"/>
            <a:ext cx="667512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3495294"/>
            <a:ext cx="6473383" cy="2560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85248" y="3477006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941"/>
                </a:solidFill>
              </a:rPr>
              <a:t>0.8728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" y="434340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343400"/>
            <a:ext cx="73152" cy="1143000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1288" y="4489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Yorum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61288" y="4818888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RoBERTa 0.8728 ± 0.0068 ile en güçlü iç-test modeli oldu.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217920" y="434340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343400"/>
            <a:ext cx="73152" cy="1143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489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İstatistiksel test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419088" y="4818888"/>
            <a:ext cx="44805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Prediction-level karşılaştırmalar bazı seed’lerde farkı destekledi.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Dış değerlendirme: train’e sokulmayan veri setleri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Asıl soru: model farklı finansal kaynaklarda da başarılı kalıyor mu?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60120" y="1417320"/>
            <a:ext cx="237744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54533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78"/>
                </a:solidFill>
              </a:rPr>
              <a:t>1.060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69848" y="19202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</a:rPr>
              <a:t>S&amp;P 500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1069848" y="216712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C677D"/>
                </a:solidFill>
              </a:rPr>
              <a:t>LLM etiketli external test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611880" y="1417320"/>
            <a:ext cx="237744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154533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493F"/>
                </a:solidFill>
              </a:rPr>
              <a:t>5.000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21608" y="19202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</a:rPr>
              <a:t>Reuters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3721608" y="216712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C677D"/>
                </a:solidFill>
              </a:rPr>
              <a:t>LLM etiketli external test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237744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54533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</a:rPr>
              <a:t>3.000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73368" y="19202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</a:rPr>
              <a:t>Synthetic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6373368" y="216712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C677D"/>
                </a:solidFill>
              </a:rPr>
              <a:t>etiket koşullu üretim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915400" y="1417320"/>
            <a:ext cx="237744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5128" y="1545336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941"/>
                </a:solidFill>
              </a:rPr>
              <a:t>Yok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25128" y="192024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2A43"/>
                </a:solidFill>
              </a:rPr>
              <a:t>Train leakage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9025128" y="216712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5C677D"/>
                </a:solidFill>
              </a:rPr>
              <a:t>external setler eğitime girmedi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1234440" y="3840480"/>
            <a:ext cx="9646920" cy="749808"/>
          </a:xfrm>
          <a:prstGeom prst="roundRect">
            <a:avLst>
              <a:gd name="adj" fmla="val 9756"/>
            </a:avLst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99032" y="3950208"/>
            <a:ext cx="931773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 bölüm tezi model yarışından çıkarıp domain generalization çalışmasına dönüştürdü.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S&amp;P 500 sonucu: RoBERTa dış veride de güçlü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İç test sıralaması büyük ölçüde korundu; ama performans düştü.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463040"/>
            <a:ext cx="224028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DistilBERT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8688" y="1481328"/>
            <a:ext cx="681228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18688" y="1481328"/>
            <a:ext cx="6018850" cy="2560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22408" y="1463040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0.751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29968"/>
            <a:ext cx="224028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Original FinBERT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2048256"/>
            <a:ext cx="681228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2048256"/>
            <a:ext cx="6027666" cy="256032"/>
          </a:xfrm>
          <a:prstGeom prst="rect">
            <a:avLst/>
          </a:prstGeom>
          <a:solidFill>
            <a:srgbClr val="5C677D"/>
          </a:solidFill>
          <a:ln w="12700">
            <a:solidFill>
              <a:srgbClr val="5C67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22408" y="2029968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C677D"/>
                </a:solidFill>
              </a:rPr>
              <a:t>0.7521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596896"/>
            <a:ext cx="224028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BERT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18688" y="2615184"/>
            <a:ext cx="681228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2615184"/>
            <a:ext cx="6050106" cy="256032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22408" y="2596896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78"/>
                </a:solidFill>
              </a:rPr>
              <a:t>0.7549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163824"/>
            <a:ext cx="224028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Fine-tuned FinBERT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8688" y="3182112"/>
            <a:ext cx="681228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3182112"/>
            <a:ext cx="6189557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22408" y="3163824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0.7723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730752"/>
            <a:ext cx="224028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RoBERTa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8688" y="3749040"/>
            <a:ext cx="681228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18688" y="3749040"/>
            <a:ext cx="6527767" cy="2560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22408" y="3730752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941"/>
                </a:solidFill>
              </a:rPr>
              <a:t>0.8145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0" y="4663440"/>
            <a:ext cx="8869680" cy="658368"/>
          </a:xfrm>
          <a:prstGeom prst="roundRect">
            <a:avLst>
              <a:gd name="adj" fmla="val 11111"/>
            </a:avLst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10512" y="4773168"/>
            <a:ext cx="85404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S&amp;P: RoBERTa hâlâ birinci; domain değişince skor 0.87’den 0.81’e indi.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Reuters sonucu: ana kırılma noktası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Fine-tuning iç testte kazandırdı; Reuters’ta avantaj tersine döndü.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22860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DistilBERT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4408" y="1389888"/>
            <a:ext cx="676656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4408" y="1389888"/>
            <a:ext cx="5515686" cy="2560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22408" y="1371600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C46A"/>
                </a:solidFill>
              </a:rPr>
              <a:t>0.5869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938528"/>
            <a:ext cx="22860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Fine-tuned FinBERT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956816"/>
            <a:ext cx="676656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1956816"/>
            <a:ext cx="573372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22408" y="1938528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0.6101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505456"/>
            <a:ext cx="22860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BERT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2523744"/>
            <a:ext cx="676656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2523744"/>
            <a:ext cx="5761914" cy="256032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22408" y="2505456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78"/>
                </a:solidFill>
              </a:rPr>
              <a:t>0.6131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072384"/>
            <a:ext cx="22860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RoBERTa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3090672"/>
            <a:ext cx="676656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4408" y="3090672"/>
            <a:ext cx="6003442" cy="2560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22408" y="3072384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941"/>
                </a:solidFill>
              </a:rPr>
              <a:t>0.6388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639312"/>
            <a:ext cx="228600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Original FinBERT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3657600"/>
            <a:ext cx="676656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4408" y="3657600"/>
            <a:ext cx="6452667" cy="256032"/>
          </a:xfrm>
          <a:prstGeom prst="rect">
            <a:avLst/>
          </a:prstGeom>
          <a:solidFill>
            <a:srgbClr val="B4493F"/>
          </a:solidFill>
          <a:ln w="12700">
            <a:solidFill>
              <a:srgbClr val="B44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22408" y="3639312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493F"/>
                </a:solidFill>
              </a:rPr>
              <a:t>0.6866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234440" y="4572000"/>
            <a:ext cx="9692640" cy="768096"/>
          </a:xfrm>
          <a:prstGeom prst="roundRect">
            <a:avLst>
              <a:gd name="adj" fmla="val 9524"/>
            </a:avLst>
          </a:prstGeom>
          <a:solidFill>
            <a:srgbClr val="B4493F"/>
          </a:solidFill>
          <a:ln w="12700">
            <a:solidFill>
              <a:srgbClr val="B449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99032" y="4681728"/>
            <a:ext cx="936345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En önemli bulgu: Original FinBERT, Reuters’ta fine-tuned FinBERT’i geçti.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Neden düştü? Neutral sınıfı ve etiket semantiği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Problem yalnızca model değil; veri kaynağı ve sentiment tanımı da değişiyor.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504188"/>
            <a:ext cx="214884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Internal Neutral F1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35808" y="1522476"/>
            <a:ext cx="278892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35808" y="1522476"/>
            <a:ext cx="2553814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16168" y="1504188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9D8F"/>
                </a:solidFill>
              </a:rPr>
              <a:t>0.9157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281428"/>
            <a:ext cx="214884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S&amp;P Neutral F1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5808" y="2299716"/>
            <a:ext cx="278892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35808" y="2299716"/>
            <a:ext cx="2102288" cy="256032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16168" y="2281428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5E78"/>
                </a:solidFill>
              </a:rPr>
              <a:t>0.7538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058668"/>
            <a:ext cx="214884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Reuters Neutral F1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35808" y="3076956"/>
            <a:ext cx="278892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35808" y="3076956"/>
            <a:ext cx="1471713" cy="256032"/>
          </a:xfrm>
          <a:prstGeom prst="rect">
            <a:avLst/>
          </a:prstGeom>
          <a:solidFill>
            <a:srgbClr val="B4493F"/>
          </a:solidFill>
          <a:ln w="12700">
            <a:solidFill>
              <a:srgbClr val="B449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16168" y="3058668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493F"/>
                </a:solidFill>
              </a:rPr>
              <a:t>0.5277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835908"/>
            <a:ext cx="214884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102A43"/>
                </a:solidFill>
              </a:rPr>
              <a:t>Synthetic Neutral F1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35808" y="3854196"/>
            <a:ext cx="278892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35808" y="3854196"/>
            <a:ext cx="2754337" cy="256032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3835908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941"/>
                </a:solidFill>
              </a:rPr>
              <a:t>0.9876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1298448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1298448"/>
            <a:ext cx="73152" cy="1188720"/>
          </a:xfrm>
          <a:prstGeom prst="rect">
            <a:avLst/>
          </a:prstGeom>
          <a:solidFill>
            <a:srgbClr val="B4493F"/>
          </a:solidFill>
          <a:ln w="12700">
            <a:solidFill>
              <a:srgbClr val="B449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14447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Hata paterni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96328" y="1773936"/>
            <a:ext cx="4023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İç testte hataların büyük bölümü Neutral ↔ Positive/Negative sınırındaydı.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995160" y="2743200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95160" y="2743200"/>
            <a:ext cx="73152" cy="1188720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96328" y="28895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Confidence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96328" y="3218688"/>
            <a:ext cx="4023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Yanlış tahminlerin önemli kısmında model yine yüksek güven gösterdi.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995160" y="4187952"/>
            <a:ext cx="4343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4187952"/>
            <a:ext cx="73152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96328" y="4334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Yorum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96328" y="4663440"/>
            <a:ext cx="4023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Farklı veri setlerinde neutral/positive/negative semantiği birebir aynı olmayabilir.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PhraseBank ve sentetik veri: daha fazla veri her zaman çözüm değil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Ek veri ve kolay benchmark sonuçları dikkatle yorumlanmalı.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325880"/>
            <a:ext cx="73152" cy="3474720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472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PhraseBank ablasyonu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6968" y="1801368"/>
            <a:ext cx="306324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RoBERTa’da Twitter-only bazı durumlarda daha iyi çıktı.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Internal: 0.8810 → 0.8679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Reuters: 0.6465 → 0.6305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407408" y="132588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325880"/>
            <a:ext cx="73152" cy="3474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472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Sentetik test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08576" y="1801368"/>
            <a:ext cx="306324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3.000 sentetik örnekte RoBERTa ≈ 0.9957.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Ama Reuters sonucu çok daha düşük kaldı.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119872" y="1325880"/>
            <a:ext cx="3383280" cy="34747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9872" y="1325880"/>
            <a:ext cx="73152" cy="3474720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4721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Zero-shot NLI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1801368"/>
            <a:ext cx="3063240" cy="2880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S&amp;P’de BART-MNLI ≈ 0.558; diğerleri daha düşük.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Fine-tuned modellerin gerisinde kaldılar.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1417320" y="5230368"/>
            <a:ext cx="9326880" cy="566928"/>
          </a:xfrm>
          <a:prstGeom prst="roundRect">
            <a:avLst>
              <a:gd name="adj" fmla="val 12903"/>
            </a:avLst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81912" y="5340096"/>
            <a:ext cx="89976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Sonuç: veri kaynağı, etiket tanımı ve gerçek dünya dağılımı performansı ciddi etkiliyor.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Verimlilik: doğruluk-maliyet dengesi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En iyi F1 ile en hızlı model aynı olmak zorunda değil.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60120" y="1751076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BERT throughput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64408" y="1769364"/>
            <a:ext cx="265176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4408" y="1769364"/>
            <a:ext cx="1110204" cy="256032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07608" y="1751076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78"/>
                </a:solidFill>
              </a:rPr>
              <a:t>31.4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619756"/>
            <a:ext cx="21945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02A43"/>
                </a:solidFill>
              </a:rPr>
              <a:t>DistilBERT throughput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4408" y="2638044"/>
            <a:ext cx="2651760" cy="256032"/>
          </a:xfrm>
          <a:prstGeom prst="rect">
            <a:avLst/>
          </a:prstGeom>
          <a:solidFill>
            <a:srgbClr val="E7EFF5"/>
          </a:solidFill>
          <a:ln w="12700">
            <a:solidFill>
              <a:srgbClr val="E7E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64408" y="2638044"/>
            <a:ext cx="2485583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07608" y="2619756"/>
            <a:ext cx="5943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9D8F"/>
                </a:solidFill>
              </a:rPr>
              <a:t>70.3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0" y="1600200"/>
            <a:ext cx="3474720" cy="1024128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709928"/>
            <a:ext cx="314553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DistilBERT ≈ 2.24× hızlı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05840" y="365760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657600"/>
            <a:ext cx="73152" cy="1325880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07008" y="38039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RoBERTa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07008" y="4133088"/>
            <a:ext cx="42519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Daha yüksek doğruluk ve daha güçlü iç/dış test performansı.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00800" y="365760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657600"/>
            <a:ext cx="73152" cy="1325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38039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DistilBERT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01968" y="4133088"/>
            <a:ext cx="42519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Daha düşük maliyet, daha yüksek throughput; kaynak kısıtlı sistemlerde avantaj.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Ana sonuç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Çalışmanın tek parça halinde yorumu.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73152" cy="3383280"/>
          </a:xfrm>
          <a:prstGeom prst="rect">
            <a:avLst/>
          </a:prstGeom>
          <a:solidFill>
            <a:srgbClr val="1B5E78"/>
          </a:solidFill>
          <a:ln w="12700">
            <a:solidFill>
              <a:srgbClr val="1B5E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472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801368"/>
            <a:ext cx="310896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Finans alanına özel pretrained model olmak tek başına yeterli değildir. Original FinBERT baseline bunu gösterdi.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325880"/>
            <a:ext cx="73152" cy="3383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1472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0288" y="1801368"/>
            <a:ext cx="310896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Task-specific fine-tuning iç dağılımda performansı ciddi biçimde artırır.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8046720" y="1325880"/>
            <a:ext cx="34290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325880"/>
            <a:ext cx="73152" cy="3383280"/>
          </a:xfrm>
          <a:prstGeom prst="rect">
            <a:avLst/>
          </a:prstGeom>
          <a:solidFill>
            <a:srgbClr val="B4493F"/>
          </a:solidFill>
          <a:ln w="12700">
            <a:solidFill>
              <a:srgbClr val="B449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7888" y="14721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7888" y="1801368"/>
            <a:ext cx="3108960" cy="2788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A43"/>
                </a:solidFill>
              </a:rPr>
              <a:t>Ancak farklı finansal kaynaklarda domain shift ve label semantics nedeniyle bu avantaj azalabilir veya tersine dönebilir.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Sınırlılıklar ve devam planı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C677D"/>
                </a:solidFill>
              </a:rPr>
              <a:t>Tez teslim edildi; sonraki 2 ayda çalışma güçlendirilecek.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996696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</a:rPr>
              <a:t>• S&amp;P ve Reuters etiketleri LLM destekli oluşturuldu; insan doğrulaması eklenecek.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</a:rPr>
              <a:t>• Prediction dosyaları ve istatistiksel test pipeline’ı tamamen temizlenecek.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</a:rPr>
              <a:t>• Fine-tuning miktarı, veri kompozisyonu ve label semantics deneyleri eklenecek.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</a:rPr>
              <a:t>• Calibration, efficiency ve mümkünse LoRA/PEFT analizi ile makale seviyesine taşınacak.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4800600"/>
            <a:ext cx="9418320" cy="685800"/>
          </a:xfrm>
          <a:prstGeom prst="roundRect">
            <a:avLst>
              <a:gd name="adj" fmla="val 10667"/>
            </a:avLst>
          </a:prstGeom>
          <a:solidFill>
            <a:srgbClr val="123A5C"/>
          </a:solidFill>
          <a:ln w="12700">
            <a:solidFill>
              <a:srgbClr val="12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6192" y="4910328"/>
            <a:ext cx="90891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Savunma mesajı: iyi iç test skoru, gerçek dünya genellemesini garanti etmez.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Tez savunması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C677D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 generated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Tez Savunma Sunumu - Serkan Kaymak</dc:title>
  <dc:subject>Financial sentiment thesis presentation</dc:subject>
  <dc:creator>Serkan Kaymak</dc:creator>
  <cp:lastModifiedBy>Serkan Kaymak</cp:lastModifiedBy>
  <cp:revision>1</cp:revision>
  <dcterms:created xsi:type="dcterms:W3CDTF">2026-08-24T17:36:16Z</dcterms:created>
  <dcterms:modified xsi:type="dcterms:W3CDTF">2026-08-24T17:36:16Z</dcterms:modified>
</cp:coreProperties>
</file>