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6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5384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sunumda finansal duygu analizi için farklı transformer modellerini karşılaştırdım. Çıkış noktası FinBERT’in finansal alana özel olduğu için her zaman en iyi olup olmadığını test etmekti. Sonrasında çalışmayı iç test başarısı, dış veri setlerinde genelleme ve verimlilik açısından genişlettim.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 beş ana bölümde anlatacağım. Önce motivasyon ve araştırma sorularını vereceğim. Daha sonra veri setlerini ve deney akışını açıklayacağım. Bulgularda önce iç test başarısına, sonra dış testlerdeki genelleme sorununa geçeceğim. En sonda da hocamla konuştuğumuz devam planını savunma sunumunun sonuna ekledim.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yeni bölüme geçiyorum. GİRİŞ ve MOTİVASYON bölümünde Finansal sentiment neden sıradan metin sınıflandırmadan daha zor? anlatacağım.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Finansal metinlerde sentiment analizi, bir cümlenin basit olumlu veya olumsuz kelimeler içerip içermediğini görmekten ibaret değil. Aynı bilgi finansal bağlama göre farklı anlam taşıyabilir. Örneğin gelir artışı genel olarak olumlu gibi görünür; ancak beklentinin altında kaldıysa piyasa açısından olumsuz yorumlanabilir. Bu yüzden çalışmada modellerin sadece iç testte değil, farklı finansal kaynaklarda nasıl davrandığını da incelemek istedim.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Çalışmanın başlangıç sorusu FinBERT gerçekten finansal sentiment için en iyi model mi idi. FinBERT finansal metinlerle eğitilmiş bir model olduğu için doğal beklenti bu modelin genel BERT veya RoBERTa’dan daha iyi olmasıdır. Ancak tezin asıl sorusu zamanla genişledi: alan-özgü ön eğitim mi daha önemli, yoksa hedef göreve fine-tuning mi; ve iç testte iyi olan model dış veri kaynaklarında da iyi kalıyor mu?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Araştırma sorularını dört başlıkta topladım. İlk olarak hazır FinBERT’in baseline olarak gücünü ölçtüm. İkinci olarak modelleri kendi verimizde fine-tune ederek karşılaştırdım. Üçüncü olarak dış veri setlerinde genelleme performansını inceledim. Son olarak da veri kaynağı, etiket semantiği ve ek veri kullanımının modele etkisini tartıştım.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Literatür tarafında çalışmanın yeri şu: transformer tabanlı modeller sentiment analizinde güçlü; finans-özgü modeller finansal metinlere daha uygun olabilir; ancak veri kaynağı değiştiğinde performans düşebiliyor. Bu tez bu noktada iç test başarısı ile dış genelleme arasındaki farkı özellikle S&amp;P ve Reuters üzerinden görünür hale getiriyor.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yeni bölüme geçiyorum. MATERYAL ve YÖNTEM bölümünde Veri setleri, model ailesi, metrik ve deney akışı anlatacağım.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en kritik ayrımı vurguluyorum. Train tarafında hazır etiketli Twitter Financial News Sentiment ve Financial PhraseBank var. S&amp;P, Reuters ve sentetik veri ise train’e sokulmadı; dış değerlendirme için kullanıldı. Bu ayrım önemli çünkü dış test sonuçlarının anlamlı olabilmesi için modelin bu verileri eğitim sırasında görmemesi gerekiyor.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üç sınıflı: negative, neutral ve positive. Veri dengesiz olduğu için accuracy yerine Macro-F1’i ana metrik seçtim. Çünkü Macro-F1 her sınıfı eşit ağırlıkla değerlendiriyor. Bu özellikle neutral sınıfının büyük olduğu veri setlerinde daha adil bir ölçüm sağlıyor.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Deney akışını üç ana kademede kurdum. Önce hazır FinBERT’i baseline olarak test ettim. Daha sonra FinBERT, BERT, DistilBERT ve RoBERTa’yı aynı görevde fine-tune ettim. Sonrasında bu modellerin yalnızca iç testte değil S&amp;P ve Reuters gibi dış kaynaklarda nasıl genellediğini inceledim.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seçiminde hem finansal alana özel hem genel amaçlı transformer modellerini birlikte değerlendirdim. Original FinBERT baseline olarak kullanıldı. Fine-tuned FinBERT ise aynı modelin hedef veriye adapte edilmiş hali. BERT ve RoBERTa genel amaçlı güçlü encoder modelleri, DistilBERT ise daha verimli ve hızlı bir alternatif olarak eklendi.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Hocamla konuştuğumuz yeni noktalardan biri de modellerin hangi verilerle eğitildiğini araştırmaktı. ProsusAI FinBERT tarafında Reuters TRC2 ve Financial PhraseBank bilgisi önemli, çünkü PhraseBank’i biz de kullandık. yiyanghkust FinBERT ise daha çok 10-K, 10-Q, earnings call ve analyst report gibi finansal iletişim kaynaklarıyla eğitilmiş. FinGPT sentiment tarafında da PhraseBank ve Twitter Financial News gibi bizim verilerle örtüşebilecek kaynaklar bulunuyor.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Deneylerde bütün modeller aynı üç sınıflı sentiment probleminde değerlendirildi. Ana metrik Macro-F1. Tek bir random seed’e bağlı kalmamak için üç farklı seed ile eğitim yapıldı. İç test 2386 örnekten oluştu; S&amp;P, Reuters ve sentetik setler ise eğitimden tamamen ayrı tutuldu.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yeni bölüme geçiyorum. DENEYLER ve BULGULAR bölümünde İç test başarıları, dış genelleme ve ana kırılma noktaları anlatacağım.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İlk deneyde hazır ProsusAI FinBERT modelini hiç fine-tune etmeden kullandım. Beklenti, finansal dile aşina olduğu için güçlü olmasıydı. Ancak internal testte Macro-F1 yaklaşık 0.6794 oldu. Bu da finansal pretraining’in tek başına yeterli olmadığını ve göreve özel fine-tuning’in önemli olacağını gösterdi.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Fine-tuning sonrası FinBERT’in performansı 0.6794’ten 0.8512’ye çıktı. Bu büyük bir artış. Ancak en iyi sonuç RoBERTa’dan geldi. Bu sonuç çalışmanın önemli bulgularından biri: Finansal alana özel model olmak otomatik olarak en yüksek başarı anlamına gelmiyor.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 seed ile elde edilen sonuçlar yeterince güvenilir olmayabilir. Bu nedenle eğitimleri üç farklı seed ile tekrarladım. Ortalama sonuçta da RoBERTa 0.8728 ile en iyi model olarak kaldı. Bu, RoBERTa’nın üstünlüğünün tek koşuya bağlı olmadığını destekliyor.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istatistiksel testleri kısa geçeceğim. Burada amaç skorların sadece sayısal olarak farklı olduğunu değil, prediction düzeyinde bu farkın anlamlı olup olmadığını incelemekti. Ancak devam çalışmasında prediction dosyaları ve istatistiksel test pipeline’ını tamamen temizlemeyi planladığımı da sınırlılık olarak belirteceğim.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Buradan itibaren asıl kritik soru başlıyor. Modeller iç testte başarılı olabilir, fakat gerçek hayatta farklı haber kaynaklarıyla karşılaşır. Bu nedenle S&amp;P, Reuters ve sentetik veri setlerini train dışında tutup yalnızca dış değerlendirme için kullandım.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S&amp;P 500 dış testinde RoBERTa yine en iyi model oldu. Bu iyi bir sonuç, çünkü RoBERTa’nın iç testteki başarısının tamamen ezber gibi olmadığını gösteriyor. Ancak yine de skor iç testteki 0.87 seviyesinden 0.81 seviyesine düşüyor. Bu da veri kaynağı değiştiğinde performans kaybı yaşanabileceğini gösteriyor.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Reuters sonucunda sıralama ciddi biçimde değişti. Original FinBERT, yani hiç bizim verimize fine-tune edilmemiş model, Reuters’ta en yüksek sonucu aldı. Fine-tuned FinBERT ise Reuters’ta geriye düştü. Bu çalışmanın ana kırılma noktası oldu. Fine-tuning iç dağılımda performansı artırıyor, ama daha farklı bir finansal kaynakta genelleme avantajını azaltabiliyor.</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yeni bölüme geçiyorum. HATA ve TANISAL ANALİZLER bölümünde Model neden düşüyor? Neutral, label semantics ve veri etkisi anlatacağım.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Sınıf bazlı analize baktığımda özellikle Neutral sınıfının dış veri setlerinde ciddi bozulduğunu gördüm. Internal testte Neutral F1 0.9157 iken Reuters’ta 0.5277 seviyesine düşüyor. Bu, Reuters’ta modelin özellikle nötr karar sınırını doğru kuramadığını gösteriyor.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Reuters düşüşünü açıklamak için iki kavram öne çıktı. Domain shift, eğitim ve test metinlerinin dağılımının farklı olmasıdır. Label semantics ise aynı positive, neutral ve negative etiketlerinin farklı veri setlerinde aynı kurallarla verilmemesi demektir. Örneğin gelir artışı tek başına positive olabilir; ama beklentinin altında kaldıysa negative değerlendirilebilir.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Hata analizinde fine-tuned FinBERT’in iç testte 282 hata yaptığını gördüm. Bu hataların büyük kısmı neutral sınıfından positive veya negative’a kayma şeklinde. Ayrıca yanlış tahminlerin çoğunda modelin confidence değeri yüksek. Bu, modelin sadece kararsız olmadığını, bazen yanlış karar sınırından çok emin olduğunu gösteriyor.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PhraseBank finansal bir veri seti olduğu için eğitim verisine eklemenin performansı artırması beklenebilir. Ancak RoBERTa üzerinde yaptığımız ablasyonda Twitter-only konfigürasyon bazı testlerde daha iyi çıktı. Bu, daha fazla finansal veri eklemenin her zaman daha iyi genelleme sağlamadığını gösteriyor.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Sentetik 3000 örnekte RoBERTa neredeyse mükemmel skor aldı. Ancak Reuters sonucunun çok daha düşük olması, sentetik benchmark’ın gerçek dünya genellemesini tek başına kanıtlamadığını gösteriyor. Zero-shot NLI tarafında da sonuçlar fine-tuned modellerin gerisinde kaldı.</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Verimlilik ölçümünde DistilBERT’in BERT’e göre yaklaşık 2.24 kat daha hızlı olduğunu gördüm. Bu yüzden uygulama tarafında en yüksek F1’i alan model ile en verimli modelin aynı olmayabileceğini göstermek istedim. RoBERTa doğruluk tarafında güçlü, DistilBERT ise kaynak kısıtlı sistemlerde avantajlı olabilir.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yeni bölüme geçiyorum. SONUÇ ve DEVAM PLANI bölümünde Ana mesaj, sınırlılıklar ve 2 aylık geliştirme adımları anlatacağım.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çalışmayı tek parça özetleyeceğim. Birincisi, finansal model olmak tek başına yeterli değil. İkincisi, fine-tuning iç testte büyük fark yaratıyor. Üçüncüsü, dış veri setlerine çıkınca bu avantaj azalabiliyor hatta tersine dönebiliyor. Dördüncüsü, veri kaynağı ve etiket semantiği model performansında çok belirleyici.</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 sınırlılıkları dürüstçe söylemek önemli. S&amp;P ve Reuters etiketleri LLM destekli oluşturulduğu için bunları standart insan anotasyonlu benchmark gibi sunmuyoruz. Devam çalışmasında bu etiketleri çoklu model ve insan doğrulamasıyla güçlendirmeyi planlıyoruz.</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Hocamla konuştuğumuz ilk devam işi etiketleri üç farklı modelle yeniden üretmek. Amaç tek bir LLM kararına bağlı kalmamak. Üç model aynı etiketi verirse bunu güvenilir consensus olarak alabiliriz. İki model aynıysa majority olarak ayrıca tutabiliriz. Tamamen ayrışan örnekler ise ya dışarıda bırakılır ya da ayrıca analiz edilir.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İkinci devam işi eğitim veri setini büyütmek. Ancak burada leakage çok kritik. Eğer Reuters veya S&amp;P’den bazı örnekleri train’e eklersek, aynı örnekleri dış testte kullanamayız. Bu nedenle önce train/test ayrımı kilitlenmeli; sonra yalnızca train tarafındaki consensus örnekleri eğitim havuzuna eklenmeli.</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Üçüncü devam başlığı yeni deneyler. Fine-tuning miktarı deneyinde modelin ne kadar adapte edildiğinde dış genellemenin bozulduğunu göreceğiz. Veri kompozisyonu deneyinde farklı veri kaynaklarını hangi oranlarda eklemenin faydalı olduğunu test edeceğiz. Label semantics analizinde ise aynı etiket adlarının veri setlerinde aynı anlama gelip gelmediğine bakacağız.</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Hocamla konuştuğumuz bir diğer önemli nokta da FinBERT ve FinGPT gibi modellerin hangi verilerle eğitildiğini araştırmak. Çünkü bir model bizim test veya train verimize benzeyen kaynakları önceden gördüyse, skorları bağımsız model başarısı olarak yorumlarken dikkatli olmak gerekir.</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 aylık planı haftalara böldüm. Öncelik deney pipeline’ını temizlemek ve etiketleri güvenilir hale getirmek. Ardından consensus veriyle eğitim setini kontrollü büyütmek, sonra fine-tuning miktarı, veri kompozisyonu ve label semantics deneylerini yapmak. Son hafta ise bulguları tez ve makale formatına taşımak olacak.</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Sunumu burada kapatacağım. Ana mesajım, finansal NLP’de yalnızca iç test başarısına bakmanın yeterli olmadığı; modelin farklı finansal veri kaynaklarında nasıl genellediğinin de ölçülmesi gerektiği olacak.</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685800" y="1280160"/>
            <a:ext cx="10789920" cy="1097280"/>
          </a:xfrm>
          <a:prstGeom prst="rect">
            <a:avLst/>
          </a:prstGeom>
          <a:noFill/>
          <a:ln/>
        </p:spPr>
        <p:txBody>
          <a:bodyPr wrap="square" lIns="0" tIns="0" rIns="0" bIns="0" rtlCol="0" anchor="ctr">
            <a:normAutofit/>
          </a:bodyPr>
          <a:lstStyle/>
          <a:p>
            <a:pPr marL="0" indent="0">
              <a:buNone/>
            </a:pPr>
            <a:r>
              <a:rPr lang="en-US" sz="3300" b="1" dirty="0">
                <a:solidFill>
                  <a:srgbClr val="172033"/>
                </a:solidFill>
              </a:rPr>
              <a:t>Finansal Duygu Analizinde</a:t>
            </a:r>
            <a:endParaRPr lang="en-US" sz="3300" dirty="0"/>
          </a:p>
          <a:p>
            <a:pPr marL="0" indent="0">
              <a:buNone/>
            </a:pPr>
            <a:r>
              <a:rPr lang="en-US" sz="3300" b="1" dirty="0">
                <a:solidFill>
                  <a:srgbClr val="172033"/>
                </a:solidFill>
              </a:rPr>
              <a:t>Transformer Modellerinin Karşılaştırılması</a:t>
            </a:r>
            <a:endParaRPr lang="en-US" sz="3300" dirty="0"/>
          </a:p>
        </p:txBody>
      </p:sp>
      <p:sp>
        <p:nvSpPr>
          <p:cNvPr id="3" name="Text 1"/>
          <p:cNvSpPr/>
          <p:nvPr/>
        </p:nvSpPr>
        <p:spPr>
          <a:xfrm>
            <a:off x="713232" y="2514600"/>
            <a:ext cx="10515600" cy="320040"/>
          </a:xfrm>
          <a:prstGeom prst="rect">
            <a:avLst/>
          </a:prstGeom>
          <a:noFill/>
          <a:ln/>
        </p:spPr>
        <p:txBody>
          <a:bodyPr wrap="square" lIns="0" tIns="0" rIns="0" bIns="0" rtlCol="0" anchor="ctr"/>
          <a:lstStyle/>
          <a:p>
            <a:pPr marL="0" indent="0">
              <a:buNone/>
            </a:pPr>
            <a:r>
              <a:rPr lang="en-US" sz="1550" dirty="0">
                <a:solidFill>
                  <a:srgbClr val="5E6A7D"/>
                </a:solidFill>
              </a:rPr>
              <a:t>FinBERT, BERT, DistilBERT ve RoBERTa: iç test başarısı, dış genelleme ve verimlilik</a:t>
            </a:r>
            <a:endParaRPr lang="en-US" sz="1550" dirty="0"/>
          </a:p>
        </p:txBody>
      </p:sp>
      <p:sp>
        <p:nvSpPr>
          <p:cNvPr id="4" name="Text 2"/>
          <p:cNvSpPr/>
          <p:nvPr/>
        </p:nvSpPr>
        <p:spPr>
          <a:xfrm>
            <a:off x="713232" y="3063240"/>
            <a:ext cx="9875520" cy="457200"/>
          </a:xfrm>
          <a:prstGeom prst="rect">
            <a:avLst/>
          </a:prstGeom>
          <a:noFill/>
          <a:ln/>
        </p:spPr>
        <p:txBody>
          <a:bodyPr wrap="square" lIns="0" tIns="0" rIns="0" bIns="0" rtlCol="0" anchor="ctr"/>
          <a:lstStyle/>
          <a:p>
            <a:pPr marL="0" indent="0">
              <a:buNone/>
            </a:pPr>
            <a:r>
              <a:rPr lang="en-US" sz="2200" b="1" dirty="0">
                <a:solidFill>
                  <a:srgbClr val="0F9D8F"/>
                </a:solidFill>
              </a:rPr>
              <a:t>Ana soru: Finans için özel model gerçekten her zaman en iyi mi?</a:t>
            </a:r>
            <a:endParaRPr lang="en-US" sz="2200" dirty="0"/>
          </a:p>
        </p:txBody>
      </p:sp>
      <p:sp>
        <p:nvSpPr>
          <p:cNvPr id="5" name="Shape 3"/>
          <p:cNvSpPr/>
          <p:nvPr/>
        </p:nvSpPr>
        <p:spPr>
          <a:xfrm>
            <a:off x="713232" y="3749040"/>
            <a:ext cx="4663440" cy="0"/>
          </a:xfrm>
          <a:prstGeom prst="line">
            <a:avLst/>
          </a:prstGeom>
          <a:noFill/>
          <a:ln w="38100">
            <a:solidFill>
              <a:srgbClr val="0F9D8F"/>
            </a:solidFill>
            <a:prstDash val="solid"/>
          </a:ln>
        </p:spPr>
      </p:sp>
      <p:sp>
        <p:nvSpPr>
          <p:cNvPr id="6" name="Text 4"/>
          <p:cNvSpPr/>
          <p:nvPr/>
        </p:nvSpPr>
        <p:spPr>
          <a:xfrm>
            <a:off x="713232" y="4663440"/>
            <a:ext cx="7772400" cy="640080"/>
          </a:xfrm>
          <a:prstGeom prst="rect">
            <a:avLst/>
          </a:prstGeom>
          <a:noFill/>
          <a:ln/>
        </p:spPr>
        <p:txBody>
          <a:bodyPr wrap="square" lIns="0" tIns="0" rIns="0" bIns="0" rtlCol="0" anchor="ctr"/>
          <a:lstStyle/>
          <a:p>
            <a:pPr marL="0" indent="0">
              <a:buNone/>
            </a:pPr>
            <a:r>
              <a:rPr lang="en-US" sz="1600" dirty="0">
                <a:solidFill>
                  <a:srgbClr val="1A1E2A"/>
                </a:solidFill>
              </a:rPr>
              <a:t>Serkan Kaymak</a:t>
            </a:r>
            <a:endParaRPr lang="en-US" sz="1600" dirty="0"/>
          </a:p>
          <a:p>
            <a:pPr marL="0" indent="0">
              <a:buNone/>
            </a:pPr>
            <a:r>
              <a:rPr lang="en-US" sz="1600" dirty="0">
                <a:solidFill>
                  <a:srgbClr val="1A1E2A"/>
                </a:solidFill>
              </a:rPr>
              <a:t>Yüksek Lisans Tezi • Tez Savunması</a:t>
            </a:r>
            <a:endParaRPr lang="en-US" sz="1600" dirty="0"/>
          </a:p>
        </p:txBody>
      </p:sp>
      <p:sp>
        <p:nvSpPr>
          <p:cNvPr id="8" name="Text 6"/>
          <p:cNvSpPr/>
          <p:nvPr/>
        </p:nvSpPr>
        <p:spPr>
          <a:xfrm>
            <a:off x="786384" y="5687568"/>
            <a:ext cx="1271016" cy="164592"/>
          </a:xfrm>
          <a:prstGeom prst="rect">
            <a:avLst/>
          </a:prstGeom>
          <a:noFill/>
          <a:ln/>
        </p:spPr>
        <p:txBody>
          <a:bodyPr wrap="square" lIns="0" tIns="0" rIns="0" bIns="0" rtlCol="0" anchor="ctr"/>
          <a:lstStyle/>
          <a:p>
            <a:pPr marL="0" indent="0" algn="ctr">
              <a:buNone/>
            </a:pPr>
            <a:r>
              <a:rPr lang="en-US" sz="1050" b="1" dirty="0">
                <a:solidFill>
                  <a:srgbClr val="FFFFFF"/>
                </a:solidFill>
              </a:rPr>
              <a:t>Cuma savunması</a:t>
            </a:r>
            <a:endParaRPr lang="en-US" sz="1050" dirty="0"/>
          </a:p>
        </p:txBody>
      </p:sp>
      <p:sp>
        <p:nvSpPr>
          <p:cNvPr id="9" name="Shape 7"/>
          <p:cNvSpPr/>
          <p:nvPr/>
        </p:nvSpPr>
        <p:spPr>
          <a:xfrm>
            <a:off x="685800" y="5640441"/>
            <a:ext cx="1325880" cy="329184"/>
          </a:xfrm>
          <a:prstGeom prst="roundRect">
            <a:avLst>
              <a:gd name="adj" fmla="val 22222"/>
            </a:avLst>
          </a:prstGeom>
          <a:solidFill>
            <a:srgbClr val="0F9D8F"/>
          </a:solidFill>
          <a:ln w="12700">
            <a:solidFill>
              <a:srgbClr val="0F9D8F"/>
            </a:solidFill>
            <a:prstDash val="solid"/>
          </a:ln>
        </p:spPr>
      </p:sp>
      <p:sp>
        <p:nvSpPr>
          <p:cNvPr id="10" name="Text 8"/>
          <p:cNvSpPr/>
          <p:nvPr/>
        </p:nvSpPr>
        <p:spPr>
          <a:xfrm>
            <a:off x="758952" y="5704449"/>
            <a:ext cx="1179576" cy="164592"/>
          </a:xfrm>
          <a:prstGeom prst="rect">
            <a:avLst/>
          </a:prstGeom>
          <a:noFill/>
          <a:ln/>
        </p:spPr>
        <p:txBody>
          <a:bodyPr wrap="square" lIns="0" tIns="0" rIns="0" bIns="0" rtlCol="0" anchor="ctr"/>
          <a:lstStyle/>
          <a:p>
            <a:pPr marL="0" indent="0" algn="ctr">
              <a:buNone/>
            </a:pPr>
            <a:r>
              <a:rPr lang="en-US" sz="1050" b="1" dirty="0">
                <a:solidFill>
                  <a:srgbClr val="FFFFFF"/>
                </a:solidFill>
              </a:rPr>
              <a:t>Finansal NLP</a:t>
            </a:r>
            <a:endParaRPr lang="en-US" sz="1050" dirty="0"/>
          </a:p>
        </p:txBody>
      </p:sp>
      <p:sp>
        <p:nvSpPr>
          <p:cNvPr id="11" name="Shape 9"/>
          <p:cNvSpPr/>
          <p:nvPr/>
        </p:nvSpPr>
        <p:spPr>
          <a:xfrm>
            <a:off x="2167128" y="5640441"/>
            <a:ext cx="1965960" cy="329184"/>
          </a:xfrm>
          <a:prstGeom prst="roundRect">
            <a:avLst>
              <a:gd name="adj" fmla="val 22222"/>
            </a:avLst>
          </a:prstGeom>
          <a:solidFill>
            <a:srgbClr val="F4A62A"/>
          </a:solidFill>
          <a:ln w="12700">
            <a:solidFill>
              <a:srgbClr val="F4A62A"/>
            </a:solidFill>
            <a:prstDash val="solid"/>
          </a:ln>
        </p:spPr>
      </p:sp>
      <p:sp>
        <p:nvSpPr>
          <p:cNvPr id="12" name="Text 10"/>
          <p:cNvSpPr/>
          <p:nvPr/>
        </p:nvSpPr>
        <p:spPr>
          <a:xfrm>
            <a:off x="2240280" y="5704449"/>
            <a:ext cx="1819656" cy="164592"/>
          </a:xfrm>
          <a:prstGeom prst="rect">
            <a:avLst/>
          </a:prstGeom>
          <a:noFill/>
          <a:ln/>
        </p:spPr>
        <p:txBody>
          <a:bodyPr wrap="square" lIns="0" tIns="0" rIns="0" bIns="0" rtlCol="0" anchor="ctr"/>
          <a:lstStyle/>
          <a:p>
            <a:pPr marL="0" indent="0" algn="ctr">
              <a:buNone/>
            </a:pPr>
            <a:r>
              <a:rPr lang="en-US" sz="1050" b="1" dirty="0">
                <a:solidFill>
                  <a:srgbClr val="FFFFFF"/>
                </a:solidFill>
              </a:rPr>
              <a:t>Domain generalization</a:t>
            </a:r>
            <a:endParaRPr lang="en-US" sz="1050" dirty="0"/>
          </a:p>
        </p:txBody>
      </p:sp>
      <p:sp>
        <p:nvSpPr>
          <p:cNvPr id="13" name="Text 11"/>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4" name="Text 12"/>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a:t>
            </a:r>
            <a:endParaRPr lang="en-US" sz="850" dirty="0"/>
          </a:p>
        </p:txBody>
      </p:sp>
      <p:sp>
        <p:nvSpPr>
          <p:cNvPr id="15" name="Shape 13"/>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Sunum Planı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Önce problem ve yöntem, sonra bulgular, en sonda devam planı.</a:t>
            </a:r>
            <a:endParaRPr lang="en-US" sz="1450" dirty="0"/>
          </a:p>
        </p:txBody>
      </p:sp>
      <p:sp>
        <p:nvSpPr>
          <p:cNvPr id="4" name="Shape 2"/>
          <p:cNvSpPr/>
          <p:nvPr/>
        </p:nvSpPr>
        <p:spPr>
          <a:xfrm>
            <a:off x="777240" y="1417320"/>
            <a:ext cx="402336" cy="402336"/>
          </a:xfrm>
          <a:prstGeom prst="ellipse">
            <a:avLst/>
          </a:prstGeom>
          <a:solidFill>
            <a:srgbClr val="3867D6"/>
          </a:solidFill>
          <a:ln w="12700">
            <a:solidFill>
              <a:srgbClr val="3867D6"/>
            </a:solidFill>
            <a:prstDash val="solid"/>
          </a:ln>
        </p:spPr>
      </p:sp>
      <p:sp>
        <p:nvSpPr>
          <p:cNvPr id="5" name="Text 3"/>
          <p:cNvSpPr/>
          <p:nvPr/>
        </p:nvSpPr>
        <p:spPr>
          <a:xfrm>
            <a:off x="777240" y="1499616"/>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6" name="Text 4"/>
          <p:cNvSpPr/>
          <p:nvPr/>
        </p:nvSpPr>
        <p:spPr>
          <a:xfrm>
            <a:off x="1417320" y="1399032"/>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Giriş ve motivasyon</a:t>
            </a:r>
            <a:endParaRPr lang="en-US" sz="1700" dirty="0"/>
          </a:p>
        </p:txBody>
      </p:sp>
      <p:sp>
        <p:nvSpPr>
          <p:cNvPr id="7" name="Text 5"/>
          <p:cNvSpPr/>
          <p:nvPr/>
        </p:nvSpPr>
        <p:spPr>
          <a:xfrm>
            <a:off x="5074920" y="1399032"/>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Finansal metinlerde sentiment neden zor?</a:t>
            </a:r>
            <a:endParaRPr lang="en-US" sz="1550" dirty="0"/>
          </a:p>
        </p:txBody>
      </p:sp>
      <p:sp>
        <p:nvSpPr>
          <p:cNvPr id="8" name="Shape 6"/>
          <p:cNvSpPr/>
          <p:nvPr/>
        </p:nvSpPr>
        <p:spPr>
          <a:xfrm>
            <a:off x="777240" y="2130552"/>
            <a:ext cx="402336" cy="402336"/>
          </a:xfrm>
          <a:prstGeom prst="ellipse">
            <a:avLst/>
          </a:prstGeom>
          <a:solidFill>
            <a:srgbClr val="3867D6"/>
          </a:solidFill>
          <a:ln w="12700">
            <a:solidFill>
              <a:srgbClr val="3867D6"/>
            </a:solidFill>
            <a:prstDash val="solid"/>
          </a:ln>
        </p:spPr>
      </p:sp>
      <p:sp>
        <p:nvSpPr>
          <p:cNvPr id="9" name="Text 7"/>
          <p:cNvSpPr/>
          <p:nvPr/>
        </p:nvSpPr>
        <p:spPr>
          <a:xfrm>
            <a:off x="777240" y="2212848"/>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0" name="Text 8"/>
          <p:cNvSpPr/>
          <p:nvPr/>
        </p:nvSpPr>
        <p:spPr>
          <a:xfrm>
            <a:off x="1417320" y="2112264"/>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Araştırma soruları</a:t>
            </a:r>
            <a:endParaRPr lang="en-US" sz="1700" dirty="0"/>
          </a:p>
        </p:txBody>
      </p:sp>
      <p:sp>
        <p:nvSpPr>
          <p:cNvPr id="11" name="Text 9"/>
          <p:cNvSpPr/>
          <p:nvPr/>
        </p:nvSpPr>
        <p:spPr>
          <a:xfrm>
            <a:off x="5074920" y="2112264"/>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FinBERT beklentisi, fine-tuning ve genelleme</a:t>
            </a:r>
            <a:endParaRPr lang="en-US" sz="1550" dirty="0"/>
          </a:p>
        </p:txBody>
      </p:sp>
      <p:sp>
        <p:nvSpPr>
          <p:cNvPr id="12" name="Shape 10"/>
          <p:cNvSpPr/>
          <p:nvPr/>
        </p:nvSpPr>
        <p:spPr>
          <a:xfrm>
            <a:off x="777240" y="2843784"/>
            <a:ext cx="402336" cy="402336"/>
          </a:xfrm>
          <a:prstGeom prst="ellipse">
            <a:avLst/>
          </a:prstGeom>
          <a:solidFill>
            <a:srgbClr val="3867D6"/>
          </a:solidFill>
          <a:ln w="12700">
            <a:solidFill>
              <a:srgbClr val="3867D6"/>
            </a:solidFill>
            <a:prstDash val="solid"/>
          </a:ln>
        </p:spPr>
      </p:sp>
      <p:sp>
        <p:nvSpPr>
          <p:cNvPr id="13" name="Text 11"/>
          <p:cNvSpPr/>
          <p:nvPr/>
        </p:nvSpPr>
        <p:spPr>
          <a:xfrm>
            <a:off x="777240" y="2926080"/>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4" name="Text 12"/>
          <p:cNvSpPr/>
          <p:nvPr/>
        </p:nvSpPr>
        <p:spPr>
          <a:xfrm>
            <a:off x="1417320" y="2825496"/>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Materyal ve yöntem</a:t>
            </a:r>
            <a:endParaRPr lang="en-US" sz="1700" dirty="0"/>
          </a:p>
        </p:txBody>
      </p:sp>
      <p:sp>
        <p:nvSpPr>
          <p:cNvPr id="15" name="Text 13"/>
          <p:cNvSpPr/>
          <p:nvPr/>
        </p:nvSpPr>
        <p:spPr>
          <a:xfrm>
            <a:off x="5074920" y="2825496"/>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Veri setleri, modeller, metrik ve deney akışı</a:t>
            </a:r>
            <a:endParaRPr lang="en-US" sz="1550" dirty="0"/>
          </a:p>
        </p:txBody>
      </p:sp>
      <p:sp>
        <p:nvSpPr>
          <p:cNvPr id="16" name="Shape 14"/>
          <p:cNvSpPr/>
          <p:nvPr/>
        </p:nvSpPr>
        <p:spPr>
          <a:xfrm>
            <a:off x="777240" y="3557016"/>
            <a:ext cx="402336" cy="402336"/>
          </a:xfrm>
          <a:prstGeom prst="ellipse">
            <a:avLst/>
          </a:prstGeom>
          <a:solidFill>
            <a:srgbClr val="0F9D8F"/>
          </a:solidFill>
          <a:ln w="12700">
            <a:solidFill>
              <a:srgbClr val="0F9D8F"/>
            </a:solidFill>
            <a:prstDash val="solid"/>
          </a:ln>
        </p:spPr>
      </p:sp>
      <p:sp>
        <p:nvSpPr>
          <p:cNvPr id="17" name="Text 15"/>
          <p:cNvSpPr/>
          <p:nvPr/>
        </p:nvSpPr>
        <p:spPr>
          <a:xfrm>
            <a:off x="777240" y="3639312"/>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8" name="Text 16"/>
          <p:cNvSpPr/>
          <p:nvPr/>
        </p:nvSpPr>
        <p:spPr>
          <a:xfrm>
            <a:off x="1417320" y="3538728"/>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Deneyler ve bulgular</a:t>
            </a:r>
            <a:endParaRPr lang="en-US" sz="1700" dirty="0"/>
          </a:p>
        </p:txBody>
      </p:sp>
      <p:sp>
        <p:nvSpPr>
          <p:cNvPr id="19" name="Text 17"/>
          <p:cNvSpPr/>
          <p:nvPr/>
        </p:nvSpPr>
        <p:spPr>
          <a:xfrm>
            <a:off x="5074920" y="3538728"/>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İç test, S&amp;P, Reuters, sentetik ve zero-shot</a:t>
            </a:r>
            <a:endParaRPr lang="en-US" sz="1550" dirty="0"/>
          </a:p>
        </p:txBody>
      </p:sp>
      <p:sp>
        <p:nvSpPr>
          <p:cNvPr id="20" name="Shape 18"/>
          <p:cNvSpPr/>
          <p:nvPr/>
        </p:nvSpPr>
        <p:spPr>
          <a:xfrm>
            <a:off x="777240" y="4270248"/>
            <a:ext cx="402336" cy="402336"/>
          </a:xfrm>
          <a:prstGeom prst="ellipse">
            <a:avLst/>
          </a:prstGeom>
          <a:solidFill>
            <a:srgbClr val="0F9D8F"/>
          </a:solidFill>
          <a:ln w="12700">
            <a:solidFill>
              <a:srgbClr val="0F9D8F"/>
            </a:solidFill>
            <a:prstDash val="solid"/>
          </a:ln>
        </p:spPr>
      </p:sp>
      <p:sp>
        <p:nvSpPr>
          <p:cNvPr id="21" name="Text 19"/>
          <p:cNvSpPr/>
          <p:nvPr/>
        </p:nvSpPr>
        <p:spPr>
          <a:xfrm>
            <a:off x="777240" y="4352544"/>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22" name="Text 20"/>
          <p:cNvSpPr/>
          <p:nvPr/>
        </p:nvSpPr>
        <p:spPr>
          <a:xfrm>
            <a:off x="1417320" y="4251960"/>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Hata / tanısal analiz</a:t>
            </a:r>
            <a:endParaRPr lang="en-US" sz="1700" dirty="0"/>
          </a:p>
        </p:txBody>
      </p:sp>
      <p:sp>
        <p:nvSpPr>
          <p:cNvPr id="23" name="Text 21"/>
          <p:cNvSpPr/>
          <p:nvPr/>
        </p:nvSpPr>
        <p:spPr>
          <a:xfrm>
            <a:off x="5074920" y="4251960"/>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Neutral sınıfı, confidence, PhraseBank etkisi</a:t>
            </a:r>
            <a:endParaRPr lang="en-US" sz="1550" dirty="0"/>
          </a:p>
        </p:txBody>
      </p:sp>
      <p:sp>
        <p:nvSpPr>
          <p:cNvPr id="24" name="Shape 22"/>
          <p:cNvSpPr/>
          <p:nvPr/>
        </p:nvSpPr>
        <p:spPr>
          <a:xfrm>
            <a:off x="777240" y="4983480"/>
            <a:ext cx="402336" cy="402336"/>
          </a:xfrm>
          <a:prstGeom prst="ellipse">
            <a:avLst/>
          </a:prstGeom>
          <a:solidFill>
            <a:srgbClr val="F4A62A"/>
          </a:solidFill>
          <a:ln w="12700">
            <a:solidFill>
              <a:srgbClr val="F4A62A"/>
            </a:solidFill>
            <a:prstDash val="solid"/>
          </a:ln>
        </p:spPr>
      </p:sp>
      <p:sp>
        <p:nvSpPr>
          <p:cNvPr id="25" name="Text 23"/>
          <p:cNvSpPr/>
          <p:nvPr/>
        </p:nvSpPr>
        <p:spPr>
          <a:xfrm>
            <a:off x="777240" y="5065776"/>
            <a:ext cx="402336" cy="128016"/>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26" name="Text 24"/>
          <p:cNvSpPr/>
          <p:nvPr/>
        </p:nvSpPr>
        <p:spPr>
          <a:xfrm>
            <a:off x="1417320" y="4965192"/>
            <a:ext cx="2834640" cy="228600"/>
          </a:xfrm>
          <a:prstGeom prst="rect">
            <a:avLst/>
          </a:prstGeom>
          <a:noFill/>
          <a:ln/>
        </p:spPr>
        <p:txBody>
          <a:bodyPr wrap="square" lIns="0" tIns="0" rIns="0" bIns="0" rtlCol="0" anchor="ctr"/>
          <a:lstStyle/>
          <a:p>
            <a:pPr marL="0" indent="0">
              <a:buNone/>
            </a:pPr>
            <a:r>
              <a:rPr lang="en-US" sz="1700" b="1" dirty="0">
                <a:solidFill>
                  <a:srgbClr val="172033"/>
                </a:solidFill>
              </a:rPr>
              <a:t>Sonuç ve devam planı</a:t>
            </a:r>
            <a:endParaRPr lang="en-US" sz="1700" dirty="0"/>
          </a:p>
        </p:txBody>
      </p:sp>
      <p:sp>
        <p:nvSpPr>
          <p:cNvPr id="27" name="Text 25"/>
          <p:cNvSpPr/>
          <p:nvPr/>
        </p:nvSpPr>
        <p:spPr>
          <a:xfrm>
            <a:off x="5074920" y="4965192"/>
            <a:ext cx="6080760" cy="292608"/>
          </a:xfrm>
          <a:prstGeom prst="rect">
            <a:avLst/>
          </a:prstGeom>
          <a:noFill/>
          <a:ln/>
        </p:spPr>
        <p:txBody>
          <a:bodyPr wrap="square" lIns="0" tIns="0" rIns="0" bIns="0" rtlCol="0" anchor="ctr">
            <a:normAutofit/>
          </a:bodyPr>
          <a:lstStyle/>
          <a:p>
            <a:pPr marL="0" indent="0">
              <a:buNone/>
            </a:pPr>
            <a:r>
              <a:rPr lang="en-US" sz="1550" dirty="0">
                <a:solidFill>
                  <a:srgbClr val="5E6A7D"/>
                </a:solidFill>
              </a:rPr>
              <a:t>2 aylık çalışma: etiket doğrulama, veri büyütme, yeni deneyler</a:t>
            </a:r>
            <a:endParaRPr lang="en-US" sz="1550" dirty="0"/>
          </a:p>
        </p:txBody>
      </p:sp>
      <p:sp>
        <p:nvSpPr>
          <p:cNvPr id="28" name="Text 26"/>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9" name="Text 27"/>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a:t>
            </a:r>
            <a:endParaRPr lang="en-US" sz="850" dirty="0"/>
          </a:p>
        </p:txBody>
      </p:sp>
      <p:sp>
        <p:nvSpPr>
          <p:cNvPr id="30" name="Shape 28"/>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240280"/>
            <a:ext cx="10789920" cy="685800"/>
          </a:xfrm>
          <a:prstGeom prst="rect">
            <a:avLst/>
          </a:prstGeom>
          <a:noFill/>
          <a:ln/>
        </p:spPr>
        <p:txBody>
          <a:bodyPr wrap="square" lIns="0" tIns="0" rIns="0" bIns="0" rtlCol="0" anchor="ctr"/>
          <a:lstStyle/>
          <a:p>
            <a:pPr marL="0" indent="0" algn="ctr">
              <a:buNone/>
            </a:pPr>
            <a:r>
              <a:rPr lang="en-US" sz="3600" b="1" dirty="0">
                <a:solidFill>
                  <a:srgbClr val="FFFFFF"/>
                </a:solidFill>
              </a:rPr>
              <a:t>« GİRİŞ ve MOTİVASYON »</a:t>
            </a:r>
            <a:endParaRPr lang="en-US" sz="3600" dirty="0"/>
          </a:p>
        </p:txBody>
      </p:sp>
      <p:sp>
        <p:nvSpPr>
          <p:cNvPr id="3" name="Text 1"/>
          <p:cNvSpPr/>
          <p:nvPr/>
        </p:nvSpPr>
        <p:spPr>
          <a:xfrm>
            <a:off x="1554480" y="3063240"/>
            <a:ext cx="9144000" cy="502920"/>
          </a:xfrm>
          <a:prstGeom prst="rect">
            <a:avLst/>
          </a:prstGeom>
          <a:noFill/>
          <a:ln/>
        </p:spPr>
        <p:txBody>
          <a:bodyPr wrap="square" lIns="0" tIns="0" rIns="0" bIns="0" rtlCol="0" anchor="ctr">
            <a:normAutofit/>
          </a:bodyPr>
          <a:lstStyle/>
          <a:p>
            <a:pPr marL="0" indent="0" algn="ctr">
              <a:buNone/>
            </a:pPr>
            <a:r>
              <a:rPr lang="en-US" sz="1800" dirty="0">
                <a:solidFill>
                  <a:srgbClr val="DCE6FF"/>
                </a:solidFill>
              </a:rPr>
              <a:t>Finansal sentiment neden sıradan metin sınıflandırmadan daha zor?</a:t>
            </a:r>
            <a:endParaRPr lang="en-US" sz="1800" dirty="0"/>
          </a:p>
        </p:txBody>
      </p:sp>
      <p:sp>
        <p:nvSpPr>
          <p:cNvPr id="4" name="Text 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5" name="Text 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a:t>
            </a:r>
            <a:endParaRPr lang="en-US" sz="850" dirty="0"/>
          </a:p>
        </p:txBody>
      </p:sp>
      <p:sp>
        <p:nvSpPr>
          <p:cNvPr id="6" name="Shape 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Finansal metinlerde duygu analizi neden önemli?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Haber, tweet ve raporların piyasa algısına hızlı etkisi vardır.</a:t>
            </a:r>
            <a:endParaRPr lang="en-US" sz="1450" dirty="0"/>
          </a:p>
        </p:txBody>
      </p:sp>
      <p:sp>
        <p:nvSpPr>
          <p:cNvPr id="4" name="Text 2"/>
          <p:cNvSpPr/>
          <p:nvPr/>
        </p:nvSpPr>
        <p:spPr>
          <a:xfrm>
            <a:off x="685800" y="1417320"/>
            <a:ext cx="6492240" cy="2468880"/>
          </a:xfrm>
          <a:prstGeom prst="rect">
            <a:avLst/>
          </a:prstGeom>
          <a:noFill/>
          <a:ln/>
        </p:spPr>
        <p:txBody>
          <a:bodyPr wrap="square" lIns="635" tIns="635" rIns="635" bIns="635" rtlCol="0" anchor="ctr">
            <a:normAutofit/>
          </a:bodyPr>
          <a:lstStyle/>
          <a:p>
            <a:r>
              <a:rPr lang="en-US" sz="1800" dirty="0">
                <a:solidFill>
                  <a:srgbClr val="1A1E2A"/>
                </a:solidFill>
              </a:rPr>
              <a:t>Finansal kararlar yalnızca sayısal verilerden değil; haber, sosyal medya, rapor ve beklenti metinlerinden de etkilenir.</a:t>
            </a:r>
            <a:endParaRPr lang="en-US" sz="1800" dirty="0"/>
          </a:p>
          <a:p>
            <a:r>
              <a:rPr lang="en-US" sz="1800" dirty="0">
                <a:solidFill>
                  <a:srgbClr val="1A1E2A"/>
                </a:solidFill>
              </a:rPr>
              <a:t>Aynı olay farklı bağlamlarda farklı sentiment doğurabilir: gelir artışı olumlu olabilir; beklenti altı kalırsa olumsuz algılanabilir.</a:t>
            </a:r>
            <a:endParaRPr lang="en-US" sz="1800" dirty="0"/>
          </a:p>
          <a:p>
            <a:r>
              <a:rPr lang="en-US" sz="1800" dirty="0">
                <a:solidFill>
                  <a:srgbClr val="1A1E2A"/>
                </a:solidFill>
              </a:rPr>
              <a:t>Bu nedenle finansal duygu analizi yalnızca kelime polaritesi değil, bağlam ve finansal etki yorumudur.</a:t>
            </a:r>
            <a:endParaRPr lang="en-US" sz="1800" dirty="0"/>
          </a:p>
        </p:txBody>
      </p:sp>
      <p:sp>
        <p:nvSpPr>
          <p:cNvPr id="5" name="Shape 3"/>
          <p:cNvSpPr/>
          <p:nvPr/>
        </p:nvSpPr>
        <p:spPr>
          <a:xfrm>
            <a:off x="713232" y="4343400"/>
            <a:ext cx="6492240" cy="822960"/>
          </a:xfrm>
          <a:prstGeom prst="roundRect">
            <a:avLst>
              <a:gd name="adj" fmla="val 8889"/>
            </a:avLst>
          </a:prstGeom>
          <a:solidFill>
            <a:srgbClr val="F0FAF8"/>
          </a:solidFill>
          <a:ln w="15240">
            <a:solidFill>
              <a:srgbClr val="0F9D8F"/>
            </a:solidFill>
            <a:prstDash val="solid"/>
          </a:ln>
        </p:spPr>
      </p:sp>
      <p:sp>
        <p:nvSpPr>
          <p:cNvPr id="6" name="Text 4"/>
          <p:cNvSpPr/>
          <p:nvPr/>
        </p:nvSpPr>
        <p:spPr>
          <a:xfrm>
            <a:off x="877824" y="4489704"/>
            <a:ext cx="6163056" cy="59436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Finansal sentiment = metnin piyasaya veya şirkete yönelik olumlu / olumsuz / nötr etkisini yorumlama problemi</a:t>
            </a:r>
            <a:endParaRPr lang="en-US" sz="1500" dirty="0"/>
          </a:p>
        </p:txBody>
      </p:sp>
      <p:sp>
        <p:nvSpPr>
          <p:cNvPr id="7" name="Text 5"/>
          <p:cNvSpPr/>
          <p:nvPr/>
        </p:nvSpPr>
        <p:spPr>
          <a:xfrm>
            <a:off x="7818120" y="1417320"/>
            <a:ext cx="3474720" cy="228600"/>
          </a:xfrm>
          <a:prstGeom prst="rect">
            <a:avLst/>
          </a:prstGeom>
          <a:noFill/>
          <a:ln/>
        </p:spPr>
        <p:txBody>
          <a:bodyPr wrap="square" lIns="0" tIns="0" rIns="0" bIns="0" rtlCol="0" anchor="ctr"/>
          <a:lstStyle/>
          <a:p>
            <a:pPr marL="0" indent="0">
              <a:buNone/>
            </a:pPr>
            <a:r>
              <a:rPr lang="en-US" sz="1600" b="1" dirty="0">
                <a:solidFill>
                  <a:srgbClr val="172033"/>
                </a:solidFill>
              </a:rPr>
              <a:t>Örnek</a:t>
            </a:r>
            <a:endParaRPr lang="en-US" sz="1600" dirty="0"/>
          </a:p>
        </p:txBody>
      </p:sp>
      <p:sp>
        <p:nvSpPr>
          <p:cNvPr id="8" name="Text 6"/>
          <p:cNvSpPr/>
          <p:nvPr/>
        </p:nvSpPr>
        <p:spPr>
          <a:xfrm>
            <a:off x="7818120" y="1874520"/>
            <a:ext cx="3474720" cy="731520"/>
          </a:xfrm>
          <a:prstGeom prst="rect">
            <a:avLst/>
          </a:prstGeom>
          <a:noFill/>
          <a:ln/>
        </p:spPr>
        <p:txBody>
          <a:bodyPr wrap="square" lIns="381" tIns="381" rIns="381" bIns="381" rtlCol="0" anchor="ctr"/>
          <a:lstStyle/>
          <a:p>
            <a:pPr marL="0" indent="0">
              <a:buNone/>
            </a:pPr>
            <a:r>
              <a:rPr lang="en-US" sz="1600" dirty="0">
                <a:solidFill>
                  <a:srgbClr val="1C8B5A"/>
                </a:solidFill>
              </a:rPr>
              <a:t>“Revenue increased by 10%.”</a:t>
            </a:r>
            <a:endParaRPr lang="en-US" sz="1600" dirty="0"/>
          </a:p>
          <a:p>
            <a:pPr marL="0" indent="0">
              <a:buNone/>
            </a:pPr>
            <a:r>
              <a:rPr lang="en-US" sz="1600" dirty="0">
                <a:solidFill>
                  <a:srgbClr val="1C8B5A"/>
                </a:solidFill>
              </a:rPr>
              <a:t>→ çoğu durumda Positive</a:t>
            </a:r>
            <a:endParaRPr lang="en-US" sz="1600" dirty="0"/>
          </a:p>
        </p:txBody>
      </p:sp>
      <p:sp>
        <p:nvSpPr>
          <p:cNvPr id="9" name="Text 7"/>
          <p:cNvSpPr/>
          <p:nvPr/>
        </p:nvSpPr>
        <p:spPr>
          <a:xfrm>
            <a:off x="7818120" y="2880360"/>
            <a:ext cx="3566160" cy="914400"/>
          </a:xfrm>
          <a:prstGeom prst="rect">
            <a:avLst/>
          </a:prstGeom>
          <a:noFill/>
          <a:ln/>
        </p:spPr>
        <p:txBody>
          <a:bodyPr wrap="square" lIns="381" tIns="381" rIns="381" bIns="381" rtlCol="0" anchor="ctr"/>
          <a:lstStyle/>
          <a:p>
            <a:pPr marL="0" indent="0">
              <a:buNone/>
            </a:pPr>
            <a:r>
              <a:rPr lang="en-US" sz="1600" dirty="0">
                <a:solidFill>
                  <a:srgbClr val="D64545"/>
                </a:solidFill>
              </a:rPr>
              <a:t>“Revenue increased by 10%,</a:t>
            </a:r>
            <a:endParaRPr lang="en-US" sz="1600" dirty="0"/>
          </a:p>
          <a:p>
            <a:pPr marL="0" indent="0">
              <a:buNone/>
            </a:pPr>
            <a:r>
              <a:rPr lang="en-US" sz="1600" dirty="0">
                <a:solidFill>
                  <a:srgbClr val="D64545"/>
                </a:solidFill>
              </a:rPr>
              <a:t>below analyst expectations.”</a:t>
            </a:r>
            <a:endParaRPr lang="en-US" sz="1600" dirty="0"/>
          </a:p>
          <a:p>
            <a:pPr marL="0" indent="0">
              <a:buNone/>
            </a:pPr>
            <a:r>
              <a:rPr lang="en-US" sz="1600" dirty="0">
                <a:solidFill>
                  <a:srgbClr val="D64545"/>
                </a:solidFill>
              </a:rPr>
              <a:t>→ bağlama göre Negative olabilir</a:t>
            </a:r>
            <a:endParaRPr lang="en-US" sz="1600" dirty="0"/>
          </a:p>
        </p:txBody>
      </p:sp>
      <p:sp>
        <p:nvSpPr>
          <p:cNvPr id="10" name="Shape 8"/>
          <p:cNvSpPr/>
          <p:nvPr/>
        </p:nvSpPr>
        <p:spPr>
          <a:xfrm>
            <a:off x="7818120" y="4160520"/>
            <a:ext cx="3520440" cy="0"/>
          </a:xfrm>
          <a:prstGeom prst="line">
            <a:avLst/>
          </a:prstGeom>
          <a:noFill/>
          <a:ln w="12700">
            <a:solidFill>
              <a:srgbClr val="DDE3EF"/>
            </a:solidFill>
            <a:prstDash val="solid"/>
          </a:ln>
        </p:spPr>
      </p:sp>
      <p:sp>
        <p:nvSpPr>
          <p:cNvPr id="11" name="Text 9"/>
          <p:cNvSpPr/>
          <p:nvPr/>
        </p:nvSpPr>
        <p:spPr>
          <a:xfrm>
            <a:off x="7818120" y="4434840"/>
            <a:ext cx="3520440" cy="731520"/>
          </a:xfrm>
          <a:prstGeom prst="rect">
            <a:avLst/>
          </a:prstGeom>
          <a:noFill/>
          <a:ln/>
        </p:spPr>
        <p:txBody>
          <a:bodyPr wrap="square" lIns="254" tIns="254" rIns="254" bIns="254" rtlCol="0" anchor="ctr">
            <a:normAutofit/>
          </a:bodyPr>
          <a:lstStyle/>
          <a:p>
            <a:pPr marL="0" indent="0">
              <a:buNone/>
            </a:pPr>
            <a:r>
              <a:rPr lang="en-US" sz="1530" b="1" dirty="0">
                <a:solidFill>
                  <a:srgbClr val="1A1E2A"/>
                </a:solidFill>
              </a:rPr>
              <a:t>Bu yüzden modellerin farklı veri kaynaklarında aynı kararı verip vermediği kritik hale gelir.</a:t>
            </a:r>
            <a:endParaRPr lang="en-US" sz="1530" dirty="0"/>
          </a:p>
        </p:txBody>
      </p:sp>
      <p:sp>
        <p:nvSpPr>
          <p:cNvPr id="12" name="Text 1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3" name="Text 1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4</a:t>
            </a:r>
            <a:endParaRPr lang="en-US" sz="850" dirty="0"/>
          </a:p>
        </p:txBody>
      </p:sp>
      <p:sp>
        <p:nvSpPr>
          <p:cNvPr id="14" name="Shape 1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Çalışmanın çıkış noktası: FinBERT beklentisi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Finans alanına özel model her zaman en iyi model midir?</a:t>
            </a:r>
            <a:endParaRPr lang="en-US" sz="1450" dirty="0"/>
          </a:p>
        </p:txBody>
      </p:sp>
      <p:sp>
        <p:nvSpPr>
          <p:cNvPr id="4" name="Text 2"/>
          <p:cNvSpPr/>
          <p:nvPr/>
        </p:nvSpPr>
        <p:spPr>
          <a:xfrm>
            <a:off x="731520" y="1417320"/>
            <a:ext cx="3108960" cy="256032"/>
          </a:xfrm>
          <a:prstGeom prst="rect">
            <a:avLst/>
          </a:prstGeom>
          <a:noFill/>
          <a:ln/>
        </p:spPr>
        <p:txBody>
          <a:bodyPr wrap="square" lIns="0" tIns="0" rIns="0" bIns="0" rtlCol="0" anchor="ctr"/>
          <a:lstStyle/>
          <a:p>
            <a:pPr marL="0" indent="0">
              <a:buNone/>
            </a:pPr>
            <a:r>
              <a:rPr lang="en-US" sz="1700" b="1" dirty="0">
                <a:solidFill>
                  <a:srgbClr val="172033"/>
                </a:solidFill>
              </a:rPr>
              <a:t>Başlangıç sezgisi</a:t>
            </a:r>
            <a:endParaRPr lang="en-US" sz="1700" dirty="0"/>
          </a:p>
        </p:txBody>
      </p:sp>
      <p:sp>
        <p:nvSpPr>
          <p:cNvPr id="5" name="Text 3"/>
          <p:cNvSpPr/>
          <p:nvPr/>
        </p:nvSpPr>
        <p:spPr>
          <a:xfrm>
            <a:off x="731520" y="1828800"/>
            <a:ext cx="4572000" cy="1143000"/>
          </a:xfrm>
          <a:prstGeom prst="rect">
            <a:avLst/>
          </a:prstGeom>
          <a:noFill/>
          <a:ln/>
        </p:spPr>
        <p:txBody>
          <a:bodyPr wrap="square" lIns="381" tIns="381" rIns="381" bIns="381" rtlCol="0" anchor="ctr">
            <a:normAutofit/>
          </a:bodyPr>
          <a:lstStyle/>
          <a:p>
            <a:pPr marL="0" indent="0">
              <a:buNone/>
            </a:pPr>
            <a:r>
              <a:rPr lang="en-US" sz="1800" dirty="0">
                <a:solidFill>
                  <a:srgbClr val="1A1E2A"/>
                </a:solidFill>
              </a:rPr>
              <a:t>FinBERT finansal metinlerle önceden eğitildiği için finansal sentiment görevinde BERT/RoBERTa gibi genel modellerden daha iyi olmalı.</a:t>
            </a:r>
            <a:endParaRPr lang="en-US" sz="1800" dirty="0"/>
          </a:p>
        </p:txBody>
      </p:sp>
      <p:sp>
        <p:nvSpPr>
          <p:cNvPr id="6" name="Text 4"/>
          <p:cNvSpPr/>
          <p:nvPr/>
        </p:nvSpPr>
        <p:spPr>
          <a:xfrm>
            <a:off x="6400800" y="1417320"/>
            <a:ext cx="3108960" cy="256032"/>
          </a:xfrm>
          <a:prstGeom prst="rect">
            <a:avLst/>
          </a:prstGeom>
          <a:noFill/>
          <a:ln/>
        </p:spPr>
        <p:txBody>
          <a:bodyPr wrap="square" lIns="0" tIns="0" rIns="0" bIns="0" rtlCol="0" anchor="ctr"/>
          <a:lstStyle/>
          <a:p>
            <a:pPr marL="0" indent="0">
              <a:buNone/>
            </a:pPr>
            <a:r>
              <a:rPr lang="en-US" sz="1700" b="1" dirty="0">
                <a:solidFill>
                  <a:srgbClr val="172033"/>
                </a:solidFill>
              </a:rPr>
              <a:t>Genişleyen soru</a:t>
            </a:r>
            <a:endParaRPr lang="en-US" sz="1700" dirty="0"/>
          </a:p>
        </p:txBody>
      </p:sp>
      <p:sp>
        <p:nvSpPr>
          <p:cNvPr id="7" name="Text 5"/>
          <p:cNvSpPr/>
          <p:nvPr/>
        </p:nvSpPr>
        <p:spPr>
          <a:xfrm>
            <a:off x="6400800" y="1828800"/>
            <a:ext cx="4572000" cy="1143000"/>
          </a:xfrm>
          <a:prstGeom prst="rect">
            <a:avLst/>
          </a:prstGeom>
          <a:noFill/>
          <a:ln/>
        </p:spPr>
        <p:txBody>
          <a:bodyPr wrap="square" lIns="381" tIns="381" rIns="381" bIns="381" rtlCol="0" anchor="ctr">
            <a:normAutofit/>
          </a:bodyPr>
          <a:lstStyle/>
          <a:p>
            <a:pPr marL="0" indent="0">
              <a:buNone/>
            </a:pPr>
            <a:r>
              <a:rPr lang="en-US" sz="1800" dirty="0">
                <a:solidFill>
                  <a:srgbClr val="1A1E2A"/>
                </a:solidFill>
              </a:rPr>
              <a:t>Alan-özgü ön eğitim mi daha önemli, yoksa hedef veri setine yapılan task-specific fine-tuning mi?</a:t>
            </a:r>
            <a:endParaRPr lang="en-US" sz="1800" dirty="0"/>
          </a:p>
        </p:txBody>
      </p:sp>
      <p:sp>
        <p:nvSpPr>
          <p:cNvPr id="8" name="Shape 6"/>
          <p:cNvSpPr/>
          <p:nvPr/>
        </p:nvSpPr>
        <p:spPr>
          <a:xfrm>
            <a:off x="5943600" y="1325880"/>
            <a:ext cx="0" cy="1920240"/>
          </a:xfrm>
          <a:prstGeom prst="line">
            <a:avLst/>
          </a:prstGeom>
          <a:noFill/>
          <a:ln w="25400">
            <a:solidFill>
              <a:srgbClr val="DDE3EF"/>
            </a:solidFill>
            <a:prstDash val="solid"/>
          </a:ln>
        </p:spPr>
      </p:sp>
      <p:sp>
        <p:nvSpPr>
          <p:cNvPr id="9" name="Shape 7"/>
          <p:cNvSpPr/>
          <p:nvPr/>
        </p:nvSpPr>
        <p:spPr>
          <a:xfrm>
            <a:off x="1143000" y="4069080"/>
            <a:ext cx="9784080" cy="868680"/>
          </a:xfrm>
          <a:prstGeom prst="roundRect">
            <a:avLst>
              <a:gd name="adj" fmla="val 8421"/>
            </a:avLst>
          </a:prstGeom>
          <a:solidFill>
            <a:srgbClr val="F0FAF8"/>
          </a:solidFill>
          <a:ln w="15240">
            <a:solidFill>
              <a:srgbClr val="F4A62A"/>
            </a:solidFill>
            <a:prstDash val="solid"/>
          </a:ln>
        </p:spPr>
      </p:sp>
      <p:sp>
        <p:nvSpPr>
          <p:cNvPr id="10" name="Text 8"/>
          <p:cNvSpPr/>
          <p:nvPr/>
        </p:nvSpPr>
        <p:spPr>
          <a:xfrm>
            <a:off x="1307592" y="4215384"/>
            <a:ext cx="9454896" cy="64008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Tezin asıl yönü: “en yüksek iç test skoru” ile “farklı finansal kaynaklarda genelleme” aynı şey mi?</a:t>
            </a:r>
            <a:endParaRPr lang="en-US" sz="1500" dirty="0"/>
          </a:p>
        </p:txBody>
      </p:sp>
      <p:sp>
        <p:nvSpPr>
          <p:cNvPr id="11" name="Text 9"/>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2" name="Text 10"/>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5</a:t>
            </a:r>
            <a:endParaRPr lang="en-US" sz="850" dirty="0"/>
          </a:p>
        </p:txBody>
      </p:sp>
      <p:sp>
        <p:nvSpPr>
          <p:cNvPr id="13" name="Shape 11"/>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Araştırma soruları ve katkılar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Çalışma yalnızca model yarışı değil; genelleme ve veri etkisi analizi.</a:t>
            </a:r>
            <a:endParaRPr lang="en-US" sz="1450" dirty="0"/>
          </a:p>
        </p:txBody>
      </p:sp>
      <p:sp>
        <p:nvSpPr>
          <p:cNvPr id="4" name="Shape 2"/>
          <p:cNvSpPr/>
          <p:nvPr/>
        </p:nvSpPr>
        <p:spPr>
          <a:xfrm>
            <a:off x="685800" y="1261872"/>
            <a:ext cx="685800" cy="329184"/>
          </a:xfrm>
          <a:prstGeom prst="roundRect">
            <a:avLst>
              <a:gd name="adj" fmla="val 22222"/>
            </a:avLst>
          </a:prstGeom>
          <a:solidFill>
            <a:srgbClr val="3867D6"/>
          </a:solidFill>
          <a:ln w="12700">
            <a:solidFill>
              <a:srgbClr val="3867D6"/>
            </a:solidFill>
            <a:prstDash val="solid"/>
          </a:ln>
        </p:spPr>
      </p:sp>
      <p:sp>
        <p:nvSpPr>
          <p:cNvPr id="5" name="Text 3"/>
          <p:cNvSpPr/>
          <p:nvPr/>
        </p:nvSpPr>
        <p:spPr>
          <a:xfrm>
            <a:off x="758952" y="1325880"/>
            <a:ext cx="539496" cy="164592"/>
          </a:xfrm>
          <a:prstGeom prst="rect">
            <a:avLst/>
          </a:prstGeom>
          <a:noFill/>
          <a:ln/>
        </p:spPr>
        <p:txBody>
          <a:bodyPr wrap="square" lIns="0" tIns="0" rIns="0" bIns="0" rtlCol="0" anchor="ctr"/>
          <a:lstStyle/>
          <a:p>
            <a:pPr marL="0" indent="0" algn="ctr">
              <a:buNone/>
            </a:pPr>
            <a:r>
              <a:rPr lang="en-US" sz="1050" b="1" dirty="0">
                <a:solidFill>
                  <a:srgbClr val="FFFFFF"/>
                </a:solidFill>
              </a:rPr>
              <a:t>RQ1</a:t>
            </a:r>
            <a:endParaRPr lang="en-US" sz="1050" dirty="0"/>
          </a:p>
        </p:txBody>
      </p:sp>
      <p:sp>
        <p:nvSpPr>
          <p:cNvPr id="6" name="Text 4"/>
          <p:cNvSpPr/>
          <p:nvPr/>
        </p:nvSpPr>
        <p:spPr>
          <a:xfrm>
            <a:off x="1600200" y="1289304"/>
            <a:ext cx="9601200" cy="292608"/>
          </a:xfrm>
          <a:prstGeom prst="rect">
            <a:avLst/>
          </a:prstGeom>
          <a:noFill/>
          <a:ln/>
        </p:spPr>
        <p:txBody>
          <a:bodyPr wrap="square" lIns="0" tIns="0" rIns="0" bIns="0" rtlCol="0" anchor="ctr">
            <a:normAutofit/>
          </a:bodyPr>
          <a:lstStyle/>
          <a:p>
            <a:pPr marL="0" indent="0">
              <a:buNone/>
            </a:pPr>
            <a:r>
              <a:rPr lang="en-US" sz="1650" dirty="0">
                <a:solidFill>
                  <a:srgbClr val="1A1E2A"/>
                </a:solidFill>
              </a:rPr>
              <a:t>Original FinBERT, göreve özel fine-tuning olmadan ne kadar güçlü bir baseline sağlar?</a:t>
            </a:r>
            <a:endParaRPr lang="en-US" sz="1650" dirty="0"/>
          </a:p>
        </p:txBody>
      </p:sp>
      <p:sp>
        <p:nvSpPr>
          <p:cNvPr id="7" name="Shape 5"/>
          <p:cNvSpPr/>
          <p:nvPr/>
        </p:nvSpPr>
        <p:spPr>
          <a:xfrm>
            <a:off x="685800" y="1975104"/>
            <a:ext cx="685800" cy="329184"/>
          </a:xfrm>
          <a:prstGeom prst="roundRect">
            <a:avLst>
              <a:gd name="adj" fmla="val 22222"/>
            </a:avLst>
          </a:prstGeom>
          <a:solidFill>
            <a:srgbClr val="0F9D8F"/>
          </a:solidFill>
          <a:ln w="12700">
            <a:solidFill>
              <a:srgbClr val="0F9D8F"/>
            </a:solidFill>
            <a:prstDash val="solid"/>
          </a:ln>
        </p:spPr>
      </p:sp>
      <p:sp>
        <p:nvSpPr>
          <p:cNvPr id="8" name="Text 6"/>
          <p:cNvSpPr/>
          <p:nvPr/>
        </p:nvSpPr>
        <p:spPr>
          <a:xfrm>
            <a:off x="758952" y="2039112"/>
            <a:ext cx="539496" cy="164592"/>
          </a:xfrm>
          <a:prstGeom prst="rect">
            <a:avLst/>
          </a:prstGeom>
          <a:noFill/>
          <a:ln/>
        </p:spPr>
        <p:txBody>
          <a:bodyPr wrap="square" lIns="0" tIns="0" rIns="0" bIns="0" rtlCol="0" anchor="ctr"/>
          <a:lstStyle/>
          <a:p>
            <a:pPr marL="0" indent="0" algn="ctr">
              <a:buNone/>
            </a:pPr>
            <a:r>
              <a:rPr lang="en-US" sz="1050" b="1" dirty="0">
                <a:solidFill>
                  <a:srgbClr val="FFFFFF"/>
                </a:solidFill>
              </a:rPr>
              <a:t>RQ2</a:t>
            </a:r>
            <a:endParaRPr lang="en-US" sz="1050" dirty="0"/>
          </a:p>
        </p:txBody>
      </p:sp>
      <p:sp>
        <p:nvSpPr>
          <p:cNvPr id="9" name="Text 7"/>
          <p:cNvSpPr/>
          <p:nvPr/>
        </p:nvSpPr>
        <p:spPr>
          <a:xfrm>
            <a:off x="1600200" y="2002536"/>
            <a:ext cx="9601200" cy="292608"/>
          </a:xfrm>
          <a:prstGeom prst="rect">
            <a:avLst/>
          </a:prstGeom>
          <a:noFill/>
          <a:ln/>
        </p:spPr>
        <p:txBody>
          <a:bodyPr wrap="square" lIns="0" tIns="0" rIns="0" bIns="0" rtlCol="0" anchor="ctr">
            <a:normAutofit/>
          </a:bodyPr>
          <a:lstStyle/>
          <a:p>
            <a:pPr marL="0" indent="0">
              <a:buNone/>
            </a:pPr>
            <a:r>
              <a:rPr lang="en-US" sz="1650" dirty="0">
                <a:solidFill>
                  <a:srgbClr val="1A1E2A"/>
                </a:solidFill>
              </a:rPr>
              <a:t>Fine-tuning sonrası FinBERT, BERT, DistilBERT ve RoBERTa arasında hangi model öne çıkar?</a:t>
            </a:r>
            <a:endParaRPr lang="en-US" sz="1650" dirty="0"/>
          </a:p>
        </p:txBody>
      </p:sp>
      <p:sp>
        <p:nvSpPr>
          <p:cNvPr id="10" name="Shape 8"/>
          <p:cNvSpPr/>
          <p:nvPr/>
        </p:nvSpPr>
        <p:spPr>
          <a:xfrm>
            <a:off x="685800" y="2688336"/>
            <a:ext cx="685800" cy="329184"/>
          </a:xfrm>
          <a:prstGeom prst="roundRect">
            <a:avLst>
              <a:gd name="adj" fmla="val 22222"/>
            </a:avLst>
          </a:prstGeom>
          <a:solidFill>
            <a:srgbClr val="F4A62A"/>
          </a:solidFill>
          <a:ln w="12700">
            <a:solidFill>
              <a:srgbClr val="F4A62A"/>
            </a:solidFill>
            <a:prstDash val="solid"/>
          </a:ln>
        </p:spPr>
      </p:sp>
      <p:sp>
        <p:nvSpPr>
          <p:cNvPr id="11" name="Text 9"/>
          <p:cNvSpPr/>
          <p:nvPr/>
        </p:nvSpPr>
        <p:spPr>
          <a:xfrm>
            <a:off x="758952" y="2752344"/>
            <a:ext cx="539496" cy="164592"/>
          </a:xfrm>
          <a:prstGeom prst="rect">
            <a:avLst/>
          </a:prstGeom>
          <a:noFill/>
          <a:ln/>
        </p:spPr>
        <p:txBody>
          <a:bodyPr wrap="square" lIns="0" tIns="0" rIns="0" bIns="0" rtlCol="0" anchor="ctr"/>
          <a:lstStyle/>
          <a:p>
            <a:pPr marL="0" indent="0" algn="ctr">
              <a:buNone/>
            </a:pPr>
            <a:r>
              <a:rPr lang="en-US" sz="1050" b="1" dirty="0">
                <a:solidFill>
                  <a:srgbClr val="FFFFFF"/>
                </a:solidFill>
              </a:rPr>
              <a:t>RQ3</a:t>
            </a:r>
            <a:endParaRPr lang="en-US" sz="1050" dirty="0"/>
          </a:p>
        </p:txBody>
      </p:sp>
      <p:sp>
        <p:nvSpPr>
          <p:cNvPr id="12" name="Text 10"/>
          <p:cNvSpPr/>
          <p:nvPr/>
        </p:nvSpPr>
        <p:spPr>
          <a:xfrm>
            <a:off x="1600200" y="2715768"/>
            <a:ext cx="9601200" cy="292608"/>
          </a:xfrm>
          <a:prstGeom prst="rect">
            <a:avLst/>
          </a:prstGeom>
          <a:noFill/>
          <a:ln/>
        </p:spPr>
        <p:txBody>
          <a:bodyPr wrap="square" lIns="0" tIns="0" rIns="0" bIns="0" rtlCol="0" anchor="ctr">
            <a:normAutofit/>
          </a:bodyPr>
          <a:lstStyle/>
          <a:p>
            <a:pPr marL="0" indent="0">
              <a:buNone/>
            </a:pPr>
            <a:r>
              <a:rPr lang="en-US" sz="1650" dirty="0">
                <a:solidFill>
                  <a:srgbClr val="1A1E2A"/>
                </a:solidFill>
              </a:rPr>
              <a:t>İç testte başarılı model S&amp;P ve Reuters gibi dış finansal kaynaklarda da başarılı kalır mı?</a:t>
            </a:r>
            <a:endParaRPr lang="en-US" sz="1650" dirty="0"/>
          </a:p>
        </p:txBody>
      </p:sp>
      <p:sp>
        <p:nvSpPr>
          <p:cNvPr id="13" name="Shape 11"/>
          <p:cNvSpPr/>
          <p:nvPr/>
        </p:nvSpPr>
        <p:spPr>
          <a:xfrm>
            <a:off x="685800" y="3401568"/>
            <a:ext cx="685800" cy="329184"/>
          </a:xfrm>
          <a:prstGeom prst="roundRect">
            <a:avLst>
              <a:gd name="adj" fmla="val 22222"/>
            </a:avLst>
          </a:prstGeom>
          <a:solidFill>
            <a:srgbClr val="D64545"/>
          </a:solidFill>
          <a:ln w="12700">
            <a:solidFill>
              <a:srgbClr val="D64545"/>
            </a:solidFill>
            <a:prstDash val="solid"/>
          </a:ln>
        </p:spPr>
      </p:sp>
      <p:sp>
        <p:nvSpPr>
          <p:cNvPr id="14" name="Text 12"/>
          <p:cNvSpPr/>
          <p:nvPr/>
        </p:nvSpPr>
        <p:spPr>
          <a:xfrm>
            <a:off x="758952" y="3465576"/>
            <a:ext cx="539496" cy="164592"/>
          </a:xfrm>
          <a:prstGeom prst="rect">
            <a:avLst/>
          </a:prstGeom>
          <a:noFill/>
          <a:ln/>
        </p:spPr>
        <p:txBody>
          <a:bodyPr wrap="square" lIns="0" tIns="0" rIns="0" bIns="0" rtlCol="0" anchor="ctr"/>
          <a:lstStyle/>
          <a:p>
            <a:pPr marL="0" indent="0" algn="ctr">
              <a:buNone/>
            </a:pPr>
            <a:r>
              <a:rPr lang="en-US" sz="1050" b="1" dirty="0">
                <a:solidFill>
                  <a:srgbClr val="FFFFFF"/>
                </a:solidFill>
              </a:rPr>
              <a:t>RQ4</a:t>
            </a:r>
            <a:endParaRPr lang="en-US" sz="1050" dirty="0"/>
          </a:p>
        </p:txBody>
      </p:sp>
      <p:sp>
        <p:nvSpPr>
          <p:cNvPr id="15" name="Text 13"/>
          <p:cNvSpPr/>
          <p:nvPr/>
        </p:nvSpPr>
        <p:spPr>
          <a:xfrm>
            <a:off x="1600200" y="3429000"/>
            <a:ext cx="9601200" cy="292608"/>
          </a:xfrm>
          <a:prstGeom prst="rect">
            <a:avLst/>
          </a:prstGeom>
          <a:noFill/>
          <a:ln/>
        </p:spPr>
        <p:txBody>
          <a:bodyPr wrap="square" lIns="0" tIns="0" rIns="0" bIns="0" rtlCol="0" anchor="ctr">
            <a:normAutofit/>
          </a:bodyPr>
          <a:lstStyle/>
          <a:p>
            <a:pPr marL="0" indent="0">
              <a:buNone/>
            </a:pPr>
            <a:r>
              <a:rPr lang="en-US" sz="1650" dirty="0">
                <a:solidFill>
                  <a:srgbClr val="1A1E2A"/>
                </a:solidFill>
              </a:rPr>
              <a:t>Veri kaynağı, etiket semantiği ve ek veri kullanımı model başarısını nasıl etkiler?</a:t>
            </a:r>
            <a:endParaRPr lang="en-US" sz="1650" dirty="0"/>
          </a:p>
        </p:txBody>
      </p:sp>
      <p:sp>
        <p:nvSpPr>
          <p:cNvPr id="16" name="Text 14"/>
          <p:cNvSpPr/>
          <p:nvPr/>
        </p:nvSpPr>
        <p:spPr>
          <a:xfrm>
            <a:off x="713232" y="4434840"/>
            <a:ext cx="1188720" cy="228600"/>
          </a:xfrm>
          <a:prstGeom prst="rect">
            <a:avLst/>
          </a:prstGeom>
          <a:noFill/>
          <a:ln/>
        </p:spPr>
        <p:txBody>
          <a:bodyPr wrap="square" lIns="0" tIns="0" rIns="0" bIns="0" rtlCol="0" anchor="ctr"/>
          <a:lstStyle/>
          <a:p>
            <a:pPr marL="0" indent="0">
              <a:buNone/>
            </a:pPr>
            <a:r>
              <a:rPr lang="en-US" sz="1700" b="1" dirty="0">
                <a:solidFill>
                  <a:srgbClr val="172033"/>
                </a:solidFill>
              </a:rPr>
              <a:t>Katkı</a:t>
            </a:r>
            <a:endParaRPr lang="en-US" sz="1700" dirty="0"/>
          </a:p>
        </p:txBody>
      </p:sp>
      <p:sp>
        <p:nvSpPr>
          <p:cNvPr id="17" name="Text 15"/>
          <p:cNvSpPr/>
          <p:nvPr/>
        </p:nvSpPr>
        <p:spPr>
          <a:xfrm>
            <a:off x="1965960" y="4315968"/>
            <a:ext cx="9052560" cy="1143000"/>
          </a:xfrm>
          <a:prstGeom prst="rect">
            <a:avLst/>
          </a:prstGeom>
          <a:noFill/>
          <a:ln/>
        </p:spPr>
        <p:txBody>
          <a:bodyPr wrap="square" lIns="635" tIns="635" rIns="635" bIns="635" rtlCol="0" anchor="ctr">
            <a:normAutofit/>
          </a:bodyPr>
          <a:lstStyle/>
          <a:p>
            <a:r>
              <a:rPr lang="en-US" sz="1460" dirty="0">
                <a:solidFill>
                  <a:srgbClr val="1A1E2A"/>
                </a:solidFill>
              </a:rPr>
              <a:t>Aynı görevde genel ve finans-özgü transformer modellerinin karşılaştırılması</a:t>
            </a:r>
            <a:endParaRPr lang="en-US" sz="1460" dirty="0"/>
          </a:p>
          <a:p>
            <a:r>
              <a:rPr lang="en-US" sz="1460" dirty="0">
                <a:solidFill>
                  <a:srgbClr val="1A1E2A"/>
                </a:solidFill>
              </a:rPr>
              <a:t>İç test ile dış test performansı arasındaki farkın S&amp;P ve Reuters üzerinden incelenmesi</a:t>
            </a:r>
            <a:endParaRPr lang="en-US" sz="1460" dirty="0"/>
          </a:p>
          <a:p>
            <a:r>
              <a:rPr lang="en-US" sz="1460" dirty="0">
                <a:solidFill>
                  <a:srgbClr val="1A1E2A"/>
                </a:solidFill>
              </a:rPr>
              <a:t>Neutral sınıfı, PhraseBank etkisi, sentetik veri ve verimlilik gibi tanısal analizlerle sonuçların yorumlanması</a:t>
            </a:r>
            <a:endParaRPr lang="en-US" sz="1460" dirty="0"/>
          </a:p>
        </p:txBody>
      </p:sp>
      <p:sp>
        <p:nvSpPr>
          <p:cNvPr id="18" name="Text 16"/>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9" name="Text 17"/>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6</a:t>
            </a:r>
            <a:endParaRPr lang="en-US" sz="850" dirty="0"/>
          </a:p>
        </p:txBody>
      </p:sp>
      <p:sp>
        <p:nvSpPr>
          <p:cNvPr id="20" name="Shape 18"/>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Literatür bağlamı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Finansal NLP’de başarı yalnızca mimari değil, veri ve etiket tasarımına bağlıdır.</a:t>
            </a:r>
            <a:endParaRPr lang="en-US" sz="1450" dirty="0"/>
          </a:p>
        </p:txBody>
      </p:sp>
      <p:sp>
        <p:nvSpPr>
          <p:cNvPr id="4" name="Shape 2"/>
          <p:cNvSpPr/>
          <p:nvPr/>
        </p:nvSpPr>
        <p:spPr>
          <a:xfrm>
            <a:off x="566928" y="1280160"/>
            <a:ext cx="2323490" cy="777240"/>
          </a:xfrm>
          <a:prstGeom prst="rect">
            <a:avLst/>
          </a:prstGeom>
          <a:solidFill>
            <a:srgbClr val="1D2B46"/>
          </a:solidFill>
          <a:ln w="6350">
            <a:solidFill>
              <a:srgbClr val="DDE3EF"/>
            </a:solidFill>
            <a:prstDash val="solid"/>
          </a:ln>
        </p:spPr>
      </p:sp>
      <p:sp>
        <p:nvSpPr>
          <p:cNvPr id="5" name="Text 3"/>
          <p:cNvSpPr/>
          <p:nvPr/>
        </p:nvSpPr>
        <p:spPr>
          <a:xfrm>
            <a:off x="640080" y="1353312"/>
            <a:ext cx="2177186" cy="685800"/>
          </a:xfrm>
          <a:prstGeom prst="rect">
            <a:avLst/>
          </a:prstGeom>
          <a:noFill/>
          <a:ln/>
        </p:spPr>
        <p:txBody>
          <a:bodyPr wrap="square" lIns="0" tIns="0" rIns="0" bIns="0" rtlCol="0" anchor="ctr">
            <a:normAutofit/>
          </a:bodyPr>
          <a:lstStyle/>
          <a:p>
            <a:pPr marL="0" indent="0">
              <a:buNone/>
            </a:pPr>
            <a:r>
              <a:rPr lang="en-US" sz="1250" b="1" dirty="0">
                <a:solidFill>
                  <a:srgbClr val="FFFFFF"/>
                </a:solidFill>
              </a:rPr>
              <a:t>Alan</a:t>
            </a:r>
            <a:endParaRPr lang="en-US" sz="1250" dirty="0"/>
          </a:p>
        </p:txBody>
      </p:sp>
      <p:sp>
        <p:nvSpPr>
          <p:cNvPr id="6" name="Shape 4"/>
          <p:cNvSpPr/>
          <p:nvPr/>
        </p:nvSpPr>
        <p:spPr>
          <a:xfrm>
            <a:off x="2890418" y="1280160"/>
            <a:ext cx="4315054" cy="777240"/>
          </a:xfrm>
          <a:prstGeom prst="rect">
            <a:avLst/>
          </a:prstGeom>
          <a:solidFill>
            <a:srgbClr val="1D2B46"/>
          </a:solidFill>
          <a:ln w="6350">
            <a:solidFill>
              <a:srgbClr val="DDE3EF"/>
            </a:solidFill>
            <a:prstDash val="solid"/>
          </a:ln>
        </p:spPr>
      </p:sp>
      <p:sp>
        <p:nvSpPr>
          <p:cNvPr id="7" name="Text 5"/>
          <p:cNvSpPr/>
          <p:nvPr/>
        </p:nvSpPr>
        <p:spPr>
          <a:xfrm>
            <a:off x="2963570" y="1353312"/>
            <a:ext cx="4168750" cy="685800"/>
          </a:xfrm>
          <a:prstGeom prst="rect">
            <a:avLst/>
          </a:prstGeom>
          <a:noFill/>
          <a:ln/>
        </p:spPr>
        <p:txBody>
          <a:bodyPr wrap="square" lIns="0" tIns="0" rIns="0" bIns="0" rtlCol="0" anchor="ctr">
            <a:normAutofit/>
          </a:bodyPr>
          <a:lstStyle/>
          <a:p>
            <a:pPr marL="0" indent="0">
              <a:buNone/>
            </a:pPr>
            <a:r>
              <a:rPr lang="en-US" sz="1250" b="1" dirty="0">
                <a:solidFill>
                  <a:srgbClr val="FFFFFF"/>
                </a:solidFill>
              </a:rPr>
              <a:t>Literatürde genel bulgu</a:t>
            </a:r>
            <a:endParaRPr lang="en-US" sz="1250" dirty="0"/>
          </a:p>
        </p:txBody>
      </p:sp>
      <p:sp>
        <p:nvSpPr>
          <p:cNvPr id="8" name="Shape 6"/>
          <p:cNvSpPr/>
          <p:nvPr/>
        </p:nvSpPr>
        <p:spPr>
          <a:xfrm>
            <a:off x="7205472" y="1280160"/>
            <a:ext cx="4425696" cy="777240"/>
          </a:xfrm>
          <a:prstGeom prst="rect">
            <a:avLst/>
          </a:prstGeom>
          <a:solidFill>
            <a:srgbClr val="1D2B46"/>
          </a:solidFill>
          <a:ln w="6350">
            <a:solidFill>
              <a:srgbClr val="DDE3EF"/>
            </a:solidFill>
            <a:prstDash val="solid"/>
          </a:ln>
        </p:spPr>
      </p:sp>
      <p:sp>
        <p:nvSpPr>
          <p:cNvPr id="9" name="Text 7"/>
          <p:cNvSpPr/>
          <p:nvPr/>
        </p:nvSpPr>
        <p:spPr>
          <a:xfrm>
            <a:off x="7278624" y="1353312"/>
            <a:ext cx="4279392" cy="685800"/>
          </a:xfrm>
          <a:prstGeom prst="rect">
            <a:avLst/>
          </a:prstGeom>
          <a:noFill/>
          <a:ln/>
        </p:spPr>
        <p:txBody>
          <a:bodyPr wrap="square" lIns="0" tIns="0" rIns="0" bIns="0" rtlCol="0" anchor="ctr">
            <a:normAutofit/>
          </a:bodyPr>
          <a:lstStyle/>
          <a:p>
            <a:pPr marL="0" indent="0">
              <a:buNone/>
            </a:pPr>
            <a:r>
              <a:rPr lang="en-US" sz="1250" b="1" dirty="0">
                <a:solidFill>
                  <a:srgbClr val="FFFFFF"/>
                </a:solidFill>
              </a:rPr>
              <a:t>Bu tezdeki karşılığı</a:t>
            </a:r>
            <a:endParaRPr lang="en-US" sz="1250" dirty="0"/>
          </a:p>
        </p:txBody>
      </p:sp>
      <p:sp>
        <p:nvSpPr>
          <p:cNvPr id="10" name="Shape 8"/>
          <p:cNvSpPr/>
          <p:nvPr/>
        </p:nvSpPr>
        <p:spPr>
          <a:xfrm>
            <a:off x="566928" y="2057400"/>
            <a:ext cx="2323490" cy="777240"/>
          </a:xfrm>
          <a:prstGeom prst="rect">
            <a:avLst/>
          </a:prstGeom>
          <a:solidFill>
            <a:srgbClr val="FFFFFF"/>
          </a:solidFill>
          <a:ln w="6350">
            <a:solidFill>
              <a:srgbClr val="DDE3EF"/>
            </a:solidFill>
            <a:prstDash val="solid"/>
          </a:ln>
        </p:spPr>
      </p:sp>
      <p:sp>
        <p:nvSpPr>
          <p:cNvPr id="11" name="Text 9"/>
          <p:cNvSpPr/>
          <p:nvPr/>
        </p:nvSpPr>
        <p:spPr>
          <a:xfrm>
            <a:off x="640080" y="2130552"/>
            <a:ext cx="2177186"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Transformer tabanlı SA</a:t>
            </a:r>
            <a:endParaRPr lang="en-US" sz="1220" dirty="0"/>
          </a:p>
        </p:txBody>
      </p:sp>
      <p:sp>
        <p:nvSpPr>
          <p:cNvPr id="12" name="Shape 10"/>
          <p:cNvSpPr/>
          <p:nvPr/>
        </p:nvSpPr>
        <p:spPr>
          <a:xfrm>
            <a:off x="2890418" y="2057400"/>
            <a:ext cx="4315054" cy="777240"/>
          </a:xfrm>
          <a:prstGeom prst="rect">
            <a:avLst/>
          </a:prstGeom>
          <a:solidFill>
            <a:srgbClr val="FFFFFF"/>
          </a:solidFill>
          <a:ln w="6350">
            <a:solidFill>
              <a:srgbClr val="DDE3EF"/>
            </a:solidFill>
            <a:prstDash val="solid"/>
          </a:ln>
        </p:spPr>
      </p:sp>
      <p:sp>
        <p:nvSpPr>
          <p:cNvPr id="13" name="Text 11"/>
          <p:cNvSpPr/>
          <p:nvPr/>
        </p:nvSpPr>
        <p:spPr>
          <a:xfrm>
            <a:off x="2963570" y="2130552"/>
            <a:ext cx="4168750"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BERT/RoBERTa türü modeller bağlamsal temsil öğrenir.</a:t>
            </a:r>
            <a:endParaRPr lang="en-US" sz="1220" dirty="0"/>
          </a:p>
        </p:txBody>
      </p:sp>
      <p:sp>
        <p:nvSpPr>
          <p:cNvPr id="14" name="Shape 12"/>
          <p:cNvSpPr/>
          <p:nvPr/>
        </p:nvSpPr>
        <p:spPr>
          <a:xfrm>
            <a:off x="7205472" y="2057400"/>
            <a:ext cx="4425696" cy="777240"/>
          </a:xfrm>
          <a:prstGeom prst="rect">
            <a:avLst/>
          </a:prstGeom>
          <a:solidFill>
            <a:srgbClr val="FFFFFF"/>
          </a:solidFill>
          <a:ln w="6350">
            <a:solidFill>
              <a:srgbClr val="DDE3EF"/>
            </a:solidFill>
            <a:prstDash val="solid"/>
          </a:ln>
        </p:spPr>
      </p:sp>
      <p:sp>
        <p:nvSpPr>
          <p:cNvPr id="15" name="Text 13"/>
          <p:cNvSpPr/>
          <p:nvPr/>
        </p:nvSpPr>
        <p:spPr>
          <a:xfrm>
            <a:off x="7278624" y="2130552"/>
            <a:ext cx="4279392"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BERT, DistilBERT, RoBERTa ve FinBERT aynı görevde karşılaştırıldı.</a:t>
            </a:r>
            <a:endParaRPr lang="en-US" sz="1220" dirty="0"/>
          </a:p>
        </p:txBody>
      </p:sp>
      <p:sp>
        <p:nvSpPr>
          <p:cNvPr id="16" name="Shape 14"/>
          <p:cNvSpPr/>
          <p:nvPr/>
        </p:nvSpPr>
        <p:spPr>
          <a:xfrm>
            <a:off x="566928" y="2834640"/>
            <a:ext cx="2323490" cy="777240"/>
          </a:xfrm>
          <a:prstGeom prst="rect">
            <a:avLst/>
          </a:prstGeom>
          <a:solidFill>
            <a:srgbClr val="F4F6FB"/>
          </a:solidFill>
          <a:ln w="6350">
            <a:solidFill>
              <a:srgbClr val="DDE3EF"/>
            </a:solidFill>
            <a:prstDash val="solid"/>
          </a:ln>
        </p:spPr>
      </p:sp>
      <p:sp>
        <p:nvSpPr>
          <p:cNvPr id="17" name="Text 15"/>
          <p:cNvSpPr/>
          <p:nvPr/>
        </p:nvSpPr>
        <p:spPr>
          <a:xfrm>
            <a:off x="640080" y="2907792"/>
            <a:ext cx="2177186"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Finans-özgü modeller</a:t>
            </a:r>
            <a:endParaRPr lang="en-US" sz="1220" dirty="0"/>
          </a:p>
        </p:txBody>
      </p:sp>
      <p:sp>
        <p:nvSpPr>
          <p:cNvPr id="18" name="Shape 16"/>
          <p:cNvSpPr/>
          <p:nvPr/>
        </p:nvSpPr>
        <p:spPr>
          <a:xfrm>
            <a:off x="2890418" y="2834640"/>
            <a:ext cx="4315054" cy="777240"/>
          </a:xfrm>
          <a:prstGeom prst="rect">
            <a:avLst/>
          </a:prstGeom>
          <a:solidFill>
            <a:srgbClr val="F4F6FB"/>
          </a:solidFill>
          <a:ln w="6350">
            <a:solidFill>
              <a:srgbClr val="DDE3EF"/>
            </a:solidFill>
            <a:prstDash val="solid"/>
          </a:ln>
        </p:spPr>
      </p:sp>
      <p:sp>
        <p:nvSpPr>
          <p:cNvPr id="19" name="Text 17"/>
          <p:cNvSpPr/>
          <p:nvPr/>
        </p:nvSpPr>
        <p:spPr>
          <a:xfrm>
            <a:off x="2963570" y="2907792"/>
            <a:ext cx="4168750"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FinBERT gibi modeller finansal dil üzerinde adapte edilir.</a:t>
            </a:r>
            <a:endParaRPr lang="en-US" sz="1220" dirty="0"/>
          </a:p>
        </p:txBody>
      </p:sp>
      <p:sp>
        <p:nvSpPr>
          <p:cNvPr id="20" name="Shape 18"/>
          <p:cNvSpPr/>
          <p:nvPr/>
        </p:nvSpPr>
        <p:spPr>
          <a:xfrm>
            <a:off x="7205472" y="2834640"/>
            <a:ext cx="4425696" cy="777240"/>
          </a:xfrm>
          <a:prstGeom prst="rect">
            <a:avLst/>
          </a:prstGeom>
          <a:solidFill>
            <a:srgbClr val="F4F6FB"/>
          </a:solidFill>
          <a:ln w="6350">
            <a:solidFill>
              <a:srgbClr val="DDE3EF"/>
            </a:solidFill>
            <a:prstDash val="solid"/>
          </a:ln>
        </p:spPr>
      </p:sp>
      <p:sp>
        <p:nvSpPr>
          <p:cNvPr id="21" name="Text 19"/>
          <p:cNvSpPr/>
          <p:nvPr/>
        </p:nvSpPr>
        <p:spPr>
          <a:xfrm>
            <a:off x="7278624" y="2907792"/>
            <a:ext cx="4279392"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FinBERT’in hazır ve fine-tuned halleri ayrı ayrı incelendi.</a:t>
            </a:r>
            <a:endParaRPr lang="en-US" sz="1220" dirty="0"/>
          </a:p>
        </p:txBody>
      </p:sp>
      <p:sp>
        <p:nvSpPr>
          <p:cNvPr id="22" name="Shape 20"/>
          <p:cNvSpPr/>
          <p:nvPr/>
        </p:nvSpPr>
        <p:spPr>
          <a:xfrm>
            <a:off x="566928" y="3611880"/>
            <a:ext cx="2323490" cy="777240"/>
          </a:xfrm>
          <a:prstGeom prst="rect">
            <a:avLst/>
          </a:prstGeom>
          <a:solidFill>
            <a:srgbClr val="FFFFFF"/>
          </a:solidFill>
          <a:ln w="6350">
            <a:solidFill>
              <a:srgbClr val="DDE3EF"/>
            </a:solidFill>
            <a:prstDash val="solid"/>
          </a:ln>
        </p:spPr>
      </p:sp>
      <p:sp>
        <p:nvSpPr>
          <p:cNvPr id="23" name="Text 21"/>
          <p:cNvSpPr/>
          <p:nvPr/>
        </p:nvSpPr>
        <p:spPr>
          <a:xfrm>
            <a:off x="640080" y="3685032"/>
            <a:ext cx="2177186"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Domain shift</a:t>
            </a:r>
            <a:endParaRPr lang="en-US" sz="1220" dirty="0"/>
          </a:p>
        </p:txBody>
      </p:sp>
      <p:sp>
        <p:nvSpPr>
          <p:cNvPr id="24" name="Shape 22"/>
          <p:cNvSpPr/>
          <p:nvPr/>
        </p:nvSpPr>
        <p:spPr>
          <a:xfrm>
            <a:off x="2890418" y="3611880"/>
            <a:ext cx="4315054" cy="777240"/>
          </a:xfrm>
          <a:prstGeom prst="rect">
            <a:avLst/>
          </a:prstGeom>
          <a:solidFill>
            <a:srgbClr val="FFFFFF"/>
          </a:solidFill>
          <a:ln w="6350">
            <a:solidFill>
              <a:srgbClr val="DDE3EF"/>
            </a:solidFill>
            <a:prstDash val="solid"/>
          </a:ln>
        </p:spPr>
      </p:sp>
      <p:sp>
        <p:nvSpPr>
          <p:cNvPr id="25" name="Text 23"/>
          <p:cNvSpPr/>
          <p:nvPr/>
        </p:nvSpPr>
        <p:spPr>
          <a:xfrm>
            <a:off x="2963570" y="3685032"/>
            <a:ext cx="4168750"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Kaynak değişince model başarısı düşebilir.</a:t>
            </a:r>
            <a:endParaRPr lang="en-US" sz="1220" dirty="0"/>
          </a:p>
        </p:txBody>
      </p:sp>
      <p:sp>
        <p:nvSpPr>
          <p:cNvPr id="26" name="Shape 24"/>
          <p:cNvSpPr/>
          <p:nvPr/>
        </p:nvSpPr>
        <p:spPr>
          <a:xfrm>
            <a:off x="7205472" y="3611880"/>
            <a:ext cx="4425696" cy="777240"/>
          </a:xfrm>
          <a:prstGeom prst="rect">
            <a:avLst/>
          </a:prstGeom>
          <a:solidFill>
            <a:srgbClr val="FFFFFF"/>
          </a:solidFill>
          <a:ln w="6350">
            <a:solidFill>
              <a:srgbClr val="DDE3EF"/>
            </a:solidFill>
            <a:prstDash val="solid"/>
          </a:ln>
        </p:spPr>
      </p:sp>
      <p:sp>
        <p:nvSpPr>
          <p:cNvPr id="27" name="Text 25"/>
          <p:cNvSpPr/>
          <p:nvPr/>
        </p:nvSpPr>
        <p:spPr>
          <a:xfrm>
            <a:off x="7278624" y="3685032"/>
            <a:ext cx="4279392"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S&amp;P ve Reuters dış testleri ile ölçüldü.</a:t>
            </a:r>
            <a:endParaRPr lang="en-US" sz="1220" dirty="0"/>
          </a:p>
        </p:txBody>
      </p:sp>
      <p:sp>
        <p:nvSpPr>
          <p:cNvPr id="28" name="Shape 26"/>
          <p:cNvSpPr/>
          <p:nvPr/>
        </p:nvSpPr>
        <p:spPr>
          <a:xfrm>
            <a:off x="566928" y="4389120"/>
            <a:ext cx="2323490" cy="777240"/>
          </a:xfrm>
          <a:prstGeom prst="rect">
            <a:avLst/>
          </a:prstGeom>
          <a:solidFill>
            <a:srgbClr val="F4F6FB"/>
          </a:solidFill>
          <a:ln w="6350">
            <a:solidFill>
              <a:srgbClr val="DDE3EF"/>
            </a:solidFill>
            <a:prstDash val="solid"/>
          </a:ln>
        </p:spPr>
      </p:sp>
      <p:sp>
        <p:nvSpPr>
          <p:cNvPr id="29" name="Text 27"/>
          <p:cNvSpPr/>
          <p:nvPr/>
        </p:nvSpPr>
        <p:spPr>
          <a:xfrm>
            <a:off x="640080" y="4462272"/>
            <a:ext cx="2177186"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Etiket semantiği</a:t>
            </a:r>
            <a:endParaRPr lang="en-US" sz="1220" dirty="0"/>
          </a:p>
        </p:txBody>
      </p:sp>
      <p:sp>
        <p:nvSpPr>
          <p:cNvPr id="30" name="Shape 28"/>
          <p:cNvSpPr/>
          <p:nvPr/>
        </p:nvSpPr>
        <p:spPr>
          <a:xfrm>
            <a:off x="2890418" y="4389120"/>
            <a:ext cx="4315054" cy="777240"/>
          </a:xfrm>
          <a:prstGeom prst="rect">
            <a:avLst/>
          </a:prstGeom>
          <a:solidFill>
            <a:srgbClr val="F4F6FB"/>
          </a:solidFill>
          <a:ln w="6350">
            <a:solidFill>
              <a:srgbClr val="DDE3EF"/>
            </a:solidFill>
            <a:prstDash val="solid"/>
          </a:ln>
        </p:spPr>
      </p:sp>
      <p:sp>
        <p:nvSpPr>
          <p:cNvPr id="31" name="Text 29"/>
          <p:cNvSpPr/>
          <p:nvPr/>
        </p:nvSpPr>
        <p:spPr>
          <a:xfrm>
            <a:off x="2963570" y="4462272"/>
            <a:ext cx="4168750"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Aynı etiket adları farklı anotasyon mantıklarına dayanabilir.</a:t>
            </a:r>
            <a:endParaRPr lang="en-US" sz="1220" dirty="0"/>
          </a:p>
        </p:txBody>
      </p:sp>
      <p:sp>
        <p:nvSpPr>
          <p:cNvPr id="32" name="Shape 30"/>
          <p:cNvSpPr/>
          <p:nvPr/>
        </p:nvSpPr>
        <p:spPr>
          <a:xfrm>
            <a:off x="7205472" y="4389120"/>
            <a:ext cx="4425696" cy="777240"/>
          </a:xfrm>
          <a:prstGeom prst="rect">
            <a:avLst/>
          </a:prstGeom>
          <a:solidFill>
            <a:srgbClr val="F4F6FB"/>
          </a:solidFill>
          <a:ln w="6350">
            <a:solidFill>
              <a:srgbClr val="DDE3EF"/>
            </a:solidFill>
            <a:prstDash val="solid"/>
          </a:ln>
        </p:spPr>
      </p:sp>
      <p:sp>
        <p:nvSpPr>
          <p:cNvPr id="33" name="Text 31"/>
          <p:cNvSpPr/>
          <p:nvPr/>
        </p:nvSpPr>
        <p:spPr>
          <a:xfrm>
            <a:off x="7278624" y="4462272"/>
            <a:ext cx="4279392" cy="685800"/>
          </a:xfrm>
          <a:prstGeom prst="rect">
            <a:avLst/>
          </a:prstGeom>
          <a:noFill/>
          <a:ln/>
        </p:spPr>
        <p:txBody>
          <a:bodyPr wrap="square" lIns="0" tIns="0" rIns="0" bIns="0" rtlCol="0" anchor="ctr">
            <a:normAutofit/>
          </a:bodyPr>
          <a:lstStyle/>
          <a:p>
            <a:pPr marL="0" indent="0">
              <a:buNone/>
            </a:pPr>
            <a:r>
              <a:rPr lang="en-US" sz="1220" dirty="0">
                <a:solidFill>
                  <a:srgbClr val="1A1E2A"/>
                </a:solidFill>
              </a:rPr>
              <a:t>Neutral sınıfındaki düşüş ve PhraseBank etkisi ile tartışıldı.</a:t>
            </a:r>
            <a:endParaRPr lang="en-US" sz="1220" dirty="0"/>
          </a:p>
        </p:txBody>
      </p:sp>
      <p:sp>
        <p:nvSpPr>
          <p:cNvPr id="34" name="Shape 32"/>
          <p:cNvSpPr/>
          <p:nvPr/>
        </p:nvSpPr>
        <p:spPr>
          <a:xfrm>
            <a:off x="777240" y="5532120"/>
            <a:ext cx="10607040" cy="530352"/>
          </a:xfrm>
          <a:prstGeom prst="roundRect">
            <a:avLst>
              <a:gd name="adj" fmla="val 13793"/>
            </a:avLst>
          </a:prstGeom>
          <a:solidFill>
            <a:srgbClr val="F0FAF8"/>
          </a:solidFill>
          <a:ln w="15240">
            <a:solidFill>
              <a:srgbClr val="0F9D8F"/>
            </a:solidFill>
            <a:prstDash val="solid"/>
          </a:ln>
        </p:spPr>
      </p:sp>
      <p:sp>
        <p:nvSpPr>
          <p:cNvPr id="35" name="Text 33"/>
          <p:cNvSpPr/>
          <p:nvPr/>
        </p:nvSpPr>
        <p:spPr>
          <a:xfrm>
            <a:off x="941832" y="5678424"/>
            <a:ext cx="10277856" cy="301752"/>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Literatürdeki boşluk: İç testte yüksek skor alan finansal sentiment modelinin farklı finansal kaynaklarda ne kadar sağlam kaldığı çoğu zaman yeterince ayrıştırılmıyor.</a:t>
            </a:r>
            <a:endParaRPr lang="en-US" sz="1500" dirty="0"/>
          </a:p>
        </p:txBody>
      </p:sp>
      <p:sp>
        <p:nvSpPr>
          <p:cNvPr id="36" name="Text 34"/>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7" name="Text 35"/>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7</a:t>
            </a:r>
            <a:endParaRPr lang="en-US" sz="850" dirty="0"/>
          </a:p>
        </p:txBody>
      </p:sp>
      <p:sp>
        <p:nvSpPr>
          <p:cNvPr id="38" name="Shape 36"/>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240280"/>
            <a:ext cx="10789920" cy="685800"/>
          </a:xfrm>
          <a:prstGeom prst="rect">
            <a:avLst/>
          </a:prstGeom>
          <a:noFill/>
          <a:ln/>
        </p:spPr>
        <p:txBody>
          <a:bodyPr wrap="square" lIns="0" tIns="0" rIns="0" bIns="0" rtlCol="0" anchor="ctr"/>
          <a:lstStyle/>
          <a:p>
            <a:pPr marL="0" indent="0" algn="ctr">
              <a:buNone/>
            </a:pPr>
            <a:r>
              <a:rPr lang="en-US" sz="3600" b="1" dirty="0">
                <a:solidFill>
                  <a:srgbClr val="FFFFFF"/>
                </a:solidFill>
              </a:rPr>
              <a:t>« MATERYAL ve YÖNTEM »</a:t>
            </a:r>
            <a:endParaRPr lang="en-US" sz="3600" dirty="0"/>
          </a:p>
        </p:txBody>
      </p:sp>
      <p:sp>
        <p:nvSpPr>
          <p:cNvPr id="3" name="Text 1"/>
          <p:cNvSpPr/>
          <p:nvPr/>
        </p:nvSpPr>
        <p:spPr>
          <a:xfrm>
            <a:off x="1554480" y="3063240"/>
            <a:ext cx="9144000" cy="502920"/>
          </a:xfrm>
          <a:prstGeom prst="rect">
            <a:avLst/>
          </a:prstGeom>
          <a:noFill/>
          <a:ln/>
        </p:spPr>
        <p:txBody>
          <a:bodyPr wrap="square" lIns="0" tIns="0" rIns="0" bIns="0" rtlCol="0" anchor="ctr">
            <a:normAutofit/>
          </a:bodyPr>
          <a:lstStyle/>
          <a:p>
            <a:pPr marL="0" indent="0" algn="ctr">
              <a:buNone/>
            </a:pPr>
            <a:r>
              <a:rPr lang="en-US" sz="1800" dirty="0">
                <a:solidFill>
                  <a:srgbClr val="DCE6FF"/>
                </a:solidFill>
              </a:rPr>
              <a:t>Veri setleri, model ailesi, metrik ve deney akışı</a:t>
            </a:r>
            <a:endParaRPr lang="en-US" sz="1800" dirty="0"/>
          </a:p>
        </p:txBody>
      </p:sp>
      <p:sp>
        <p:nvSpPr>
          <p:cNvPr id="4" name="Text 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5" name="Text 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8</a:t>
            </a:r>
            <a:endParaRPr lang="en-US" sz="850" dirty="0"/>
          </a:p>
        </p:txBody>
      </p:sp>
      <p:sp>
        <p:nvSpPr>
          <p:cNvPr id="6" name="Shape 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Veri setleri: train ve external test ayrımı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En kritik nokta: dış test setleri eğitimde kullanılmadı.</a:t>
            </a:r>
            <a:endParaRPr lang="en-US" sz="1450" dirty="0"/>
          </a:p>
        </p:txBody>
      </p:sp>
      <p:sp>
        <p:nvSpPr>
          <p:cNvPr id="4" name="Shape 2"/>
          <p:cNvSpPr/>
          <p:nvPr/>
        </p:nvSpPr>
        <p:spPr>
          <a:xfrm>
            <a:off x="594360" y="1234440"/>
            <a:ext cx="3950208" cy="607423"/>
          </a:xfrm>
          <a:prstGeom prst="rect">
            <a:avLst/>
          </a:prstGeom>
          <a:solidFill>
            <a:srgbClr val="1D2B46"/>
          </a:solidFill>
          <a:ln w="6350">
            <a:solidFill>
              <a:srgbClr val="DDE3EF"/>
            </a:solidFill>
            <a:prstDash val="solid"/>
          </a:ln>
        </p:spPr>
      </p:sp>
      <p:sp>
        <p:nvSpPr>
          <p:cNvPr id="5" name="Text 3"/>
          <p:cNvSpPr/>
          <p:nvPr/>
        </p:nvSpPr>
        <p:spPr>
          <a:xfrm>
            <a:off x="667512" y="1307592"/>
            <a:ext cx="3803904" cy="515983"/>
          </a:xfrm>
          <a:prstGeom prst="rect">
            <a:avLst/>
          </a:prstGeom>
          <a:noFill/>
          <a:ln/>
        </p:spPr>
        <p:txBody>
          <a:bodyPr wrap="square" lIns="0" tIns="0" rIns="0" bIns="0" rtlCol="0" anchor="ctr">
            <a:normAutofit/>
          </a:bodyPr>
          <a:lstStyle/>
          <a:p>
            <a:pPr marL="0" indent="0">
              <a:buNone/>
            </a:pPr>
            <a:r>
              <a:rPr lang="en-US" sz="1150" b="1" dirty="0">
                <a:solidFill>
                  <a:srgbClr val="FFFFFF"/>
                </a:solidFill>
              </a:rPr>
              <a:t>Veri seti</a:t>
            </a:r>
            <a:endParaRPr lang="en-US" sz="1150" dirty="0"/>
          </a:p>
        </p:txBody>
      </p:sp>
      <p:sp>
        <p:nvSpPr>
          <p:cNvPr id="6" name="Shape 4"/>
          <p:cNvSpPr/>
          <p:nvPr/>
        </p:nvSpPr>
        <p:spPr>
          <a:xfrm>
            <a:off x="4544568" y="1234440"/>
            <a:ext cx="1426464" cy="607423"/>
          </a:xfrm>
          <a:prstGeom prst="rect">
            <a:avLst/>
          </a:prstGeom>
          <a:solidFill>
            <a:srgbClr val="1D2B46"/>
          </a:solidFill>
          <a:ln w="6350">
            <a:solidFill>
              <a:srgbClr val="DDE3EF"/>
            </a:solidFill>
            <a:prstDash val="solid"/>
          </a:ln>
        </p:spPr>
      </p:sp>
      <p:sp>
        <p:nvSpPr>
          <p:cNvPr id="7" name="Text 5"/>
          <p:cNvSpPr/>
          <p:nvPr/>
        </p:nvSpPr>
        <p:spPr>
          <a:xfrm>
            <a:off x="4617720" y="1307592"/>
            <a:ext cx="1280160" cy="515983"/>
          </a:xfrm>
          <a:prstGeom prst="rect">
            <a:avLst/>
          </a:prstGeom>
          <a:noFill/>
          <a:ln/>
        </p:spPr>
        <p:txBody>
          <a:bodyPr wrap="square" lIns="0" tIns="0" rIns="0" bIns="0" rtlCol="0" anchor="ctr">
            <a:normAutofit/>
          </a:bodyPr>
          <a:lstStyle/>
          <a:p>
            <a:pPr marL="0" indent="0">
              <a:buNone/>
            </a:pPr>
            <a:r>
              <a:rPr lang="en-US" sz="1150" b="1" dirty="0">
                <a:solidFill>
                  <a:srgbClr val="FFFFFF"/>
                </a:solidFill>
              </a:rPr>
              <a:t>N</a:t>
            </a:r>
            <a:endParaRPr lang="en-US" sz="1150" dirty="0"/>
          </a:p>
        </p:txBody>
      </p:sp>
      <p:sp>
        <p:nvSpPr>
          <p:cNvPr id="8" name="Shape 6"/>
          <p:cNvSpPr/>
          <p:nvPr/>
        </p:nvSpPr>
        <p:spPr>
          <a:xfrm>
            <a:off x="5971032" y="1234440"/>
            <a:ext cx="3072384" cy="607423"/>
          </a:xfrm>
          <a:prstGeom prst="rect">
            <a:avLst/>
          </a:prstGeom>
          <a:solidFill>
            <a:srgbClr val="1D2B46"/>
          </a:solidFill>
          <a:ln w="6350">
            <a:solidFill>
              <a:srgbClr val="DDE3EF"/>
            </a:solidFill>
            <a:prstDash val="solid"/>
          </a:ln>
        </p:spPr>
      </p:sp>
      <p:sp>
        <p:nvSpPr>
          <p:cNvPr id="9" name="Text 7"/>
          <p:cNvSpPr/>
          <p:nvPr/>
        </p:nvSpPr>
        <p:spPr>
          <a:xfrm>
            <a:off x="6044184" y="1307592"/>
            <a:ext cx="2926080" cy="515983"/>
          </a:xfrm>
          <a:prstGeom prst="rect">
            <a:avLst/>
          </a:prstGeom>
          <a:noFill/>
          <a:ln/>
        </p:spPr>
        <p:txBody>
          <a:bodyPr wrap="square" lIns="0" tIns="0" rIns="0" bIns="0" rtlCol="0" anchor="ctr">
            <a:normAutofit/>
          </a:bodyPr>
          <a:lstStyle/>
          <a:p>
            <a:pPr marL="0" indent="0">
              <a:buNone/>
            </a:pPr>
            <a:r>
              <a:rPr lang="en-US" sz="1150" b="1" dirty="0">
                <a:solidFill>
                  <a:srgbClr val="FFFFFF"/>
                </a:solidFill>
              </a:rPr>
              <a:t>Rol</a:t>
            </a:r>
            <a:endParaRPr lang="en-US" sz="1150" dirty="0"/>
          </a:p>
        </p:txBody>
      </p:sp>
      <p:sp>
        <p:nvSpPr>
          <p:cNvPr id="10" name="Shape 8"/>
          <p:cNvSpPr/>
          <p:nvPr/>
        </p:nvSpPr>
        <p:spPr>
          <a:xfrm>
            <a:off x="9043416" y="1234440"/>
            <a:ext cx="2523744" cy="607423"/>
          </a:xfrm>
          <a:prstGeom prst="rect">
            <a:avLst/>
          </a:prstGeom>
          <a:solidFill>
            <a:srgbClr val="1D2B46"/>
          </a:solidFill>
          <a:ln w="6350">
            <a:solidFill>
              <a:srgbClr val="DDE3EF"/>
            </a:solidFill>
            <a:prstDash val="solid"/>
          </a:ln>
        </p:spPr>
      </p:sp>
      <p:sp>
        <p:nvSpPr>
          <p:cNvPr id="11" name="Text 9"/>
          <p:cNvSpPr/>
          <p:nvPr/>
        </p:nvSpPr>
        <p:spPr>
          <a:xfrm>
            <a:off x="9116568" y="1307592"/>
            <a:ext cx="2377440" cy="515983"/>
          </a:xfrm>
          <a:prstGeom prst="rect">
            <a:avLst/>
          </a:prstGeom>
          <a:noFill/>
          <a:ln/>
        </p:spPr>
        <p:txBody>
          <a:bodyPr wrap="square" lIns="0" tIns="0" rIns="0" bIns="0" rtlCol="0" anchor="ctr">
            <a:normAutofit/>
          </a:bodyPr>
          <a:lstStyle/>
          <a:p>
            <a:pPr marL="0" indent="0">
              <a:buNone/>
            </a:pPr>
            <a:r>
              <a:rPr lang="en-US" sz="1150" b="1" dirty="0">
                <a:solidFill>
                  <a:srgbClr val="FFFFFF"/>
                </a:solidFill>
              </a:rPr>
              <a:t>Etiket durumu</a:t>
            </a:r>
            <a:endParaRPr lang="en-US" sz="1150" dirty="0"/>
          </a:p>
        </p:txBody>
      </p:sp>
      <p:sp>
        <p:nvSpPr>
          <p:cNvPr id="12" name="Shape 10"/>
          <p:cNvSpPr/>
          <p:nvPr/>
        </p:nvSpPr>
        <p:spPr>
          <a:xfrm>
            <a:off x="594360" y="1841863"/>
            <a:ext cx="3950208" cy="607423"/>
          </a:xfrm>
          <a:prstGeom prst="rect">
            <a:avLst/>
          </a:prstGeom>
          <a:solidFill>
            <a:srgbClr val="FFFFFF"/>
          </a:solidFill>
          <a:ln w="6350">
            <a:solidFill>
              <a:srgbClr val="DDE3EF"/>
            </a:solidFill>
            <a:prstDash val="solid"/>
          </a:ln>
        </p:spPr>
      </p:sp>
      <p:sp>
        <p:nvSpPr>
          <p:cNvPr id="13" name="Text 11"/>
          <p:cNvSpPr/>
          <p:nvPr/>
        </p:nvSpPr>
        <p:spPr>
          <a:xfrm>
            <a:off x="667512" y="1915015"/>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Twitter Financial News Sentiment</a:t>
            </a:r>
            <a:endParaRPr lang="en-US" sz="1220" dirty="0"/>
          </a:p>
        </p:txBody>
      </p:sp>
      <p:sp>
        <p:nvSpPr>
          <p:cNvPr id="14" name="Shape 12"/>
          <p:cNvSpPr/>
          <p:nvPr/>
        </p:nvSpPr>
        <p:spPr>
          <a:xfrm>
            <a:off x="4544568" y="1841863"/>
            <a:ext cx="1426464" cy="607423"/>
          </a:xfrm>
          <a:prstGeom prst="rect">
            <a:avLst/>
          </a:prstGeom>
          <a:solidFill>
            <a:srgbClr val="FFFFFF"/>
          </a:solidFill>
          <a:ln w="6350">
            <a:solidFill>
              <a:srgbClr val="DDE3EF"/>
            </a:solidFill>
            <a:prstDash val="solid"/>
          </a:ln>
        </p:spPr>
      </p:sp>
      <p:sp>
        <p:nvSpPr>
          <p:cNvPr id="15" name="Text 13"/>
          <p:cNvSpPr/>
          <p:nvPr/>
        </p:nvSpPr>
        <p:spPr>
          <a:xfrm>
            <a:off x="4617720" y="1915015"/>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11.931</a:t>
            </a:r>
            <a:endParaRPr lang="en-US" sz="1220" dirty="0"/>
          </a:p>
        </p:txBody>
      </p:sp>
      <p:sp>
        <p:nvSpPr>
          <p:cNvPr id="16" name="Shape 14"/>
          <p:cNvSpPr/>
          <p:nvPr/>
        </p:nvSpPr>
        <p:spPr>
          <a:xfrm>
            <a:off x="5971032" y="1841863"/>
            <a:ext cx="3072384" cy="607423"/>
          </a:xfrm>
          <a:prstGeom prst="rect">
            <a:avLst/>
          </a:prstGeom>
          <a:solidFill>
            <a:srgbClr val="FFFFFF"/>
          </a:solidFill>
          <a:ln w="6350">
            <a:solidFill>
              <a:srgbClr val="DDE3EF"/>
            </a:solidFill>
            <a:prstDash val="solid"/>
          </a:ln>
        </p:spPr>
      </p:sp>
      <p:sp>
        <p:nvSpPr>
          <p:cNvPr id="17" name="Text 15"/>
          <p:cNvSpPr/>
          <p:nvPr/>
        </p:nvSpPr>
        <p:spPr>
          <a:xfrm>
            <a:off x="6044184" y="1915015"/>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Train / iç dağılım</a:t>
            </a:r>
            <a:endParaRPr lang="en-US" sz="1220" dirty="0"/>
          </a:p>
        </p:txBody>
      </p:sp>
      <p:sp>
        <p:nvSpPr>
          <p:cNvPr id="18" name="Shape 16"/>
          <p:cNvSpPr/>
          <p:nvPr/>
        </p:nvSpPr>
        <p:spPr>
          <a:xfrm>
            <a:off x="9043416" y="1841863"/>
            <a:ext cx="2523744" cy="607423"/>
          </a:xfrm>
          <a:prstGeom prst="rect">
            <a:avLst/>
          </a:prstGeom>
          <a:solidFill>
            <a:srgbClr val="FFFFFF"/>
          </a:solidFill>
          <a:ln w="6350">
            <a:solidFill>
              <a:srgbClr val="DDE3EF"/>
            </a:solidFill>
            <a:prstDash val="solid"/>
          </a:ln>
        </p:spPr>
      </p:sp>
      <p:sp>
        <p:nvSpPr>
          <p:cNvPr id="19" name="Text 17"/>
          <p:cNvSpPr/>
          <p:nvPr/>
        </p:nvSpPr>
        <p:spPr>
          <a:xfrm>
            <a:off x="9116568" y="1915015"/>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Hazır etiketli</a:t>
            </a:r>
            <a:endParaRPr lang="en-US" sz="1220" dirty="0"/>
          </a:p>
        </p:txBody>
      </p:sp>
      <p:sp>
        <p:nvSpPr>
          <p:cNvPr id="20" name="Shape 18"/>
          <p:cNvSpPr/>
          <p:nvPr/>
        </p:nvSpPr>
        <p:spPr>
          <a:xfrm>
            <a:off x="594360" y="2449286"/>
            <a:ext cx="3950208" cy="607423"/>
          </a:xfrm>
          <a:prstGeom prst="rect">
            <a:avLst/>
          </a:prstGeom>
          <a:solidFill>
            <a:srgbClr val="F4F6FB"/>
          </a:solidFill>
          <a:ln w="6350">
            <a:solidFill>
              <a:srgbClr val="DDE3EF"/>
            </a:solidFill>
            <a:prstDash val="solid"/>
          </a:ln>
        </p:spPr>
      </p:sp>
      <p:sp>
        <p:nvSpPr>
          <p:cNvPr id="21" name="Text 19"/>
          <p:cNvSpPr/>
          <p:nvPr/>
        </p:nvSpPr>
        <p:spPr>
          <a:xfrm>
            <a:off x="667512" y="2522438"/>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Financial PhraseBank</a:t>
            </a:r>
            <a:endParaRPr lang="en-US" sz="1220" dirty="0"/>
          </a:p>
        </p:txBody>
      </p:sp>
      <p:sp>
        <p:nvSpPr>
          <p:cNvPr id="22" name="Shape 20"/>
          <p:cNvSpPr/>
          <p:nvPr/>
        </p:nvSpPr>
        <p:spPr>
          <a:xfrm>
            <a:off x="4544568" y="2449286"/>
            <a:ext cx="1426464" cy="607423"/>
          </a:xfrm>
          <a:prstGeom prst="rect">
            <a:avLst/>
          </a:prstGeom>
          <a:solidFill>
            <a:srgbClr val="F4F6FB"/>
          </a:solidFill>
          <a:ln w="6350">
            <a:solidFill>
              <a:srgbClr val="DDE3EF"/>
            </a:solidFill>
            <a:prstDash val="solid"/>
          </a:ln>
        </p:spPr>
      </p:sp>
      <p:sp>
        <p:nvSpPr>
          <p:cNvPr id="23" name="Text 21"/>
          <p:cNvSpPr/>
          <p:nvPr/>
        </p:nvSpPr>
        <p:spPr>
          <a:xfrm>
            <a:off x="4617720" y="2522438"/>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4.846</a:t>
            </a:r>
            <a:endParaRPr lang="en-US" sz="1220" dirty="0"/>
          </a:p>
        </p:txBody>
      </p:sp>
      <p:sp>
        <p:nvSpPr>
          <p:cNvPr id="24" name="Shape 22"/>
          <p:cNvSpPr/>
          <p:nvPr/>
        </p:nvSpPr>
        <p:spPr>
          <a:xfrm>
            <a:off x="5971032" y="2449286"/>
            <a:ext cx="3072384" cy="607423"/>
          </a:xfrm>
          <a:prstGeom prst="rect">
            <a:avLst/>
          </a:prstGeom>
          <a:solidFill>
            <a:srgbClr val="F4F6FB"/>
          </a:solidFill>
          <a:ln w="6350">
            <a:solidFill>
              <a:srgbClr val="DDE3EF"/>
            </a:solidFill>
            <a:prstDash val="solid"/>
          </a:ln>
        </p:spPr>
      </p:sp>
      <p:sp>
        <p:nvSpPr>
          <p:cNvPr id="25" name="Text 23"/>
          <p:cNvSpPr/>
          <p:nvPr/>
        </p:nvSpPr>
        <p:spPr>
          <a:xfrm>
            <a:off x="6044184" y="2522438"/>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Train desteği / ablation</a:t>
            </a:r>
            <a:endParaRPr lang="en-US" sz="1220" dirty="0"/>
          </a:p>
        </p:txBody>
      </p:sp>
      <p:sp>
        <p:nvSpPr>
          <p:cNvPr id="26" name="Shape 24"/>
          <p:cNvSpPr/>
          <p:nvPr/>
        </p:nvSpPr>
        <p:spPr>
          <a:xfrm>
            <a:off x="9043416" y="2449286"/>
            <a:ext cx="2523744" cy="607423"/>
          </a:xfrm>
          <a:prstGeom prst="rect">
            <a:avLst/>
          </a:prstGeom>
          <a:solidFill>
            <a:srgbClr val="F4F6FB"/>
          </a:solidFill>
          <a:ln w="6350">
            <a:solidFill>
              <a:srgbClr val="DDE3EF"/>
            </a:solidFill>
            <a:prstDash val="solid"/>
          </a:ln>
        </p:spPr>
      </p:sp>
      <p:sp>
        <p:nvSpPr>
          <p:cNvPr id="27" name="Text 25"/>
          <p:cNvSpPr/>
          <p:nvPr/>
        </p:nvSpPr>
        <p:spPr>
          <a:xfrm>
            <a:off x="9116568" y="2522438"/>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Hazır etiketli</a:t>
            </a:r>
            <a:endParaRPr lang="en-US" sz="1220" dirty="0"/>
          </a:p>
        </p:txBody>
      </p:sp>
      <p:sp>
        <p:nvSpPr>
          <p:cNvPr id="28" name="Shape 26"/>
          <p:cNvSpPr/>
          <p:nvPr/>
        </p:nvSpPr>
        <p:spPr>
          <a:xfrm>
            <a:off x="594360" y="3056709"/>
            <a:ext cx="3950208" cy="607423"/>
          </a:xfrm>
          <a:prstGeom prst="rect">
            <a:avLst/>
          </a:prstGeom>
          <a:solidFill>
            <a:srgbClr val="FFFFFF"/>
          </a:solidFill>
          <a:ln w="6350">
            <a:solidFill>
              <a:srgbClr val="DDE3EF"/>
            </a:solidFill>
            <a:prstDash val="solid"/>
          </a:ln>
        </p:spPr>
      </p:sp>
      <p:sp>
        <p:nvSpPr>
          <p:cNvPr id="29" name="Text 27"/>
          <p:cNvSpPr/>
          <p:nvPr/>
        </p:nvSpPr>
        <p:spPr>
          <a:xfrm>
            <a:off x="667512" y="3129861"/>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Internal test</a:t>
            </a:r>
            <a:endParaRPr lang="en-US" sz="1220" dirty="0"/>
          </a:p>
        </p:txBody>
      </p:sp>
      <p:sp>
        <p:nvSpPr>
          <p:cNvPr id="30" name="Shape 28"/>
          <p:cNvSpPr/>
          <p:nvPr/>
        </p:nvSpPr>
        <p:spPr>
          <a:xfrm>
            <a:off x="4544568" y="3056709"/>
            <a:ext cx="1426464" cy="607423"/>
          </a:xfrm>
          <a:prstGeom prst="rect">
            <a:avLst/>
          </a:prstGeom>
          <a:solidFill>
            <a:srgbClr val="FFFFFF"/>
          </a:solidFill>
          <a:ln w="6350">
            <a:solidFill>
              <a:srgbClr val="DDE3EF"/>
            </a:solidFill>
            <a:prstDash val="solid"/>
          </a:ln>
        </p:spPr>
      </p:sp>
      <p:sp>
        <p:nvSpPr>
          <p:cNvPr id="31" name="Text 29"/>
          <p:cNvSpPr/>
          <p:nvPr/>
        </p:nvSpPr>
        <p:spPr>
          <a:xfrm>
            <a:off x="4617720" y="3129861"/>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2.386</a:t>
            </a:r>
            <a:endParaRPr lang="en-US" sz="1220" dirty="0"/>
          </a:p>
        </p:txBody>
      </p:sp>
      <p:sp>
        <p:nvSpPr>
          <p:cNvPr id="32" name="Shape 30"/>
          <p:cNvSpPr/>
          <p:nvPr/>
        </p:nvSpPr>
        <p:spPr>
          <a:xfrm>
            <a:off x="5971032" y="3056709"/>
            <a:ext cx="3072384" cy="607423"/>
          </a:xfrm>
          <a:prstGeom prst="rect">
            <a:avLst/>
          </a:prstGeom>
          <a:solidFill>
            <a:srgbClr val="FFFFFF"/>
          </a:solidFill>
          <a:ln w="6350">
            <a:solidFill>
              <a:srgbClr val="DDE3EF"/>
            </a:solidFill>
            <a:prstDash val="solid"/>
          </a:ln>
        </p:spPr>
      </p:sp>
      <p:sp>
        <p:nvSpPr>
          <p:cNvPr id="33" name="Text 31"/>
          <p:cNvSpPr/>
          <p:nvPr/>
        </p:nvSpPr>
        <p:spPr>
          <a:xfrm>
            <a:off x="6044184" y="3129861"/>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İç test</a:t>
            </a:r>
            <a:endParaRPr lang="en-US" sz="1220" dirty="0"/>
          </a:p>
        </p:txBody>
      </p:sp>
      <p:sp>
        <p:nvSpPr>
          <p:cNvPr id="34" name="Shape 32"/>
          <p:cNvSpPr/>
          <p:nvPr/>
        </p:nvSpPr>
        <p:spPr>
          <a:xfrm>
            <a:off x="9043416" y="3056709"/>
            <a:ext cx="2523744" cy="607423"/>
          </a:xfrm>
          <a:prstGeom prst="rect">
            <a:avLst/>
          </a:prstGeom>
          <a:solidFill>
            <a:srgbClr val="FFFFFF"/>
          </a:solidFill>
          <a:ln w="6350">
            <a:solidFill>
              <a:srgbClr val="DDE3EF"/>
            </a:solidFill>
            <a:prstDash val="solid"/>
          </a:ln>
        </p:spPr>
      </p:sp>
      <p:sp>
        <p:nvSpPr>
          <p:cNvPr id="35" name="Text 33"/>
          <p:cNvSpPr/>
          <p:nvPr/>
        </p:nvSpPr>
        <p:spPr>
          <a:xfrm>
            <a:off x="9116568" y="3129861"/>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Hazır etiketli split</a:t>
            </a:r>
            <a:endParaRPr lang="en-US" sz="1220" dirty="0"/>
          </a:p>
        </p:txBody>
      </p:sp>
      <p:sp>
        <p:nvSpPr>
          <p:cNvPr id="36" name="Shape 34"/>
          <p:cNvSpPr/>
          <p:nvPr/>
        </p:nvSpPr>
        <p:spPr>
          <a:xfrm>
            <a:off x="594360" y="3664131"/>
            <a:ext cx="3950208" cy="607423"/>
          </a:xfrm>
          <a:prstGeom prst="rect">
            <a:avLst/>
          </a:prstGeom>
          <a:solidFill>
            <a:srgbClr val="F4F6FB"/>
          </a:solidFill>
          <a:ln w="6350">
            <a:solidFill>
              <a:srgbClr val="DDE3EF"/>
            </a:solidFill>
            <a:prstDash val="solid"/>
          </a:ln>
        </p:spPr>
      </p:sp>
      <p:sp>
        <p:nvSpPr>
          <p:cNvPr id="37" name="Text 35"/>
          <p:cNvSpPr/>
          <p:nvPr/>
        </p:nvSpPr>
        <p:spPr>
          <a:xfrm>
            <a:off x="667512" y="3737283"/>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S&amp;P 500</a:t>
            </a:r>
            <a:endParaRPr lang="en-US" sz="1220" dirty="0"/>
          </a:p>
        </p:txBody>
      </p:sp>
      <p:sp>
        <p:nvSpPr>
          <p:cNvPr id="38" name="Shape 36"/>
          <p:cNvSpPr/>
          <p:nvPr/>
        </p:nvSpPr>
        <p:spPr>
          <a:xfrm>
            <a:off x="4544568" y="3664131"/>
            <a:ext cx="1426464" cy="607423"/>
          </a:xfrm>
          <a:prstGeom prst="rect">
            <a:avLst/>
          </a:prstGeom>
          <a:solidFill>
            <a:srgbClr val="F4F6FB"/>
          </a:solidFill>
          <a:ln w="6350">
            <a:solidFill>
              <a:srgbClr val="DDE3EF"/>
            </a:solidFill>
            <a:prstDash val="solid"/>
          </a:ln>
        </p:spPr>
      </p:sp>
      <p:sp>
        <p:nvSpPr>
          <p:cNvPr id="39" name="Text 37"/>
          <p:cNvSpPr/>
          <p:nvPr/>
        </p:nvSpPr>
        <p:spPr>
          <a:xfrm>
            <a:off x="4617720" y="3737283"/>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1.060</a:t>
            </a:r>
            <a:endParaRPr lang="en-US" sz="1220" dirty="0"/>
          </a:p>
        </p:txBody>
      </p:sp>
      <p:sp>
        <p:nvSpPr>
          <p:cNvPr id="40" name="Shape 38"/>
          <p:cNvSpPr/>
          <p:nvPr/>
        </p:nvSpPr>
        <p:spPr>
          <a:xfrm>
            <a:off x="5971032" y="3664131"/>
            <a:ext cx="3072384" cy="607423"/>
          </a:xfrm>
          <a:prstGeom prst="rect">
            <a:avLst/>
          </a:prstGeom>
          <a:solidFill>
            <a:srgbClr val="F4F6FB"/>
          </a:solidFill>
          <a:ln w="6350">
            <a:solidFill>
              <a:srgbClr val="DDE3EF"/>
            </a:solidFill>
            <a:prstDash val="solid"/>
          </a:ln>
        </p:spPr>
      </p:sp>
      <p:sp>
        <p:nvSpPr>
          <p:cNvPr id="41" name="Text 39"/>
          <p:cNvSpPr/>
          <p:nvPr/>
        </p:nvSpPr>
        <p:spPr>
          <a:xfrm>
            <a:off x="6044184" y="3737283"/>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External test</a:t>
            </a:r>
            <a:endParaRPr lang="en-US" sz="1220" dirty="0"/>
          </a:p>
        </p:txBody>
      </p:sp>
      <p:sp>
        <p:nvSpPr>
          <p:cNvPr id="42" name="Shape 40"/>
          <p:cNvSpPr/>
          <p:nvPr/>
        </p:nvSpPr>
        <p:spPr>
          <a:xfrm>
            <a:off x="9043416" y="3664131"/>
            <a:ext cx="2523744" cy="607423"/>
          </a:xfrm>
          <a:prstGeom prst="rect">
            <a:avLst/>
          </a:prstGeom>
          <a:solidFill>
            <a:srgbClr val="F4F6FB"/>
          </a:solidFill>
          <a:ln w="6350">
            <a:solidFill>
              <a:srgbClr val="DDE3EF"/>
            </a:solidFill>
            <a:prstDash val="solid"/>
          </a:ln>
        </p:spPr>
      </p:sp>
      <p:sp>
        <p:nvSpPr>
          <p:cNvPr id="43" name="Text 41"/>
          <p:cNvSpPr/>
          <p:nvPr/>
        </p:nvSpPr>
        <p:spPr>
          <a:xfrm>
            <a:off x="9116568" y="3737283"/>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LLM destekli etiket</a:t>
            </a:r>
            <a:endParaRPr lang="en-US" sz="1220" dirty="0"/>
          </a:p>
        </p:txBody>
      </p:sp>
      <p:sp>
        <p:nvSpPr>
          <p:cNvPr id="44" name="Shape 42"/>
          <p:cNvSpPr/>
          <p:nvPr/>
        </p:nvSpPr>
        <p:spPr>
          <a:xfrm>
            <a:off x="594360" y="4271554"/>
            <a:ext cx="3950208" cy="607423"/>
          </a:xfrm>
          <a:prstGeom prst="rect">
            <a:avLst/>
          </a:prstGeom>
          <a:solidFill>
            <a:srgbClr val="FFFFFF"/>
          </a:solidFill>
          <a:ln w="6350">
            <a:solidFill>
              <a:srgbClr val="DDE3EF"/>
            </a:solidFill>
            <a:prstDash val="solid"/>
          </a:ln>
        </p:spPr>
      </p:sp>
      <p:sp>
        <p:nvSpPr>
          <p:cNvPr id="45" name="Text 43"/>
          <p:cNvSpPr/>
          <p:nvPr/>
        </p:nvSpPr>
        <p:spPr>
          <a:xfrm>
            <a:off x="667512" y="4344706"/>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Reuters</a:t>
            </a:r>
            <a:endParaRPr lang="en-US" sz="1220" dirty="0"/>
          </a:p>
        </p:txBody>
      </p:sp>
      <p:sp>
        <p:nvSpPr>
          <p:cNvPr id="46" name="Shape 44"/>
          <p:cNvSpPr/>
          <p:nvPr/>
        </p:nvSpPr>
        <p:spPr>
          <a:xfrm>
            <a:off x="4544568" y="4271554"/>
            <a:ext cx="1426464" cy="607423"/>
          </a:xfrm>
          <a:prstGeom prst="rect">
            <a:avLst/>
          </a:prstGeom>
          <a:solidFill>
            <a:srgbClr val="FFFFFF"/>
          </a:solidFill>
          <a:ln w="6350">
            <a:solidFill>
              <a:srgbClr val="DDE3EF"/>
            </a:solidFill>
            <a:prstDash val="solid"/>
          </a:ln>
        </p:spPr>
      </p:sp>
      <p:sp>
        <p:nvSpPr>
          <p:cNvPr id="47" name="Text 45"/>
          <p:cNvSpPr/>
          <p:nvPr/>
        </p:nvSpPr>
        <p:spPr>
          <a:xfrm>
            <a:off x="4617720" y="4344706"/>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5.000</a:t>
            </a:r>
            <a:endParaRPr lang="en-US" sz="1220" dirty="0"/>
          </a:p>
        </p:txBody>
      </p:sp>
      <p:sp>
        <p:nvSpPr>
          <p:cNvPr id="48" name="Shape 46"/>
          <p:cNvSpPr/>
          <p:nvPr/>
        </p:nvSpPr>
        <p:spPr>
          <a:xfrm>
            <a:off x="5971032" y="4271554"/>
            <a:ext cx="3072384" cy="607423"/>
          </a:xfrm>
          <a:prstGeom prst="rect">
            <a:avLst/>
          </a:prstGeom>
          <a:solidFill>
            <a:srgbClr val="FFFFFF"/>
          </a:solidFill>
          <a:ln w="6350">
            <a:solidFill>
              <a:srgbClr val="DDE3EF"/>
            </a:solidFill>
            <a:prstDash val="solid"/>
          </a:ln>
        </p:spPr>
      </p:sp>
      <p:sp>
        <p:nvSpPr>
          <p:cNvPr id="49" name="Text 47"/>
          <p:cNvSpPr/>
          <p:nvPr/>
        </p:nvSpPr>
        <p:spPr>
          <a:xfrm>
            <a:off x="6044184" y="4344706"/>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External test</a:t>
            </a:r>
            <a:endParaRPr lang="en-US" sz="1220" dirty="0"/>
          </a:p>
        </p:txBody>
      </p:sp>
      <p:sp>
        <p:nvSpPr>
          <p:cNvPr id="50" name="Shape 48"/>
          <p:cNvSpPr/>
          <p:nvPr/>
        </p:nvSpPr>
        <p:spPr>
          <a:xfrm>
            <a:off x="9043416" y="4271554"/>
            <a:ext cx="2523744" cy="607423"/>
          </a:xfrm>
          <a:prstGeom prst="rect">
            <a:avLst/>
          </a:prstGeom>
          <a:solidFill>
            <a:srgbClr val="FFFFFF"/>
          </a:solidFill>
          <a:ln w="6350">
            <a:solidFill>
              <a:srgbClr val="DDE3EF"/>
            </a:solidFill>
            <a:prstDash val="solid"/>
          </a:ln>
        </p:spPr>
      </p:sp>
      <p:sp>
        <p:nvSpPr>
          <p:cNvPr id="51" name="Text 49"/>
          <p:cNvSpPr/>
          <p:nvPr/>
        </p:nvSpPr>
        <p:spPr>
          <a:xfrm>
            <a:off x="9116568" y="4344706"/>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LLM destekli etiket</a:t>
            </a:r>
            <a:endParaRPr lang="en-US" sz="1220" dirty="0"/>
          </a:p>
        </p:txBody>
      </p:sp>
      <p:sp>
        <p:nvSpPr>
          <p:cNvPr id="52" name="Shape 50"/>
          <p:cNvSpPr/>
          <p:nvPr/>
        </p:nvSpPr>
        <p:spPr>
          <a:xfrm>
            <a:off x="594360" y="4878977"/>
            <a:ext cx="3950208" cy="607423"/>
          </a:xfrm>
          <a:prstGeom prst="rect">
            <a:avLst/>
          </a:prstGeom>
          <a:solidFill>
            <a:srgbClr val="F4F6FB"/>
          </a:solidFill>
          <a:ln w="6350">
            <a:solidFill>
              <a:srgbClr val="DDE3EF"/>
            </a:solidFill>
            <a:prstDash val="solid"/>
          </a:ln>
        </p:spPr>
      </p:sp>
      <p:sp>
        <p:nvSpPr>
          <p:cNvPr id="53" name="Text 51"/>
          <p:cNvSpPr/>
          <p:nvPr/>
        </p:nvSpPr>
        <p:spPr>
          <a:xfrm>
            <a:off x="667512" y="4952129"/>
            <a:ext cx="3803904"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Synthetic</a:t>
            </a:r>
            <a:endParaRPr lang="en-US" sz="1220" dirty="0"/>
          </a:p>
        </p:txBody>
      </p:sp>
      <p:sp>
        <p:nvSpPr>
          <p:cNvPr id="54" name="Shape 52"/>
          <p:cNvSpPr/>
          <p:nvPr/>
        </p:nvSpPr>
        <p:spPr>
          <a:xfrm>
            <a:off x="4544568" y="4878977"/>
            <a:ext cx="1426464" cy="607423"/>
          </a:xfrm>
          <a:prstGeom prst="rect">
            <a:avLst/>
          </a:prstGeom>
          <a:solidFill>
            <a:srgbClr val="F4F6FB"/>
          </a:solidFill>
          <a:ln w="6350">
            <a:solidFill>
              <a:srgbClr val="DDE3EF"/>
            </a:solidFill>
            <a:prstDash val="solid"/>
          </a:ln>
        </p:spPr>
      </p:sp>
      <p:sp>
        <p:nvSpPr>
          <p:cNvPr id="55" name="Text 53"/>
          <p:cNvSpPr/>
          <p:nvPr/>
        </p:nvSpPr>
        <p:spPr>
          <a:xfrm>
            <a:off x="4617720" y="4952129"/>
            <a:ext cx="128016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3.000</a:t>
            </a:r>
            <a:endParaRPr lang="en-US" sz="1220" dirty="0"/>
          </a:p>
        </p:txBody>
      </p:sp>
      <p:sp>
        <p:nvSpPr>
          <p:cNvPr id="56" name="Shape 54"/>
          <p:cNvSpPr/>
          <p:nvPr/>
        </p:nvSpPr>
        <p:spPr>
          <a:xfrm>
            <a:off x="5971032" y="4878977"/>
            <a:ext cx="3072384" cy="607423"/>
          </a:xfrm>
          <a:prstGeom prst="rect">
            <a:avLst/>
          </a:prstGeom>
          <a:solidFill>
            <a:srgbClr val="F4F6FB"/>
          </a:solidFill>
          <a:ln w="6350">
            <a:solidFill>
              <a:srgbClr val="DDE3EF"/>
            </a:solidFill>
            <a:prstDash val="solid"/>
          </a:ln>
        </p:spPr>
      </p:sp>
      <p:sp>
        <p:nvSpPr>
          <p:cNvPr id="57" name="Text 55"/>
          <p:cNvSpPr/>
          <p:nvPr/>
        </p:nvSpPr>
        <p:spPr>
          <a:xfrm>
            <a:off x="6044184" y="4952129"/>
            <a:ext cx="292608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External / kontrollü test</a:t>
            </a:r>
            <a:endParaRPr lang="en-US" sz="1220" dirty="0"/>
          </a:p>
        </p:txBody>
      </p:sp>
      <p:sp>
        <p:nvSpPr>
          <p:cNvPr id="58" name="Shape 56"/>
          <p:cNvSpPr/>
          <p:nvPr/>
        </p:nvSpPr>
        <p:spPr>
          <a:xfrm>
            <a:off x="9043416" y="4878977"/>
            <a:ext cx="2523744" cy="607423"/>
          </a:xfrm>
          <a:prstGeom prst="rect">
            <a:avLst/>
          </a:prstGeom>
          <a:solidFill>
            <a:srgbClr val="F4F6FB"/>
          </a:solidFill>
          <a:ln w="6350">
            <a:solidFill>
              <a:srgbClr val="DDE3EF"/>
            </a:solidFill>
            <a:prstDash val="solid"/>
          </a:ln>
        </p:spPr>
      </p:sp>
      <p:sp>
        <p:nvSpPr>
          <p:cNvPr id="59" name="Text 57"/>
          <p:cNvSpPr/>
          <p:nvPr/>
        </p:nvSpPr>
        <p:spPr>
          <a:xfrm>
            <a:off x="9116568" y="4952129"/>
            <a:ext cx="2377440" cy="515983"/>
          </a:xfrm>
          <a:prstGeom prst="rect">
            <a:avLst/>
          </a:prstGeom>
          <a:noFill/>
          <a:ln/>
        </p:spPr>
        <p:txBody>
          <a:bodyPr wrap="square" lIns="0" tIns="0" rIns="0" bIns="0" rtlCol="0" anchor="ctr">
            <a:normAutofit/>
          </a:bodyPr>
          <a:lstStyle/>
          <a:p>
            <a:pPr marL="0" indent="0">
              <a:buNone/>
            </a:pPr>
            <a:r>
              <a:rPr lang="en-US" sz="1220" dirty="0">
                <a:solidFill>
                  <a:srgbClr val="1A1E2A"/>
                </a:solidFill>
              </a:rPr>
              <a:t>Etiket koşullu üretim</a:t>
            </a:r>
            <a:endParaRPr lang="en-US" sz="1220" dirty="0"/>
          </a:p>
        </p:txBody>
      </p:sp>
      <p:sp>
        <p:nvSpPr>
          <p:cNvPr id="60" name="Text 58"/>
          <p:cNvSpPr/>
          <p:nvPr/>
        </p:nvSpPr>
        <p:spPr>
          <a:xfrm>
            <a:off x="777240" y="5687568"/>
            <a:ext cx="1965960" cy="228600"/>
          </a:xfrm>
          <a:prstGeom prst="rect">
            <a:avLst/>
          </a:prstGeom>
          <a:noFill/>
          <a:ln/>
        </p:spPr>
        <p:txBody>
          <a:bodyPr wrap="square" lIns="0" tIns="0" rIns="0" bIns="0" rtlCol="0" anchor="ctr"/>
          <a:lstStyle/>
          <a:p>
            <a:pPr marL="0" indent="0">
              <a:buNone/>
            </a:pPr>
            <a:r>
              <a:rPr lang="en-US" sz="1500" b="1" dirty="0">
                <a:solidFill>
                  <a:srgbClr val="172033"/>
                </a:solidFill>
              </a:rPr>
              <a:t>Train leakage kontrolü</a:t>
            </a:r>
            <a:endParaRPr lang="en-US" sz="1500" dirty="0"/>
          </a:p>
        </p:txBody>
      </p:sp>
      <p:sp>
        <p:nvSpPr>
          <p:cNvPr id="61" name="Text 59"/>
          <p:cNvSpPr/>
          <p:nvPr/>
        </p:nvSpPr>
        <p:spPr>
          <a:xfrm>
            <a:off x="3246120" y="5687568"/>
            <a:ext cx="8001000" cy="320040"/>
          </a:xfrm>
          <a:prstGeom prst="rect">
            <a:avLst/>
          </a:prstGeom>
          <a:noFill/>
          <a:ln/>
        </p:spPr>
        <p:txBody>
          <a:bodyPr wrap="square" lIns="0" tIns="0" rIns="0" bIns="0" rtlCol="0" anchor="ctr">
            <a:normAutofit/>
          </a:bodyPr>
          <a:lstStyle/>
          <a:p>
            <a:pPr marL="0" indent="0">
              <a:buNone/>
            </a:pPr>
            <a:r>
              <a:rPr lang="en-US" sz="1420" dirty="0">
                <a:solidFill>
                  <a:srgbClr val="1A1E2A"/>
                </a:solidFill>
              </a:rPr>
              <a:t>S&amp;P, Reuters ve Synthetic veri setleri model eğitimine dahil edilmedi; yalnızca görülmemiş veri üzerinde değerlendirme için kullanıldı.</a:t>
            </a:r>
            <a:endParaRPr lang="en-US" sz="1420" dirty="0"/>
          </a:p>
        </p:txBody>
      </p:sp>
      <p:sp>
        <p:nvSpPr>
          <p:cNvPr id="62" name="Text 6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63" name="Text 6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9</a:t>
            </a:r>
            <a:endParaRPr lang="en-US" sz="850" dirty="0"/>
          </a:p>
        </p:txBody>
      </p:sp>
      <p:sp>
        <p:nvSpPr>
          <p:cNvPr id="64" name="Shape 6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Etiket yapısı ve değerlendirme metriği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Veri dengesizliği nedeniyle Macro-F1 ana metrik olarak seçildi.</a:t>
            </a:r>
            <a:endParaRPr lang="en-US" sz="1450" dirty="0"/>
          </a:p>
        </p:txBody>
      </p:sp>
      <p:sp>
        <p:nvSpPr>
          <p:cNvPr id="4" name="Text 2"/>
          <p:cNvSpPr/>
          <p:nvPr/>
        </p:nvSpPr>
        <p:spPr>
          <a:xfrm>
            <a:off x="822960" y="1371600"/>
            <a:ext cx="1828800" cy="228600"/>
          </a:xfrm>
          <a:prstGeom prst="rect">
            <a:avLst/>
          </a:prstGeom>
          <a:noFill/>
          <a:ln/>
        </p:spPr>
        <p:txBody>
          <a:bodyPr wrap="square" lIns="0" tIns="0" rIns="0" bIns="0" rtlCol="0" anchor="ctr"/>
          <a:lstStyle/>
          <a:p>
            <a:pPr marL="0" indent="0">
              <a:buNone/>
            </a:pPr>
            <a:r>
              <a:rPr lang="en-US" sz="1700" b="1" dirty="0">
                <a:solidFill>
                  <a:srgbClr val="172033"/>
                </a:solidFill>
              </a:rPr>
              <a:t>Sınıflar</a:t>
            </a:r>
            <a:endParaRPr lang="en-US" sz="1700" dirty="0"/>
          </a:p>
        </p:txBody>
      </p:sp>
      <p:sp>
        <p:nvSpPr>
          <p:cNvPr id="5" name="Shape 3"/>
          <p:cNvSpPr/>
          <p:nvPr/>
        </p:nvSpPr>
        <p:spPr>
          <a:xfrm>
            <a:off x="822960" y="1828800"/>
            <a:ext cx="1508760" cy="502920"/>
          </a:xfrm>
          <a:prstGeom prst="roundRect">
            <a:avLst>
              <a:gd name="adj" fmla="val 14545"/>
            </a:avLst>
          </a:prstGeom>
          <a:solidFill>
            <a:srgbClr val="D64545"/>
          </a:solidFill>
          <a:ln w="12700">
            <a:solidFill>
              <a:srgbClr val="D64545"/>
            </a:solidFill>
            <a:prstDash val="solid"/>
          </a:ln>
        </p:spPr>
      </p:sp>
      <p:sp>
        <p:nvSpPr>
          <p:cNvPr id="6" name="Text 4"/>
          <p:cNvSpPr/>
          <p:nvPr/>
        </p:nvSpPr>
        <p:spPr>
          <a:xfrm>
            <a:off x="822960" y="1975104"/>
            <a:ext cx="1508760" cy="182880"/>
          </a:xfrm>
          <a:prstGeom prst="rect">
            <a:avLst/>
          </a:prstGeom>
          <a:noFill/>
          <a:ln/>
        </p:spPr>
        <p:txBody>
          <a:bodyPr wrap="square" lIns="0" tIns="0" rIns="0" bIns="0" rtlCol="0" anchor="ctr"/>
          <a:lstStyle/>
          <a:p>
            <a:pPr marL="0" indent="0" algn="ctr">
              <a:buNone/>
            </a:pPr>
            <a:r>
              <a:rPr lang="en-US" sz="1400" b="1" dirty="0">
                <a:solidFill>
                  <a:srgbClr val="FFFFFF"/>
                </a:solidFill>
              </a:rPr>
              <a:t>Negative</a:t>
            </a:r>
            <a:endParaRPr lang="en-US" sz="1400" dirty="0"/>
          </a:p>
        </p:txBody>
      </p:sp>
      <p:sp>
        <p:nvSpPr>
          <p:cNvPr id="7" name="Shape 5"/>
          <p:cNvSpPr/>
          <p:nvPr/>
        </p:nvSpPr>
        <p:spPr>
          <a:xfrm>
            <a:off x="2697480" y="1828800"/>
            <a:ext cx="1508760" cy="502920"/>
          </a:xfrm>
          <a:prstGeom prst="roundRect">
            <a:avLst>
              <a:gd name="adj" fmla="val 14545"/>
            </a:avLst>
          </a:prstGeom>
          <a:solidFill>
            <a:srgbClr val="F4A62A"/>
          </a:solidFill>
          <a:ln w="12700">
            <a:solidFill>
              <a:srgbClr val="F4A62A"/>
            </a:solidFill>
            <a:prstDash val="solid"/>
          </a:ln>
        </p:spPr>
      </p:sp>
      <p:sp>
        <p:nvSpPr>
          <p:cNvPr id="8" name="Text 6"/>
          <p:cNvSpPr/>
          <p:nvPr/>
        </p:nvSpPr>
        <p:spPr>
          <a:xfrm>
            <a:off x="2697480" y="1975104"/>
            <a:ext cx="1508760" cy="182880"/>
          </a:xfrm>
          <a:prstGeom prst="rect">
            <a:avLst/>
          </a:prstGeom>
          <a:noFill/>
          <a:ln/>
        </p:spPr>
        <p:txBody>
          <a:bodyPr wrap="square" lIns="0" tIns="0" rIns="0" bIns="0" rtlCol="0" anchor="ctr"/>
          <a:lstStyle/>
          <a:p>
            <a:pPr marL="0" indent="0" algn="ctr">
              <a:buNone/>
            </a:pPr>
            <a:r>
              <a:rPr lang="en-US" sz="1400" b="1" dirty="0">
                <a:solidFill>
                  <a:srgbClr val="FFFFFF"/>
                </a:solidFill>
              </a:rPr>
              <a:t>Neutral</a:t>
            </a:r>
            <a:endParaRPr lang="en-US" sz="1400" dirty="0"/>
          </a:p>
        </p:txBody>
      </p:sp>
      <p:sp>
        <p:nvSpPr>
          <p:cNvPr id="9" name="Shape 7"/>
          <p:cNvSpPr/>
          <p:nvPr/>
        </p:nvSpPr>
        <p:spPr>
          <a:xfrm>
            <a:off x="4572000" y="1828800"/>
            <a:ext cx="1508760" cy="502920"/>
          </a:xfrm>
          <a:prstGeom prst="roundRect">
            <a:avLst>
              <a:gd name="adj" fmla="val 14545"/>
            </a:avLst>
          </a:prstGeom>
          <a:solidFill>
            <a:srgbClr val="1C8B5A"/>
          </a:solidFill>
          <a:ln w="12700">
            <a:solidFill>
              <a:srgbClr val="1C8B5A"/>
            </a:solidFill>
            <a:prstDash val="solid"/>
          </a:ln>
        </p:spPr>
      </p:sp>
      <p:sp>
        <p:nvSpPr>
          <p:cNvPr id="10" name="Text 8"/>
          <p:cNvSpPr/>
          <p:nvPr/>
        </p:nvSpPr>
        <p:spPr>
          <a:xfrm>
            <a:off x="4572000" y="1975104"/>
            <a:ext cx="1508760" cy="182880"/>
          </a:xfrm>
          <a:prstGeom prst="rect">
            <a:avLst/>
          </a:prstGeom>
          <a:noFill/>
          <a:ln/>
        </p:spPr>
        <p:txBody>
          <a:bodyPr wrap="square" lIns="0" tIns="0" rIns="0" bIns="0" rtlCol="0" anchor="ctr"/>
          <a:lstStyle/>
          <a:p>
            <a:pPr marL="0" indent="0" algn="ctr">
              <a:buNone/>
            </a:pPr>
            <a:r>
              <a:rPr lang="en-US" sz="1400" b="1" dirty="0">
                <a:solidFill>
                  <a:srgbClr val="FFFFFF"/>
                </a:solidFill>
              </a:rPr>
              <a:t>Positive</a:t>
            </a:r>
            <a:endParaRPr lang="en-US" sz="1400" dirty="0"/>
          </a:p>
        </p:txBody>
      </p:sp>
      <p:sp>
        <p:nvSpPr>
          <p:cNvPr id="11" name="Text 9"/>
          <p:cNvSpPr/>
          <p:nvPr/>
        </p:nvSpPr>
        <p:spPr>
          <a:xfrm>
            <a:off x="822960" y="2926080"/>
            <a:ext cx="2743200" cy="228600"/>
          </a:xfrm>
          <a:prstGeom prst="rect">
            <a:avLst/>
          </a:prstGeom>
          <a:noFill/>
          <a:ln/>
        </p:spPr>
        <p:txBody>
          <a:bodyPr wrap="square" lIns="0" tIns="0" rIns="0" bIns="0" rtlCol="0" anchor="ctr"/>
          <a:lstStyle/>
          <a:p>
            <a:pPr marL="0" indent="0">
              <a:buNone/>
            </a:pPr>
            <a:r>
              <a:rPr lang="en-US" sz="1700" b="1" dirty="0">
                <a:solidFill>
                  <a:srgbClr val="172033"/>
                </a:solidFill>
              </a:rPr>
              <a:t>Veri dengesizliği</a:t>
            </a:r>
            <a:endParaRPr lang="en-US" sz="1700" dirty="0"/>
          </a:p>
        </p:txBody>
      </p:sp>
      <p:sp>
        <p:nvSpPr>
          <p:cNvPr id="12" name="Text 10"/>
          <p:cNvSpPr/>
          <p:nvPr/>
        </p:nvSpPr>
        <p:spPr>
          <a:xfrm>
            <a:off x="822960" y="3337560"/>
            <a:ext cx="4937760" cy="731520"/>
          </a:xfrm>
          <a:prstGeom prst="rect">
            <a:avLst/>
          </a:prstGeom>
          <a:noFill/>
          <a:ln/>
        </p:spPr>
        <p:txBody>
          <a:bodyPr wrap="square" lIns="381" tIns="381" rIns="381" bIns="381" rtlCol="0" anchor="ctr">
            <a:normAutofit/>
          </a:bodyPr>
          <a:lstStyle/>
          <a:p>
            <a:pPr marL="0" indent="0">
              <a:buNone/>
            </a:pPr>
            <a:r>
              <a:rPr lang="en-US" sz="1700" dirty="0">
                <a:solidFill>
                  <a:srgbClr val="1A1E2A"/>
                </a:solidFill>
              </a:rPr>
              <a:t>Neutral sınıfı yaklaşık %63 olduğu için accuracy tek başına yanıltıcı olabilir.</a:t>
            </a:r>
            <a:endParaRPr lang="en-US" sz="1700" dirty="0"/>
          </a:p>
        </p:txBody>
      </p:sp>
      <p:sp>
        <p:nvSpPr>
          <p:cNvPr id="13" name="Text 11"/>
          <p:cNvSpPr/>
          <p:nvPr/>
        </p:nvSpPr>
        <p:spPr>
          <a:xfrm>
            <a:off x="6629400" y="1371600"/>
            <a:ext cx="2926080" cy="228600"/>
          </a:xfrm>
          <a:prstGeom prst="rect">
            <a:avLst/>
          </a:prstGeom>
          <a:noFill/>
          <a:ln/>
        </p:spPr>
        <p:txBody>
          <a:bodyPr wrap="square" lIns="0" tIns="0" rIns="0" bIns="0" rtlCol="0" anchor="ctr"/>
          <a:lstStyle/>
          <a:p>
            <a:pPr marL="0" indent="0">
              <a:buNone/>
            </a:pPr>
            <a:r>
              <a:rPr lang="en-US" sz="1700" b="1" dirty="0">
                <a:solidFill>
                  <a:srgbClr val="172033"/>
                </a:solidFill>
              </a:rPr>
              <a:t>Macro-F1 neden?</a:t>
            </a:r>
            <a:endParaRPr lang="en-US" sz="1700" dirty="0"/>
          </a:p>
        </p:txBody>
      </p:sp>
      <p:sp>
        <p:nvSpPr>
          <p:cNvPr id="14" name="Text 12"/>
          <p:cNvSpPr/>
          <p:nvPr/>
        </p:nvSpPr>
        <p:spPr>
          <a:xfrm>
            <a:off x="6629400" y="1810512"/>
            <a:ext cx="4343400" cy="1828800"/>
          </a:xfrm>
          <a:prstGeom prst="rect">
            <a:avLst/>
          </a:prstGeom>
          <a:noFill/>
          <a:ln/>
        </p:spPr>
        <p:txBody>
          <a:bodyPr wrap="square" lIns="635" tIns="635" rIns="635" bIns="635" rtlCol="0" anchor="ctr">
            <a:normAutofit/>
          </a:bodyPr>
          <a:lstStyle/>
          <a:p>
            <a:r>
              <a:rPr lang="en-US" sz="1620" dirty="0">
                <a:solidFill>
                  <a:srgbClr val="1A1E2A"/>
                </a:solidFill>
              </a:rPr>
              <a:t>Her sınıfın F1 skorunu ayrı hesaplar.</a:t>
            </a:r>
            <a:endParaRPr lang="en-US" sz="1620" dirty="0"/>
          </a:p>
          <a:p>
            <a:r>
              <a:rPr lang="en-US" sz="1620" dirty="0">
                <a:solidFill>
                  <a:srgbClr val="1A1E2A"/>
                </a:solidFill>
              </a:rPr>
              <a:t>Negative, Neutral ve Positive sınıflarını eşit ağırlıkla değerlendirir.</a:t>
            </a:r>
            <a:endParaRPr lang="en-US" sz="1620" dirty="0"/>
          </a:p>
          <a:p>
            <a:r>
              <a:rPr lang="en-US" sz="1620" dirty="0">
                <a:solidFill>
                  <a:srgbClr val="1A1E2A"/>
                </a:solidFill>
              </a:rPr>
              <a:t>Büyük sınıfın skoru sonucu domine etmesini engeller.</a:t>
            </a:r>
            <a:endParaRPr lang="en-US" sz="1620" dirty="0"/>
          </a:p>
        </p:txBody>
      </p:sp>
      <p:sp>
        <p:nvSpPr>
          <p:cNvPr id="15" name="Shape 13"/>
          <p:cNvSpPr/>
          <p:nvPr/>
        </p:nvSpPr>
        <p:spPr>
          <a:xfrm>
            <a:off x="6629400" y="4206240"/>
            <a:ext cx="4114800" cy="640080"/>
          </a:xfrm>
          <a:prstGeom prst="roundRect">
            <a:avLst>
              <a:gd name="adj" fmla="val 11429"/>
            </a:avLst>
          </a:prstGeom>
          <a:solidFill>
            <a:srgbClr val="F0FAF8"/>
          </a:solidFill>
          <a:ln w="15240">
            <a:solidFill>
              <a:srgbClr val="3867D6"/>
            </a:solidFill>
            <a:prstDash val="solid"/>
          </a:ln>
        </p:spPr>
      </p:sp>
      <p:sp>
        <p:nvSpPr>
          <p:cNvPr id="16" name="Text 14"/>
          <p:cNvSpPr/>
          <p:nvPr/>
        </p:nvSpPr>
        <p:spPr>
          <a:xfrm>
            <a:off x="6793992" y="4352544"/>
            <a:ext cx="3785616" cy="41148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nedenle bütün ana karşılaştırmalarda Macro-F1 kullanıldı.</a:t>
            </a:r>
            <a:endParaRPr lang="en-US" sz="1500" dirty="0"/>
          </a:p>
        </p:txBody>
      </p:sp>
      <p:sp>
        <p:nvSpPr>
          <p:cNvPr id="17" name="Text 15"/>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8" name="Text 16"/>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10</a:t>
            </a:r>
            <a:endParaRPr lang="en-US" sz="850" dirty="0"/>
          </a:p>
        </p:txBody>
      </p:sp>
      <p:sp>
        <p:nvSpPr>
          <p:cNvPr id="19" name="Shape 17"/>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Deneysel akış</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Önce baseline, sonra fine-tuning, sonra dış genelleme analizi.</a:t>
            </a:r>
            <a:endParaRPr lang="en-US" sz="1450" dirty="0"/>
          </a:p>
        </p:txBody>
      </p:sp>
      <p:sp>
        <p:nvSpPr>
          <p:cNvPr id="4" name="Shape 2"/>
          <p:cNvSpPr/>
          <p:nvPr/>
        </p:nvSpPr>
        <p:spPr>
          <a:xfrm>
            <a:off x="731520" y="1874520"/>
            <a:ext cx="1600200" cy="1097280"/>
          </a:xfrm>
          <a:prstGeom prst="roundRect">
            <a:avLst>
              <a:gd name="adj" fmla="val 6667"/>
            </a:avLst>
          </a:prstGeom>
          <a:solidFill>
            <a:srgbClr val="EEF3FF"/>
          </a:solidFill>
          <a:ln w="15240">
            <a:solidFill>
              <a:srgbClr val="3867D6"/>
            </a:solidFill>
            <a:prstDash val="solid"/>
          </a:ln>
        </p:spPr>
      </p:sp>
      <p:sp>
        <p:nvSpPr>
          <p:cNvPr id="5" name="Text 3"/>
          <p:cNvSpPr/>
          <p:nvPr/>
        </p:nvSpPr>
        <p:spPr>
          <a:xfrm>
            <a:off x="822960" y="2130552"/>
            <a:ext cx="1417320" cy="502920"/>
          </a:xfrm>
          <a:prstGeom prst="rect">
            <a:avLst/>
          </a:prstGeom>
          <a:noFill/>
          <a:ln/>
        </p:spPr>
        <p:txBody>
          <a:bodyPr wrap="square" lIns="254" tIns="254" rIns="254" bIns="254" rtlCol="0" anchor="ctr">
            <a:normAutofit/>
          </a:bodyPr>
          <a:lstStyle/>
          <a:p>
            <a:pPr marL="0" indent="0" algn="ctr">
              <a:buNone/>
            </a:pPr>
            <a:r>
              <a:rPr lang="en-US" sz="1250" b="1" dirty="0">
                <a:solidFill>
                  <a:srgbClr val="172033"/>
                </a:solidFill>
              </a:rPr>
              <a:t>Hazır etiketli veri</a:t>
            </a:r>
            <a:endParaRPr lang="en-US" sz="1250" dirty="0"/>
          </a:p>
          <a:p>
            <a:pPr marL="0" indent="0" algn="ctr">
              <a:buNone/>
            </a:pPr>
            <a:r>
              <a:rPr lang="en-US" sz="1250" b="1" dirty="0">
                <a:solidFill>
                  <a:srgbClr val="172033"/>
                </a:solidFill>
              </a:rPr>
              <a:t>Twitter + PhraseBank</a:t>
            </a:r>
            <a:endParaRPr lang="en-US" sz="1250" dirty="0"/>
          </a:p>
        </p:txBody>
      </p:sp>
      <p:sp>
        <p:nvSpPr>
          <p:cNvPr id="6" name="Shape 4"/>
          <p:cNvSpPr/>
          <p:nvPr/>
        </p:nvSpPr>
        <p:spPr>
          <a:xfrm>
            <a:off x="2359152" y="2240280"/>
            <a:ext cx="292608" cy="320040"/>
          </a:xfrm>
          <a:prstGeom prst="chevron">
            <a:avLst/>
          </a:prstGeom>
          <a:solidFill>
            <a:srgbClr val="DDE3EF"/>
          </a:solidFill>
          <a:ln w="12700">
            <a:solidFill>
              <a:srgbClr val="DDE3EF"/>
            </a:solidFill>
            <a:prstDash val="solid"/>
          </a:ln>
        </p:spPr>
      </p:sp>
      <p:sp>
        <p:nvSpPr>
          <p:cNvPr id="7" name="Shape 5"/>
          <p:cNvSpPr/>
          <p:nvPr/>
        </p:nvSpPr>
        <p:spPr>
          <a:xfrm>
            <a:off x="2971800" y="1874520"/>
            <a:ext cx="1600200" cy="1097280"/>
          </a:xfrm>
          <a:prstGeom prst="roundRect">
            <a:avLst>
              <a:gd name="adj" fmla="val 6667"/>
            </a:avLst>
          </a:prstGeom>
          <a:solidFill>
            <a:srgbClr val="EAF9F6"/>
          </a:solidFill>
          <a:ln w="15240">
            <a:solidFill>
              <a:srgbClr val="0F9D8F"/>
            </a:solidFill>
            <a:prstDash val="solid"/>
          </a:ln>
        </p:spPr>
      </p:sp>
      <p:sp>
        <p:nvSpPr>
          <p:cNvPr id="8" name="Text 6"/>
          <p:cNvSpPr/>
          <p:nvPr/>
        </p:nvSpPr>
        <p:spPr>
          <a:xfrm>
            <a:off x="3063240" y="2130552"/>
            <a:ext cx="1417320" cy="502920"/>
          </a:xfrm>
          <a:prstGeom prst="rect">
            <a:avLst/>
          </a:prstGeom>
          <a:noFill/>
          <a:ln/>
        </p:spPr>
        <p:txBody>
          <a:bodyPr wrap="square" lIns="254" tIns="254" rIns="254" bIns="254" rtlCol="0" anchor="ctr">
            <a:normAutofit/>
          </a:bodyPr>
          <a:lstStyle/>
          <a:p>
            <a:pPr marL="0" indent="0" algn="ctr">
              <a:buNone/>
            </a:pPr>
            <a:r>
              <a:rPr lang="en-US" sz="1250" b="1" dirty="0">
                <a:solidFill>
                  <a:srgbClr val="172033"/>
                </a:solidFill>
              </a:rPr>
              <a:t>Model eğitimi</a:t>
            </a:r>
            <a:endParaRPr lang="en-US" sz="1250" dirty="0"/>
          </a:p>
          <a:p>
            <a:pPr marL="0" indent="0" algn="ctr">
              <a:buNone/>
            </a:pPr>
            <a:r>
              <a:rPr lang="en-US" sz="1250" b="1" dirty="0">
                <a:solidFill>
                  <a:srgbClr val="172033"/>
                </a:solidFill>
              </a:rPr>
              <a:t>FinBERT / BERT / RoBERTa</a:t>
            </a:r>
            <a:endParaRPr lang="en-US" sz="1250" dirty="0"/>
          </a:p>
        </p:txBody>
      </p:sp>
      <p:sp>
        <p:nvSpPr>
          <p:cNvPr id="9" name="Shape 7"/>
          <p:cNvSpPr/>
          <p:nvPr/>
        </p:nvSpPr>
        <p:spPr>
          <a:xfrm>
            <a:off x="4599432" y="2240280"/>
            <a:ext cx="292608" cy="320040"/>
          </a:xfrm>
          <a:prstGeom prst="chevron">
            <a:avLst/>
          </a:prstGeom>
          <a:solidFill>
            <a:srgbClr val="DDE3EF"/>
          </a:solidFill>
          <a:ln w="12700">
            <a:solidFill>
              <a:srgbClr val="DDE3EF"/>
            </a:solidFill>
            <a:prstDash val="solid"/>
          </a:ln>
        </p:spPr>
      </p:sp>
      <p:sp>
        <p:nvSpPr>
          <p:cNvPr id="10" name="Shape 8"/>
          <p:cNvSpPr/>
          <p:nvPr/>
        </p:nvSpPr>
        <p:spPr>
          <a:xfrm>
            <a:off x="5349240" y="1874520"/>
            <a:ext cx="1600200" cy="1097280"/>
          </a:xfrm>
          <a:prstGeom prst="roundRect">
            <a:avLst>
              <a:gd name="adj" fmla="val 6667"/>
            </a:avLst>
          </a:prstGeom>
          <a:solidFill>
            <a:srgbClr val="FFF5E7"/>
          </a:solidFill>
          <a:ln w="15240">
            <a:solidFill>
              <a:srgbClr val="F4A62A"/>
            </a:solidFill>
            <a:prstDash val="solid"/>
          </a:ln>
        </p:spPr>
      </p:sp>
      <p:sp>
        <p:nvSpPr>
          <p:cNvPr id="11" name="Text 9"/>
          <p:cNvSpPr/>
          <p:nvPr/>
        </p:nvSpPr>
        <p:spPr>
          <a:xfrm>
            <a:off x="5440680" y="2130552"/>
            <a:ext cx="1417320" cy="502920"/>
          </a:xfrm>
          <a:prstGeom prst="rect">
            <a:avLst/>
          </a:prstGeom>
          <a:noFill/>
          <a:ln/>
        </p:spPr>
        <p:txBody>
          <a:bodyPr wrap="square" lIns="254" tIns="254" rIns="254" bIns="254" rtlCol="0" anchor="ctr">
            <a:normAutofit/>
          </a:bodyPr>
          <a:lstStyle/>
          <a:p>
            <a:pPr marL="0" indent="0" algn="ctr">
              <a:buNone/>
            </a:pPr>
            <a:r>
              <a:rPr lang="en-US" sz="1250" b="1" dirty="0">
                <a:solidFill>
                  <a:srgbClr val="172033"/>
                </a:solidFill>
              </a:rPr>
              <a:t>İç test</a:t>
            </a:r>
            <a:endParaRPr lang="en-US" sz="1250" dirty="0"/>
          </a:p>
          <a:p>
            <a:pPr marL="0" indent="0" algn="ctr">
              <a:buNone/>
            </a:pPr>
            <a:r>
              <a:rPr lang="en-US" sz="1250" b="1" dirty="0">
                <a:solidFill>
                  <a:srgbClr val="172033"/>
                </a:solidFill>
              </a:rPr>
              <a:t>2.386 örnek</a:t>
            </a:r>
            <a:endParaRPr lang="en-US" sz="1250" dirty="0"/>
          </a:p>
        </p:txBody>
      </p:sp>
      <p:sp>
        <p:nvSpPr>
          <p:cNvPr id="12" name="Shape 10"/>
          <p:cNvSpPr/>
          <p:nvPr/>
        </p:nvSpPr>
        <p:spPr>
          <a:xfrm>
            <a:off x="6976872" y="2240280"/>
            <a:ext cx="292608" cy="320040"/>
          </a:xfrm>
          <a:prstGeom prst="chevron">
            <a:avLst/>
          </a:prstGeom>
          <a:solidFill>
            <a:srgbClr val="DDE3EF"/>
          </a:solidFill>
          <a:ln w="12700">
            <a:solidFill>
              <a:srgbClr val="DDE3EF"/>
            </a:solidFill>
            <a:prstDash val="solid"/>
          </a:ln>
        </p:spPr>
      </p:sp>
      <p:sp>
        <p:nvSpPr>
          <p:cNvPr id="13" name="Shape 11"/>
          <p:cNvSpPr/>
          <p:nvPr/>
        </p:nvSpPr>
        <p:spPr>
          <a:xfrm>
            <a:off x="7726680" y="1874520"/>
            <a:ext cx="1600200" cy="1097280"/>
          </a:xfrm>
          <a:prstGeom prst="roundRect">
            <a:avLst>
              <a:gd name="adj" fmla="val 6667"/>
            </a:avLst>
          </a:prstGeom>
          <a:solidFill>
            <a:srgbClr val="FFF0F0"/>
          </a:solidFill>
          <a:ln w="15240">
            <a:solidFill>
              <a:srgbClr val="D64545"/>
            </a:solidFill>
            <a:prstDash val="solid"/>
          </a:ln>
        </p:spPr>
      </p:sp>
      <p:sp>
        <p:nvSpPr>
          <p:cNvPr id="14" name="Text 12"/>
          <p:cNvSpPr/>
          <p:nvPr/>
        </p:nvSpPr>
        <p:spPr>
          <a:xfrm>
            <a:off x="7818120" y="2130552"/>
            <a:ext cx="1417320" cy="502920"/>
          </a:xfrm>
          <a:prstGeom prst="rect">
            <a:avLst/>
          </a:prstGeom>
          <a:noFill/>
          <a:ln/>
        </p:spPr>
        <p:txBody>
          <a:bodyPr wrap="square" lIns="254" tIns="254" rIns="254" bIns="254" rtlCol="0" anchor="ctr">
            <a:normAutofit/>
          </a:bodyPr>
          <a:lstStyle/>
          <a:p>
            <a:pPr marL="0" indent="0" algn="ctr">
              <a:buNone/>
            </a:pPr>
            <a:r>
              <a:rPr lang="en-US" sz="1250" b="1" dirty="0">
                <a:solidFill>
                  <a:srgbClr val="172033"/>
                </a:solidFill>
              </a:rPr>
              <a:t>Dış test</a:t>
            </a:r>
            <a:endParaRPr lang="en-US" sz="1250" dirty="0"/>
          </a:p>
          <a:p>
            <a:pPr marL="0" indent="0" algn="ctr">
              <a:buNone/>
            </a:pPr>
            <a:r>
              <a:rPr lang="en-US" sz="1250" b="1" dirty="0">
                <a:solidFill>
                  <a:srgbClr val="172033"/>
                </a:solidFill>
              </a:rPr>
              <a:t>S&amp;P / Reuters</a:t>
            </a:r>
            <a:endParaRPr lang="en-US" sz="1250" dirty="0"/>
          </a:p>
        </p:txBody>
      </p:sp>
      <p:sp>
        <p:nvSpPr>
          <p:cNvPr id="15" name="Shape 13"/>
          <p:cNvSpPr/>
          <p:nvPr/>
        </p:nvSpPr>
        <p:spPr>
          <a:xfrm>
            <a:off x="9354312" y="2240280"/>
            <a:ext cx="292608" cy="320040"/>
          </a:xfrm>
          <a:prstGeom prst="chevron">
            <a:avLst/>
          </a:prstGeom>
          <a:solidFill>
            <a:srgbClr val="DDE3EF"/>
          </a:solidFill>
          <a:ln w="12700">
            <a:solidFill>
              <a:srgbClr val="DDE3EF"/>
            </a:solidFill>
            <a:prstDash val="solid"/>
          </a:ln>
        </p:spPr>
      </p:sp>
      <p:sp>
        <p:nvSpPr>
          <p:cNvPr id="16" name="Shape 14"/>
          <p:cNvSpPr/>
          <p:nvPr/>
        </p:nvSpPr>
        <p:spPr>
          <a:xfrm>
            <a:off x="9921240" y="1874520"/>
            <a:ext cx="1600200" cy="1097280"/>
          </a:xfrm>
          <a:prstGeom prst="roundRect">
            <a:avLst>
              <a:gd name="adj" fmla="val 6667"/>
            </a:avLst>
          </a:prstGeom>
          <a:solidFill>
            <a:srgbClr val="F1F2F6"/>
          </a:solidFill>
          <a:ln w="15240">
            <a:solidFill>
              <a:srgbClr val="5E6A7D"/>
            </a:solidFill>
            <a:prstDash val="solid"/>
          </a:ln>
        </p:spPr>
      </p:sp>
      <p:sp>
        <p:nvSpPr>
          <p:cNvPr id="17" name="Text 15"/>
          <p:cNvSpPr/>
          <p:nvPr/>
        </p:nvSpPr>
        <p:spPr>
          <a:xfrm>
            <a:off x="10012680" y="2130552"/>
            <a:ext cx="1417320" cy="502920"/>
          </a:xfrm>
          <a:prstGeom prst="rect">
            <a:avLst/>
          </a:prstGeom>
          <a:noFill/>
          <a:ln/>
        </p:spPr>
        <p:txBody>
          <a:bodyPr wrap="square" lIns="254" tIns="254" rIns="254" bIns="254" rtlCol="0" anchor="ctr">
            <a:normAutofit/>
          </a:bodyPr>
          <a:lstStyle/>
          <a:p>
            <a:pPr marL="0" indent="0" algn="ctr">
              <a:buNone/>
            </a:pPr>
            <a:r>
              <a:rPr lang="en-US" sz="1250" b="1" dirty="0">
                <a:solidFill>
                  <a:srgbClr val="172033"/>
                </a:solidFill>
              </a:rPr>
              <a:t>Tanısal analiz</a:t>
            </a:r>
            <a:endParaRPr lang="en-US" sz="1250" dirty="0"/>
          </a:p>
          <a:p>
            <a:pPr marL="0" indent="0" algn="ctr">
              <a:buNone/>
            </a:pPr>
            <a:r>
              <a:rPr lang="en-US" sz="1250" b="1" dirty="0">
                <a:solidFill>
                  <a:srgbClr val="172033"/>
                </a:solidFill>
              </a:rPr>
              <a:t>Hata / verimlilik</a:t>
            </a:r>
            <a:endParaRPr lang="en-US" sz="1250" dirty="0"/>
          </a:p>
        </p:txBody>
      </p:sp>
      <p:sp>
        <p:nvSpPr>
          <p:cNvPr id="18" name="Shape 16"/>
          <p:cNvSpPr/>
          <p:nvPr/>
        </p:nvSpPr>
        <p:spPr>
          <a:xfrm>
            <a:off x="960120" y="3886200"/>
            <a:ext cx="2560320" cy="320040"/>
          </a:xfrm>
          <a:prstGeom prst="rect">
            <a:avLst/>
          </a:prstGeom>
          <a:solidFill>
            <a:srgbClr val="1D2B46"/>
          </a:solidFill>
          <a:ln w="6350">
            <a:solidFill>
              <a:srgbClr val="DDE3EF"/>
            </a:solidFill>
            <a:prstDash val="solid"/>
          </a:ln>
        </p:spPr>
      </p:sp>
      <p:sp>
        <p:nvSpPr>
          <p:cNvPr id="19" name="Text 17"/>
          <p:cNvSpPr/>
          <p:nvPr/>
        </p:nvSpPr>
        <p:spPr>
          <a:xfrm>
            <a:off x="1033272" y="3959352"/>
            <a:ext cx="2414016" cy="228600"/>
          </a:xfrm>
          <a:prstGeom prst="rect">
            <a:avLst/>
          </a:prstGeom>
          <a:noFill/>
          <a:ln/>
        </p:spPr>
        <p:txBody>
          <a:bodyPr wrap="square" lIns="0" tIns="0" rIns="0" bIns="0" rtlCol="0" anchor="ctr">
            <a:normAutofit/>
          </a:bodyPr>
          <a:lstStyle/>
          <a:p>
            <a:pPr marL="0" indent="0">
              <a:buNone/>
            </a:pPr>
            <a:r>
              <a:rPr lang="en-US" sz="1150" b="1" dirty="0">
                <a:solidFill>
                  <a:srgbClr val="FFFFFF"/>
                </a:solidFill>
              </a:rPr>
              <a:t>Aşama</a:t>
            </a:r>
            <a:endParaRPr lang="en-US" sz="1150" dirty="0"/>
          </a:p>
        </p:txBody>
      </p:sp>
      <p:sp>
        <p:nvSpPr>
          <p:cNvPr id="20" name="Shape 18"/>
          <p:cNvSpPr/>
          <p:nvPr/>
        </p:nvSpPr>
        <p:spPr>
          <a:xfrm>
            <a:off x="3520440" y="3886200"/>
            <a:ext cx="7680960" cy="320040"/>
          </a:xfrm>
          <a:prstGeom prst="rect">
            <a:avLst/>
          </a:prstGeom>
          <a:solidFill>
            <a:srgbClr val="1D2B46"/>
          </a:solidFill>
          <a:ln w="6350">
            <a:solidFill>
              <a:srgbClr val="DDE3EF"/>
            </a:solidFill>
            <a:prstDash val="solid"/>
          </a:ln>
        </p:spPr>
      </p:sp>
      <p:sp>
        <p:nvSpPr>
          <p:cNvPr id="21" name="Text 19"/>
          <p:cNvSpPr/>
          <p:nvPr/>
        </p:nvSpPr>
        <p:spPr>
          <a:xfrm>
            <a:off x="3593592" y="3959352"/>
            <a:ext cx="7534656" cy="228600"/>
          </a:xfrm>
          <a:prstGeom prst="rect">
            <a:avLst/>
          </a:prstGeom>
          <a:noFill/>
          <a:ln/>
        </p:spPr>
        <p:txBody>
          <a:bodyPr wrap="square" lIns="0" tIns="0" rIns="0" bIns="0" rtlCol="0" anchor="ctr">
            <a:normAutofit/>
          </a:bodyPr>
          <a:lstStyle/>
          <a:p>
            <a:pPr marL="0" indent="0">
              <a:buNone/>
            </a:pPr>
            <a:r>
              <a:rPr lang="en-US" sz="1150" b="1" dirty="0">
                <a:solidFill>
                  <a:srgbClr val="FFFFFF"/>
                </a:solidFill>
              </a:rPr>
              <a:t>Amaç</a:t>
            </a:r>
            <a:endParaRPr lang="en-US" sz="1150" dirty="0"/>
          </a:p>
        </p:txBody>
      </p:sp>
      <p:sp>
        <p:nvSpPr>
          <p:cNvPr id="22" name="Shape 20"/>
          <p:cNvSpPr/>
          <p:nvPr/>
        </p:nvSpPr>
        <p:spPr>
          <a:xfrm>
            <a:off x="960120" y="4206240"/>
            <a:ext cx="2560320" cy="320040"/>
          </a:xfrm>
          <a:prstGeom prst="rect">
            <a:avLst/>
          </a:prstGeom>
          <a:solidFill>
            <a:srgbClr val="FFFFFF"/>
          </a:solidFill>
          <a:ln w="6350">
            <a:solidFill>
              <a:srgbClr val="DDE3EF"/>
            </a:solidFill>
            <a:prstDash val="solid"/>
          </a:ln>
        </p:spPr>
      </p:sp>
      <p:sp>
        <p:nvSpPr>
          <p:cNvPr id="23" name="Text 21"/>
          <p:cNvSpPr/>
          <p:nvPr/>
        </p:nvSpPr>
        <p:spPr>
          <a:xfrm>
            <a:off x="1033272" y="4279392"/>
            <a:ext cx="241401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Baseline</a:t>
            </a:r>
            <a:endParaRPr lang="en-US" sz="1250" dirty="0"/>
          </a:p>
        </p:txBody>
      </p:sp>
      <p:sp>
        <p:nvSpPr>
          <p:cNvPr id="24" name="Shape 22"/>
          <p:cNvSpPr/>
          <p:nvPr/>
        </p:nvSpPr>
        <p:spPr>
          <a:xfrm>
            <a:off x="3520440" y="4206240"/>
            <a:ext cx="7680960" cy="320040"/>
          </a:xfrm>
          <a:prstGeom prst="rect">
            <a:avLst/>
          </a:prstGeom>
          <a:solidFill>
            <a:srgbClr val="FFFFFF"/>
          </a:solidFill>
          <a:ln w="6350">
            <a:solidFill>
              <a:srgbClr val="DDE3EF"/>
            </a:solidFill>
            <a:prstDash val="solid"/>
          </a:ln>
        </p:spPr>
      </p:sp>
      <p:sp>
        <p:nvSpPr>
          <p:cNvPr id="25" name="Text 23"/>
          <p:cNvSpPr/>
          <p:nvPr/>
        </p:nvSpPr>
        <p:spPr>
          <a:xfrm>
            <a:off x="3593592" y="4279392"/>
            <a:ext cx="753465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Original FinBERT fine-tune edilmeden test edildi.</a:t>
            </a:r>
            <a:endParaRPr lang="en-US" sz="1250" dirty="0"/>
          </a:p>
        </p:txBody>
      </p:sp>
      <p:sp>
        <p:nvSpPr>
          <p:cNvPr id="26" name="Shape 24"/>
          <p:cNvSpPr/>
          <p:nvPr/>
        </p:nvSpPr>
        <p:spPr>
          <a:xfrm>
            <a:off x="960120" y="4526280"/>
            <a:ext cx="2560320" cy="320040"/>
          </a:xfrm>
          <a:prstGeom prst="rect">
            <a:avLst/>
          </a:prstGeom>
          <a:solidFill>
            <a:srgbClr val="F4F6FB"/>
          </a:solidFill>
          <a:ln w="6350">
            <a:solidFill>
              <a:srgbClr val="DDE3EF"/>
            </a:solidFill>
            <a:prstDash val="solid"/>
          </a:ln>
        </p:spPr>
      </p:sp>
      <p:sp>
        <p:nvSpPr>
          <p:cNvPr id="27" name="Text 25"/>
          <p:cNvSpPr/>
          <p:nvPr/>
        </p:nvSpPr>
        <p:spPr>
          <a:xfrm>
            <a:off x="1033272" y="4599432"/>
            <a:ext cx="241401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Fine-tuning</a:t>
            </a:r>
            <a:endParaRPr lang="en-US" sz="1250" dirty="0"/>
          </a:p>
        </p:txBody>
      </p:sp>
      <p:sp>
        <p:nvSpPr>
          <p:cNvPr id="28" name="Shape 26"/>
          <p:cNvSpPr/>
          <p:nvPr/>
        </p:nvSpPr>
        <p:spPr>
          <a:xfrm>
            <a:off x="3520440" y="4526280"/>
            <a:ext cx="7680960" cy="320040"/>
          </a:xfrm>
          <a:prstGeom prst="rect">
            <a:avLst/>
          </a:prstGeom>
          <a:solidFill>
            <a:srgbClr val="F4F6FB"/>
          </a:solidFill>
          <a:ln w="6350">
            <a:solidFill>
              <a:srgbClr val="DDE3EF"/>
            </a:solidFill>
            <a:prstDash val="solid"/>
          </a:ln>
        </p:spPr>
      </p:sp>
      <p:sp>
        <p:nvSpPr>
          <p:cNvPr id="29" name="Text 27"/>
          <p:cNvSpPr/>
          <p:nvPr/>
        </p:nvSpPr>
        <p:spPr>
          <a:xfrm>
            <a:off x="3593592" y="4599432"/>
            <a:ext cx="753465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Dört model aynı üç sınıflı görevde eğitildi.</a:t>
            </a:r>
            <a:endParaRPr lang="en-US" sz="1250" dirty="0"/>
          </a:p>
        </p:txBody>
      </p:sp>
      <p:sp>
        <p:nvSpPr>
          <p:cNvPr id="30" name="Shape 28"/>
          <p:cNvSpPr/>
          <p:nvPr/>
        </p:nvSpPr>
        <p:spPr>
          <a:xfrm>
            <a:off x="960120" y="4846320"/>
            <a:ext cx="2560320" cy="320040"/>
          </a:xfrm>
          <a:prstGeom prst="rect">
            <a:avLst/>
          </a:prstGeom>
          <a:solidFill>
            <a:srgbClr val="FFFFFF"/>
          </a:solidFill>
          <a:ln w="6350">
            <a:solidFill>
              <a:srgbClr val="DDE3EF"/>
            </a:solidFill>
            <a:prstDash val="solid"/>
          </a:ln>
        </p:spPr>
      </p:sp>
      <p:sp>
        <p:nvSpPr>
          <p:cNvPr id="31" name="Text 29"/>
          <p:cNvSpPr/>
          <p:nvPr/>
        </p:nvSpPr>
        <p:spPr>
          <a:xfrm>
            <a:off x="1033272" y="4919472"/>
            <a:ext cx="241401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Robustluk</a:t>
            </a:r>
            <a:endParaRPr lang="en-US" sz="1250" dirty="0"/>
          </a:p>
        </p:txBody>
      </p:sp>
      <p:sp>
        <p:nvSpPr>
          <p:cNvPr id="32" name="Shape 30"/>
          <p:cNvSpPr/>
          <p:nvPr/>
        </p:nvSpPr>
        <p:spPr>
          <a:xfrm>
            <a:off x="3520440" y="4846320"/>
            <a:ext cx="7680960" cy="320040"/>
          </a:xfrm>
          <a:prstGeom prst="rect">
            <a:avLst/>
          </a:prstGeom>
          <a:solidFill>
            <a:srgbClr val="FFFFFF"/>
          </a:solidFill>
          <a:ln w="6350">
            <a:solidFill>
              <a:srgbClr val="DDE3EF"/>
            </a:solidFill>
            <a:prstDash val="solid"/>
          </a:ln>
        </p:spPr>
      </p:sp>
      <p:sp>
        <p:nvSpPr>
          <p:cNvPr id="33" name="Text 31"/>
          <p:cNvSpPr/>
          <p:nvPr/>
        </p:nvSpPr>
        <p:spPr>
          <a:xfrm>
            <a:off x="3593592" y="4919472"/>
            <a:ext cx="753465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Aynı eğitimler 3 farklı seed ile tekrarlandı.</a:t>
            </a:r>
            <a:endParaRPr lang="en-US" sz="1250" dirty="0"/>
          </a:p>
        </p:txBody>
      </p:sp>
      <p:sp>
        <p:nvSpPr>
          <p:cNvPr id="34" name="Shape 32"/>
          <p:cNvSpPr/>
          <p:nvPr/>
        </p:nvSpPr>
        <p:spPr>
          <a:xfrm>
            <a:off x="960120" y="5166360"/>
            <a:ext cx="2560320" cy="320040"/>
          </a:xfrm>
          <a:prstGeom prst="rect">
            <a:avLst/>
          </a:prstGeom>
          <a:solidFill>
            <a:srgbClr val="F4F6FB"/>
          </a:solidFill>
          <a:ln w="6350">
            <a:solidFill>
              <a:srgbClr val="DDE3EF"/>
            </a:solidFill>
            <a:prstDash val="solid"/>
          </a:ln>
        </p:spPr>
      </p:sp>
      <p:sp>
        <p:nvSpPr>
          <p:cNvPr id="35" name="Text 33"/>
          <p:cNvSpPr/>
          <p:nvPr/>
        </p:nvSpPr>
        <p:spPr>
          <a:xfrm>
            <a:off x="1033272" y="5239512"/>
            <a:ext cx="241401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External test</a:t>
            </a:r>
            <a:endParaRPr lang="en-US" sz="1250" dirty="0"/>
          </a:p>
        </p:txBody>
      </p:sp>
      <p:sp>
        <p:nvSpPr>
          <p:cNvPr id="36" name="Shape 34"/>
          <p:cNvSpPr/>
          <p:nvPr/>
        </p:nvSpPr>
        <p:spPr>
          <a:xfrm>
            <a:off x="3520440" y="5166360"/>
            <a:ext cx="7680960" cy="320040"/>
          </a:xfrm>
          <a:prstGeom prst="rect">
            <a:avLst/>
          </a:prstGeom>
          <a:solidFill>
            <a:srgbClr val="F4F6FB"/>
          </a:solidFill>
          <a:ln w="6350">
            <a:solidFill>
              <a:srgbClr val="DDE3EF"/>
            </a:solidFill>
            <a:prstDash val="solid"/>
          </a:ln>
        </p:spPr>
      </p:sp>
      <p:sp>
        <p:nvSpPr>
          <p:cNvPr id="37" name="Text 35"/>
          <p:cNvSpPr/>
          <p:nvPr/>
        </p:nvSpPr>
        <p:spPr>
          <a:xfrm>
            <a:off x="3593592" y="5239512"/>
            <a:ext cx="7534656" cy="228600"/>
          </a:xfrm>
          <a:prstGeom prst="rect">
            <a:avLst/>
          </a:prstGeom>
          <a:noFill/>
          <a:ln/>
        </p:spPr>
        <p:txBody>
          <a:bodyPr wrap="square" lIns="0" tIns="0" rIns="0" bIns="0" rtlCol="0" anchor="ctr">
            <a:normAutofit/>
          </a:bodyPr>
          <a:lstStyle/>
          <a:p>
            <a:pPr marL="0" indent="0">
              <a:buNone/>
            </a:pPr>
            <a:r>
              <a:rPr lang="en-US" sz="1250" dirty="0">
                <a:solidFill>
                  <a:srgbClr val="1A1E2A"/>
                </a:solidFill>
              </a:rPr>
              <a:t>Modelin farklı finansal kaynaklarda genellemesi ölçüldü.</a:t>
            </a:r>
            <a:endParaRPr lang="en-US" sz="1250" dirty="0"/>
          </a:p>
        </p:txBody>
      </p:sp>
      <p:sp>
        <p:nvSpPr>
          <p:cNvPr id="38" name="Text 36"/>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9" name="Text 37"/>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11</a:t>
            </a:r>
            <a:endParaRPr lang="en-US" sz="850" dirty="0"/>
          </a:p>
        </p:txBody>
      </p:sp>
      <p:sp>
        <p:nvSpPr>
          <p:cNvPr id="40" name="Shape 38"/>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Kullanılan modeller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Genel amaçlı modeller ile finans-özgü FinBERT aynı görevde karşılaştırıldı.</a:t>
            </a:r>
            <a:endParaRPr lang="en-US" sz="1450" dirty="0"/>
          </a:p>
        </p:txBody>
      </p:sp>
      <p:sp>
        <p:nvSpPr>
          <p:cNvPr id="4" name="Shape 2"/>
          <p:cNvSpPr/>
          <p:nvPr/>
        </p:nvSpPr>
        <p:spPr>
          <a:xfrm>
            <a:off x="566928" y="1234440"/>
            <a:ext cx="2444191" cy="754380"/>
          </a:xfrm>
          <a:prstGeom prst="rect">
            <a:avLst/>
          </a:prstGeom>
          <a:solidFill>
            <a:srgbClr val="1D2B46"/>
          </a:solidFill>
          <a:ln w="6350">
            <a:solidFill>
              <a:srgbClr val="DDE3EF"/>
            </a:solidFill>
            <a:prstDash val="solid"/>
          </a:ln>
        </p:spPr>
      </p:sp>
      <p:sp>
        <p:nvSpPr>
          <p:cNvPr id="5" name="Text 3"/>
          <p:cNvSpPr/>
          <p:nvPr/>
        </p:nvSpPr>
        <p:spPr>
          <a:xfrm>
            <a:off x="640080" y="1307592"/>
            <a:ext cx="2297887" cy="6629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Model</a:t>
            </a:r>
            <a:endParaRPr lang="en-US" sz="1150" dirty="0"/>
          </a:p>
        </p:txBody>
      </p:sp>
      <p:sp>
        <p:nvSpPr>
          <p:cNvPr id="6" name="Shape 4"/>
          <p:cNvSpPr/>
          <p:nvPr/>
        </p:nvSpPr>
        <p:spPr>
          <a:xfrm>
            <a:off x="3011119" y="1234440"/>
            <a:ext cx="3110789" cy="754380"/>
          </a:xfrm>
          <a:prstGeom prst="rect">
            <a:avLst/>
          </a:prstGeom>
          <a:solidFill>
            <a:srgbClr val="1D2B46"/>
          </a:solidFill>
          <a:ln w="6350">
            <a:solidFill>
              <a:srgbClr val="DDE3EF"/>
            </a:solidFill>
            <a:prstDash val="solid"/>
          </a:ln>
        </p:spPr>
      </p:sp>
      <p:sp>
        <p:nvSpPr>
          <p:cNvPr id="7" name="Text 5"/>
          <p:cNvSpPr/>
          <p:nvPr/>
        </p:nvSpPr>
        <p:spPr>
          <a:xfrm>
            <a:off x="3084271" y="1307592"/>
            <a:ext cx="2964485" cy="6629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Rol</a:t>
            </a:r>
            <a:endParaRPr lang="en-US" sz="1150" dirty="0"/>
          </a:p>
        </p:txBody>
      </p:sp>
      <p:sp>
        <p:nvSpPr>
          <p:cNvPr id="8" name="Shape 6"/>
          <p:cNvSpPr/>
          <p:nvPr/>
        </p:nvSpPr>
        <p:spPr>
          <a:xfrm>
            <a:off x="6121908" y="1234440"/>
            <a:ext cx="5554980" cy="754380"/>
          </a:xfrm>
          <a:prstGeom prst="rect">
            <a:avLst/>
          </a:prstGeom>
          <a:solidFill>
            <a:srgbClr val="1D2B46"/>
          </a:solidFill>
          <a:ln w="6350">
            <a:solidFill>
              <a:srgbClr val="DDE3EF"/>
            </a:solidFill>
            <a:prstDash val="solid"/>
          </a:ln>
        </p:spPr>
      </p:sp>
      <p:sp>
        <p:nvSpPr>
          <p:cNvPr id="9" name="Text 7"/>
          <p:cNvSpPr/>
          <p:nvPr/>
        </p:nvSpPr>
        <p:spPr>
          <a:xfrm>
            <a:off x="6195060" y="1307592"/>
            <a:ext cx="5408676" cy="6629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Tezdeki anlamı</a:t>
            </a:r>
            <a:endParaRPr lang="en-US" sz="1150" dirty="0"/>
          </a:p>
        </p:txBody>
      </p:sp>
      <p:sp>
        <p:nvSpPr>
          <p:cNvPr id="10" name="Shape 8"/>
          <p:cNvSpPr/>
          <p:nvPr/>
        </p:nvSpPr>
        <p:spPr>
          <a:xfrm>
            <a:off x="566928" y="1988820"/>
            <a:ext cx="2444191" cy="754380"/>
          </a:xfrm>
          <a:prstGeom prst="rect">
            <a:avLst/>
          </a:prstGeom>
          <a:solidFill>
            <a:srgbClr val="FFFFFF"/>
          </a:solidFill>
          <a:ln w="6350">
            <a:solidFill>
              <a:srgbClr val="DDE3EF"/>
            </a:solidFill>
            <a:prstDash val="solid"/>
          </a:ln>
        </p:spPr>
      </p:sp>
      <p:sp>
        <p:nvSpPr>
          <p:cNvPr id="11" name="Text 9"/>
          <p:cNvSpPr/>
          <p:nvPr/>
        </p:nvSpPr>
        <p:spPr>
          <a:xfrm>
            <a:off x="640080" y="2061972"/>
            <a:ext cx="2297887"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Original FinBERT</a:t>
            </a:r>
            <a:endParaRPr lang="en-US" sz="1220" dirty="0"/>
          </a:p>
        </p:txBody>
      </p:sp>
      <p:sp>
        <p:nvSpPr>
          <p:cNvPr id="12" name="Shape 10"/>
          <p:cNvSpPr/>
          <p:nvPr/>
        </p:nvSpPr>
        <p:spPr>
          <a:xfrm>
            <a:off x="3011119" y="1988820"/>
            <a:ext cx="3110789" cy="754380"/>
          </a:xfrm>
          <a:prstGeom prst="rect">
            <a:avLst/>
          </a:prstGeom>
          <a:solidFill>
            <a:srgbClr val="FFFFFF"/>
          </a:solidFill>
          <a:ln w="6350">
            <a:solidFill>
              <a:srgbClr val="DDE3EF"/>
            </a:solidFill>
            <a:prstDash val="solid"/>
          </a:ln>
        </p:spPr>
      </p:sp>
      <p:sp>
        <p:nvSpPr>
          <p:cNvPr id="13" name="Text 11"/>
          <p:cNvSpPr/>
          <p:nvPr/>
        </p:nvSpPr>
        <p:spPr>
          <a:xfrm>
            <a:off x="3084271" y="2061972"/>
            <a:ext cx="2964485"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Baseline</a:t>
            </a:r>
            <a:endParaRPr lang="en-US" sz="1220" dirty="0"/>
          </a:p>
        </p:txBody>
      </p:sp>
      <p:sp>
        <p:nvSpPr>
          <p:cNvPr id="14" name="Shape 12"/>
          <p:cNvSpPr/>
          <p:nvPr/>
        </p:nvSpPr>
        <p:spPr>
          <a:xfrm>
            <a:off x="6121908" y="1988820"/>
            <a:ext cx="5554980" cy="754380"/>
          </a:xfrm>
          <a:prstGeom prst="rect">
            <a:avLst/>
          </a:prstGeom>
          <a:solidFill>
            <a:srgbClr val="FFFFFF"/>
          </a:solidFill>
          <a:ln w="6350">
            <a:solidFill>
              <a:srgbClr val="DDE3EF"/>
            </a:solidFill>
            <a:prstDash val="solid"/>
          </a:ln>
        </p:spPr>
      </p:sp>
      <p:sp>
        <p:nvSpPr>
          <p:cNvPr id="15" name="Text 13"/>
          <p:cNvSpPr/>
          <p:nvPr/>
        </p:nvSpPr>
        <p:spPr>
          <a:xfrm>
            <a:off x="6195060" y="2061972"/>
            <a:ext cx="5408676"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Finansal alana özel model fine-tune edilmeden ne yapıyor?</a:t>
            </a:r>
            <a:endParaRPr lang="en-US" sz="1220" dirty="0"/>
          </a:p>
        </p:txBody>
      </p:sp>
      <p:sp>
        <p:nvSpPr>
          <p:cNvPr id="16" name="Shape 14"/>
          <p:cNvSpPr/>
          <p:nvPr/>
        </p:nvSpPr>
        <p:spPr>
          <a:xfrm>
            <a:off x="566928" y="2743200"/>
            <a:ext cx="2444191" cy="754380"/>
          </a:xfrm>
          <a:prstGeom prst="rect">
            <a:avLst/>
          </a:prstGeom>
          <a:solidFill>
            <a:srgbClr val="F4F6FB"/>
          </a:solidFill>
          <a:ln w="6350">
            <a:solidFill>
              <a:srgbClr val="DDE3EF"/>
            </a:solidFill>
            <a:prstDash val="solid"/>
          </a:ln>
        </p:spPr>
      </p:sp>
      <p:sp>
        <p:nvSpPr>
          <p:cNvPr id="17" name="Text 15"/>
          <p:cNvSpPr/>
          <p:nvPr/>
        </p:nvSpPr>
        <p:spPr>
          <a:xfrm>
            <a:off x="640080" y="2816352"/>
            <a:ext cx="2297887"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Fine-tuned FinBERT</a:t>
            </a:r>
            <a:endParaRPr lang="en-US" sz="1220" dirty="0"/>
          </a:p>
        </p:txBody>
      </p:sp>
      <p:sp>
        <p:nvSpPr>
          <p:cNvPr id="18" name="Shape 16"/>
          <p:cNvSpPr/>
          <p:nvPr/>
        </p:nvSpPr>
        <p:spPr>
          <a:xfrm>
            <a:off x="3011119" y="2743200"/>
            <a:ext cx="3110789" cy="754380"/>
          </a:xfrm>
          <a:prstGeom prst="rect">
            <a:avLst/>
          </a:prstGeom>
          <a:solidFill>
            <a:srgbClr val="F4F6FB"/>
          </a:solidFill>
          <a:ln w="6350">
            <a:solidFill>
              <a:srgbClr val="DDE3EF"/>
            </a:solidFill>
            <a:prstDash val="solid"/>
          </a:ln>
        </p:spPr>
      </p:sp>
      <p:sp>
        <p:nvSpPr>
          <p:cNvPr id="19" name="Text 17"/>
          <p:cNvSpPr/>
          <p:nvPr/>
        </p:nvSpPr>
        <p:spPr>
          <a:xfrm>
            <a:off x="3084271" y="2816352"/>
            <a:ext cx="2964485"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Finans-özgü + task adaptation</a:t>
            </a:r>
            <a:endParaRPr lang="en-US" sz="1220" dirty="0"/>
          </a:p>
        </p:txBody>
      </p:sp>
      <p:sp>
        <p:nvSpPr>
          <p:cNvPr id="20" name="Shape 18"/>
          <p:cNvSpPr/>
          <p:nvPr/>
        </p:nvSpPr>
        <p:spPr>
          <a:xfrm>
            <a:off x="6121908" y="2743200"/>
            <a:ext cx="5554980" cy="754380"/>
          </a:xfrm>
          <a:prstGeom prst="rect">
            <a:avLst/>
          </a:prstGeom>
          <a:solidFill>
            <a:srgbClr val="F4F6FB"/>
          </a:solidFill>
          <a:ln w="6350">
            <a:solidFill>
              <a:srgbClr val="DDE3EF"/>
            </a:solidFill>
            <a:prstDash val="solid"/>
          </a:ln>
        </p:spPr>
      </p:sp>
      <p:sp>
        <p:nvSpPr>
          <p:cNvPr id="21" name="Text 19"/>
          <p:cNvSpPr/>
          <p:nvPr/>
        </p:nvSpPr>
        <p:spPr>
          <a:xfrm>
            <a:off x="6195060" y="2816352"/>
            <a:ext cx="5408676"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FinBERT hedef veriye adapte edilince ne kadar iyileşiyor?</a:t>
            </a:r>
            <a:endParaRPr lang="en-US" sz="1220" dirty="0"/>
          </a:p>
        </p:txBody>
      </p:sp>
      <p:sp>
        <p:nvSpPr>
          <p:cNvPr id="22" name="Shape 20"/>
          <p:cNvSpPr/>
          <p:nvPr/>
        </p:nvSpPr>
        <p:spPr>
          <a:xfrm>
            <a:off x="566928" y="3497580"/>
            <a:ext cx="2444191" cy="754380"/>
          </a:xfrm>
          <a:prstGeom prst="rect">
            <a:avLst/>
          </a:prstGeom>
          <a:solidFill>
            <a:srgbClr val="FFFFFF"/>
          </a:solidFill>
          <a:ln w="6350">
            <a:solidFill>
              <a:srgbClr val="DDE3EF"/>
            </a:solidFill>
            <a:prstDash val="solid"/>
          </a:ln>
        </p:spPr>
      </p:sp>
      <p:sp>
        <p:nvSpPr>
          <p:cNvPr id="23" name="Text 21"/>
          <p:cNvSpPr/>
          <p:nvPr/>
        </p:nvSpPr>
        <p:spPr>
          <a:xfrm>
            <a:off x="640080" y="3570732"/>
            <a:ext cx="2297887"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BERT</a:t>
            </a:r>
            <a:endParaRPr lang="en-US" sz="1220" dirty="0"/>
          </a:p>
        </p:txBody>
      </p:sp>
      <p:sp>
        <p:nvSpPr>
          <p:cNvPr id="24" name="Shape 22"/>
          <p:cNvSpPr/>
          <p:nvPr/>
        </p:nvSpPr>
        <p:spPr>
          <a:xfrm>
            <a:off x="3011119" y="3497580"/>
            <a:ext cx="3110789" cy="754380"/>
          </a:xfrm>
          <a:prstGeom prst="rect">
            <a:avLst/>
          </a:prstGeom>
          <a:solidFill>
            <a:srgbClr val="FFFFFF"/>
          </a:solidFill>
          <a:ln w="6350">
            <a:solidFill>
              <a:srgbClr val="DDE3EF"/>
            </a:solidFill>
            <a:prstDash val="solid"/>
          </a:ln>
        </p:spPr>
      </p:sp>
      <p:sp>
        <p:nvSpPr>
          <p:cNvPr id="25" name="Text 23"/>
          <p:cNvSpPr/>
          <p:nvPr/>
        </p:nvSpPr>
        <p:spPr>
          <a:xfrm>
            <a:off x="3084271" y="3570732"/>
            <a:ext cx="2964485"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Genel transformer baseline</a:t>
            </a:r>
            <a:endParaRPr lang="en-US" sz="1220" dirty="0"/>
          </a:p>
        </p:txBody>
      </p:sp>
      <p:sp>
        <p:nvSpPr>
          <p:cNvPr id="26" name="Shape 24"/>
          <p:cNvSpPr/>
          <p:nvPr/>
        </p:nvSpPr>
        <p:spPr>
          <a:xfrm>
            <a:off x="6121908" y="3497580"/>
            <a:ext cx="5554980" cy="754380"/>
          </a:xfrm>
          <a:prstGeom prst="rect">
            <a:avLst/>
          </a:prstGeom>
          <a:solidFill>
            <a:srgbClr val="FFFFFF"/>
          </a:solidFill>
          <a:ln w="6350">
            <a:solidFill>
              <a:srgbClr val="DDE3EF"/>
            </a:solidFill>
            <a:prstDash val="solid"/>
          </a:ln>
        </p:spPr>
      </p:sp>
      <p:sp>
        <p:nvSpPr>
          <p:cNvPr id="27" name="Text 25"/>
          <p:cNvSpPr/>
          <p:nvPr/>
        </p:nvSpPr>
        <p:spPr>
          <a:xfrm>
            <a:off x="6195060" y="3570732"/>
            <a:ext cx="5408676"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Genel dil temsili finans görevinde ne kadar yeterli?</a:t>
            </a:r>
            <a:endParaRPr lang="en-US" sz="1220" dirty="0"/>
          </a:p>
        </p:txBody>
      </p:sp>
      <p:sp>
        <p:nvSpPr>
          <p:cNvPr id="28" name="Shape 26"/>
          <p:cNvSpPr/>
          <p:nvPr/>
        </p:nvSpPr>
        <p:spPr>
          <a:xfrm>
            <a:off x="566928" y="4251960"/>
            <a:ext cx="2444191" cy="754380"/>
          </a:xfrm>
          <a:prstGeom prst="rect">
            <a:avLst/>
          </a:prstGeom>
          <a:solidFill>
            <a:srgbClr val="F4F6FB"/>
          </a:solidFill>
          <a:ln w="6350">
            <a:solidFill>
              <a:srgbClr val="DDE3EF"/>
            </a:solidFill>
            <a:prstDash val="solid"/>
          </a:ln>
        </p:spPr>
      </p:sp>
      <p:sp>
        <p:nvSpPr>
          <p:cNvPr id="29" name="Text 27"/>
          <p:cNvSpPr/>
          <p:nvPr/>
        </p:nvSpPr>
        <p:spPr>
          <a:xfrm>
            <a:off x="640080" y="4325112"/>
            <a:ext cx="2297887"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DistilBERT</a:t>
            </a:r>
            <a:endParaRPr lang="en-US" sz="1220" dirty="0"/>
          </a:p>
        </p:txBody>
      </p:sp>
      <p:sp>
        <p:nvSpPr>
          <p:cNvPr id="30" name="Shape 28"/>
          <p:cNvSpPr/>
          <p:nvPr/>
        </p:nvSpPr>
        <p:spPr>
          <a:xfrm>
            <a:off x="3011119" y="4251960"/>
            <a:ext cx="3110789" cy="754380"/>
          </a:xfrm>
          <a:prstGeom prst="rect">
            <a:avLst/>
          </a:prstGeom>
          <a:solidFill>
            <a:srgbClr val="F4F6FB"/>
          </a:solidFill>
          <a:ln w="6350">
            <a:solidFill>
              <a:srgbClr val="DDE3EF"/>
            </a:solidFill>
            <a:prstDash val="solid"/>
          </a:ln>
        </p:spPr>
      </p:sp>
      <p:sp>
        <p:nvSpPr>
          <p:cNvPr id="31" name="Text 29"/>
          <p:cNvSpPr/>
          <p:nvPr/>
        </p:nvSpPr>
        <p:spPr>
          <a:xfrm>
            <a:off x="3084271" y="4325112"/>
            <a:ext cx="2964485"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Verimlilik modeli</a:t>
            </a:r>
            <a:endParaRPr lang="en-US" sz="1220" dirty="0"/>
          </a:p>
        </p:txBody>
      </p:sp>
      <p:sp>
        <p:nvSpPr>
          <p:cNvPr id="32" name="Shape 30"/>
          <p:cNvSpPr/>
          <p:nvPr/>
        </p:nvSpPr>
        <p:spPr>
          <a:xfrm>
            <a:off x="6121908" y="4251960"/>
            <a:ext cx="5554980" cy="754380"/>
          </a:xfrm>
          <a:prstGeom prst="rect">
            <a:avLst/>
          </a:prstGeom>
          <a:solidFill>
            <a:srgbClr val="F4F6FB"/>
          </a:solidFill>
          <a:ln w="6350">
            <a:solidFill>
              <a:srgbClr val="DDE3EF"/>
            </a:solidFill>
            <a:prstDash val="solid"/>
          </a:ln>
        </p:spPr>
      </p:sp>
      <p:sp>
        <p:nvSpPr>
          <p:cNvPr id="33" name="Text 31"/>
          <p:cNvSpPr/>
          <p:nvPr/>
        </p:nvSpPr>
        <p:spPr>
          <a:xfrm>
            <a:off x="6195060" y="4325112"/>
            <a:ext cx="5408676"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Daha hızlı ama daha küçük model performans-maliyet dengesi kurabilir mi?</a:t>
            </a:r>
            <a:endParaRPr lang="en-US" sz="1220" dirty="0"/>
          </a:p>
        </p:txBody>
      </p:sp>
      <p:sp>
        <p:nvSpPr>
          <p:cNvPr id="34" name="Shape 32"/>
          <p:cNvSpPr/>
          <p:nvPr/>
        </p:nvSpPr>
        <p:spPr>
          <a:xfrm>
            <a:off x="566928" y="5006340"/>
            <a:ext cx="2444191" cy="754380"/>
          </a:xfrm>
          <a:prstGeom prst="rect">
            <a:avLst/>
          </a:prstGeom>
          <a:solidFill>
            <a:srgbClr val="FFFFFF"/>
          </a:solidFill>
          <a:ln w="6350">
            <a:solidFill>
              <a:srgbClr val="DDE3EF"/>
            </a:solidFill>
            <a:prstDash val="solid"/>
          </a:ln>
        </p:spPr>
      </p:sp>
      <p:sp>
        <p:nvSpPr>
          <p:cNvPr id="35" name="Text 33"/>
          <p:cNvSpPr/>
          <p:nvPr/>
        </p:nvSpPr>
        <p:spPr>
          <a:xfrm>
            <a:off x="640080" y="5079492"/>
            <a:ext cx="2297887"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RoBERTa</a:t>
            </a:r>
            <a:endParaRPr lang="en-US" sz="1220" dirty="0"/>
          </a:p>
        </p:txBody>
      </p:sp>
      <p:sp>
        <p:nvSpPr>
          <p:cNvPr id="36" name="Shape 34"/>
          <p:cNvSpPr/>
          <p:nvPr/>
        </p:nvSpPr>
        <p:spPr>
          <a:xfrm>
            <a:off x="3011119" y="5006340"/>
            <a:ext cx="3110789" cy="754380"/>
          </a:xfrm>
          <a:prstGeom prst="rect">
            <a:avLst/>
          </a:prstGeom>
          <a:solidFill>
            <a:srgbClr val="FFFFFF"/>
          </a:solidFill>
          <a:ln w="6350">
            <a:solidFill>
              <a:srgbClr val="DDE3EF"/>
            </a:solidFill>
            <a:prstDash val="solid"/>
          </a:ln>
        </p:spPr>
      </p:sp>
      <p:sp>
        <p:nvSpPr>
          <p:cNvPr id="37" name="Text 35"/>
          <p:cNvSpPr/>
          <p:nvPr/>
        </p:nvSpPr>
        <p:spPr>
          <a:xfrm>
            <a:off x="3084271" y="5079492"/>
            <a:ext cx="2964485"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Güçlü genel encoder</a:t>
            </a:r>
            <a:endParaRPr lang="en-US" sz="1220" dirty="0"/>
          </a:p>
        </p:txBody>
      </p:sp>
      <p:sp>
        <p:nvSpPr>
          <p:cNvPr id="38" name="Shape 36"/>
          <p:cNvSpPr/>
          <p:nvPr/>
        </p:nvSpPr>
        <p:spPr>
          <a:xfrm>
            <a:off x="6121908" y="5006340"/>
            <a:ext cx="5554980" cy="754380"/>
          </a:xfrm>
          <a:prstGeom prst="rect">
            <a:avLst/>
          </a:prstGeom>
          <a:solidFill>
            <a:srgbClr val="FFFFFF"/>
          </a:solidFill>
          <a:ln w="6350">
            <a:solidFill>
              <a:srgbClr val="DDE3EF"/>
            </a:solidFill>
            <a:prstDash val="solid"/>
          </a:ln>
        </p:spPr>
      </p:sp>
      <p:sp>
        <p:nvSpPr>
          <p:cNvPr id="39" name="Text 37"/>
          <p:cNvSpPr/>
          <p:nvPr/>
        </p:nvSpPr>
        <p:spPr>
          <a:xfrm>
            <a:off x="6195060" y="5079492"/>
            <a:ext cx="5408676" cy="662940"/>
          </a:xfrm>
          <a:prstGeom prst="rect">
            <a:avLst/>
          </a:prstGeom>
          <a:noFill/>
          <a:ln/>
        </p:spPr>
        <p:txBody>
          <a:bodyPr wrap="square" lIns="0" tIns="0" rIns="0" bIns="0" rtlCol="0" anchor="ctr">
            <a:normAutofit/>
          </a:bodyPr>
          <a:lstStyle/>
          <a:p>
            <a:pPr marL="0" indent="0">
              <a:buNone/>
            </a:pPr>
            <a:r>
              <a:rPr lang="en-US" sz="1220" dirty="0">
                <a:solidFill>
                  <a:srgbClr val="1A1E2A"/>
                </a:solidFill>
              </a:rPr>
              <a:t>Finans-özgü olmayan ama mimari olarak güçlü model FinBERT’i geçebilir mi?</a:t>
            </a:r>
            <a:endParaRPr lang="en-US" sz="1220" dirty="0"/>
          </a:p>
        </p:txBody>
      </p:sp>
      <p:sp>
        <p:nvSpPr>
          <p:cNvPr id="40" name="Text 38"/>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41" name="Text 39"/>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12</a:t>
            </a:r>
            <a:endParaRPr lang="en-US" sz="850" dirty="0"/>
          </a:p>
        </p:txBody>
      </p:sp>
      <p:sp>
        <p:nvSpPr>
          <p:cNvPr id="42" name="Shape 40"/>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Finans-özgü modellerin eğitim kaynakları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Devam çalışması için modelin daha önce hangi veriyi gördüğü kritik.</a:t>
            </a:r>
            <a:endParaRPr lang="en-US" sz="1450" dirty="0"/>
          </a:p>
        </p:txBody>
      </p:sp>
      <p:sp>
        <p:nvSpPr>
          <p:cNvPr id="4" name="Shape 2"/>
          <p:cNvSpPr/>
          <p:nvPr/>
        </p:nvSpPr>
        <p:spPr>
          <a:xfrm>
            <a:off x="502920" y="1234440"/>
            <a:ext cx="2008022" cy="994410"/>
          </a:xfrm>
          <a:prstGeom prst="rect">
            <a:avLst/>
          </a:prstGeom>
          <a:solidFill>
            <a:srgbClr val="1D2B46"/>
          </a:solidFill>
          <a:ln w="6350">
            <a:solidFill>
              <a:srgbClr val="DDE3EF"/>
            </a:solidFill>
            <a:prstDash val="solid"/>
          </a:ln>
        </p:spPr>
      </p:sp>
      <p:sp>
        <p:nvSpPr>
          <p:cNvPr id="5" name="Text 3"/>
          <p:cNvSpPr/>
          <p:nvPr/>
        </p:nvSpPr>
        <p:spPr>
          <a:xfrm>
            <a:off x="576072" y="1307592"/>
            <a:ext cx="1861718" cy="902970"/>
          </a:xfrm>
          <a:prstGeom prst="rect">
            <a:avLst/>
          </a:prstGeom>
          <a:noFill/>
          <a:ln/>
        </p:spPr>
        <p:txBody>
          <a:bodyPr wrap="square" lIns="0" tIns="0" rIns="0" bIns="0" rtlCol="0" anchor="ctr">
            <a:normAutofit/>
          </a:bodyPr>
          <a:lstStyle/>
          <a:p>
            <a:pPr marL="0" indent="0">
              <a:buNone/>
            </a:pPr>
            <a:r>
              <a:rPr lang="en-US" sz="1130" b="1" dirty="0">
                <a:solidFill>
                  <a:srgbClr val="FFFFFF"/>
                </a:solidFill>
              </a:rPr>
              <a:t>Model ailesi</a:t>
            </a:r>
            <a:endParaRPr lang="en-US" sz="1130" dirty="0"/>
          </a:p>
        </p:txBody>
      </p:sp>
      <p:sp>
        <p:nvSpPr>
          <p:cNvPr id="6" name="Shape 4"/>
          <p:cNvSpPr/>
          <p:nvPr/>
        </p:nvSpPr>
        <p:spPr>
          <a:xfrm>
            <a:off x="2510942" y="1234440"/>
            <a:ext cx="5577840" cy="994410"/>
          </a:xfrm>
          <a:prstGeom prst="rect">
            <a:avLst/>
          </a:prstGeom>
          <a:solidFill>
            <a:srgbClr val="1D2B46"/>
          </a:solidFill>
          <a:ln w="6350">
            <a:solidFill>
              <a:srgbClr val="DDE3EF"/>
            </a:solidFill>
            <a:prstDash val="solid"/>
          </a:ln>
        </p:spPr>
      </p:sp>
      <p:sp>
        <p:nvSpPr>
          <p:cNvPr id="7" name="Text 5"/>
          <p:cNvSpPr/>
          <p:nvPr/>
        </p:nvSpPr>
        <p:spPr>
          <a:xfrm>
            <a:off x="2584094" y="1307592"/>
            <a:ext cx="5431536" cy="902970"/>
          </a:xfrm>
          <a:prstGeom prst="rect">
            <a:avLst/>
          </a:prstGeom>
          <a:noFill/>
          <a:ln/>
        </p:spPr>
        <p:txBody>
          <a:bodyPr wrap="square" lIns="0" tIns="0" rIns="0" bIns="0" rtlCol="0" anchor="ctr">
            <a:normAutofit/>
          </a:bodyPr>
          <a:lstStyle/>
          <a:p>
            <a:pPr marL="0" indent="0">
              <a:buNone/>
            </a:pPr>
            <a:r>
              <a:rPr lang="en-US" sz="1130" b="1" dirty="0">
                <a:solidFill>
                  <a:srgbClr val="FFFFFF"/>
                </a:solidFill>
              </a:rPr>
              <a:t>Bilinen eğitim / adaptasyon kaynakları</a:t>
            </a:r>
            <a:endParaRPr lang="en-US" sz="1130" dirty="0"/>
          </a:p>
        </p:txBody>
      </p:sp>
      <p:sp>
        <p:nvSpPr>
          <p:cNvPr id="8" name="Shape 6"/>
          <p:cNvSpPr/>
          <p:nvPr/>
        </p:nvSpPr>
        <p:spPr>
          <a:xfrm>
            <a:off x="8088782" y="1234440"/>
            <a:ext cx="3569818" cy="994410"/>
          </a:xfrm>
          <a:prstGeom prst="rect">
            <a:avLst/>
          </a:prstGeom>
          <a:solidFill>
            <a:srgbClr val="1D2B46"/>
          </a:solidFill>
          <a:ln w="6350">
            <a:solidFill>
              <a:srgbClr val="DDE3EF"/>
            </a:solidFill>
            <a:prstDash val="solid"/>
          </a:ln>
        </p:spPr>
      </p:sp>
      <p:sp>
        <p:nvSpPr>
          <p:cNvPr id="9" name="Text 7"/>
          <p:cNvSpPr/>
          <p:nvPr/>
        </p:nvSpPr>
        <p:spPr>
          <a:xfrm>
            <a:off x="8161934" y="1307592"/>
            <a:ext cx="3423514" cy="902970"/>
          </a:xfrm>
          <a:prstGeom prst="rect">
            <a:avLst/>
          </a:prstGeom>
          <a:noFill/>
          <a:ln/>
        </p:spPr>
        <p:txBody>
          <a:bodyPr wrap="square" lIns="0" tIns="0" rIns="0" bIns="0" rtlCol="0" anchor="ctr">
            <a:normAutofit/>
          </a:bodyPr>
          <a:lstStyle/>
          <a:p>
            <a:pPr marL="0" indent="0">
              <a:buNone/>
            </a:pPr>
            <a:r>
              <a:rPr lang="en-US" sz="1130" b="1" dirty="0">
                <a:solidFill>
                  <a:srgbClr val="FFFFFF"/>
                </a:solidFill>
              </a:rPr>
              <a:t>Bizim çalışma açısından not</a:t>
            </a:r>
            <a:endParaRPr lang="en-US" sz="1130" dirty="0"/>
          </a:p>
        </p:txBody>
      </p:sp>
      <p:sp>
        <p:nvSpPr>
          <p:cNvPr id="10" name="Shape 8"/>
          <p:cNvSpPr/>
          <p:nvPr/>
        </p:nvSpPr>
        <p:spPr>
          <a:xfrm>
            <a:off x="502920" y="2228850"/>
            <a:ext cx="2008022" cy="994410"/>
          </a:xfrm>
          <a:prstGeom prst="rect">
            <a:avLst/>
          </a:prstGeom>
          <a:solidFill>
            <a:srgbClr val="FFFFFF"/>
          </a:solidFill>
          <a:ln w="6350">
            <a:solidFill>
              <a:srgbClr val="DDE3EF"/>
            </a:solidFill>
            <a:prstDash val="solid"/>
          </a:ln>
        </p:spPr>
      </p:sp>
      <p:sp>
        <p:nvSpPr>
          <p:cNvPr id="11" name="Text 9"/>
          <p:cNvSpPr/>
          <p:nvPr/>
        </p:nvSpPr>
        <p:spPr>
          <a:xfrm>
            <a:off x="576072" y="2302002"/>
            <a:ext cx="1861718"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ProsusAI FinBERT</a:t>
            </a:r>
            <a:endParaRPr lang="en-US" sz="1130" dirty="0"/>
          </a:p>
        </p:txBody>
      </p:sp>
      <p:sp>
        <p:nvSpPr>
          <p:cNvPr id="12" name="Shape 10"/>
          <p:cNvSpPr/>
          <p:nvPr/>
        </p:nvSpPr>
        <p:spPr>
          <a:xfrm>
            <a:off x="2510942" y="2228850"/>
            <a:ext cx="5577840" cy="994410"/>
          </a:xfrm>
          <a:prstGeom prst="rect">
            <a:avLst/>
          </a:prstGeom>
          <a:solidFill>
            <a:srgbClr val="FFFFFF"/>
          </a:solidFill>
          <a:ln w="6350">
            <a:solidFill>
              <a:srgbClr val="DDE3EF"/>
            </a:solidFill>
            <a:prstDash val="solid"/>
          </a:ln>
        </p:spPr>
      </p:sp>
      <p:sp>
        <p:nvSpPr>
          <p:cNvPr id="13" name="Text 11"/>
          <p:cNvSpPr/>
          <p:nvPr/>
        </p:nvSpPr>
        <p:spPr>
          <a:xfrm>
            <a:off x="2584094" y="2302002"/>
            <a:ext cx="5431536"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Reuters TRC2 ile domain-adaptive training; Financial PhraseBank ile sentiment fine-tuning</a:t>
            </a:r>
            <a:endParaRPr lang="en-US" sz="1130" dirty="0"/>
          </a:p>
        </p:txBody>
      </p:sp>
      <p:sp>
        <p:nvSpPr>
          <p:cNvPr id="14" name="Shape 12"/>
          <p:cNvSpPr/>
          <p:nvPr/>
        </p:nvSpPr>
        <p:spPr>
          <a:xfrm>
            <a:off x="8088782" y="2228850"/>
            <a:ext cx="3569818" cy="994410"/>
          </a:xfrm>
          <a:prstGeom prst="rect">
            <a:avLst/>
          </a:prstGeom>
          <a:solidFill>
            <a:srgbClr val="FFFFFF"/>
          </a:solidFill>
          <a:ln w="6350">
            <a:solidFill>
              <a:srgbClr val="DDE3EF"/>
            </a:solidFill>
            <a:prstDash val="solid"/>
          </a:ln>
        </p:spPr>
      </p:sp>
      <p:sp>
        <p:nvSpPr>
          <p:cNvPr id="15" name="Text 13"/>
          <p:cNvSpPr/>
          <p:nvPr/>
        </p:nvSpPr>
        <p:spPr>
          <a:xfrm>
            <a:off x="8161934" y="2302002"/>
            <a:ext cx="3423514"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PhraseBank ile örtüşme var; contamination riski ayrı tartışılmalı.</a:t>
            </a:r>
            <a:endParaRPr lang="en-US" sz="1130" dirty="0"/>
          </a:p>
        </p:txBody>
      </p:sp>
      <p:sp>
        <p:nvSpPr>
          <p:cNvPr id="16" name="Shape 14"/>
          <p:cNvSpPr/>
          <p:nvPr/>
        </p:nvSpPr>
        <p:spPr>
          <a:xfrm>
            <a:off x="502920" y="3223260"/>
            <a:ext cx="2008022" cy="994410"/>
          </a:xfrm>
          <a:prstGeom prst="rect">
            <a:avLst/>
          </a:prstGeom>
          <a:solidFill>
            <a:srgbClr val="F4F6FB"/>
          </a:solidFill>
          <a:ln w="6350">
            <a:solidFill>
              <a:srgbClr val="DDE3EF"/>
            </a:solidFill>
            <a:prstDash val="solid"/>
          </a:ln>
        </p:spPr>
      </p:sp>
      <p:sp>
        <p:nvSpPr>
          <p:cNvPr id="17" name="Text 15"/>
          <p:cNvSpPr/>
          <p:nvPr/>
        </p:nvSpPr>
        <p:spPr>
          <a:xfrm>
            <a:off x="576072" y="3296412"/>
            <a:ext cx="1861718"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yiyanghkust FinBERT</a:t>
            </a:r>
            <a:endParaRPr lang="en-US" sz="1130" dirty="0"/>
          </a:p>
        </p:txBody>
      </p:sp>
      <p:sp>
        <p:nvSpPr>
          <p:cNvPr id="18" name="Shape 16"/>
          <p:cNvSpPr/>
          <p:nvPr/>
        </p:nvSpPr>
        <p:spPr>
          <a:xfrm>
            <a:off x="2510942" y="3223260"/>
            <a:ext cx="5577840" cy="994410"/>
          </a:xfrm>
          <a:prstGeom prst="rect">
            <a:avLst/>
          </a:prstGeom>
          <a:solidFill>
            <a:srgbClr val="F4F6FB"/>
          </a:solidFill>
          <a:ln w="6350">
            <a:solidFill>
              <a:srgbClr val="DDE3EF"/>
            </a:solidFill>
            <a:prstDash val="solid"/>
          </a:ln>
        </p:spPr>
      </p:sp>
      <p:sp>
        <p:nvSpPr>
          <p:cNvPr id="19" name="Text 17"/>
          <p:cNvSpPr/>
          <p:nvPr/>
        </p:nvSpPr>
        <p:spPr>
          <a:xfrm>
            <a:off x="2584094" y="3296412"/>
            <a:ext cx="5431536"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10-K/10-Q raporları, earnings call transcriptleri, analyst reports; toplam ~4.9B token</a:t>
            </a:r>
            <a:endParaRPr lang="en-US" sz="1130" dirty="0"/>
          </a:p>
        </p:txBody>
      </p:sp>
      <p:sp>
        <p:nvSpPr>
          <p:cNvPr id="20" name="Shape 18"/>
          <p:cNvSpPr/>
          <p:nvPr/>
        </p:nvSpPr>
        <p:spPr>
          <a:xfrm>
            <a:off x="8088782" y="3223260"/>
            <a:ext cx="3569818" cy="994410"/>
          </a:xfrm>
          <a:prstGeom prst="rect">
            <a:avLst/>
          </a:prstGeom>
          <a:solidFill>
            <a:srgbClr val="F4F6FB"/>
          </a:solidFill>
          <a:ln w="6350">
            <a:solidFill>
              <a:srgbClr val="DDE3EF"/>
            </a:solidFill>
            <a:prstDash val="solid"/>
          </a:ln>
        </p:spPr>
      </p:sp>
      <p:sp>
        <p:nvSpPr>
          <p:cNvPr id="21" name="Text 19"/>
          <p:cNvSpPr/>
          <p:nvPr/>
        </p:nvSpPr>
        <p:spPr>
          <a:xfrm>
            <a:off x="8161934" y="3296412"/>
            <a:ext cx="3423514"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PhraseBank’e daha az doğrudan bağlı alternatif finans-özgü FinBERT.</a:t>
            </a:r>
            <a:endParaRPr lang="en-US" sz="1130" dirty="0"/>
          </a:p>
        </p:txBody>
      </p:sp>
      <p:sp>
        <p:nvSpPr>
          <p:cNvPr id="22" name="Shape 20"/>
          <p:cNvSpPr/>
          <p:nvPr/>
        </p:nvSpPr>
        <p:spPr>
          <a:xfrm>
            <a:off x="502920" y="4217670"/>
            <a:ext cx="2008022" cy="994410"/>
          </a:xfrm>
          <a:prstGeom prst="rect">
            <a:avLst/>
          </a:prstGeom>
          <a:solidFill>
            <a:srgbClr val="FFFFFF"/>
          </a:solidFill>
          <a:ln w="6350">
            <a:solidFill>
              <a:srgbClr val="DDE3EF"/>
            </a:solidFill>
            <a:prstDash val="solid"/>
          </a:ln>
        </p:spPr>
      </p:sp>
      <p:sp>
        <p:nvSpPr>
          <p:cNvPr id="23" name="Text 21"/>
          <p:cNvSpPr/>
          <p:nvPr/>
        </p:nvSpPr>
        <p:spPr>
          <a:xfrm>
            <a:off x="576072" y="4290822"/>
            <a:ext cx="1861718"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FinGPT sentiment</a:t>
            </a:r>
            <a:endParaRPr lang="en-US" sz="1130" dirty="0"/>
          </a:p>
        </p:txBody>
      </p:sp>
      <p:sp>
        <p:nvSpPr>
          <p:cNvPr id="24" name="Shape 22"/>
          <p:cNvSpPr/>
          <p:nvPr/>
        </p:nvSpPr>
        <p:spPr>
          <a:xfrm>
            <a:off x="2510942" y="4217670"/>
            <a:ext cx="5577840" cy="994410"/>
          </a:xfrm>
          <a:prstGeom prst="rect">
            <a:avLst/>
          </a:prstGeom>
          <a:solidFill>
            <a:srgbClr val="FFFFFF"/>
          </a:solidFill>
          <a:ln w="6350">
            <a:solidFill>
              <a:srgbClr val="DDE3EF"/>
            </a:solidFill>
            <a:prstDash val="solid"/>
          </a:ln>
        </p:spPr>
      </p:sp>
      <p:sp>
        <p:nvSpPr>
          <p:cNvPr id="25" name="Text 23"/>
          <p:cNvSpPr/>
          <p:nvPr/>
        </p:nvSpPr>
        <p:spPr>
          <a:xfrm>
            <a:off x="2584094" y="4290822"/>
            <a:ext cx="5431536"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Financial PhraseBank, FiQA, Twitter Financial News ve GPT-news tabanlı instruction sentiment verileri</a:t>
            </a:r>
            <a:endParaRPr lang="en-US" sz="1130" dirty="0"/>
          </a:p>
        </p:txBody>
      </p:sp>
      <p:sp>
        <p:nvSpPr>
          <p:cNvPr id="26" name="Shape 24"/>
          <p:cNvSpPr/>
          <p:nvPr/>
        </p:nvSpPr>
        <p:spPr>
          <a:xfrm>
            <a:off x="8088782" y="4217670"/>
            <a:ext cx="3569818" cy="994410"/>
          </a:xfrm>
          <a:prstGeom prst="rect">
            <a:avLst/>
          </a:prstGeom>
          <a:solidFill>
            <a:srgbClr val="FFFFFF"/>
          </a:solidFill>
          <a:ln w="6350">
            <a:solidFill>
              <a:srgbClr val="DDE3EF"/>
            </a:solidFill>
            <a:prstDash val="solid"/>
          </a:ln>
        </p:spPr>
      </p:sp>
      <p:sp>
        <p:nvSpPr>
          <p:cNvPr id="27" name="Text 25"/>
          <p:cNvSpPr/>
          <p:nvPr/>
        </p:nvSpPr>
        <p:spPr>
          <a:xfrm>
            <a:off x="8161934" y="4290822"/>
            <a:ext cx="3423514" cy="902970"/>
          </a:xfrm>
          <a:prstGeom prst="rect">
            <a:avLst/>
          </a:prstGeom>
          <a:noFill/>
          <a:ln/>
        </p:spPr>
        <p:txBody>
          <a:bodyPr wrap="square" lIns="0" tIns="0" rIns="0" bIns="0" rtlCol="0" anchor="ctr">
            <a:normAutofit/>
          </a:bodyPr>
          <a:lstStyle/>
          <a:p>
            <a:pPr marL="0" indent="0">
              <a:buNone/>
            </a:pPr>
            <a:r>
              <a:rPr lang="en-US" sz="1130" dirty="0">
                <a:solidFill>
                  <a:srgbClr val="1A1E2A"/>
                </a:solidFill>
              </a:rPr>
              <a:t>Bizim Twitter + PhraseBank verileriyle potansiyel örtüşme var.</a:t>
            </a:r>
            <a:endParaRPr lang="en-US" sz="1130" dirty="0"/>
          </a:p>
        </p:txBody>
      </p:sp>
      <p:sp>
        <p:nvSpPr>
          <p:cNvPr id="28" name="Text 26"/>
          <p:cNvSpPr/>
          <p:nvPr/>
        </p:nvSpPr>
        <p:spPr>
          <a:xfrm>
            <a:off x="594360" y="5623560"/>
            <a:ext cx="10972800" cy="320040"/>
          </a:xfrm>
          <a:prstGeom prst="rect">
            <a:avLst/>
          </a:prstGeom>
          <a:noFill/>
          <a:ln/>
        </p:spPr>
        <p:txBody>
          <a:bodyPr wrap="square" lIns="0" tIns="0" rIns="0" bIns="0" rtlCol="0" anchor="ctr">
            <a:normAutofit/>
          </a:bodyPr>
          <a:lstStyle/>
          <a:p>
            <a:pPr marL="0" indent="0">
              <a:buNone/>
            </a:pPr>
            <a:r>
              <a:rPr lang="en-US" sz="950" dirty="0">
                <a:solidFill>
                  <a:srgbClr val="5E6A7D"/>
                </a:solidFill>
              </a:rPr>
              <a:t>Kaynak notu: ProsusAI/finBERT GitHub &amp; Hugging Face; yiyanghkust/finbert-tone Hugging Face; FinGPT/fingpt-sentiment-train Hugging Face.</a:t>
            </a:r>
            <a:endParaRPr lang="en-US" sz="950" dirty="0"/>
          </a:p>
        </p:txBody>
      </p:sp>
      <p:sp>
        <p:nvSpPr>
          <p:cNvPr id="29" name="Text 27"/>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0" name="Text 28"/>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13</a:t>
            </a:r>
            <a:endParaRPr lang="en-US" sz="850" dirty="0"/>
          </a:p>
        </p:txBody>
      </p:sp>
      <p:sp>
        <p:nvSpPr>
          <p:cNvPr id="31" name="Shape 29"/>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Eğitim ve değerlendirme ayarları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Karşılaştırmalar aynı görev ve aynı metrik üzerinden yapıldı.</a:t>
            </a:r>
            <a:endParaRPr lang="en-US" sz="1450" dirty="0"/>
          </a:p>
        </p:txBody>
      </p:sp>
      <p:sp>
        <p:nvSpPr>
          <p:cNvPr id="4" name="Shape 2"/>
          <p:cNvSpPr/>
          <p:nvPr/>
        </p:nvSpPr>
        <p:spPr>
          <a:xfrm>
            <a:off x="1051560" y="1371600"/>
            <a:ext cx="2790749" cy="600891"/>
          </a:xfrm>
          <a:prstGeom prst="rect">
            <a:avLst/>
          </a:prstGeom>
          <a:solidFill>
            <a:srgbClr val="1D2B46"/>
          </a:solidFill>
          <a:ln w="6350">
            <a:solidFill>
              <a:srgbClr val="DDE3EF"/>
            </a:solidFill>
            <a:prstDash val="solid"/>
          </a:ln>
        </p:spPr>
      </p:sp>
      <p:sp>
        <p:nvSpPr>
          <p:cNvPr id="5" name="Text 3"/>
          <p:cNvSpPr/>
          <p:nvPr/>
        </p:nvSpPr>
        <p:spPr>
          <a:xfrm>
            <a:off x="1124712" y="1444752"/>
            <a:ext cx="2644445" cy="509451"/>
          </a:xfrm>
          <a:prstGeom prst="rect">
            <a:avLst/>
          </a:prstGeom>
          <a:noFill/>
          <a:ln/>
        </p:spPr>
        <p:txBody>
          <a:bodyPr wrap="square" lIns="0" tIns="0" rIns="0" bIns="0" rtlCol="0" anchor="ctr">
            <a:normAutofit/>
          </a:bodyPr>
          <a:lstStyle/>
          <a:p>
            <a:pPr marL="0" indent="0">
              <a:buNone/>
            </a:pPr>
            <a:r>
              <a:rPr lang="en-US" sz="1150" b="1" dirty="0">
                <a:solidFill>
                  <a:srgbClr val="FFFFFF"/>
                </a:solidFill>
              </a:rPr>
              <a:t>Başlık</a:t>
            </a:r>
            <a:endParaRPr lang="en-US" sz="1150" dirty="0"/>
          </a:p>
        </p:txBody>
      </p:sp>
      <p:sp>
        <p:nvSpPr>
          <p:cNvPr id="6" name="Shape 4"/>
          <p:cNvSpPr/>
          <p:nvPr/>
        </p:nvSpPr>
        <p:spPr>
          <a:xfrm>
            <a:off x="3842309" y="1371600"/>
            <a:ext cx="7176211" cy="600891"/>
          </a:xfrm>
          <a:prstGeom prst="rect">
            <a:avLst/>
          </a:prstGeom>
          <a:solidFill>
            <a:srgbClr val="1D2B46"/>
          </a:solidFill>
          <a:ln w="6350">
            <a:solidFill>
              <a:srgbClr val="DDE3EF"/>
            </a:solidFill>
            <a:prstDash val="solid"/>
          </a:ln>
        </p:spPr>
      </p:sp>
      <p:sp>
        <p:nvSpPr>
          <p:cNvPr id="7" name="Text 5"/>
          <p:cNvSpPr/>
          <p:nvPr/>
        </p:nvSpPr>
        <p:spPr>
          <a:xfrm>
            <a:off x="3915461" y="1444752"/>
            <a:ext cx="7029907" cy="509451"/>
          </a:xfrm>
          <a:prstGeom prst="rect">
            <a:avLst/>
          </a:prstGeom>
          <a:noFill/>
          <a:ln/>
        </p:spPr>
        <p:txBody>
          <a:bodyPr wrap="square" lIns="0" tIns="0" rIns="0" bIns="0" rtlCol="0" anchor="ctr">
            <a:normAutofit/>
          </a:bodyPr>
          <a:lstStyle/>
          <a:p>
            <a:pPr marL="0" indent="0">
              <a:buNone/>
            </a:pPr>
            <a:r>
              <a:rPr lang="en-US" sz="1150" b="1" dirty="0">
                <a:solidFill>
                  <a:srgbClr val="FFFFFF"/>
                </a:solidFill>
              </a:rPr>
              <a:t>Uygulama</a:t>
            </a:r>
            <a:endParaRPr lang="en-US" sz="1150" dirty="0"/>
          </a:p>
        </p:txBody>
      </p:sp>
      <p:sp>
        <p:nvSpPr>
          <p:cNvPr id="8" name="Shape 6"/>
          <p:cNvSpPr/>
          <p:nvPr/>
        </p:nvSpPr>
        <p:spPr>
          <a:xfrm>
            <a:off x="1051560" y="1972491"/>
            <a:ext cx="2790749" cy="600891"/>
          </a:xfrm>
          <a:prstGeom prst="rect">
            <a:avLst/>
          </a:prstGeom>
          <a:solidFill>
            <a:srgbClr val="FFFFFF"/>
          </a:solidFill>
          <a:ln w="6350">
            <a:solidFill>
              <a:srgbClr val="DDE3EF"/>
            </a:solidFill>
            <a:prstDash val="solid"/>
          </a:ln>
        </p:spPr>
      </p:sp>
      <p:sp>
        <p:nvSpPr>
          <p:cNvPr id="9" name="Text 7"/>
          <p:cNvSpPr/>
          <p:nvPr/>
        </p:nvSpPr>
        <p:spPr>
          <a:xfrm>
            <a:off x="1124712" y="2045643"/>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Görev</a:t>
            </a:r>
            <a:endParaRPr lang="en-US" sz="1320" dirty="0"/>
          </a:p>
        </p:txBody>
      </p:sp>
      <p:sp>
        <p:nvSpPr>
          <p:cNvPr id="10" name="Shape 8"/>
          <p:cNvSpPr/>
          <p:nvPr/>
        </p:nvSpPr>
        <p:spPr>
          <a:xfrm>
            <a:off x="3842309" y="1972491"/>
            <a:ext cx="7176211" cy="600891"/>
          </a:xfrm>
          <a:prstGeom prst="rect">
            <a:avLst/>
          </a:prstGeom>
          <a:solidFill>
            <a:srgbClr val="FFFFFF"/>
          </a:solidFill>
          <a:ln w="6350">
            <a:solidFill>
              <a:srgbClr val="DDE3EF"/>
            </a:solidFill>
            <a:prstDash val="solid"/>
          </a:ln>
        </p:spPr>
      </p:sp>
      <p:sp>
        <p:nvSpPr>
          <p:cNvPr id="11" name="Text 9"/>
          <p:cNvSpPr/>
          <p:nvPr/>
        </p:nvSpPr>
        <p:spPr>
          <a:xfrm>
            <a:off x="3915461" y="2045643"/>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3 sınıflı finansal sentiment classification</a:t>
            </a:r>
            <a:endParaRPr lang="en-US" sz="1320" dirty="0"/>
          </a:p>
        </p:txBody>
      </p:sp>
      <p:sp>
        <p:nvSpPr>
          <p:cNvPr id="12" name="Shape 10"/>
          <p:cNvSpPr/>
          <p:nvPr/>
        </p:nvSpPr>
        <p:spPr>
          <a:xfrm>
            <a:off x="1051560" y="2573383"/>
            <a:ext cx="2790749" cy="600891"/>
          </a:xfrm>
          <a:prstGeom prst="rect">
            <a:avLst/>
          </a:prstGeom>
          <a:solidFill>
            <a:srgbClr val="F4F6FB"/>
          </a:solidFill>
          <a:ln w="6350">
            <a:solidFill>
              <a:srgbClr val="DDE3EF"/>
            </a:solidFill>
            <a:prstDash val="solid"/>
          </a:ln>
        </p:spPr>
      </p:sp>
      <p:sp>
        <p:nvSpPr>
          <p:cNvPr id="13" name="Text 11"/>
          <p:cNvSpPr/>
          <p:nvPr/>
        </p:nvSpPr>
        <p:spPr>
          <a:xfrm>
            <a:off x="1124712" y="2646535"/>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Etiketler</a:t>
            </a:r>
            <a:endParaRPr lang="en-US" sz="1320" dirty="0"/>
          </a:p>
        </p:txBody>
      </p:sp>
      <p:sp>
        <p:nvSpPr>
          <p:cNvPr id="14" name="Shape 12"/>
          <p:cNvSpPr/>
          <p:nvPr/>
        </p:nvSpPr>
        <p:spPr>
          <a:xfrm>
            <a:off x="3842309" y="2573383"/>
            <a:ext cx="7176211" cy="600891"/>
          </a:xfrm>
          <a:prstGeom prst="rect">
            <a:avLst/>
          </a:prstGeom>
          <a:solidFill>
            <a:srgbClr val="F4F6FB"/>
          </a:solidFill>
          <a:ln w="6350">
            <a:solidFill>
              <a:srgbClr val="DDE3EF"/>
            </a:solidFill>
            <a:prstDash val="solid"/>
          </a:ln>
        </p:spPr>
      </p:sp>
      <p:sp>
        <p:nvSpPr>
          <p:cNvPr id="15" name="Text 13"/>
          <p:cNvSpPr/>
          <p:nvPr/>
        </p:nvSpPr>
        <p:spPr>
          <a:xfrm>
            <a:off x="3915461" y="2646535"/>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Negative / Neutral / Positive</a:t>
            </a:r>
            <a:endParaRPr lang="en-US" sz="1320" dirty="0"/>
          </a:p>
        </p:txBody>
      </p:sp>
      <p:sp>
        <p:nvSpPr>
          <p:cNvPr id="16" name="Shape 14"/>
          <p:cNvSpPr/>
          <p:nvPr/>
        </p:nvSpPr>
        <p:spPr>
          <a:xfrm>
            <a:off x="1051560" y="3174274"/>
            <a:ext cx="2790749" cy="600891"/>
          </a:xfrm>
          <a:prstGeom prst="rect">
            <a:avLst/>
          </a:prstGeom>
          <a:solidFill>
            <a:srgbClr val="FFFFFF"/>
          </a:solidFill>
          <a:ln w="6350">
            <a:solidFill>
              <a:srgbClr val="DDE3EF"/>
            </a:solidFill>
            <a:prstDash val="solid"/>
          </a:ln>
        </p:spPr>
      </p:sp>
      <p:sp>
        <p:nvSpPr>
          <p:cNvPr id="17" name="Text 15"/>
          <p:cNvSpPr/>
          <p:nvPr/>
        </p:nvSpPr>
        <p:spPr>
          <a:xfrm>
            <a:off x="1124712" y="3247426"/>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Ana metrik</a:t>
            </a:r>
            <a:endParaRPr lang="en-US" sz="1320" dirty="0"/>
          </a:p>
        </p:txBody>
      </p:sp>
      <p:sp>
        <p:nvSpPr>
          <p:cNvPr id="18" name="Shape 16"/>
          <p:cNvSpPr/>
          <p:nvPr/>
        </p:nvSpPr>
        <p:spPr>
          <a:xfrm>
            <a:off x="3842309" y="3174274"/>
            <a:ext cx="7176211" cy="600891"/>
          </a:xfrm>
          <a:prstGeom prst="rect">
            <a:avLst/>
          </a:prstGeom>
          <a:solidFill>
            <a:srgbClr val="FFFFFF"/>
          </a:solidFill>
          <a:ln w="6350">
            <a:solidFill>
              <a:srgbClr val="DDE3EF"/>
            </a:solidFill>
            <a:prstDash val="solid"/>
          </a:ln>
        </p:spPr>
      </p:sp>
      <p:sp>
        <p:nvSpPr>
          <p:cNvPr id="19" name="Text 17"/>
          <p:cNvSpPr/>
          <p:nvPr/>
        </p:nvSpPr>
        <p:spPr>
          <a:xfrm>
            <a:off x="3915461" y="3247426"/>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Macro-F1</a:t>
            </a:r>
            <a:endParaRPr lang="en-US" sz="1320" dirty="0"/>
          </a:p>
        </p:txBody>
      </p:sp>
      <p:sp>
        <p:nvSpPr>
          <p:cNvPr id="20" name="Shape 18"/>
          <p:cNvSpPr/>
          <p:nvPr/>
        </p:nvSpPr>
        <p:spPr>
          <a:xfrm>
            <a:off x="1051560" y="3775166"/>
            <a:ext cx="2790749" cy="600891"/>
          </a:xfrm>
          <a:prstGeom prst="rect">
            <a:avLst/>
          </a:prstGeom>
          <a:solidFill>
            <a:srgbClr val="F4F6FB"/>
          </a:solidFill>
          <a:ln w="6350">
            <a:solidFill>
              <a:srgbClr val="DDE3EF"/>
            </a:solidFill>
            <a:prstDash val="solid"/>
          </a:ln>
        </p:spPr>
      </p:sp>
      <p:sp>
        <p:nvSpPr>
          <p:cNvPr id="21" name="Text 19"/>
          <p:cNvSpPr/>
          <p:nvPr/>
        </p:nvSpPr>
        <p:spPr>
          <a:xfrm>
            <a:off x="1124712" y="3848318"/>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Robustluk</a:t>
            </a:r>
            <a:endParaRPr lang="en-US" sz="1320" dirty="0"/>
          </a:p>
        </p:txBody>
      </p:sp>
      <p:sp>
        <p:nvSpPr>
          <p:cNvPr id="22" name="Shape 20"/>
          <p:cNvSpPr/>
          <p:nvPr/>
        </p:nvSpPr>
        <p:spPr>
          <a:xfrm>
            <a:off x="3842309" y="3775166"/>
            <a:ext cx="7176211" cy="600891"/>
          </a:xfrm>
          <a:prstGeom prst="rect">
            <a:avLst/>
          </a:prstGeom>
          <a:solidFill>
            <a:srgbClr val="F4F6FB"/>
          </a:solidFill>
          <a:ln w="6350">
            <a:solidFill>
              <a:srgbClr val="DDE3EF"/>
            </a:solidFill>
            <a:prstDash val="solid"/>
          </a:ln>
        </p:spPr>
      </p:sp>
      <p:sp>
        <p:nvSpPr>
          <p:cNvPr id="23" name="Text 21"/>
          <p:cNvSpPr/>
          <p:nvPr/>
        </p:nvSpPr>
        <p:spPr>
          <a:xfrm>
            <a:off x="3915461" y="3848318"/>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3 random seed: 42, 123, 2024</a:t>
            </a:r>
            <a:endParaRPr lang="en-US" sz="1320" dirty="0"/>
          </a:p>
        </p:txBody>
      </p:sp>
      <p:sp>
        <p:nvSpPr>
          <p:cNvPr id="24" name="Shape 22"/>
          <p:cNvSpPr/>
          <p:nvPr/>
        </p:nvSpPr>
        <p:spPr>
          <a:xfrm>
            <a:off x="1051560" y="4376057"/>
            <a:ext cx="2790749" cy="600891"/>
          </a:xfrm>
          <a:prstGeom prst="rect">
            <a:avLst/>
          </a:prstGeom>
          <a:solidFill>
            <a:srgbClr val="FFFFFF"/>
          </a:solidFill>
          <a:ln w="6350">
            <a:solidFill>
              <a:srgbClr val="DDE3EF"/>
            </a:solidFill>
            <a:prstDash val="solid"/>
          </a:ln>
        </p:spPr>
      </p:sp>
      <p:sp>
        <p:nvSpPr>
          <p:cNvPr id="25" name="Text 23"/>
          <p:cNvSpPr/>
          <p:nvPr/>
        </p:nvSpPr>
        <p:spPr>
          <a:xfrm>
            <a:off x="1124712" y="4449209"/>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İç test</a:t>
            </a:r>
            <a:endParaRPr lang="en-US" sz="1320" dirty="0"/>
          </a:p>
        </p:txBody>
      </p:sp>
      <p:sp>
        <p:nvSpPr>
          <p:cNvPr id="26" name="Shape 24"/>
          <p:cNvSpPr/>
          <p:nvPr/>
        </p:nvSpPr>
        <p:spPr>
          <a:xfrm>
            <a:off x="3842309" y="4376057"/>
            <a:ext cx="7176211" cy="600891"/>
          </a:xfrm>
          <a:prstGeom prst="rect">
            <a:avLst/>
          </a:prstGeom>
          <a:solidFill>
            <a:srgbClr val="FFFFFF"/>
          </a:solidFill>
          <a:ln w="6350">
            <a:solidFill>
              <a:srgbClr val="DDE3EF"/>
            </a:solidFill>
            <a:prstDash val="solid"/>
          </a:ln>
        </p:spPr>
      </p:sp>
      <p:sp>
        <p:nvSpPr>
          <p:cNvPr id="27" name="Text 25"/>
          <p:cNvSpPr/>
          <p:nvPr/>
        </p:nvSpPr>
        <p:spPr>
          <a:xfrm>
            <a:off x="3915461" y="4449209"/>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2.386 örnek; ana veri dağılımındaki performans</a:t>
            </a:r>
            <a:endParaRPr lang="en-US" sz="1320" dirty="0"/>
          </a:p>
        </p:txBody>
      </p:sp>
      <p:sp>
        <p:nvSpPr>
          <p:cNvPr id="28" name="Shape 26"/>
          <p:cNvSpPr/>
          <p:nvPr/>
        </p:nvSpPr>
        <p:spPr>
          <a:xfrm>
            <a:off x="1051560" y="4976949"/>
            <a:ext cx="2790749" cy="600891"/>
          </a:xfrm>
          <a:prstGeom prst="rect">
            <a:avLst/>
          </a:prstGeom>
          <a:solidFill>
            <a:srgbClr val="F4F6FB"/>
          </a:solidFill>
          <a:ln w="6350">
            <a:solidFill>
              <a:srgbClr val="DDE3EF"/>
            </a:solidFill>
            <a:prstDash val="solid"/>
          </a:ln>
        </p:spPr>
      </p:sp>
      <p:sp>
        <p:nvSpPr>
          <p:cNvPr id="29" name="Text 27"/>
          <p:cNvSpPr/>
          <p:nvPr/>
        </p:nvSpPr>
        <p:spPr>
          <a:xfrm>
            <a:off x="1124712" y="5050101"/>
            <a:ext cx="2644445"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Dış test</a:t>
            </a:r>
            <a:endParaRPr lang="en-US" sz="1320" dirty="0"/>
          </a:p>
        </p:txBody>
      </p:sp>
      <p:sp>
        <p:nvSpPr>
          <p:cNvPr id="30" name="Shape 28"/>
          <p:cNvSpPr/>
          <p:nvPr/>
        </p:nvSpPr>
        <p:spPr>
          <a:xfrm>
            <a:off x="3842309" y="4976949"/>
            <a:ext cx="7176211" cy="600891"/>
          </a:xfrm>
          <a:prstGeom prst="rect">
            <a:avLst/>
          </a:prstGeom>
          <a:solidFill>
            <a:srgbClr val="F4F6FB"/>
          </a:solidFill>
          <a:ln w="6350">
            <a:solidFill>
              <a:srgbClr val="DDE3EF"/>
            </a:solidFill>
            <a:prstDash val="solid"/>
          </a:ln>
        </p:spPr>
      </p:sp>
      <p:sp>
        <p:nvSpPr>
          <p:cNvPr id="31" name="Text 29"/>
          <p:cNvSpPr/>
          <p:nvPr/>
        </p:nvSpPr>
        <p:spPr>
          <a:xfrm>
            <a:off x="3915461" y="5050101"/>
            <a:ext cx="7029907" cy="509451"/>
          </a:xfrm>
          <a:prstGeom prst="rect">
            <a:avLst/>
          </a:prstGeom>
          <a:noFill/>
          <a:ln/>
        </p:spPr>
        <p:txBody>
          <a:bodyPr wrap="square" lIns="0" tIns="0" rIns="0" bIns="0" rtlCol="0" anchor="ctr">
            <a:normAutofit/>
          </a:bodyPr>
          <a:lstStyle/>
          <a:p>
            <a:pPr marL="0" indent="0">
              <a:buNone/>
            </a:pPr>
            <a:r>
              <a:rPr lang="en-US" sz="1320" dirty="0">
                <a:solidFill>
                  <a:srgbClr val="1A1E2A"/>
                </a:solidFill>
              </a:rPr>
              <a:t>S&amp;P, Reuters, Synthetic; eğitimde kullanılmayan veri</a:t>
            </a:r>
            <a:endParaRPr lang="en-US" sz="1320" dirty="0"/>
          </a:p>
        </p:txBody>
      </p:sp>
      <p:sp>
        <p:nvSpPr>
          <p:cNvPr id="32" name="Text 3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3" name="Text 3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14</a:t>
            </a:r>
            <a:endParaRPr lang="en-US" sz="850" dirty="0"/>
          </a:p>
        </p:txBody>
      </p:sp>
      <p:sp>
        <p:nvSpPr>
          <p:cNvPr id="34" name="Shape 3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240280"/>
            <a:ext cx="10789920" cy="685800"/>
          </a:xfrm>
          <a:prstGeom prst="rect">
            <a:avLst/>
          </a:prstGeom>
          <a:noFill/>
          <a:ln/>
        </p:spPr>
        <p:txBody>
          <a:bodyPr wrap="square" lIns="0" tIns="0" rIns="0" bIns="0" rtlCol="0" anchor="ctr"/>
          <a:lstStyle/>
          <a:p>
            <a:pPr marL="0" indent="0" algn="ctr">
              <a:buNone/>
            </a:pPr>
            <a:r>
              <a:rPr lang="en-US" sz="3600" b="1" dirty="0">
                <a:solidFill>
                  <a:srgbClr val="FFFFFF"/>
                </a:solidFill>
              </a:rPr>
              <a:t>« DENEYLER ve BULGULAR »</a:t>
            </a:r>
            <a:endParaRPr lang="en-US" sz="3600" dirty="0"/>
          </a:p>
        </p:txBody>
      </p:sp>
      <p:sp>
        <p:nvSpPr>
          <p:cNvPr id="3" name="Text 1"/>
          <p:cNvSpPr/>
          <p:nvPr/>
        </p:nvSpPr>
        <p:spPr>
          <a:xfrm>
            <a:off x="1554480" y="3063240"/>
            <a:ext cx="9144000" cy="502920"/>
          </a:xfrm>
          <a:prstGeom prst="rect">
            <a:avLst/>
          </a:prstGeom>
          <a:noFill/>
          <a:ln/>
        </p:spPr>
        <p:txBody>
          <a:bodyPr wrap="square" lIns="0" tIns="0" rIns="0" bIns="0" rtlCol="0" anchor="ctr">
            <a:normAutofit/>
          </a:bodyPr>
          <a:lstStyle/>
          <a:p>
            <a:pPr marL="0" indent="0" algn="ctr">
              <a:buNone/>
            </a:pPr>
            <a:r>
              <a:rPr lang="en-US" sz="1800" dirty="0">
                <a:solidFill>
                  <a:srgbClr val="DCE6FF"/>
                </a:solidFill>
              </a:rPr>
              <a:t>İç test başarıları, dış genelleme ve ana kırılma noktaları</a:t>
            </a:r>
            <a:endParaRPr lang="en-US" sz="1800" dirty="0"/>
          </a:p>
        </p:txBody>
      </p:sp>
      <p:sp>
        <p:nvSpPr>
          <p:cNvPr id="4" name="Text 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5" name="Text 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15</a:t>
            </a:r>
            <a:endParaRPr lang="en-US" sz="850" dirty="0"/>
          </a:p>
        </p:txBody>
      </p:sp>
      <p:sp>
        <p:nvSpPr>
          <p:cNvPr id="6" name="Shape 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Baseline: Original FinBERT tek başına yeterli mi?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Finansal pretraining var; fakat task-specific sentiment sınırlarını öğrenmemiş olabilir.</a:t>
            </a:r>
            <a:endParaRPr lang="en-US" sz="1450" dirty="0"/>
          </a:p>
        </p:txBody>
      </p:sp>
      <p:sp>
        <p:nvSpPr>
          <p:cNvPr id="4" name="Text 2"/>
          <p:cNvSpPr/>
          <p:nvPr/>
        </p:nvSpPr>
        <p:spPr>
          <a:xfrm>
            <a:off x="914400" y="1417320"/>
            <a:ext cx="3657600" cy="320040"/>
          </a:xfrm>
          <a:prstGeom prst="rect">
            <a:avLst/>
          </a:prstGeom>
          <a:noFill/>
          <a:ln/>
        </p:spPr>
        <p:txBody>
          <a:bodyPr wrap="square" lIns="0" tIns="0" rIns="0" bIns="0" rtlCol="0" anchor="ctr"/>
          <a:lstStyle/>
          <a:p>
            <a:pPr marL="0" indent="0">
              <a:buNone/>
            </a:pPr>
            <a:r>
              <a:rPr lang="en-US" sz="2100" b="1" dirty="0">
                <a:solidFill>
                  <a:srgbClr val="172033"/>
                </a:solidFill>
              </a:rPr>
              <a:t>Original FinBERT</a:t>
            </a:r>
            <a:endParaRPr lang="en-US" sz="2100" dirty="0"/>
          </a:p>
        </p:txBody>
      </p:sp>
      <p:sp>
        <p:nvSpPr>
          <p:cNvPr id="5" name="Text 3"/>
          <p:cNvSpPr/>
          <p:nvPr/>
        </p:nvSpPr>
        <p:spPr>
          <a:xfrm>
            <a:off x="914400" y="1874520"/>
            <a:ext cx="2743200" cy="640080"/>
          </a:xfrm>
          <a:prstGeom prst="rect">
            <a:avLst/>
          </a:prstGeom>
          <a:noFill/>
          <a:ln/>
        </p:spPr>
        <p:txBody>
          <a:bodyPr wrap="square" lIns="0" tIns="0" rIns="0" bIns="0" rtlCol="0" anchor="ctr"/>
          <a:lstStyle/>
          <a:p>
            <a:pPr marL="0" indent="0">
              <a:buNone/>
            </a:pPr>
            <a:r>
              <a:rPr lang="en-US" sz="4200" b="1" dirty="0">
                <a:solidFill>
                  <a:srgbClr val="3867D6"/>
                </a:solidFill>
              </a:rPr>
              <a:t>0.6794</a:t>
            </a:r>
            <a:endParaRPr lang="en-US" sz="4200" dirty="0"/>
          </a:p>
        </p:txBody>
      </p:sp>
      <p:sp>
        <p:nvSpPr>
          <p:cNvPr id="6" name="Text 4"/>
          <p:cNvSpPr/>
          <p:nvPr/>
        </p:nvSpPr>
        <p:spPr>
          <a:xfrm>
            <a:off x="960120" y="2578608"/>
            <a:ext cx="3200400" cy="228600"/>
          </a:xfrm>
          <a:prstGeom prst="rect">
            <a:avLst/>
          </a:prstGeom>
          <a:noFill/>
          <a:ln/>
        </p:spPr>
        <p:txBody>
          <a:bodyPr wrap="square" lIns="0" tIns="0" rIns="0" bIns="0" rtlCol="0" anchor="ctr"/>
          <a:lstStyle/>
          <a:p>
            <a:pPr marL="0" indent="0">
              <a:buNone/>
            </a:pPr>
            <a:r>
              <a:rPr lang="en-US" sz="1500" dirty="0">
                <a:solidFill>
                  <a:srgbClr val="5E6A7D"/>
                </a:solidFill>
              </a:rPr>
              <a:t>Internal Macro-F1</a:t>
            </a:r>
            <a:endParaRPr lang="en-US" sz="1500" dirty="0"/>
          </a:p>
        </p:txBody>
      </p:sp>
      <p:sp>
        <p:nvSpPr>
          <p:cNvPr id="7" name="Text 5"/>
          <p:cNvSpPr/>
          <p:nvPr/>
        </p:nvSpPr>
        <p:spPr>
          <a:xfrm>
            <a:off x="4754880" y="1417320"/>
            <a:ext cx="6217920" cy="2057400"/>
          </a:xfrm>
          <a:prstGeom prst="rect">
            <a:avLst/>
          </a:prstGeom>
          <a:noFill/>
          <a:ln/>
        </p:spPr>
        <p:txBody>
          <a:bodyPr wrap="square" lIns="635" tIns="635" rIns="635" bIns="635" rtlCol="0" anchor="ctr">
            <a:normAutofit/>
          </a:bodyPr>
          <a:lstStyle/>
          <a:p>
            <a:r>
              <a:rPr lang="en-US" sz="1700" dirty="0">
                <a:solidFill>
                  <a:srgbClr val="1A1E2A"/>
                </a:solidFill>
              </a:rPr>
              <a:t>FinBERT finans diline adapte edilmiş bir modeldir.</a:t>
            </a:r>
            <a:endParaRPr lang="en-US" sz="1700" dirty="0"/>
          </a:p>
          <a:p>
            <a:r>
              <a:rPr lang="en-US" sz="1700" dirty="0">
                <a:solidFill>
                  <a:srgbClr val="1A1E2A"/>
                </a:solidFill>
              </a:rPr>
              <a:t>Ancak bizim üç sınıflı görevimize fine-tune edilmediğinde performans sınırlı kaldı.</a:t>
            </a:r>
            <a:endParaRPr lang="en-US" sz="1700" dirty="0"/>
          </a:p>
          <a:p>
            <a:r>
              <a:rPr lang="en-US" sz="1700" dirty="0">
                <a:solidFill>
                  <a:srgbClr val="1A1E2A"/>
                </a:solidFill>
              </a:rPr>
              <a:t>Bu sonuç, “finans alanına özel model olmak tek başına yeterli değildir” yorumunu doğurdu.</a:t>
            </a:r>
            <a:endParaRPr lang="en-US" sz="1700" dirty="0"/>
          </a:p>
        </p:txBody>
      </p:sp>
      <p:sp>
        <p:nvSpPr>
          <p:cNvPr id="8" name="Shape 6"/>
          <p:cNvSpPr/>
          <p:nvPr/>
        </p:nvSpPr>
        <p:spPr>
          <a:xfrm>
            <a:off x="914400" y="4160520"/>
            <a:ext cx="10058400" cy="731520"/>
          </a:xfrm>
          <a:prstGeom prst="roundRect">
            <a:avLst>
              <a:gd name="adj" fmla="val 10000"/>
            </a:avLst>
          </a:prstGeom>
          <a:solidFill>
            <a:srgbClr val="F0FAF8"/>
          </a:solidFill>
          <a:ln w="15240">
            <a:solidFill>
              <a:srgbClr val="0F9D8F"/>
            </a:solidFill>
            <a:prstDash val="solid"/>
          </a:ln>
        </p:spPr>
      </p:sp>
      <p:sp>
        <p:nvSpPr>
          <p:cNvPr id="9" name="Text 7"/>
          <p:cNvSpPr/>
          <p:nvPr/>
        </p:nvSpPr>
        <p:spPr>
          <a:xfrm>
            <a:off x="1078992" y="4306824"/>
            <a:ext cx="9729216" cy="50292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İlk ders: Domain-specific pretraining önemli ama göreve özel fine-tuning ayrı bir gereksinim.</a:t>
            </a:r>
            <a:endParaRPr lang="en-US" sz="1500" dirty="0"/>
          </a:p>
        </p:txBody>
      </p:sp>
      <p:sp>
        <p:nvSpPr>
          <p:cNvPr id="10" name="Text 8"/>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1" name="Text 9"/>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16</a:t>
            </a:r>
            <a:endParaRPr lang="en-US" sz="850" dirty="0"/>
          </a:p>
        </p:txBody>
      </p:sp>
      <p:sp>
        <p:nvSpPr>
          <p:cNvPr id="12" name="Shape 10"/>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İç test: fine-tuning büyük fark yarattı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FinBERT ciddi iyileşti; ancak RoBERTa en yüksek Macro-F1 aldı.</a:t>
            </a:r>
            <a:endParaRPr lang="en-US" sz="1450" dirty="0"/>
          </a:p>
        </p:txBody>
      </p:sp>
      <p:sp>
        <p:nvSpPr>
          <p:cNvPr id="4" name="Text 2"/>
          <p:cNvSpPr/>
          <p:nvPr/>
        </p:nvSpPr>
        <p:spPr>
          <a:xfrm>
            <a:off x="868680" y="1481328"/>
            <a:ext cx="2286000" cy="502920"/>
          </a:xfrm>
          <a:prstGeom prst="rect">
            <a:avLst/>
          </a:prstGeom>
          <a:noFill/>
          <a:ln/>
        </p:spPr>
        <p:txBody>
          <a:bodyPr wrap="square" lIns="0" tIns="0" rIns="0" bIns="0" rtlCol="0" anchor="ctr">
            <a:normAutofit/>
          </a:bodyPr>
          <a:lstStyle/>
          <a:p>
            <a:pPr marL="0" indent="0">
              <a:buNone/>
            </a:pPr>
            <a:r>
              <a:rPr lang="en-US" sz="1350" dirty="0">
                <a:solidFill>
                  <a:srgbClr val="1A1E2A"/>
                </a:solidFill>
              </a:rPr>
              <a:t>RoBERTa</a:t>
            </a:r>
            <a:endParaRPr lang="en-US" sz="1350" dirty="0"/>
          </a:p>
        </p:txBody>
      </p:sp>
      <p:sp>
        <p:nvSpPr>
          <p:cNvPr id="5" name="Shape 3"/>
          <p:cNvSpPr/>
          <p:nvPr/>
        </p:nvSpPr>
        <p:spPr>
          <a:xfrm>
            <a:off x="3154680" y="1527048"/>
            <a:ext cx="2606040" cy="256032"/>
          </a:xfrm>
          <a:prstGeom prst="rect">
            <a:avLst/>
          </a:prstGeom>
          <a:solidFill>
            <a:srgbClr val="E8ECF5"/>
          </a:solidFill>
          <a:ln w="12700">
            <a:solidFill>
              <a:srgbClr val="E8ECF5"/>
            </a:solidFill>
            <a:prstDash val="solid"/>
          </a:ln>
        </p:spPr>
      </p:sp>
      <p:sp>
        <p:nvSpPr>
          <p:cNvPr id="6" name="Shape 4"/>
          <p:cNvSpPr/>
          <p:nvPr/>
        </p:nvSpPr>
        <p:spPr>
          <a:xfrm>
            <a:off x="3154680" y="1527048"/>
            <a:ext cx="2504984" cy="256032"/>
          </a:xfrm>
          <a:prstGeom prst="rect">
            <a:avLst/>
          </a:prstGeom>
          <a:solidFill>
            <a:srgbClr val="0F9D8F"/>
          </a:solidFill>
          <a:ln w="12700">
            <a:solidFill>
              <a:srgbClr val="0F9D8F"/>
            </a:solidFill>
            <a:prstDash val="solid"/>
          </a:ln>
        </p:spPr>
      </p:sp>
      <p:sp>
        <p:nvSpPr>
          <p:cNvPr id="7" name="Text 5"/>
          <p:cNvSpPr/>
          <p:nvPr/>
        </p:nvSpPr>
        <p:spPr>
          <a:xfrm>
            <a:off x="5897880" y="1481328"/>
            <a:ext cx="640080" cy="502920"/>
          </a:xfrm>
          <a:prstGeom prst="rect">
            <a:avLst/>
          </a:prstGeom>
          <a:noFill/>
          <a:ln/>
        </p:spPr>
        <p:txBody>
          <a:bodyPr wrap="square" lIns="0" tIns="0" rIns="0" bIns="0" rtlCol="0" anchor="ctr"/>
          <a:lstStyle/>
          <a:p>
            <a:pPr marL="0" indent="0" algn="r">
              <a:buNone/>
            </a:pPr>
            <a:r>
              <a:rPr lang="en-US" sz="1350" b="1" dirty="0">
                <a:solidFill>
                  <a:srgbClr val="1A1E2A"/>
                </a:solidFill>
              </a:rPr>
              <a:t>0.8651</a:t>
            </a:r>
            <a:endParaRPr lang="en-US" sz="1350" dirty="0"/>
          </a:p>
        </p:txBody>
      </p:sp>
      <p:sp>
        <p:nvSpPr>
          <p:cNvPr id="8" name="Text 6"/>
          <p:cNvSpPr/>
          <p:nvPr/>
        </p:nvSpPr>
        <p:spPr>
          <a:xfrm>
            <a:off x="868680" y="2029968"/>
            <a:ext cx="2286000" cy="502920"/>
          </a:xfrm>
          <a:prstGeom prst="rect">
            <a:avLst/>
          </a:prstGeom>
          <a:noFill/>
          <a:ln/>
        </p:spPr>
        <p:txBody>
          <a:bodyPr wrap="square" lIns="0" tIns="0" rIns="0" bIns="0" rtlCol="0" anchor="ctr">
            <a:normAutofit/>
          </a:bodyPr>
          <a:lstStyle/>
          <a:p>
            <a:pPr marL="0" indent="0">
              <a:buNone/>
            </a:pPr>
            <a:r>
              <a:rPr lang="en-US" sz="1350" dirty="0">
                <a:solidFill>
                  <a:srgbClr val="1A1E2A"/>
                </a:solidFill>
              </a:rPr>
              <a:t>Fine-tuned FinBERT</a:t>
            </a:r>
            <a:endParaRPr lang="en-US" sz="1350" dirty="0"/>
          </a:p>
        </p:txBody>
      </p:sp>
      <p:sp>
        <p:nvSpPr>
          <p:cNvPr id="9" name="Shape 7"/>
          <p:cNvSpPr/>
          <p:nvPr/>
        </p:nvSpPr>
        <p:spPr>
          <a:xfrm>
            <a:off x="3154680" y="2075688"/>
            <a:ext cx="2606040" cy="256032"/>
          </a:xfrm>
          <a:prstGeom prst="rect">
            <a:avLst/>
          </a:prstGeom>
          <a:solidFill>
            <a:srgbClr val="E8ECF5"/>
          </a:solidFill>
          <a:ln w="12700">
            <a:solidFill>
              <a:srgbClr val="E8ECF5"/>
            </a:solidFill>
            <a:prstDash val="solid"/>
          </a:ln>
        </p:spPr>
      </p:sp>
      <p:sp>
        <p:nvSpPr>
          <p:cNvPr id="10" name="Shape 8"/>
          <p:cNvSpPr/>
          <p:nvPr/>
        </p:nvSpPr>
        <p:spPr>
          <a:xfrm>
            <a:off x="3154680" y="2075688"/>
            <a:ext cx="2464735" cy="256032"/>
          </a:xfrm>
          <a:prstGeom prst="rect">
            <a:avLst/>
          </a:prstGeom>
          <a:solidFill>
            <a:srgbClr val="3867D6"/>
          </a:solidFill>
          <a:ln w="12700">
            <a:solidFill>
              <a:srgbClr val="3867D6"/>
            </a:solidFill>
            <a:prstDash val="solid"/>
          </a:ln>
        </p:spPr>
      </p:sp>
      <p:sp>
        <p:nvSpPr>
          <p:cNvPr id="11" name="Text 9"/>
          <p:cNvSpPr/>
          <p:nvPr/>
        </p:nvSpPr>
        <p:spPr>
          <a:xfrm>
            <a:off x="5897880" y="2029968"/>
            <a:ext cx="640080" cy="502920"/>
          </a:xfrm>
          <a:prstGeom prst="rect">
            <a:avLst/>
          </a:prstGeom>
          <a:noFill/>
          <a:ln/>
        </p:spPr>
        <p:txBody>
          <a:bodyPr wrap="square" lIns="0" tIns="0" rIns="0" bIns="0" rtlCol="0" anchor="ctr"/>
          <a:lstStyle/>
          <a:p>
            <a:pPr marL="0" indent="0" algn="r">
              <a:buNone/>
            </a:pPr>
            <a:r>
              <a:rPr lang="en-US" sz="1350" b="1" dirty="0">
                <a:solidFill>
                  <a:srgbClr val="1A1E2A"/>
                </a:solidFill>
              </a:rPr>
              <a:t>0.8512</a:t>
            </a:r>
            <a:endParaRPr lang="en-US" sz="1350" dirty="0"/>
          </a:p>
        </p:txBody>
      </p:sp>
      <p:sp>
        <p:nvSpPr>
          <p:cNvPr id="12" name="Text 10"/>
          <p:cNvSpPr/>
          <p:nvPr/>
        </p:nvSpPr>
        <p:spPr>
          <a:xfrm>
            <a:off x="868680" y="2578608"/>
            <a:ext cx="2286000" cy="502920"/>
          </a:xfrm>
          <a:prstGeom prst="rect">
            <a:avLst/>
          </a:prstGeom>
          <a:noFill/>
          <a:ln/>
        </p:spPr>
        <p:txBody>
          <a:bodyPr wrap="square" lIns="0" tIns="0" rIns="0" bIns="0" rtlCol="0" anchor="ctr">
            <a:normAutofit/>
          </a:bodyPr>
          <a:lstStyle/>
          <a:p>
            <a:pPr marL="0" indent="0">
              <a:buNone/>
            </a:pPr>
            <a:r>
              <a:rPr lang="en-US" sz="1350" dirty="0">
                <a:solidFill>
                  <a:srgbClr val="1A1E2A"/>
                </a:solidFill>
              </a:rPr>
              <a:t>BERT</a:t>
            </a:r>
            <a:endParaRPr lang="en-US" sz="1350" dirty="0"/>
          </a:p>
        </p:txBody>
      </p:sp>
      <p:sp>
        <p:nvSpPr>
          <p:cNvPr id="13" name="Shape 11"/>
          <p:cNvSpPr/>
          <p:nvPr/>
        </p:nvSpPr>
        <p:spPr>
          <a:xfrm>
            <a:off x="3154680" y="2624328"/>
            <a:ext cx="2606040" cy="256032"/>
          </a:xfrm>
          <a:prstGeom prst="rect">
            <a:avLst/>
          </a:prstGeom>
          <a:solidFill>
            <a:srgbClr val="E8ECF5"/>
          </a:solidFill>
          <a:ln w="12700">
            <a:solidFill>
              <a:srgbClr val="E8ECF5"/>
            </a:solidFill>
            <a:prstDash val="solid"/>
          </a:ln>
        </p:spPr>
      </p:sp>
      <p:sp>
        <p:nvSpPr>
          <p:cNvPr id="14" name="Shape 12"/>
          <p:cNvSpPr/>
          <p:nvPr/>
        </p:nvSpPr>
        <p:spPr>
          <a:xfrm>
            <a:off x="3154680" y="2624328"/>
            <a:ext cx="2425934" cy="256032"/>
          </a:xfrm>
          <a:prstGeom prst="rect">
            <a:avLst/>
          </a:prstGeom>
          <a:solidFill>
            <a:srgbClr val="F4A62A"/>
          </a:solidFill>
          <a:ln w="12700">
            <a:solidFill>
              <a:srgbClr val="F4A62A"/>
            </a:solidFill>
            <a:prstDash val="solid"/>
          </a:ln>
        </p:spPr>
      </p:sp>
      <p:sp>
        <p:nvSpPr>
          <p:cNvPr id="15" name="Text 13"/>
          <p:cNvSpPr/>
          <p:nvPr/>
        </p:nvSpPr>
        <p:spPr>
          <a:xfrm>
            <a:off x="5897880" y="2578608"/>
            <a:ext cx="640080" cy="502920"/>
          </a:xfrm>
          <a:prstGeom prst="rect">
            <a:avLst/>
          </a:prstGeom>
          <a:noFill/>
          <a:ln/>
        </p:spPr>
        <p:txBody>
          <a:bodyPr wrap="square" lIns="0" tIns="0" rIns="0" bIns="0" rtlCol="0" anchor="ctr"/>
          <a:lstStyle/>
          <a:p>
            <a:pPr marL="0" indent="0" algn="r">
              <a:buNone/>
            </a:pPr>
            <a:r>
              <a:rPr lang="en-US" sz="1350" dirty="0">
                <a:solidFill>
                  <a:srgbClr val="1A1E2A"/>
                </a:solidFill>
              </a:rPr>
              <a:t>0.8378</a:t>
            </a:r>
            <a:endParaRPr lang="en-US" sz="1350" dirty="0"/>
          </a:p>
        </p:txBody>
      </p:sp>
      <p:sp>
        <p:nvSpPr>
          <p:cNvPr id="16" name="Text 14"/>
          <p:cNvSpPr/>
          <p:nvPr/>
        </p:nvSpPr>
        <p:spPr>
          <a:xfrm>
            <a:off x="868680" y="3127248"/>
            <a:ext cx="2286000" cy="502920"/>
          </a:xfrm>
          <a:prstGeom prst="rect">
            <a:avLst/>
          </a:prstGeom>
          <a:noFill/>
          <a:ln/>
        </p:spPr>
        <p:txBody>
          <a:bodyPr wrap="square" lIns="0" tIns="0" rIns="0" bIns="0" rtlCol="0" anchor="ctr">
            <a:normAutofit/>
          </a:bodyPr>
          <a:lstStyle/>
          <a:p>
            <a:pPr marL="0" indent="0">
              <a:buNone/>
            </a:pPr>
            <a:r>
              <a:rPr lang="en-US" sz="1350" dirty="0">
                <a:solidFill>
                  <a:srgbClr val="1A1E2A"/>
                </a:solidFill>
              </a:rPr>
              <a:t>DistilBERT</a:t>
            </a:r>
            <a:endParaRPr lang="en-US" sz="1350" dirty="0"/>
          </a:p>
        </p:txBody>
      </p:sp>
      <p:sp>
        <p:nvSpPr>
          <p:cNvPr id="17" name="Shape 15"/>
          <p:cNvSpPr/>
          <p:nvPr/>
        </p:nvSpPr>
        <p:spPr>
          <a:xfrm>
            <a:off x="3154680" y="3172968"/>
            <a:ext cx="2606040" cy="256032"/>
          </a:xfrm>
          <a:prstGeom prst="rect">
            <a:avLst/>
          </a:prstGeom>
          <a:solidFill>
            <a:srgbClr val="E8ECF5"/>
          </a:solidFill>
          <a:ln w="12700">
            <a:solidFill>
              <a:srgbClr val="E8ECF5"/>
            </a:solidFill>
            <a:prstDash val="solid"/>
          </a:ln>
        </p:spPr>
      </p:sp>
      <p:sp>
        <p:nvSpPr>
          <p:cNvPr id="18" name="Shape 16"/>
          <p:cNvSpPr/>
          <p:nvPr/>
        </p:nvSpPr>
        <p:spPr>
          <a:xfrm>
            <a:off x="3154680" y="3172968"/>
            <a:ext cx="2379604" cy="256032"/>
          </a:xfrm>
          <a:prstGeom prst="rect">
            <a:avLst/>
          </a:prstGeom>
          <a:solidFill>
            <a:srgbClr val="1C8B5A"/>
          </a:solidFill>
          <a:ln w="12700">
            <a:solidFill>
              <a:srgbClr val="1C8B5A"/>
            </a:solidFill>
            <a:prstDash val="solid"/>
          </a:ln>
        </p:spPr>
      </p:sp>
      <p:sp>
        <p:nvSpPr>
          <p:cNvPr id="19" name="Text 17"/>
          <p:cNvSpPr/>
          <p:nvPr/>
        </p:nvSpPr>
        <p:spPr>
          <a:xfrm>
            <a:off x="5897880" y="3127248"/>
            <a:ext cx="640080" cy="502920"/>
          </a:xfrm>
          <a:prstGeom prst="rect">
            <a:avLst/>
          </a:prstGeom>
          <a:noFill/>
          <a:ln/>
        </p:spPr>
        <p:txBody>
          <a:bodyPr wrap="square" lIns="0" tIns="0" rIns="0" bIns="0" rtlCol="0" anchor="ctr"/>
          <a:lstStyle/>
          <a:p>
            <a:pPr marL="0" indent="0" algn="r">
              <a:buNone/>
            </a:pPr>
            <a:r>
              <a:rPr lang="en-US" sz="1350" dirty="0">
                <a:solidFill>
                  <a:srgbClr val="1A1E2A"/>
                </a:solidFill>
              </a:rPr>
              <a:t>0.8218</a:t>
            </a:r>
            <a:endParaRPr lang="en-US" sz="1350" dirty="0"/>
          </a:p>
        </p:txBody>
      </p:sp>
      <p:sp>
        <p:nvSpPr>
          <p:cNvPr id="20" name="Text 18"/>
          <p:cNvSpPr/>
          <p:nvPr/>
        </p:nvSpPr>
        <p:spPr>
          <a:xfrm>
            <a:off x="868680" y="3675888"/>
            <a:ext cx="2286000" cy="502920"/>
          </a:xfrm>
          <a:prstGeom prst="rect">
            <a:avLst/>
          </a:prstGeom>
          <a:noFill/>
          <a:ln/>
        </p:spPr>
        <p:txBody>
          <a:bodyPr wrap="square" lIns="0" tIns="0" rIns="0" bIns="0" rtlCol="0" anchor="ctr">
            <a:normAutofit/>
          </a:bodyPr>
          <a:lstStyle/>
          <a:p>
            <a:pPr marL="0" indent="0">
              <a:buNone/>
            </a:pPr>
            <a:r>
              <a:rPr lang="en-US" sz="1350" dirty="0">
                <a:solidFill>
                  <a:srgbClr val="1A1E2A"/>
                </a:solidFill>
              </a:rPr>
              <a:t>Original FinBERT</a:t>
            </a:r>
            <a:endParaRPr lang="en-US" sz="1350" dirty="0"/>
          </a:p>
        </p:txBody>
      </p:sp>
      <p:sp>
        <p:nvSpPr>
          <p:cNvPr id="21" name="Shape 19"/>
          <p:cNvSpPr/>
          <p:nvPr/>
        </p:nvSpPr>
        <p:spPr>
          <a:xfrm>
            <a:off x="3154680" y="3721608"/>
            <a:ext cx="2606040" cy="256032"/>
          </a:xfrm>
          <a:prstGeom prst="rect">
            <a:avLst/>
          </a:prstGeom>
          <a:solidFill>
            <a:srgbClr val="E8ECF5"/>
          </a:solidFill>
          <a:ln w="12700">
            <a:solidFill>
              <a:srgbClr val="E8ECF5"/>
            </a:solidFill>
            <a:prstDash val="solid"/>
          </a:ln>
        </p:spPr>
      </p:sp>
      <p:sp>
        <p:nvSpPr>
          <p:cNvPr id="22" name="Shape 20"/>
          <p:cNvSpPr/>
          <p:nvPr/>
        </p:nvSpPr>
        <p:spPr>
          <a:xfrm>
            <a:off x="3154680" y="3721608"/>
            <a:ext cx="1967271" cy="256032"/>
          </a:xfrm>
          <a:prstGeom prst="rect">
            <a:avLst/>
          </a:prstGeom>
          <a:solidFill>
            <a:srgbClr val="5E6A7D"/>
          </a:solidFill>
          <a:ln w="12700">
            <a:solidFill>
              <a:srgbClr val="5E6A7D"/>
            </a:solidFill>
            <a:prstDash val="solid"/>
          </a:ln>
        </p:spPr>
      </p:sp>
      <p:sp>
        <p:nvSpPr>
          <p:cNvPr id="23" name="Text 21"/>
          <p:cNvSpPr/>
          <p:nvPr/>
        </p:nvSpPr>
        <p:spPr>
          <a:xfrm>
            <a:off x="5897880" y="3675888"/>
            <a:ext cx="640080" cy="502920"/>
          </a:xfrm>
          <a:prstGeom prst="rect">
            <a:avLst/>
          </a:prstGeom>
          <a:noFill/>
          <a:ln/>
        </p:spPr>
        <p:txBody>
          <a:bodyPr wrap="square" lIns="0" tIns="0" rIns="0" bIns="0" rtlCol="0" anchor="ctr"/>
          <a:lstStyle/>
          <a:p>
            <a:pPr marL="0" indent="0" algn="r">
              <a:buNone/>
            </a:pPr>
            <a:r>
              <a:rPr lang="en-US" sz="1350" dirty="0">
                <a:solidFill>
                  <a:srgbClr val="1A1E2A"/>
                </a:solidFill>
              </a:rPr>
              <a:t>0.6794</a:t>
            </a:r>
            <a:endParaRPr lang="en-US" sz="1350" dirty="0"/>
          </a:p>
        </p:txBody>
      </p:sp>
      <p:sp>
        <p:nvSpPr>
          <p:cNvPr id="24" name="Text 22"/>
          <p:cNvSpPr/>
          <p:nvPr/>
        </p:nvSpPr>
        <p:spPr>
          <a:xfrm>
            <a:off x="7315200" y="1417320"/>
            <a:ext cx="2743200" cy="274320"/>
          </a:xfrm>
          <a:prstGeom prst="rect">
            <a:avLst/>
          </a:prstGeom>
          <a:noFill/>
          <a:ln/>
        </p:spPr>
        <p:txBody>
          <a:bodyPr wrap="square" lIns="0" tIns="0" rIns="0" bIns="0" rtlCol="0" anchor="ctr"/>
          <a:lstStyle/>
          <a:p>
            <a:pPr marL="0" indent="0">
              <a:buNone/>
            </a:pPr>
            <a:r>
              <a:rPr lang="en-US" sz="1800" b="1" dirty="0">
                <a:solidFill>
                  <a:srgbClr val="172033"/>
                </a:solidFill>
              </a:rPr>
              <a:t>Ana yorum</a:t>
            </a:r>
            <a:endParaRPr lang="en-US" sz="1800" dirty="0"/>
          </a:p>
        </p:txBody>
      </p:sp>
      <p:sp>
        <p:nvSpPr>
          <p:cNvPr id="25" name="Text 23"/>
          <p:cNvSpPr/>
          <p:nvPr/>
        </p:nvSpPr>
        <p:spPr>
          <a:xfrm>
            <a:off x="7315200" y="1874520"/>
            <a:ext cx="4114800" cy="1874520"/>
          </a:xfrm>
          <a:prstGeom prst="rect">
            <a:avLst/>
          </a:prstGeom>
          <a:noFill/>
          <a:ln/>
        </p:spPr>
        <p:txBody>
          <a:bodyPr wrap="square" lIns="635" tIns="635" rIns="635" bIns="635" rtlCol="0" anchor="ctr">
            <a:normAutofit/>
          </a:bodyPr>
          <a:lstStyle/>
          <a:p>
            <a:r>
              <a:rPr lang="en-US" sz="1620" dirty="0">
                <a:solidFill>
                  <a:srgbClr val="1A1E2A"/>
                </a:solidFill>
              </a:rPr>
              <a:t>FinBERT: 0.6794 → 0.8512</a:t>
            </a:r>
            <a:endParaRPr lang="en-US" sz="1620" dirty="0"/>
          </a:p>
          <a:p>
            <a:r>
              <a:rPr lang="en-US" sz="1620" dirty="0">
                <a:solidFill>
                  <a:srgbClr val="1A1E2A"/>
                </a:solidFill>
              </a:rPr>
              <a:t>Task-specific fine-tuning çok güçlü etki yaptı.</a:t>
            </a:r>
            <a:endParaRPr lang="en-US" sz="1620" dirty="0"/>
          </a:p>
          <a:p>
            <a:r>
              <a:rPr lang="en-US" sz="1620" dirty="0">
                <a:solidFill>
                  <a:srgbClr val="1A1E2A"/>
                </a:solidFill>
              </a:rPr>
              <a:t>RoBERTa, finans-özgü olmayan bir model olmasına rağmen iç testte birinci oldu.</a:t>
            </a:r>
            <a:endParaRPr lang="en-US" sz="1620" dirty="0"/>
          </a:p>
        </p:txBody>
      </p:sp>
      <p:sp>
        <p:nvSpPr>
          <p:cNvPr id="26" name="Shape 24"/>
          <p:cNvSpPr/>
          <p:nvPr/>
        </p:nvSpPr>
        <p:spPr>
          <a:xfrm>
            <a:off x="960120" y="4709160"/>
            <a:ext cx="10241280" cy="685800"/>
          </a:xfrm>
          <a:prstGeom prst="roundRect">
            <a:avLst>
              <a:gd name="adj" fmla="val 10667"/>
            </a:avLst>
          </a:prstGeom>
          <a:solidFill>
            <a:srgbClr val="F0FAF8"/>
          </a:solidFill>
          <a:ln w="15240">
            <a:solidFill>
              <a:srgbClr val="F4A62A"/>
            </a:solidFill>
            <a:prstDash val="solid"/>
          </a:ln>
        </p:spPr>
      </p:sp>
      <p:sp>
        <p:nvSpPr>
          <p:cNvPr id="27" name="Text 25"/>
          <p:cNvSpPr/>
          <p:nvPr/>
        </p:nvSpPr>
        <p:spPr>
          <a:xfrm>
            <a:off x="1124712" y="4855464"/>
            <a:ext cx="991209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İç test sonucu: “Finans problemi = FinBERT kesin kazanır” varsayımı desteklenmedi.</a:t>
            </a:r>
            <a:endParaRPr lang="en-US" sz="1500" dirty="0"/>
          </a:p>
        </p:txBody>
      </p:sp>
      <p:sp>
        <p:nvSpPr>
          <p:cNvPr id="28" name="Text 26"/>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9" name="Text 27"/>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17</a:t>
            </a:r>
            <a:endParaRPr lang="en-US" sz="850" dirty="0"/>
          </a:p>
        </p:txBody>
      </p:sp>
      <p:sp>
        <p:nvSpPr>
          <p:cNvPr id="30" name="Shape 28"/>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Üç seed sonucu: RoBERTa üstünlüğü korundu</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Tek koşuya bağlı olmayan daha güvenilir karşılaştırma.</a:t>
            </a:r>
            <a:endParaRPr lang="en-US" sz="1450" dirty="0"/>
          </a:p>
        </p:txBody>
      </p:sp>
      <p:sp>
        <p:nvSpPr>
          <p:cNvPr id="4" name="Text 2"/>
          <p:cNvSpPr/>
          <p:nvPr/>
        </p:nvSpPr>
        <p:spPr>
          <a:xfrm>
            <a:off x="868680" y="1481328"/>
            <a:ext cx="2286000" cy="560070"/>
          </a:xfrm>
          <a:prstGeom prst="rect">
            <a:avLst/>
          </a:prstGeom>
          <a:noFill/>
          <a:ln/>
        </p:spPr>
        <p:txBody>
          <a:bodyPr wrap="square" lIns="0" tIns="0" rIns="0" bIns="0" rtlCol="0" anchor="ctr">
            <a:normAutofit/>
          </a:bodyPr>
          <a:lstStyle/>
          <a:p>
            <a:pPr marL="0" indent="0">
              <a:buNone/>
            </a:pPr>
            <a:r>
              <a:rPr lang="en-US" sz="1350" dirty="0">
                <a:solidFill>
                  <a:srgbClr val="1A1E2A"/>
                </a:solidFill>
              </a:rPr>
              <a:t>RoBERTa</a:t>
            </a:r>
            <a:endParaRPr lang="en-US" sz="1350" dirty="0"/>
          </a:p>
        </p:txBody>
      </p:sp>
      <p:sp>
        <p:nvSpPr>
          <p:cNvPr id="5" name="Shape 3"/>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p:cNvSpPr/>
          <p:nvPr/>
        </p:nvSpPr>
        <p:spPr>
          <a:xfrm>
            <a:off x="3154680" y="1527048"/>
            <a:ext cx="2704633" cy="256032"/>
          </a:xfrm>
          <a:prstGeom prst="rect">
            <a:avLst/>
          </a:prstGeom>
          <a:solidFill>
            <a:srgbClr val="0F9D8F"/>
          </a:solidFill>
          <a:ln w="12700">
            <a:solidFill>
              <a:srgbClr val="0F9D8F"/>
            </a:solidFill>
            <a:prstDash val="solid"/>
          </a:ln>
        </p:spPr>
      </p:sp>
      <p:sp>
        <p:nvSpPr>
          <p:cNvPr id="7" name="Text 5"/>
          <p:cNvSpPr/>
          <p:nvPr/>
        </p:nvSpPr>
        <p:spPr>
          <a:xfrm>
            <a:off x="6080760" y="1481328"/>
            <a:ext cx="640080" cy="560070"/>
          </a:xfrm>
          <a:prstGeom prst="rect">
            <a:avLst/>
          </a:prstGeom>
          <a:noFill/>
          <a:ln/>
        </p:spPr>
        <p:txBody>
          <a:bodyPr wrap="square" lIns="0" tIns="0" rIns="0" bIns="0" rtlCol="0" anchor="ctr"/>
          <a:lstStyle/>
          <a:p>
            <a:pPr marL="0" indent="0" algn="r">
              <a:buNone/>
            </a:pPr>
            <a:r>
              <a:rPr lang="en-US" sz="1350" b="1" dirty="0">
                <a:solidFill>
                  <a:srgbClr val="1A1E2A"/>
                </a:solidFill>
              </a:rPr>
              <a:t>0.8728</a:t>
            </a:r>
            <a:endParaRPr lang="en-US" sz="1350" dirty="0"/>
          </a:p>
        </p:txBody>
      </p:sp>
      <p:sp>
        <p:nvSpPr>
          <p:cNvPr id="8" name="Text 6"/>
          <p:cNvSpPr/>
          <p:nvPr/>
        </p:nvSpPr>
        <p:spPr>
          <a:xfrm>
            <a:off x="868680" y="2087118"/>
            <a:ext cx="2286000" cy="560070"/>
          </a:xfrm>
          <a:prstGeom prst="rect">
            <a:avLst/>
          </a:prstGeom>
          <a:noFill/>
          <a:ln/>
        </p:spPr>
        <p:txBody>
          <a:bodyPr wrap="square" lIns="0" tIns="0" rIns="0" bIns="0" rtlCol="0" anchor="ctr">
            <a:normAutofit/>
          </a:bodyPr>
          <a:lstStyle/>
          <a:p>
            <a:pPr marL="0" indent="0">
              <a:buNone/>
            </a:pPr>
            <a:r>
              <a:rPr lang="en-US" sz="1350" dirty="0">
                <a:solidFill>
                  <a:srgbClr val="1A1E2A"/>
                </a:solidFill>
              </a:rPr>
              <a:t>Fine-tuned FinBERT</a:t>
            </a:r>
            <a:endParaRPr lang="en-US" sz="1350" dirty="0"/>
          </a:p>
        </p:txBody>
      </p:sp>
      <p:sp>
        <p:nvSpPr>
          <p:cNvPr id="9" name="Shape 7"/>
          <p:cNvSpPr/>
          <p:nvPr/>
        </p:nvSpPr>
        <p:spPr>
          <a:xfrm>
            <a:off x="3154680" y="2132838"/>
            <a:ext cx="2788920" cy="256032"/>
          </a:xfrm>
          <a:prstGeom prst="rect">
            <a:avLst/>
          </a:prstGeom>
          <a:solidFill>
            <a:srgbClr val="E8ECF5"/>
          </a:solidFill>
          <a:ln w="12700">
            <a:solidFill>
              <a:srgbClr val="E8ECF5"/>
            </a:solidFill>
            <a:prstDash val="solid"/>
          </a:ln>
        </p:spPr>
      </p:sp>
      <p:sp>
        <p:nvSpPr>
          <p:cNvPr id="10" name="Shape 8"/>
          <p:cNvSpPr/>
          <p:nvPr/>
        </p:nvSpPr>
        <p:spPr>
          <a:xfrm>
            <a:off x="3154680" y="2132838"/>
            <a:ext cx="2627782" cy="256032"/>
          </a:xfrm>
          <a:prstGeom prst="rect">
            <a:avLst/>
          </a:prstGeom>
          <a:solidFill>
            <a:srgbClr val="3867D6"/>
          </a:solidFill>
          <a:ln w="12700">
            <a:solidFill>
              <a:srgbClr val="3867D6"/>
            </a:solidFill>
            <a:prstDash val="solid"/>
          </a:ln>
        </p:spPr>
      </p:sp>
      <p:sp>
        <p:nvSpPr>
          <p:cNvPr id="11" name="Text 9"/>
          <p:cNvSpPr/>
          <p:nvPr/>
        </p:nvSpPr>
        <p:spPr>
          <a:xfrm>
            <a:off x="6080760" y="2087118"/>
            <a:ext cx="640080" cy="560070"/>
          </a:xfrm>
          <a:prstGeom prst="rect">
            <a:avLst/>
          </a:prstGeom>
          <a:noFill/>
          <a:ln/>
        </p:spPr>
        <p:txBody>
          <a:bodyPr wrap="square" lIns="0" tIns="0" rIns="0" bIns="0" rtlCol="0" anchor="ctr"/>
          <a:lstStyle/>
          <a:p>
            <a:pPr marL="0" indent="0" algn="r">
              <a:buNone/>
            </a:pPr>
            <a:r>
              <a:rPr lang="en-US" sz="1350" b="1" dirty="0">
                <a:solidFill>
                  <a:srgbClr val="1A1E2A"/>
                </a:solidFill>
              </a:rPr>
              <a:t>0.848</a:t>
            </a:r>
            <a:endParaRPr lang="en-US" sz="1350" dirty="0"/>
          </a:p>
        </p:txBody>
      </p:sp>
      <p:sp>
        <p:nvSpPr>
          <p:cNvPr id="12" name="Text 10"/>
          <p:cNvSpPr/>
          <p:nvPr/>
        </p:nvSpPr>
        <p:spPr>
          <a:xfrm>
            <a:off x="868680" y="2692908"/>
            <a:ext cx="2286000" cy="560070"/>
          </a:xfrm>
          <a:prstGeom prst="rect">
            <a:avLst/>
          </a:prstGeom>
          <a:noFill/>
          <a:ln/>
        </p:spPr>
        <p:txBody>
          <a:bodyPr wrap="square" lIns="0" tIns="0" rIns="0" bIns="0" rtlCol="0" anchor="ctr">
            <a:normAutofit/>
          </a:bodyPr>
          <a:lstStyle/>
          <a:p>
            <a:pPr marL="0" indent="0">
              <a:buNone/>
            </a:pPr>
            <a:r>
              <a:rPr lang="en-US" sz="1350" dirty="0">
                <a:solidFill>
                  <a:srgbClr val="1A1E2A"/>
                </a:solidFill>
              </a:rPr>
              <a:t>BERT</a:t>
            </a:r>
            <a:endParaRPr lang="en-US" sz="1350" dirty="0"/>
          </a:p>
        </p:txBody>
      </p:sp>
      <p:sp>
        <p:nvSpPr>
          <p:cNvPr id="13" name="Shape 11"/>
          <p:cNvSpPr/>
          <p:nvPr/>
        </p:nvSpPr>
        <p:spPr>
          <a:xfrm>
            <a:off x="3154680" y="2738628"/>
            <a:ext cx="2788920" cy="256032"/>
          </a:xfrm>
          <a:prstGeom prst="rect">
            <a:avLst/>
          </a:prstGeom>
          <a:solidFill>
            <a:srgbClr val="E8ECF5"/>
          </a:solidFill>
          <a:ln w="12700">
            <a:solidFill>
              <a:srgbClr val="E8ECF5"/>
            </a:solidFill>
            <a:prstDash val="solid"/>
          </a:ln>
        </p:spPr>
      </p:sp>
      <p:sp>
        <p:nvSpPr>
          <p:cNvPr id="14" name="Shape 12"/>
          <p:cNvSpPr/>
          <p:nvPr/>
        </p:nvSpPr>
        <p:spPr>
          <a:xfrm>
            <a:off x="3154680" y="2738628"/>
            <a:ext cx="2601752" cy="256032"/>
          </a:xfrm>
          <a:prstGeom prst="rect">
            <a:avLst/>
          </a:prstGeom>
          <a:solidFill>
            <a:srgbClr val="F4A62A"/>
          </a:solidFill>
          <a:ln w="12700">
            <a:solidFill>
              <a:srgbClr val="F4A62A"/>
            </a:solidFill>
            <a:prstDash val="solid"/>
          </a:ln>
        </p:spPr>
      </p:sp>
      <p:sp>
        <p:nvSpPr>
          <p:cNvPr id="15" name="Text 13"/>
          <p:cNvSpPr/>
          <p:nvPr/>
        </p:nvSpPr>
        <p:spPr>
          <a:xfrm>
            <a:off x="6080760" y="2692908"/>
            <a:ext cx="640080" cy="560070"/>
          </a:xfrm>
          <a:prstGeom prst="rect">
            <a:avLst/>
          </a:prstGeom>
          <a:noFill/>
          <a:ln/>
        </p:spPr>
        <p:txBody>
          <a:bodyPr wrap="square" lIns="0" tIns="0" rIns="0" bIns="0" rtlCol="0" anchor="ctr"/>
          <a:lstStyle/>
          <a:p>
            <a:pPr marL="0" indent="0" algn="r">
              <a:buNone/>
            </a:pPr>
            <a:r>
              <a:rPr lang="en-US" sz="1350" dirty="0">
                <a:solidFill>
                  <a:srgbClr val="1A1E2A"/>
                </a:solidFill>
              </a:rPr>
              <a:t>0.8396</a:t>
            </a:r>
            <a:endParaRPr lang="en-US" sz="1350" dirty="0"/>
          </a:p>
        </p:txBody>
      </p:sp>
      <p:sp>
        <p:nvSpPr>
          <p:cNvPr id="16" name="Text 14"/>
          <p:cNvSpPr/>
          <p:nvPr/>
        </p:nvSpPr>
        <p:spPr>
          <a:xfrm>
            <a:off x="868680" y="3298698"/>
            <a:ext cx="2286000" cy="560070"/>
          </a:xfrm>
          <a:prstGeom prst="rect">
            <a:avLst/>
          </a:prstGeom>
          <a:noFill/>
          <a:ln/>
        </p:spPr>
        <p:txBody>
          <a:bodyPr wrap="square" lIns="0" tIns="0" rIns="0" bIns="0" rtlCol="0" anchor="ctr">
            <a:normAutofit/>
          </a:bodyPr>
          <a:lstStyle/>
          <a:p>
            <a:pPr marL="0" indent="0">
              <a:buNone/>
            </a:pPr>
            <a:r>
              <a:rPr lang="en-US" sz="1350" dirty="0">
                <a:solidFill>
                  <a:srgbClr val="1A1E2A"/>
                </a:solidFill>
              </a:rPr>
              <a:t>DistilBERT</a:t>
            </a:r>
            <a:endParaRPr lang="en-US" sz="1350" dirty="0"/>
          </a:p>
        </p:txBody>
      </p:sp>
      <p:sp>
        <p:nvSpPr>
          <p:cNvPr id="17" name="Shape 15"/>
          <p:cNvSpPr/>
          <p:nvPr/>
        </p:nvSpPr>
        <p:spPr>
          <a:xfrm>
            <a:off x="3154680" y="3344418"/>
            <a:ext cx="2788920" cy="256032"/>
          </a:xfrm>
          <a:prstGeom prst="rect">
            <a:avLst/>
          </a:prstGeom>
          <a:solidFill>
            <a:srgbClr val="E8ECF5"/>
          </a:solidFill>
          <a:ln w="12700">
            <a:solidFill>
              <a:srgbClr val="E8ECF5"/>
            </a:solidFill>
            <a:prstDash val="solid"/>
          </a:ln>
        </p:spPr>
      </p:sp>
      <p:sp>
        <p:nvSpPr>
          <p:cNvPr id="18" name="Shape 16"/>
          <p:cNvSpPr/>
          <p:nvPr/>
        </p:nvSpPr>
        <p:spPr>
          <a:xfrm>
            <a:off x="3154680" y="3344418"/>
            <a:ext cx="2550622" cy="256032"/>
          </a:xfrm>
          <a:prstGeom prst="rect">
            <a:avLst/>
          </a:prstGeom>
          <a:solidFill>
            <a:srgbClr val="1C8B5A"/>
          </a:solidFill>
          <a:ln w="12700">
            <a:solidFill>
              <a:srgbClr val="1C8B5A"/>
            </a:solidFill>
            <a:prstDash val="solid"/>
          </a:ln>
        </p:spPr>
      </p:sp>
      <p:sp>
        <p:nvSpPr>
          <p:cNvPr id="19" name="Text 17"/>
          <p:cNvSpPr/>
          <p:nvPr/>
        </p:nvSpPr>
        <p:spPr>
          <a:xfrm>
            <a:off x="6080760" y="3298698"/>
            <a:ext cx="640080" cy="560070"/>
          </a:xfrm>
          <a:prstGeom prst="rect">
            <a:avLst/>
          </a:prstGeom>
          <a:noFill/>
          <a:ln/>
        </p:spPr>
        <p:txBody>
          <a:bodyPr wrap="square" lIns="0" tIns="0" rIns="0" bIns="0" rtlCol="0" anchor="ctr"/>
          <a:lstStyle/>
          <a:p>
            <a:pPr marL="0" indent="0" algn="r">
              <a:buNone/>
            </a:pPr>
            <a:r>
              <a:rPr lang="en-US" sz="1350" dirty="0">
                <a:solidFill>
                  <a:srgbClr val="1A1E2A"/>
                </a:solidFill>
              </a:rPr>
              <a:t>0.8231</a:t>
            </a:r>
            <a:endParaRPr lang="en-US" sz="1350" dirty="0"/>
          </a:p>
        </p:txBody>
      </p:sp>
      <p:sp>
        <p:nvSpPr>
          <p:cNvPr id="20" name="Shape 18"/>
          <p:cNvSpPr/>
          <p:nvPr/>
        </p:nvSpPr>
        <p:spPr>
          <a:xfrm>
            <a:off x="7315200" y="1325880"/>
            <a:ext cx="1997050" cy="475488"/>
          </a:xfrm>
          <a:prstGeom prst="rect">
            <a:avLst/>
          </a:prstGeom>
          <a:solidFill>
            <a:srgbClr val="1D2B46"/>
          </a:solidFill>
          <a:ln w="6350">
            <a:solidFill>
              <a:srgbClr val="DDE3EF"/>
            </a:solidFill>
            <a:prstDash val="solid"/>
          </a:ln>
        </p:spPr>
      </p:sp>
      <p:sp>
        <p:nvSpPr>
          <p:cNvPr id="21" name="Text 19"/>
          <p:cNvSpPr/>
          <p:nvPr/>
        </p:nvSpPr>
        <p:spPr>
          <a:xfrm>
            <a:off x="7388352" y="1399032"/>
            <a:ext cx="1850746" cy="384048"/>
          </a:xfrm>
          <a:prstGeom prst="rect">
            <a:avLst/>
          </a:prstGeom>
          <a:noFill/>
          <a:ln/>
        </p:spPr>
        <p:txBody>
          <a:bodyPr wrap="square" lIns="0" tIns="0" rIns="0" bIns="0" rtlCol="0" anchor="ctr">
            <a:normAutofit/>
          </a:bodyPr>
          <a:lstStyle/>
          <a:p>
            <a:pPr marL="0" indent="0">
              <a:buNone/>
            </a:pPr>
            <a:r>
              <a:rPr lang="en-US" sz="1150" b="1" dirty="0">
                <a:solidFill>
                  <a:srgbClr val="FFFFFF"/>
                </a:solidFill>
              </a:rPr>
              <a:t>Model</a:t>
            </a:r>
            <a:endParaRPr lang="en-US" sz="1150" dirty="0"/>
          </a:p>
        </p:txBody>
      </p:sp>
      <p:sp>
        <p:nvSpPr>
          <p:cNvPr id="22" name="Shape 20"/>
          <p:cNvSpPr/>
          <p:nvPr/>
        </p:nvSpPr>
        <p:spPr>
          <a:xfrm>
            <a:off x="9312250" y="1325880"/>
            <a:ext cx="1843430" cy="475488"/>
          </a:xfrm>
          <a:prstGeom prst="rect">
            <a:avLst/>
          </a:prstGeom>
          <a:solidFill>
            <a:srgbClr val="1D2B46"/>
          </a:solidFill>
          <a:ln w="6350">
            <a:solidFill>
              <a:srgbClr val="DDE3EF"/>
            </a:solidFill>
            <a:prstDash val="solid"/>
          </a:ln>
        </p:spPr>
      </p:sp>
      <p:sp>
        <p:nvSpPr>
          <p:cNvPr id="23" name="Text 21"/>
          <p:cNvSpPr/>
          <p:nvPr/>
        </p:nvSpPr>
        <p:spPr>
          <a:xfrm>
            <a:off x="9385402" y="1399032"/>
            <a:ext cx="1697126" cy="384048"/>
          </a:xfrm>
          <a:prstGeom prst="rect">
            <a:avLst/>
          </a:prstGeom>
          <a:noFill/>
          <a:ln/>
        </p:spPr>
        <p:txBody>
          <a:bodyPr wrap="square" lIns="0" tIns="0" rIns="0" bIns="0" rtlCol="0" anchor="ctr">
            <a:normAutofit/>
          </a:bodyPr>
          <a:lstStyle/>
          <a:p>
            <a:pPr marL="0" indent="0">
              <a:buNone/>
            </a:pPr>
            <a:r>
              <a:rPr lang="en-US" sz="1150" b="1" dirty="0">
                <a:solidFill>
                  <a:srgbClr val="FFFFFF"/>
                </a:solidFill>
              </a:rPr>
              <a:t>Ortalama Macro-F1</a:t>
            </a:r>
            <a:endParaRPr lang="en-US" sz="1150" dirty="0"/>
          </a:p>
        </p:txBody>
      </p:sp>
      <p:sp>
        <p:nvSpPr>
          <p:cNvPr id="24" name="Shape 22"/>
          <p:cNvSpPr/>
          <p:nvPr/>
        </p:nvSpPr>
        <p:spPr>
          <a:xfrm>
            <a:off x="7315200" y="1801368"/>
            <a:ext cx="1997050" cy="475488"/>
          </a:xfrm>
          <a:prstGeom prst="rect">
            <a:avLst/>
          </a:prstGeom>
          <a:solidFill>
            <a:srgbClr val="FFFFFF"/>
          </a:solidFill>
          <a:ln w="6350">
            <a:solidFill>
              <a:srgbClr val="DDE3EF"/>
            </a:solidFill>
            <a:prstDash val="solid"/>
          </a:ln>
        </p:spPr>
      </p:sp>
      <p:sp>
        <p:nvSpPr>
          <p:cNvPr id="25" name="Text 23"/>
          <p:cNvSpPr/>
          <p:nvPr/>
        </p:nvSpPr>
        <p:spPr>
          <a:xfrm>
            <a:off x="7388352" y="1874520"/>
            <a:ext cx="185074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RoBERTa</a:t>
            </a:r>
            <a:endParaRPr lang="en-US" sz="1280" dirty="0"/>
          </a:p>
        </p:txBody>
      </p:sp>
      <p:sp>
        <p:nvSpPr>
          <p:cNvPr id="26" name="Shape 24"/>
          <p:cNvSpPr/>
          <p:nvPr/>
        </p:nvSpPr>
        <p:spPr>
          <a:xfrm>
            <a:off x="9312250" y="1801368"/>
            <a:ext cx="1843430" cy="475488"/>
          </a:xfrm>
          <a:prstGeom prst="rect">
            <a:avLst/>
          </a:prstGeom>
          <a:solidFill>
            <a:srgbClr val="FFFFFF"/>
          </a:solidFill>
          <a:ln w="6350">
            <a:solidFill>
              <a:srgbClr val="DDE3EF"/>
            </a:solidFill>
            <a:prstDash val="solid"/>
          </a:ln>
        </p:spPr>
      </p:sp>
      <p:sp>
        <p:nvSpPr>
          <p:cNvPr id="27" name="Text 25"/>
          <p:cNvSpPr/>
          <p:nvPr/>
        </p:nvSpPr>
        <p:spPr>
          <a:xfrm>
            <a:off x="9385402" y="1874520"/>
            <a:ext cx="169712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0.8728 ± 0.0068</a:t>
            </a:r>
            <a:endParaRPr lang="en-US" sz="1280" dirty="0"/>
          </a:p>
        </p:txBody>
      </p:sp>
      <p:sp>
        <p:nvSpPr>
          <p:cNvPr id="28" name="Shape 26"/>
          <p:cNvSpPr/>
          <p:nvPr/>
        </p:nvSpPr>
        <p:spPr>
          <a:xfrm>
            <a:off x="7315200" y="2276856"/>
            <a:ext cx="1997050" cy="475488"/>
          </a:xfrm>
          <a:prstGeom prst="rect">
            <a:avLst/>
          </a:prstGeom>
          <a:solidFill>
            <a:srgbClr val="F4F6FB"/>
          </a:solidFill>
          <a:ln w="6350">
            <a:solidFill>
              <a:srgbClr val="DDE3EF"/>
            </a:solidFill>
            <a:prstDash val="solid"/>
          </a:ln>
        </p:spPr>
      </p:sp>
      <p:sp>
        <p:nvSpPr>
          <p:cNvPr id="29" name="Text 27"/>
          <p:cNvSpPr/>
          <p:nvPr/>
        </p:nvSpPr>
        <p:spPr>
          <a:xfrm>
            <a:off x="7388352" y="2350008"/>
            <a:ext cx="185074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FinBERT</a:t>
            </a:r>
            <a:endParaRPr lang="en-US" sz="1280" dirty="0"/>
          </a:p>
        </p:txBody>
      </p:sp>
      <p:sp>
        <p:nvSpPr>
          <p:cNvPr id="30" name="Shape 28"/>
          <p:cNvSpPr/>
          <p:nvPr/>
        </p:nvSpPr>
        <p:spPr>
          <a:xfrm>
            <a:off x="9312250" y="2276856"/>
            <a:ext cx="1843430" cy="475488"/>
          </a:xfrm>
          <a:prstGeom prst="rect">
            <a:avLst/>
          </a:prstGeom>
          <a:solidFill>
            <a:srgbClr val="F4F6FB"/>
          </a:solidFill>
          <a:ln w="6350">
            <a:solidFill>
              <a:srgbClr val="DDE3EF"/>
            </a:solidFill>
            <a:prstDash val="solid"/>
          </a:ln>
        </p:spPr>
      </p:sp>
      <p:sp>
        <p:nvSpPr>
          <p:cNvPr id="31" name="Text 29"/>
          <p:cNvSpPr/>
          <p:nvPr/>
        </p:nvSpPr>
        <p:spPr>
          <a:xfrm>
            <a:off x="9385402" y="2350008"/>
            <a:ext cx="169712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0.8480 ± 0.0028</a:t>
            </a:r>
            <a:endParaRPr lang="en-US" sz="1280" dirty="0"/>
          </a:p>
        </p:txBody>
      </p:sp>
      <p:sp>
        <p:nvSpPr>
          <p:cNvPr id="32" name="Shape 30"/>
          <p:cNvSpPr/>
          <p:nvPr/>
        </p:nvSpPr>
        <p:spPr>
          <a:xfrm>
            <a:off x="7315200" y="2752344"/>
            <a:ext cx="1997050" cy="475488"/>
          </a:xfrm>
          <a:prstGeom prst="rect">
            <a:avLst/>
          </a:prstGeom>
          <a:solidFill>
            <a:srgbClr val="FFFFFF"/>
          </a:solidFill>
          <a:ln w="6350">
            <a:solidFill>
              <a:srgbClr val="DDE3EF"/>
            </a:solidFill>
            <a:prstDash val="solid"/>
          </a:ln>
        </p:spPr>
      </p:sp>
      <p:sp>
        <p:nvSpPr>
          <p:cNvPr id="33" name="Text 31"/>
          <p:cNvSpPr/>
          <p:nvPr/>
        </p:nvSpPr>
        <p:spPr>
          <a:xfrm>
            <a:off x="7388352" y="2825496"/>
            <a:ext cx="185074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BERT</a:t>
            </a:r>
            <a:endParaRPr lang="en-US" sz="1280" dirty="0"/>
          </a:p>
        </p:txBody>
      </p:sp>
      <p:sp>
        <p:nvSpPr>
          <p:cNvPr id="34" name="Shape 32"/>
          <p:cNvSpPr/>
          <p:nvPr/>
        </p:nvSpPr>
        <p:spPr>
          <a:xfrm>
            <a:off x="9312250" y="2752344"/>
            <a:ext cx="1843430" cy="475488"/>
          </a:xfrm>
          <a:prstGeom prst="rect">
            <a:avLst/>
          </a:prstGeom>
          <a:solidFill>
            <a:srgbClr val="FFFFFF"/>
          </a:solidFill>
          <a:ln w="6350">
            <a:solidFill>
              <a:srgbClr val="DDE3EF"/>
            </a:solidFill>
            <a:prstDash val="solid"/>
          </a:ln>
        </p:spPr>
      </p:sp>
      <p:sp>
        <p:nvSpPr>
          <p:cNvPr id="35" name="Text 33"/>
          <p:cNvSpPr/>
          <p:nvPr/>
        </p:nvSpPr>
        <p:spPr>
          <a:xfrm>
            <a:off x="9385402" y="2825496"/>
            <a:ext cx="169712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0.8396 ± 0.0023</a:t>
            </a:r>
            <a:endParaRPr lang="en-US" sz="1280" dirty="0"/>
          </a:p>
        </p:txBody>
      </p:sp>
      <p:sp>
        <p:nvSpPr>
          <p:cNvPr id="36" name="Shape 34"/>
          <p:cNvSpPr/>
          <p:nvPr/>
        </p:nvSpPr>
        <p:spPr>
          <a:xfrm>
            <a:off x="7315200" y="3227832"/>
            <a:ext cx="1997050" cy="475488"/>
          </a:xfrm>
          <a:prstGeom prst="rect">
            <a:avLst/>
          </a:prstGeom>
          <a:solidFill>
            <a:srgbClr val="F4F6FB"/>
          </a:solidFill>
          <a:ln w="6350">
            <a:solidFill>
              <a:srgbClr val="DDE3EF"/>
            </a:solidFill>
            <a:prstDash val="solid"/>
          </a:ln>
        </p:spPr>
      </p:sp>
      <p:sp>
        <p:nvSpPr>
          <p:cNvPr id="37" name="Text 35"/>
          <p:cNvSpPr/>
          <p:nvPr/>
        </p:nvSpPr>
        <p:spPr>
          <a:xfrm>
            <a:off x="7388352" y="3300984"/>
            <a:ext cx="185074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DistilBERT</a:t>
            </a:r>
            <a:endParaRPr lang="en-US" sz="1280" dirty="0"/>
          </a:p>
        </p:txBody>
      </p:sp>
      <p:sp>
        <p:nvSpPr>
          <p:cNvPr id="38" name="Shape 36"/>
          <p:cNvSpPr/>
          <p:nvPr/>
        </p:nvSpPr>
        <p:spPr>
          <a:xfrm>
            <a:off x="9312250" y="3227832"/>
            <a:ext cx="1843430" cy="475488"/>
          </a:xfrm>
          <a:prstGeom prst="rect">
            <a:avLst/>
          </a:prstGeom>
          <a:solidFill>
            <a:srgbClr val="F4F6FB"/>
          </a:solidFill>
          <a:ln w="6350">
            <a:solidFill>
              <a:srgbClr val="DDE3EF"/>
            </a:solidFill>
            <a:prstDash val="solid"/>
          </a:ln>
        </p:spPr>
      </p:sp>
      <p:sp>
        <p:nvSpPr>
          <p:cNvPr id="39" name="Text 37"/>
          <p:cNvSpPr/>
          <p:nvPr/>
        </p:nvSpPr>
        <p:spPr>
          <a:xfrm>
            <a:off x="9385402" y="3300984"/>
            <a:ext cx="1697126" cy="384048"/>
          </a:xfrm>
          <a:prstGeom prst="rect">
            <a:avLst/>
          </a:prstGeom>
          <a:noFill/>
          <a:ln/>
        </p:spPr>
        <p:txBody>
          <a:bodyPr wrap="square" lIns="0" tIns="0" rIns="0" bIns="0" rtlCol="0" anchor="ctr">
            <a:normAutofit/>
          </a:bodyPr>
          <a:lstStyle/>
          <a:p>
            <a:pPr marL="0" indent="0">
              <a:buNone/>
            </a:pPr>
            <a:r>
              <a:rPr lang="en-US" sz="1280" dirty="0">
                <a:solidFill>
                  <a:srgbClr val="1A1E2A"/>
                </a:solidFill>
              </a:rPr>
              <a:t>0.8231 ± 0.0028</a:t>
            </a:r>
            <a:endParaRPr lang="en-US" sz="1280" dirty="0"/>
          </a:p>
        </p:txBody>
      </p:sp>
      <p:sp>
        <p:nvSpPr>
          <p:cNvPr id="40" name="Shape 38"/>
          <p:cNvSpPr/>
          <p:nvPr/>
        </p:nvSpPr>
        <p:spPr>
          <a:xfrm>
            <a:off x="914400" y="4617720"/>
            <a:ext cx="10241280" cy="685800"/>
          </a:xfrm>
          <a:prstGeom prst="roundRect">
            <a:avLst>
              <a:gd name="adj" fmla="val 10667"/>
            </a:avLst>
          </a:prstGeom>
          <a:solidFill>
            <a:srgbClr val="F0FAF8"/>
          </a:solidFill>
          <a:ln w="15240">
            <a:solidFill>
              <a:srgbClr val="0F9D8F"/>
            </a:solidFill>
            <a:prstDash val="solid"/>
          </a:ln>
        </p:spPr>
      </p:sp>
      <p:sp>
        <p:nvSpPr>
          <p:cNvPr id="41" name="Text 39"/>
          <p:cNvSpPr/>
          <p:nvPr/>
        </p:nvSpPr>
        <p:spPr>
          <a:xfrm>
            <a:off x="1078992" y="4764024"/>
            <a:ext cx="991209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Sonuç: RoBERTa’nın başarısı tek seferlik bir eğitim rastlantısı olarak görünmüyor.</a:t>
            </a:r>
            <a:endParaRPr lang="en-US" sz="1500" dirty="0"/>
          </a:p>
        </p:txBody>
      </p:sp>
      <p:sp>
        <p:nvSpPr>
          <p:cNvPr id="42" name="Text 4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43" name="Text 4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18</a:t>
            </a:r>
            <a:endParaRPr lang="en-US" sz="850" dirty="0"/>
          </a:p>
        </p:txBody>
      </p:sp>
      <p:sp>
        <p:nvSpPr>
          <p:cNvPr id="44" name="Shape 4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İstatistiksel değerlendirme</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Sadece skor farkı değil, prediction düzeyinde farkın anlamlılığı da incelendi.</a:t>
            </a:r>
            <a:endParaRPr lang="en-US" sz="1450" dirty="0"/>
          </a:p>
        </p:txBody>
      </p:sp>
      <p:sp>
        <p:nvSpPr>
          <p:cNvPr id="4" name="Text 2"/>
          <p:cNvSpPr/>
          <p:nvPr/>
        </p:nvSpPr>
        <p:spPr>
          <a:xfrm>
            <a:off x="777240" y="1417320"/>
            <a:ext cx="6217920" cy="2468880"/>
          </a:xfrm>
          <a:prstGeom prst="rect">
            <a:avLst/>
          </a:prstGeom>
          <a:noFill/>
          <a:ln/>
        </p:spPr>
        <p:txBody>
          <a:bodyPr wrap="square" lIns="635" tIns="635" rIns="635" bIns="635" rtlCol="0" anchor="ctr">
            <a:normAutofit/>
          </a:bodyPr>
          <a:lstStyle/>
          <a:p>
            <a:r>
              <a:rPr lang="en-US" sz="1800" dirty="0">
                <a:solidFill>
                  <a:srgbClr val="1A1E2A"/>
                </a:solidFill>
              </a:rPr>
              <a:t>Model skorları arasında görülen farkların tesadüfi olup olmadığı test edildi.</a:t>
            </a:r>
            <a:endParaRPr lang="en-US" sz="1800" dirty="0"/>
          </a:p>
          <a:p>
            <a:r>
              <a:rPr lang="en-US" sz="1800" dirty="0">
                <a:solidFill>
                  <a:srgbClr val="1A1E2A"/>
                </a:solidFill>
              </a:rPr>
              <a:t>Prediction-level karşılaştırmalar ile özellikle RoBERTa–FinBERT farkı analiz edildi.</a:t>
            </a:r>
            <a:endParaRPr lang="en-US" sz="1800" dirty="0"/>
          </a:p>
          <a:p>
            <a:r>
              <a:rPr lang="en-US" sz="1800" dirty="0">
                <a:solidFill>
                  <a:srgbClr val="1A1E2A"/>
                </a:solidFill>
              </a:rPr>
              <a:t>Bazı seed’lerde fark istatistiksel olarak desteklendi.</a:t>
            </a:r>
            <a:endParaRPr lang="en-US" sz="1800" dirty="0"/>
          </a:p>
          <a:p>
            <a:r>
              <a:rPr lang="en-US" sz="1800" dirty="0">
                <a:solidFill>
                  <a:srgbClr val="1A1E2A"/>
                </a:solidFill>
              </a:rPr>
              <a:t>Devam çalışmasında bu pipeline tüm prediction dosyaları temizlenerek yeniden üretilecek.</a:t>
            </a:r>
            <a:endParaRPr lang="en-US" sz="1800" dirty="0"/>
          </a:p>
        </p:txBody>
      </p:sp>
      <p:sp>
        <p:nvSpPr>
          <p:cNvPr id="5" name="Shape 3"/>
          <p:cNvSpPr/>
          <p:nvPr/>
        </p:nvSpPr>
        <p:spPr>
          <a:xfrm>
            <a:off x="822960" y="4434840"/>
            <a:ext cx="6080760" cy="777240"/>
          </a:xfrm>
          <a:prstGeom prst="roundRect">
            <a:avLst>
              <a:gd name="adj" fmla="val 9412"/>
            </a:avLst>
          </a:prstGeom>
          <a:solidFill>
            <a:srgbClr val="F0FAF8"/>
          </a:solidFill>
          <a:ln w="15240">
            <a:solidFill>
              <a:srgbClr val="3867D6"/>
            </a:solidFill>
            <a:prstDash val="solid"/>
          </a:ln>
        </p:spPr>
      </p:sp>
      <p:sp>
        <p:nvSpPr>
          <p:cNvPr id="6" name="Text 4"/>
          <p:cNvSpPr/>
          <p:nvPr/>
        </p:nvSpPr>
        <p:spPr>
          <a:xfrm>
            <a:off x="987552" y="4581144"/>
            <a:ext cx="5751576" cy="54864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Amaç: “RoBERTa biraz yüksek çıktı” demek yerine farkın sistematik olup olmadığını test etmek.</a:t>
            </a:r>
            <a:endParaRPr lang="en-US" sz="1500" dirty="0"/>
          </a:p>
        </p:txBody>
      </p:sp>
      <p:sp>
        <p:nvSpPr>
          <p:cNvPr id="7" name="Text 5"/>
          <p:cNvSpPr/>
          <p:nvPr/>
        </p:nvSpPr>
        <p:spPr>
          <a:xfrm>
            <a:off x="7498080" y="1417320"/>
            <a:ext cx="3200400" cy="274320"/>
          </a:xfrm>
          <a:prstGeom prst="rect">
            <a:avLst/>
          </a:prstGeom>
          <a:noFill/>
          <a:ln/>
        </p:spPr>
        <p:txBody>
          <a:bodyPr wrap="square" lIns="0" tIns="0" rIns="0" bIns="0" rtlCol="0" anchor="ctr"/>
          <a:lstStyle/>
          <a:p>
            <a:pPr marL="0" indent="0">
              <a:buNone/>
            </a:pPr>
            <a:r>
              <a:rPr lang="en-US" sz="1800" b="1" dirty="0">
                <a:solidFill>
                  <a:srgbClr val="172033"/>
                </a:solidFill>
              </a:rPr>
              <a:t>Savunmada dikkat</a:t>
            </a:r>
            <a:endParaRPr lang="en-US" sz="1800" dirty="0"/>
          </a:p>
        </p:txBody>
      </p:sp>
      <p:sp>
        <p:nvSpPr>
          <p:cNvPr id="8" name="Text 6"/>
          <p:cNvSpPr/>
          <p:nvPr/>
        </p:nvSpPr>
        <p:spPr>
          <a:xfrm>
            <a:off x="7498080" y="1874520"/>
            <a:ext cx="3566160" cy="1737360"/>
          </a:xfrm>
          <a:prstGeom prst="rect">
            <a:avLst/>
          </a:prstGeom>
          <a:noFill/>
          <a:ln/>
        </p:spPr>
        <p:txBody>
          <a:bodyPr wrap="square" lIns="508" tIns="508" rIns="508" bIns="508" rtlCol="0" anchor="ctr">
            <a:normAutofit/>
          </a:bodyPr>
          <a:lstStyle/>
          <a:p>
            <a:pPr marL="0" indent="0">
              <a:buNone/>
            </a:pPr>
            <a:r>
              <a:rPr lang="en-US" sz="1550" dirty="0">
                <a:solidFill>
                  <a:srgbClr val="1A1E2A"/>
                </a:solidFill>
              </a:rPr>
              <a:t>Bu bölümde aşırı iddialı bir dil kullanmamak gerekir. Sonuçlar RoBERTa lehine destek sunuyor; devam çalışmasında tüm prediction dosyaları ve test pipeline’ı daha temiz hale getirilecek.</a:t>
            </a:r>
            <a:endParaRPr lang="en-US" sz="1550" dirty="0"/>
          </a:p>
        </p:txBody>
      </p:sp>
      <p:sp>
        <p:nvSpPr>
          <p:cNvPr id="9" name="Text 7"/>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0" name="Text 8"/>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19</a:t>
            </a:r>
            <a:endParaRPr lang="en-US" sz="850" dirty="0"/>
          </a:p>
        </p:txBody>
      </p:sp>
      <p:sp>
        <p:nvSpPr>
          <p:cNvPr id="11" name="Shape 9"/>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Dış değerlendirme: tezin ana genişleme noktası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İç test başarısı gerçek dünya genellemesini garanti ediyor mu?</a:t>
            </a:r>
            <a:endParaRPr lang="en-US" sz="1450" dirty="0"/>
          </a:p>
        </p:txBody>
      </p:sp>
      <p:sp>
        <p:nvSpPr>
          <p:cNvPr id="4" name="Shape 2"/>
          <p:cNvSpPr/>
          <p:nvPr/>
        </p:nvSpPr>
        <p:spPr>
          <a:xfrm>
            <a:off x="777240" y="1371600"/>
            <a:ext cx="2333549" cy="582930"/>
          </a:xfrm>
          <a:prstGeom prst="rect">
            <a:avLst/>
          </a:prstGeom>
          <a:solidFill>
            <a:srgbClr val="1D2B46"/>
          </a:solidFill>
          <a:ln w="6350">
            <a:solidFill>
              <a:srgbClr val="DDE3EF"/>
            </a:solidFill>
            <a:prstDash val="solid"/>
          </a:ln>
        </p:spPr>
      </p:sp>
      <p:sp>
        <p:nvSpPr>
          <p:cNvPr id="5" name="Text 3"/>
          <p:cNvSpPr/>
          <p:nvPr/>
        </p:nvSpPr>
        <p:spPr>
          <a:xfrm>
            <a:off x="850392" y="1444752"/>
            <a:ext cx="2187245" cy="491490"/>
          </a:xfrm>
          <a:prstGeom prst="rect">
            <a:avLst/>
          </a:prstGeom>
          <a:noFill/>
          <a:ln/>
        </p:spPr>
        <p:txBody>
          <a:bodyPr wrap="square" lIns="0" tIns="0" rIns="0" bIns="0" rtlCol="0" anchor="ctr">
            <a:normAutofit/>
          </a:bodyPr>
          <a:lstStyle/>
          <a:p>
            <a:pPr marL="0" indent="0">
              <a:buNone/>
            </a:pPr>
            <a:r>
              <a:rPr lang="en-US" sz="1150" b="1" dirty="0">
                <a:solidFill>
                  <a:srgbClr val="FFFFFF"/>
                </a:solidFill>
              </a:rPr>
              <a:t>External set</a:t>
            </a:r>
            <a:endParaRPr lang="en-US" sz="1150" dirty="0"/>
          </a:p>
        </p:txBody>
      </p:sp>
      <p:sp>
        <p:nvSpPr>
          <p:cNvPr id="6" name="Shape 4"/>
          <p:cNvSpPr/>
          <p:nvPr/>
        </p:nvSpPr>
        <p:spPr>
          <a:xfrm>
            <a:off x="3110789" y="1371600"/>
            <a:ext cx="5833872" cy="582930"/>
          </a:xfrm>
          <a:prstGeom prst="rect">
            <a:avLst/>
          </a:prstGeom>
          <a:solidFill>
            <a:srgbClr val="1D2B46"/>
          </a:solidFill>
          <a:ln w="6350">
            <a:solidFill>
              <a:srgbClr val="DDE3EF"/>
            </a:solidFill>
            <a:prstDash val="solid"/>
          </a:ln>
        </p:spPr>
      </p:sp>
      <p:sp>
        <p:nvSpPr>
          <p:cNvPr id="7" name="Text 5"/>
          <p:cNvSpPr/>
          <p:nvPr/>
        </p:nvSpPr>
        <p:spPr>
          <a:xfrm>
            <a:off x="3183941" y="1444752"/>
            <a:ext cx="5687568" cy="491490"/>
          </a:xfrm>
          <a:prstGeom prst="rect">
            <a:avLst/>
          </a:prstGeom>
          <a:noFill/>
          <a:ln/>
        </p:spPr>
        <p:txBody>
          <a:bodyPr wrap="square" lIns="0" tIns="0" rIns="0" bIns="0" rtlCol="0" anchor="ctr">
            <a:normAutofit/>
          </a:bodyPr>
          <a:lstStyle/>
          <a:p>
            <a:pPr marL="0" indent="0">
              <a:buNone/>
            </a:pPr>
            <a:r>
              <a:rPr lang="en-US" sz="1150" b="1" dirty="0">
                <a:solidFill>
                  <a:srgbClr val="FFFFFF"/>
                </a:solidFill>
              </a:rPr>
              <a:t>Amaç</a:t>
            </a:r>
            <a:endParaRPr lang="en-US" sz="1150" dirty="0"/>
          </a:p>
        </p:txBody>
      </p:sp>
      <p:sp>
        <p:nvSpPr>
          <p:cNvPr id="8" name="Shape 6"/>
          <p:cNvSpPr/>
          <p:nvPr/>
        </p:nvSpPr>
        <p:spPr>
          <a:xfrm>
            <a:off x="8944661" y="1371600"/>
            <a:ext cx="2439619" cy="582930"/>
          </a:xfrm>
          <a:prstGeom prst="rect">
            <a:avLst/>
          </a:prstGeom>
          <a:solidFill>
            <a:srgbClr val="1D2B46"/>
          </a:solidFill>
          <a:ln w="6350">
            <a:solidFill>
              <a:srgbClr val="DDE3EF"/>
            </a:solidFill>
            <a:prstDash val="solid"/>
          </a:ln>
        </p:spPr>
      </p:sp>
      <p:sp>
        <p:nvSpPr>
          <p:cNvPr id="9" name="Text 7"/>
          <p:cNvSpPr/>
          <p:nvPr/>
        </p:nvSpPr>
        <p:spPr>
          <a:xfrm>
            <a:off x="9017813" y="1444752"/>
            <a:ext cx="2293315" cy="491490"/>
          </a:xfrm>
          <a:prstGeom prst="rect">
            <a:avLst/>
          </a:prstGeom>
          <a:noFill/>
          <a:ln/>
        </p:spPr>
        <p:txBody>
          <a:bodyPr wrap="square" lIns="0" tIns="0" rIns="0" bIns="0" rtlCol="0" anchor="ctr">
            <a:normAutofit/>
          </a:bodyPr>
          <a:lstStyle/>
          <a:p>
            <a:pPr marL="0" indent="0">
              <a:buNone/>
            </a:pPr>
            <a:r>
              <a:rPr lang="en-US" sz="1150" b="1" dirty="0">
                <a:solidFill>
                  <a:srgbClr val="FFFFFF"/>
                </a:solidFill>
              </a:rPr>
              <a:t>Eğitime girdi mi?</a:t>
            </a:r>
            <a:endParaRPr lang="en-US" sz="1150" dirty="0"/>
          </a:p>
        </p:txBody>
      </p:sp>
      <p:sp>
        <p:nvSpPr>
          <p:cNvPr id="10" name="Shape 8"/>
          <p:cNvSpPr/>
          <p:nvPr/>
        </p:nvSpPr>
        <p:spPr>
          <a:xfrm>
            <a:off x="777240" y="1954530"/>
            <a:ext cx="2333549" cy="582930"/>
          </a:xfrm>
          <a:prstGeom prst="rect">
            <a:avLst/>
          </a:prstGeom>
          <a:solidFill>
            <a:srgbClr val="FFFFFF"/>
          </a:solidFill>
          <a:ln w="6350">
            <a:solidFill>
              <a:srgbClr val="DDE3EF"/>
            </a:solidFill>
            <a:prstDash val="solid"/>
          </a:ln>
        </p:spPr>
      </p:sp>
      <p:sp>
        <p:nvSpPr>
          <p:cNvPr id="11" name="Text 9"/>
          <p:cNvSpPr/>
          <p:nvPr/>
        </p:nvSpPr>
        <p:spPr>
          <a:xfrm>
            <a:off x="850392" y="2027682"/>
            <a:ext cx="218724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S&amp;P 500</a:t>
            </a:r>
            <a:endParaRPr lang="en-US" sz="1300" dirty="0"/>
          </a:p>
        </p:txBody>
      </p:sp>
      <p:sp>
        <p:nvSpPr>
          <p:cNvPr id="12" name="Shape 10"/>
          <p:cNvSpPr/>
          <p:nvPr/>
        </p:nvSpPr>
        <p:spPr>
          <a:xfrm>
            <a:off x="3110789" y="1954530"/>
            <a:ext cx="5833872" cy="582930"/>
          </a:xfrm>
          <a:prstGeom prst="rect">
            <a:avLst/>
          </a:prstGeom>
          <a:solidFill>
            <a:srgbClr val="FFFFFF"/>
          </a:solidFill>
          <a:ln w="6350">
            <a:solidFill>
              <a:srgbClr val="DDE3EF"/>
            </a:solidFill>
            <a:prstDash val="solid"/>
          </a:ln>
        </p:spPr>
      </p:sp>
      <p:sp>
        <p:nvSpPr>
          <p:cNvPr id="13" name="Text 11"/>
          <p:cNvSpPr/>
          <p:nvPr/>
        </p:nvSpPr>
        <p:spPr>
          <a:xfrm>
            <a:off x="3183941" y="2027682"/>
            <a:ext cx="5687568"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Yakın finans haber dağılımında dış performans</a:t>
            </a:r>
            <a:endParaRPr lang="en-US" sz="1300" dirty="0"/>
          </a:p>
        </p:txBody>
      </p:sp>
      <p:sp>
        <p:nvSpPr>
          <p:cNvPr id="14" name="Shape 12"/>
          <p:cNvSpPr/>
          <p:nvPr/>
        </p:nvSpPr>
        <p:spPr>
          <a:xfrm>
            <a:off x="8944661" y="1954530"/>
            <a:ext cx="2439619" cy="582930"/>
          </a:xfrm>
          <a:prstGeom prst="rect">
            <a:avLst/>
          </a:prstGeom>
          <a:solidFill>
            <a:srgbClr val="FFFFFF"/>
          </a:solidFill>
          <a:ln w="6350">
            <a:solidFill>
              <a:srgbClr val="DDE3EF"/>
            </a:solidFill>
            <a:prstDash val="solid"/>
          </a:ln>
        </p:spPr>
      </p:sp>
      <p:sp>
        <p:nvSpPr>
          <p:cNvPr id="15" name="Text 13"/>
          <p:cNvSpPr/>
          <p:nvPr/>
        </p:nvSpPr>
        <p:spPr>
          <a:xfrm>
            <a:off x="9017813" y="2027682"/>
            <a:ext cx="229331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Hayır</a:t>
            </a:r>
            <a:endParaRPr lang="en-US" sz="1300" dirty="0"/>
          </a:p>
        </p:txBody>
      </p:sp>
      <p:sp>
        <p:nvSpPr>
          <p:cNvPr id="16" name="Shape 14"/>
          <p:cNvSpPr/>
          <p:nvPr/>
        </p:nvSpPr>
        <p:spPr>
          <a:xfrm>
            <a:off x="777240" y="2537460"/>
            <a:ext cx="2333549" cy="582930"/>
          </a:xfrm>
          <a:prstGeom prst="rect">
            <a:avLst/>
          </a:prstGeom>
          <a:solidFill>
            <a:srgbClr val="F4F6FB"/>
          </a:solidFill>
          <a:ln w="6350">
            <a:solidFill>
              <a:srgbClr val="DDE3EF"/>
            </a:solidFill>
            <a:prstDash val="solid"/>
          </a:ln>
        </p:spPr>
      </p:sp>
      <p:sp>
        <p:nvSpPr>
          <p:cNvPr id="17" name="Text 15"/>
          <p:cNvSpPr/>
          <p:nvPr/>
        </p:nvSpPr>
        <p:spPr>
          <a:xfrm>
            <a:off x="850392" y="2610612"/>
            <a:ext cx="218724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Reuters</a:t>
            </a:r>
            <a:endParaRPr lang="en-US" sz="1300" dirty="0"/>
          </a:p>
        </p:txBody>
      </p:sp>
      <p:sp>
        <p:nvSpPr>
          <p:cNvPr id="18" name="Shape 16"/>
          <p:cNvSpPr/>
          <p:nvPr/>
        </p:nvSpPr>
        <p:spPr>
          <a:xfrm>
            <a:off x="3110789" y="2537460"/>
            <a:ext cx="5833872" cy="582930"/>
          </a:xfrm>
          <a:prstGeom prst="rect">
            <a:avLst/>
          </a:prstGeom>
          <a:solidFill>
            <a:srgbClr val="F4F6FB"/>
          </a:solidFill>
          <a:ln w="6350">
            <a:solidFill>
              <a:srgbClr val="DDE3EF"/>
            </a:solidFill>
            <a:prstDash val="solid"/>
          </a:ln>
        </p:spPr>
      </p:sp>
      <p:sp>
        <p:nvSpPr>
          <p:cNvPr id="19" name="Text 17"/>
          <p:cNvSpPr/>
          <p:nvPr/>
        </p:nvSpPr>
        <p:spPr>
          <a:xfrm>
            <a:off x="3183941" y="2610612"/>
            <a:ext cx="5687568"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Daha farklı haber dili ve label semantics altında genelleme</a:t>
            </a:r>
            <a:endParaRPr lang="en-US" sz="1300" dirty="0"/>
          </a:p>
        </p:txBody>
      </p:sp>
      <p:sp>
        <p:nvSpPr>
          <p:cNvPr id="20" name="Shape 18"/>
          <p:cNvSpPr/>
          <p:nvPr/>
        </p:nvSpPr>
        <p:spPr>
          <a:xfrm>
            <a:off x="8944661" y="2537460"/>
            <a:ext cx="2439619" cy="582930"/>
          </a:xfrm>
          <a:prstGeom prst="rect">
            <a:avLst/>
          </a:prstGeom>
          <a:solidFill>
            <a:srgbClr val="F4F6FB"/>
          </a:solidFill>
          <a:ln w="6350">
            <a:solidFill>
              <a:srgbClr val="DDE3EF"/>
            </a:solidFill>
            <a:prstDash val="solid"/>
          </a:ln>
        </p:spPr>
      </p:sp>
      <p:sp>
        <p:nvSpPr>
          <p:cNvPr id="21" name="Text 19"/>
          <p:cNvSpPr/>
          <p:nvPr/>
        </p:nvSpPr>
        <p:spPr>
          <a:xfrm>
            <a:off x="9017813" y="2610612"/>
            <a:ext cx="229331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Hayır</a:t>
            </a:r>
            <a:endParaRPr lang="en-US" sz="1300" dirty="0"/>
          </a:p>
        </p:txBody>
      </p:sp>
      <p:sp>
        <p:nvSpPr>
          <p:cNvPr id="22" name="Shape 20"/>
          <p:cNvSpPr/>
          <p:nvPr/>
        </p:nvSpPr>
        <p:spPr>
          <a:xfrm>
            <a:off x="777240" y="3120390"/>
            <a:ext cx="2333549" cy="582930"/>
          </a:xfrm>
          <a:prstGeom prst="rect">
            <a:avLst/>
          </a:prstGeom>
          <a:solidFill>
            <a:srgbClr val="FFFFFF"/>
          </a:solidFill>
          <a:ln w="6350">
            <a:solidFill>
              <a:srgbClr val="DDE3EF"/>
            </a:solidFill>
            <a:prstDash val="solid"/>
          </a:ln>
        </p:spPr>
      </p:sp>
      <p:sp>
        <p:nvSpPr>
          <p:cNvPr id="23" name="Text 21"/>
          <p:cNvSpPr/>
          <p:nvPr/>
        </p:nvSpPr>
        <p:spPr>
          <a:xfrm>
            <a:off x="850392" y="3193542"/>
            <a:ext cx="218724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Synthetic</a:t>
            </a:r>
            <a:endParaRPr lang="en-US" sz="1300" dirty="0"/>
          </a:p>
        </p:txBody>
      </p:sp>
      <p:sp>
        <p:nvSpPr>
          <p:cNvPr id="24" name="Shape 22"/>
          <p:cNvSpPr/>
          <p:nvPr/>
        </p:nvSpPr>
        <p:spPr>
          <a:xfrm>
            <a:off x="3110789" y="3120390"/>
            <a:ext cx="5833872" cy="582930"/>
          </a:xfrm>
          <a:prstGeom prst="rect">
            <a:avLst/>
          </a:prstGeom>
          <a:solidFill>
            <a:srgbClr val="FFFFFF"/>
          </a:solidFill>
          <a:ln w="6350">
            <a:solidFill>
              <a:srgbClr val="DDE3EF"/>
            </a:solidFill>
            <a:prstDash val="solid"/>
          </a:ln>
        </p:spPr>
      </p:sp>
      <p:sp>
        <p:nvSpPr>
          <p:cNvPr id="25" name="Text 23"/>
          <p:cNvSpPr/>
          <p:nvPr/>
        </p:nvSpPr>
        <p:spPr>
          <a:xfrm>
            <a:off x="3183941" y="3193542"/>
            <a:ext cx="5687568"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Kontrollü ve dengeli sentetik benchmark davranışı</a:t>
            </a:r>
            <a:endParaRPr lang="en-US" sz="1300" dirty="0"/>
          </a:p>
        </p:txBody>
      </p:sp>
      <p:sp>
        <p:nvSpPr>
          <p:cNvPr id="26" name="Shape 24"/>
          <p:cNvSpPr/>
          <p:nvPr/>
        </p:nvSpPr>
        <p:spPr>
          <a:xfrm>
            <a:off x="8944661" y="3120390"/>
            <a:ext cx="2439619" cy="582930"/>
          </a:xfrm>
          <a:prstGeom prst="rect">
            <a:avLst/>
          </a:prstGeom>
          <a:solidFill>
            <a:srgbClr val="FFFFFF"/>
          </a:solidFill>
          <a:ln w="6350">
            <a:solidFill>
              <a:srgbClr val="DDE3EF"/>
            </a:solidFill>
            <a:prstDash val="solid"/>
          </a:ln>
        </p:spPr>
      </p:sp>
      <p:sp>
        <p:nvSpPr>
          <p:cNvPr id="27" name="Text 25"/>
          <p:cNvSpPr/>
          <p:nvPr/>
        </p:nvSpPr>
        <p:spPr>
          <a:xfrm>
            <a:off x="9017813" y="3193542"/>
            <a:ext cx="2293315" cy="491490"/>
          </a:xfrm>
          <a:prstGeom prst="rect">
            <a:avLst/>
          </a:prstGeom>
          <a:noFill/>
          <a:ln/>
        </p:spPr>
        <p:txBody>
          <a:bodyPr wrap="square" lIns="0" tIns="0" rIns="0" bIns="0" rtlCol="0" anchor="ctr">
            <a:normAutofit/>
          </a:bodyPr>
          <a:lstStyle/>
          <a:p>
            <a:pPr marL="0" indent="0">
              <a:buNone/>
            </a:pPr>
            <a:r>
              <a:rPr lang="en-US" sz="1300" dirty="0">
                <a:solidFill>
                  <a:srgbClr val="1A1E2A"/>
                </a:solidFill>
              </a:rPr>
              <a:t>Hayır</a:t>
            </a:r>
            <a:endParaRPr lang="en-US" sz="1300" dirty="0"/>
          </a:p>
        </p:txBody>
      </p:sp>
      <p:sp>
        <p:nvSpPr>
          <p:cNvPr id="28" name="Shape 26"/>
          <p:cNvSpPr/>
          <p:nvPr/>
        </p:nvSpPr>
        <p:spPr>
          <a:xfrm>
            <a:off x="914400" y="4343400"/>
            <a:ext cx="10149840" cy="685800"/>
          </a:xfrm>
          <a:prstGeom prst="roundRect">
            <a:avLst>
              <a:gd name="adj" fmla="val 10667"/>
            </a:avLst>
          </a:prstGeom>
          <a:solidFill>
            <a:srgbClr val="F0FAF8"/>
          </a:solidFill>
          <a:ln w="15240">
            <a:solidFill>
              <a:srgbClr val="0F9D8F"/>
            </a:solidFill>
            <a:prstDash val="solid"/>
          </a:ln>
        </p:spPr>
      </p:sp>
      <p:sp>
        <p:nvSpPr>
          <p:cNvPr id="29" name="Text 27"/>
          <p:cNvSpPr/>
          <p:nvPr/>
        </p:nvSpPr>
        <p:spPr>
          <a:xfrm>
            <a:off x="1078992" y="4489704"/>
            <a:ext cx="982065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bölüm, çalışmayı klasik model karşılaştırmasından domain generalization analizine taşıdı.</a:t>
            </a:r>
            <a:endParaRPr lang="en-US" sz="1500" dirty="0"/>
          </a:p>
        </p:txBody>
      </p:sp>
      <p:sp>
        <p:nvSpPr>
          <p:cNvPr id="30" name="Text 28"/>
          <p:cNvSpPr/>
          <p:nvPr/>
        </p:nvSpPr>
        <p:spPr>
          <a:xfrm>
            <a:off x="914400" y="5349240"/>
            <a:ext cx="2103120" cy="228600"/>
          </a:xfrm>
          <a:prstGeom prst="rect">
            <a:avLst/>
          </a:prstGeom>
          <a:noFill/>
          <a:ln/>
        </p:spPr>
        <p:txBody>
          <a:bodyPr wrap="square" lIns="0" tIns="0" rIns="0" bIns="0" rtlCol="0" anchor="ctr"/>
          <a:lstStyle/>
          <a:p>
            <a:pPr marL="0" indent="0">
              <a:buNone/>
            </a:pPr>
            <a:r>
              <a:rPr lang="en-US" sz="1550" b="1" dirty="0">
                <a:solidFill>
                  <a:srgbClr val="172033"/>
                </a:solidFill>
              </a:rPr>
              <a:t>Dış testlerin rolü</a:t>
            </a:r>
            <a:endParaRPr lang="en-US" sz="1550" dirty="0"/>
          </a:p>
        </p:txBody>
      </p:sp>
      <p:sp>
        <p:nvSpPr>
          <p:cNvPr id="31" name="Text 29"/>
          <p:cNvSpPr/>
          <p:nvPr/>
        </p:nvSpPr>
        <p:spPr>
          <a:xfrm>
            <a:off x="3383280" y="5349240"/>
            <a:ext cx="7360920" cy="274320"/>
          </a:xfrm>
          <a:prstGeom prst="rect">
            <a:avLst/>
          </a:prstGeom>
          <a:noFill/>
          <a:ln/>
        </p:spPr>
        <p:txBody>
          <a:bodyPr wrap="square" lIns="0" tIns="0" rIns="0" bIns="0" rtlCol="0" anchor="ctr">
            <a:normAutofit/>
          </a:bodyPr>
          <a:lstStyle/>
          <a:p>
            <a:pPr marL="0" indent="0">
              <a:buNone/>
            </a:pPr>
            <a:r>
              <a:rPr lang="en-US" sz="1450" dirty="0">
                <a:solidFill>
                  <a:srgbClr val="1A1E2A"/>
                </a:solidFill>
              </a:rPr>
              <a:t>Modelin eğitim dağılımından uzaklaşınca performansının ve hata davranışının nasıl değiştiğini ölçmek.</a:t>
            </a:r>
            <a:endParaRPr lang="en-US" sz="1450" dirty="0"/>
          </a:p>
        </p:txBody>
      </p:sp>
      <p:sp>
        <p:nvSpPr>
          <p:cNvPr id="32" name="Text 3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3" name="Text 3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20</a:t>
            </a:r>
            <a:endParaRPr lang="en-US" sz="850" dirty="0"/>
          </a:p>
        </p:txBody>
      </p:sp>
      <p:sp>
        <p:nvSpPr>
          <p:cNvPr id="34" name="Shape 3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S&amp;P 500 sonucu: RoBERTa dış veride de güçlü</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İç test sıralaması büyük ölçüde korundu; ancak performans düştü.</a:t>
            </a:r>
            <a:endParaRPr lang="en-US" sz="1450" dirty="0"/>
          </a:p>
        </p:txBody>
      </p:sp>
      <p:sp>
        <p:nvSpPr>
          <p:cNvPr id="4" name="Text 2"/>
          <p:cNvSpPr/>
          <p:nvPr/>
        </p:nvSpPr>
        <p:spPr>
          <a:xfrm>
            <a:off x="868680" y="1481328"/>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RoBERTa</a:t>
            </a:r>
            <a:endParaRPr lang="en-US" sz="1350" dirty="0"/>
          </a:p>
        </p:txBody>
      </p:sp>
      <p:sp>
        <p:nvSpPr>
          <p:cNvPr id="5" name="Shape 3"/>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p:cNvSpPr/>
          <p:nvPr/>
        </p:nvSpPr>
        <p:spPr>
          <a:xfrm>
            <a:off x="3154680" y="1527048"/>
            <a:ext cx="2672442" cy="256032"/>
          </a:xfrm>
          <a:prstGeom prst="rect">
            <a:avLst/>
          </a:prstGeom>
          <a:solidFill>
            <a:srgbClr val="0F9D8F"/>
          </a:solidFill>
          <a:ln w="12700">
            <a:solidFill>
              <a:srgbClr val="0F9D8F"/>
            </a:solidFill>
            <a:prstDash val="solid"/>
          </a:ln>
        </p:spPr>
      </p:sp>
      <p:sp>
        <p:nvSpPr>
          <p:cNvPr id="7" name="Text 5"/>
          <p:cNvSpPr/>
          <p:nvPr/>
        </p:nvSpPr>
        <p:spPr>
          <a:xfrm>
            <a:off x="6080760" y="1481328"/>
            <a:ext cx="640080" cy="512064"/>
          </a:xfrm>
          <a:prstGeom prst="rect">
            <a:avLst/>
          </a:prstGeom>
          <a:noFill/>
          <a:ln/>
        </p:spPr>
        <p:txBody>
          <a:bodyPr wrap="square" lIns="0" tIns="0" rIns="0" bIns="0" rtlCol="0" anchor="ctr"/>
          <a:lstStyle/>
          <a:p>
            <a:pPr marL="0" indent="0" algn="r">
              <a:buNone/>
            </a:pPr>
            <a:r>
              <a:rPr lang="en-US" sz="1350" b="1" dirty="0">
                <a:solidFill>
                  <a:srgbClr val="1A1E2A"/>
                </a:solidFill>
              </a:rPr>
              <a:t>0.8145</a:t>
            </a:r>
            <a:endParaRPr lang="en-US" sz="1350" dirty="0"/>
          </a:p>
        </p:txBody>
      </p:sp>
      <p:sp>
        <p:nvSpPr>
          <p:cNvPr id="8" name="Text 6"/>
          <p:cNvSpPr/>
          <p:nvPr/>
        </p:nvSpPr>
        <p:spPr>
          <a:xfrm>
            <a:off x="868680" y="2039112"/>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Fine-tuned FinBERT</a:t>
            </a:r>
            <a:endParaRPr lang="en-US" sz="1350" dirty="0"/>
          </a:p>
        </p:txBody>
      </p:sp>
      <p:sp>
        <p:nvSpPr>
          <p:cNvPr id="9" name="Shape 7"/>
          <p:cNvSpPr/>
          <p:nvPr/>
        </p:nvSpPr>
        <p:spPr>
          <a:xfrm>
            <a:off x="3154680" y="2084832"/>
            <a:ext cx="2788920" cy="256032"/>
          </a:xfrm>
          <a:prstGeom prst="rect">
            <a:avLst/>
          </a:prstGeom>
          <a:solidFill>
            <a:srgbClr val="E8ECF5"/>
          </a:solidFill>
          <a:ln w="12700">
            <a:solidFill>
              <a:srgbClr val="E8ECF5"/>
            </a:solidFill>
            <a:prstDash val="solid"/>
          </a:ln>
        </p:spPr>
      </p:sp>
      <p:sp>
        <p:nvSpPr>
          <p:cNvPr id="10" name="Shape 8"/>
          <p:cNvSpPr/>
          <p:nvPr/>
        </p:nvSpPr>
        <p:spPr>
          <a:xfrm>
            <a:off x="3154680" y="2084832"/>
            <a:ext cx="2533980" cy="256032"/>
          </a:xfrm>
          <a:prstGeom prst="rect">
            <a:avLst/>
          </a:prstGeom>
          <a:solidFill>
            <a:srgbClr val="3867D6"/>
          </a:solidFill>
          <a:ln w="12700">
            <a:solidFill>
              <a:srgbClr val="3867D6"/>
            </a:solidFill>
            <a:prstDash val="solid"/>
          </a:ln>
        </p:spPr>
      </p:sp>
      <p:sp>
        <p:nvSpPr>
          <p:cNvPr id="11" name="Text 9"/>
          <p:cNvSpPr/>
          <p:nvPr/>
        </p:nvSpPr>
        <p:spPr>
          <a:xfrm>
            <a:off x="6080760" y="2039112"/>
            <a:ext cx="640080" cy="512064"/>
          </a:xfrm>
          <a:prstGeom prst="rect">
            <a:avLst/>
          </a:prstGeom>
          <a:noFill/>
          <a:ln/>
        </p:spPr>
        <p:txBody>
          <a:bodyPr wrap="square" lIns="0" tIns="0" rIns="0" bIns="0" rtlCol="0" anchor="ctr"/>
          <a:lstStyle/>
          <a:p>
            <a:pPr marL="0" indent="0" algn="r">
              <a:buNone/>
            </a:pPr>
            <a:r>
              <a:rPr lang="en-US" sz="1350" b="1" dirty="0">
                <a:solidFill>
                  <a:srgbClr val="1A1E2A"/>
                </a:solidFill>
              </a:rPr>
              <a:t>0.7723</a:t>
            </a:r>
            <a:endParaRPr lang="en-US" sz="1350" dirty="0"/>
          </a:p>
        </p:txBody>
      </p:sp>
      <p:sp>
        <p:nvSpPr>
          <p:cNvPr id="12" name="Text 10"/>
          <p:cNvSpPr/>
          <p:nvPr/>
        </p:nvSpPr>
        <p:spPr>
          <a:xfrm>
            <a:off x="868680" y="2596896"/>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BERT</a:t>
            </a:r>
            <a:endParaRPr lang="en-US" sz="1350" dirty="0"/>
          </a:p>
        </p:txBody>
      </p:sp>
      <p:sp>
        <p:nvSpPr>
          <p:cNvPr id="13" name="Shape 11"/>
          <p:cNvSpPr/>
          <p:nvPr/>
        </p:nvSpPr>
        <p:spPr>
          <a:xfrm>
            <a:off x="3154680" y="2642616"/>
            <a:ext cx="2788920" cy="256032"/>
          </a:xfrm>
          <a:prstGeom prst="rect">
            <a:avLst/>
          </a:prstGeom>
          <a:solidFill>
            <a:srgbClr val="E8ECF5"/>
          </a:solidFill>
          <a:ln w="12700">
            <a:solidFill>
              <a:srgbClr val="E8ECF5"/>
            </a:solidFill>
            <a:prstDash val="solid"/>
          </a:ln>
        </p:spPr>
      </p:sp>
      <p:sp>
        <p:nvSpPr>
          <p:cNvPr id="14" name="Shape 12"/>
          <p:cNvSpPr/>
          <p:nvPr/>
        </p:nvSpPr>
        <p:spPr>
          <a:xfrm>
            <a:off x="3154680" y="2642616"/>
            <a:ext cx="2476889" cy="256032"/>
          </a:xfrm>
          <a:prstGeom prst="rect">
            <a:avLst/>
          </a:prstGeom>
          <a:solidFill>
            <a:srgbClr val="F4A62A"/>
          </a:solidFill>
          <a:ln w="12700">
            <a:solidFill>
              <a:srgbClr val="F4A62A"/>
            </a:solidFill>
            <a:prstDash val="solid"/>
          </a:ln>
        </p:spPr>
      </p:sp>
      <p:sp>
        <p:nvSpPr>
          <p:cNvPr id="15" name="Text 13"/>
          <p:cNvSpPr/>
          <p:nvPr/>
        </p:nvSpPr>
        <p:spPr>
          <a:xfrm>
            <a:off x="6080760" y="2596896"/>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0.7549</a:t>
            </a:r>
            <a:endParaRPr lang="en-US" sz="1350" dirty="0"/>
          </a:p>
        </p:txBody>
      </p:sp>
      <p:sp>
        <p:nvSpPr>
          <p:cNvPr id="16" name="Text 14"/>
          <p:cNvSpPr/>
          <p:nvPr/>
        </p:nvSpPr>
        <p:spPr>
          <a:xfrm>
            <a:off x="868680" y="3154680"/>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Original FinBERT</a:t>
            </a:r>
            <a:endParaRPr lang="en-US" sz="1350" dirty="0"/>
          </a:p>
        </p:txBody>
      </p:sp>
      <p:sp>
        <p:nvSpPr>
          <p:cNvPr id="17" name="Shape 15"/>
          <p:cNvSpPr/>
          <p:nvPr/>
        </p:nvSpPr>
        <p:spPr>
          <a:xfrm>
            <a:off x="3154680" y="3200400"/>
            <a:ext cx="2788920" cy="256032"/>
          </a:xfrm>
          <a:prstGeom prst="rect">
            <a:avLst/>
          </a:prstGeom>
          <a:solidFill>
            <a:srgbClr val="E8ECF5"/>
          </a:solidFill>
          <a:ln w="12700">
            <a:solidFill>
              <a:srgbClr val="E8ECF5"/>
            </a:solidFill>
            <a:prstDash val="solid"/>
          </a:ln>
        </p:spPr>
      </p:sp>
      <p:sp>
        <p:nvSpPr>
          <p:cNvPr id="18" name="Shape 16"/>
          <p:cNvSpPr/>
          <p:nvPr/>
        </p:nvSpPr>
        <p:spPr>
          <a:xfrm>
            <a:off x="3154680" y="3200400"/>
            <a:ext cx="2467702" cy="256032"/>
          </a:xfrm>
          <a:prstGeom prst="rect">
            <a:avLst/>
          </a:prstGeom>
          <a:solidFill>
            <a:srgbClr val="5E6A7D"/>
          </a:solidFill>
          <a:ln w="12700">
            <a:solidFill>
              <a:srgbClr val="5E6A7D"/>
            </a:solidFill>
            <a:prstDash val="solid"/>
          </a:ln>
        </p:spPr>
      </p:sp>
      <p:sp>
        <p:nvSpPr>
          <p:cNvPr id="19" name="Text 17"/>
          <p:cNvSpPr/>
          <p:nvPr/>
        </p:nvSpPr>
        <p:spPr>
          <a:xfrm>
            <a:off x="6080760" y="3154680"/>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0.7521</a:t>
            </a:r>
            <a:endParaRPr lang="en-US" sz="1350" dirty="0"/>
          </a:p>
        </p:txBody>
      </p:sp>
      <p:sp>
        <p:nvSpPr>
          <p:cNvPr id="20" name="Text 18"/>
          <p:cNvSpPr/>
          <p:nvPr/>
        </p:nvSpPr>
        <p:spPr>
          <a:xfrm>
            <a:off x="868680" y="3712464"/>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DistilBERT</a:t>
            </a:r>
            <a:endParaRPr lang="en-US" sz="1350" dirty="0"/>
          </a:p>
        </p:txBody>
      </p:sp>
      <p:sp>
        <p:nvSpPr>
          <p:cNvPr id="21" name="Shape 19"/>
          <p:cNvSpPr/>
          <p:nvPr/>
        </p:nvSpPr>
        <p:spPr>
          <a:xfrm>
            <a:off x="3154680" y="3758184"/>
            <a:ext cx="2788920" cy="256032"/>
          </a:xfrm>
          <a:prstGeom prst="rect">
            <a:avLst/>
          </a:prstGeom>
          <a:solidFill>
            <a:srgbClr val="E8ECF5"/>
          </a:solidFill>
          <a:ln w="12700">
            <a:solidFill>
              <a:srgbClr val="E8ECF5"/>
            </a:solidFill>
            <a:prstDash val="solid"/>
          </a:ln>
        </p:spPr>
      </p:sp>
      <p:sp>
        <p:nvSpPr>
          <p:cNvPr id="22" name="Shape 20"/>
          <p:cNvSpPr/>
          <p:nvPr/>
        </p:nvSpPr>
        <p:spPr>
          <a:xfrm>
            <a:off x="3154680" y="3758184"/>
            <a:ext cx="2464093" cy="256032"/>
          </a:xfrm>
          <a:prstGeom prst="rect">
            <a:avLst/>
          </a:prstGeom>
          <a:solidFill>
            <a:srgbClr val="1C8B5A"/>
          </a:solidFill>
          <a:ln w="12700">
            <a:solidFill>
              <a:srgbClr val="1C8B5A"/>
            </a:solidFill>
            <a:prstDash val="solid"/>
          </a:ln>
        </p:spPr>
      </p:sp>
      <p:sp>
        <p:nvSpPr>
          <p:cNvPr id="23" name="Text 21"/>
          <p:cNvSpPr/>
          <p:nvPr/>
        </p:nvSpPr>
        <p:spPr>
          <a:xfrm>
            <a:off x="6080760" y="3712464"/>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0.751</a:t>
            </a:r>
            <a:endParaRPr lang="en-US" sz="1350" dirty="0"/>
          </a:p>
        </p:txBody>
      </p:sp>
      <p:sp>
        <p:nvSpPr>
          <p:cNvPr id="24" name="Text 22"/>
          <p:cNvSpPr/>
          <p:nvPr/>
        </p:nvSpPr>
        <p:spPr>
          <a:xfrm>
            <a:off x="7315200" y="1508760"/>
            <a:ext cx="3977640" cy="1920240"/>
          </a:xfrm>
          <a:prstGeom prst="rect">
            <a:avLst/>
          </a:prstGeom>
          <a:noFill/>
          <a:ln/>
        </p:spPr>
        <p:txBody>
          <a:bodyPr wrap="square" lIns="635" tIns="635" rIns="635" bIns="635" rtlCol="0" anchor="ctr">
            <a:normAutofit/>
          </a:bodyPr>
          <a:lstStyle/>
          <a:p>
            <a:r>
              <a:rPr lang="en-US" sz="1600" dirty="0">
                <a:solidFill>
                  <a:srgbClr val="1A1E2A"/>
                </a:solidFill>
              </a:rPr>
              <a:t>RoBERTa S&amp;P setinde de birinci oldu.</a:t>
            </a:r>
            <a:endParaRPr lang="en-US" sz="1600" dirty="0"/>
          </a:p>
          <a:p>
            <a:r>
              <a:rPr lang="en-US" sz="1600" dirty="0">
                <a:solidFill>
                  <a:srgbClr val="1A1E2A"/>
                </a:solidFill>
              </a:rPr>
              <a:t>Ancak iç testteki ~0.87 düzeyinden ~0.81’e düşüş var.</a:t>
            </a:r>
            <a:endParaRPr lang="en-US" sz="1600" dirty="0"/>
          </a:p>
          <a:p>
            <a:r>
              <a:rPr lang="en-US" sz="1600" dirty="0">
                <a:solidFill>
                  <a:srgbClr val="1A1E2A"/>
                </a:solidFill>
              </a:rPr>
              <a:t>Bu düşüş veri kaynağı değiştiğinde performansın etkilenebildiğini gösteriyor.</a:t>
            </a:r>
            <a:endParaRPr lang="en-US" sz="1600" dirty="0"/>
          </a:p>
        </p:txBody>
      </p:sp>
      <p:sp>
        <p:nvSpPr>
          <p:cNvPr id="25" name="Shape 23"/>
          <p:cNvSpPr/>
          <p:nvPr/>
        </p:nvSpPr>
        <p:spPr>
          <a:xfrm>
            <a:off x="914400" y="4709160"/>
            <a:ext cx="10149840" cy="685800"/>
          </a:xfrm>
          <a:prstGeom prst="roundRect">
            <a:avLst>
              <a:gd name="adj" fmla="val 10667"/>
            </a:avLst>
          </a:prstGeom>
          <a:solidFill>
            <a:srgbClr val="F0FAF8"/>
          </a:solidFill>
          <a:ln w="15240">
            <a:solidFill>
              <a:srgbClr val="F4A62A"/>
            </a:solidFill>
            <a:prstDash val="solid"/>
          </a:ln>
        </p:spPr>
      </p:sp>
      <p:sp>
        <p:nvSpPr>
          <p:cNvPr id="26" name="Text 24"/>
          <p:cNvSpPr/>
          <p:nvPr/>
        </p:nvSpPr>
        <p:spPr>
          <a:xfrm>
            <a:off x="1078992" y="4855464"/>
            <a:ext cx="982065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S&amp;P sonucu: RoBERTa güçlü kaldı; fakat dış kaynağa çıkınca skor kaybı başladı.</a:t>
            </a:r>
            <a:endParaRPr lang="en-US" sz="1500" dirty="0"/>
          </a:p>
        </p:txBody>
      </p:sp>
      <p:sp>
        <p:nvSpPr>
          <p:cNvPr id="27" name="Text 25"/>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8" name="Text 26"/>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21</a:t>
            </a:r>
            <a:endParaRPr lang="en-US" sz="850" dirty="0"/>
          </a:p>
        </p:txBody>
      </p:sp>
      <p:sp>
        <p:nvSpPr>
          <p:cNvPr id="29" name="Shape 27"/>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Reuters sonucu: ana kırılma noktası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Fine-tuning iç testte kazandırdı; Reuters’ta avantaj tersine döndü.</a:t>
            </a:r>
            <a:endParaRPr lang="en-US" sz="1450" dirty="0"/>
          </a:p>
        </p:txBody>
      </p:sp>
      <p:sp>
        <p:nvSpPr>
          <p:cNvPr id="4" name="Text 2"/>
          <p:cNvSpPr/>
          <p:nvPr/>
        </p:nvSpPr>
        <p:spPr>
          <a:xfrm>
            <a:off x="868680" y="1481328"/>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Original FinBERT</a:t>
            </a:r>
            <a:endParaRPr lang="en-US" sz="1350" dirty="0"/>
          </a:p>
        </p:txBody>
      </p:sp>
      <p:sp>
        <p:nvSpPr>
          <p:cNvPr id="5" name="Shape 3"/>
          <p:cNvSpPr/>
          <p:nvPr/>
        </p:nvSpPr>
        <p:spPr>
          <a:xfrm>
            <a:off x="3154680" y="1527048"/>
            <a:ext cx="2788920" cy="256032"/>
          </a:xfrm>
          <a:prstGeom prst="rect">
            <a:avLst/>
          </a:prstGeom>
          <a:solidFill>
            <a:srgbClr val="E8ECF5"/>
          </a:solidFill>
          <a:ln w="12700">
            <a:solidFill>
              <a:srgbClr val="E8ECF5"/>
            </a:solidFill>
            <a:prstDash val="solid"/>
          </a:ln>
        </p:spPr>
      </p:sp>
      <p:sp>
        <p:nvSpPr>
          <p:cNvPr id="6" name="Shape 4"/>
          <p:cNvSpPr/>
          <p:nvPr/>
        </p:nvSpPr>
        <p:spPr>
          <a:xfrm>
            <a:off x="3154680" y="1527048"/>
            <a:ext cx="2659545" cy="256032"/>
          </a:xfrm>
          <a:prstGeom prst="rect">
            <a:avLst/>
          </a:prstGeom>
          <a:solidFill>
            <a:srgbClr val="5E6A7D"/>
          </a:solidFill>
          <a:ln w="12700">
            <a:solidFill>
              <a:srgbClr val="5E6A7D"/>
            </a:solidFill>
            <a:prstDash val="solid"/>
          </a:ln>
        </p:spPr>
      </p:sp>
      <p:sp>
        <p:nvSpPr>
          <p:cNvPr id="7" name="Text 5"/>
          <p:cNvSpPr/>
          <p:nvPr/>
        </p:nvSpPr>
        <p:spPr>
          <a:xfrm>
            <a:off x="6080760" y="1481328"/>
            <a:ext cx="640080" cy="512064"/>
          </a:xfrm>
          <a:prstGeom prst="rect">
            <a:avLst/>
          </a:prstGeom>
          <a:noFill/>
          <a:ln/>
        </p:spPr>
        <p:txBody>
          <a:bodyPr wrap="square" lIns="0" tIns="0" rIns="0" bIns="0" rtlCol="0" anchor="ctr"/>
          <a:lstStyle/>
          <a:p>
            <a:pPr marL="0" indent="0" algn="r">
              <a:buNone/>
            </a:pPr>
            <a:r>
              <a:rPr lang="en-US" sz="1350" b="1" dirty="0">
                <a:solidFill>
                  <a:srgbClr val="1A1E2A"/>
                </a:solidFill>
              </a:rPr>
              <a:t>0.6866</a:t>
            </a:r>
            <a:endParaRPr lang="en-US" sz="1350" dirty="0"/>
          </a:p>
        </p:txBody>
      </p:sp>
      <p:sp>
        <p:nvSpPr>
          <p:cNvPr id="8" name="Text 6"/>
          <p:cNvSpPr/>
          <p:nvPr/>
        </p:nvSpPr>
        <p:spPr>
          <a:xfrm>
            <a:off x="868680" y="2039112"/>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RoBERTa</a:t>
            </a:r>
            <a:endParaRPr lang="en-US" sz="1350" dirty="0"/>
          </a:p>
        </p:txBody>
      </p:sp>
      <p:sp>
        <p:nvSpPr>
          <p:cNvPr id="9" name="Shape 7"/>
          <p:cNvSpPr/>
          <p:nvPr/>
        </p:nvSpPr>
        <p:spPr>
          <a:xfrm>
            <a:off x="3154680" y="2084832"/>
            <a:ext cx="2788920" cy="256032"/>
          </a:xfrm>
          <a:prstGeom prst="rect">
            <a:avLst/>
          </a:prstGeom>
          <a:solidFill>
            <a:srgbClr val="E8ECF5"/>
          </a:solidFill>
          <a:ln w="12700">
            <a:solidFill>
              <a:srgbClr val="E8ECF5"/>
            </a:solidFill>
            <a:prstDash val="solid"/>
          </a:ln>
        </p:spPr>
      </p:sp>
      <p:sp>
        <p:nvSpPr>
          <p:cNvPr id="10" name="Shape 8"/>
          <p:cNvSpPr/>
          <p:nvPr/>
        </p:nvSpPr>
        <p:spPr>
          <a:xfrm>
            <a:off x="3154680" y="2084832"/>
            <a:ext cx="2474392" cy="256032"/>
          </a:xfrm>
          <a:prstGeom prst="rect">
            <a:avLst/>
          </a:prstGeom>
          <a:solidFill>
            <a:srgbClr val="0F9D8F"/>
          </a:solidFill>
          <a:ln w="12700">
            <a:solidFill>
              <a:srgbClr val="0F9D8F"/>
            </a:solidFill>
            <a:prstDash val="solid"/>
          </a:ln>
        </p:spPr>
      </p:sp>
      <p:sp>
        <p:nvSpPr>
          <p:cNvPr id="11" name="Text 9"/>
          <p:cNvSpPr/>
          <p:nvPr/>
        </p:nvSpPr>
        <p:spPr>
          <a:xfrm>
            <a:off x="6080760" y="2039112"/>
            <a:ext cx="640080" cy="512064"/>
          </a:xfrm>
          <a:prstGeom prst="rect">
            <a:avLst/>
          </a:prstGeom>
          <a:noFill/>
          <a:ln/>
        </p:spPr>
        <p:txBody>
          <a:bodyPr wrap="square" lIns="0" tIns="0" rIns="0" bIns="0" rtlCol="0" anchor="ctr"/>
          <a:lstStyle/>
          <a:p>
            <a:pPr marL="0" indent="0" algn="r">
              <a:buNone/>
            </a:pPr>
            <a:r>
              <a:rPr lang="en-US" sz="1350" b="1" dirty="0">
                <a:solidFill>
                  <a:srgbClr val="1A1E2A"/>
                </a:solidFill>
              </a:rPr>
              <a:t>0.6388</a:t>
            </a:r>
            <a:endParaRPr lang="en-US" sz="1350" dirty="0"/>
          </a:p>
        </p:txBody>
      </p:sp>
      <p:sp>
        <p:nvSpPr>
          <p:cNvPr id="12" name="Text 10"/>
          <p:cNvSpPr/>
          <p:nvPr/>
        </p:nvSpPr>
        <p:spPr>
          <a:xfrm>
            <a:off x="868680" y="2596896"/>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BERT</a:t>
            </a:r>
            <a:endParaRPr lang="en-US" sz="1350" dirty="0"/>
          </a:p>
        </p:txBody>
      </p:sp>
      <p:sp>
        <p:nvSpPr>
          <p:cNvPr id="13" name="Shape 11"/>
          <p:cNvSpPr/>
          <p:nvPr/>
        </p:nvSpPr>
        <p:spPr>
          <a:xfrm>
            <a:off x="3154680" y="2642616"/>
            <a:ext cx="2788920" cy="256032"/>
          </a:xfrm>
          <a:prstGeom prst="rect">
            <a:avLst/>
          </a:prstGeom>
          <a:solidFill>
            <a:srgbClr val="E8ECF5"/>
          </a:solidFill>
          <a:ln w="12700">
            <a:solidFill>
              <a:srgbClr val="E8ECF5"/>
            </a:solidFill>
            <a:prstDash val="solid"/>
          </a:ln>
        </p:spPr>
      </p:sp>
      <p:sp>
        <p:nvSpPr>
          <p:cNvPr id="14" name="Shape 12"/>
          <p:cNvSpPr/>
          <p:nvPr/>
        </p:nvSpPr>
        <p:spPr>
          <a:xfrm>
            <a:off x="3154680" y="2642616"/>
            <a:ext cx="2374843" cy="256032"/>
          </a:xfrm>
          <a:prstGeom prst="rect">
            <a:avLst/>
          </a:prstGeom>
          <a:solidFill>
            <a:srgbClr val="F4A62A"/>
          </a:solidFill>
          <a:ln w="12700">
            <a:solidFill>
              <a:srgbClr val="F4A62A"/>
            </a:solidFill>
            <a:prstDash val="solid"/>
          </a:ln>
        </p:spPr>
      </p:sp>
      <p:sp>
        <p:nvSpPr>
          <p:cNvPr id="15" name="Text 13"/>
          <p:cNvSpPr/>
          <p:nvPr/>
        </p:nvSpPr>
        <p:spPr>
          <a:xfrm>
            <a:off x="6080760" y="2596896"/>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0.6131</a:t>
            </a:r>
            <a:endParaRPr lang="en-US" sz="1350" dirty="0"/>
          </a:p>
        </p:txBody>
      </p:sp>
      <p:sp>
        <p:nvSpPr>
          <p:cNvPr id="16" name="Text 14"/>
          <p:cNvSpPr/>
          <p:nvPr/>
        </p:nvSpPr>
        <p:spPr>
          <a:xfrm>
            <a:off x="868680" y="3154680"/>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Fine-tuned FinBERT</a:t>
            </a:r>
            <a:endParaRPr lang="en-US" sz="1350" dirty="0"/>
          </a:p>
        </p:txBody>
      </p:sp>
      <p:sp>
        <p:nvSpPr>
          <p:cNvPr id="17" name="Shape 15"/>
          <p:cNvSpPr/>
          <p:nvPr/>
        </p:nvSpPr>
        <p:spPr>
          <a:xfrm>
            <a:off x="3154680" y="3200400"/>
            <a:ext cx="2788920" cy="256032"/>
          </a:xfrm>
          <a:prstGeom prst="rect">
            <a:avLst/>
          </a:prstGeom>
          <a:solidFill>
            <a:srgbClr val="E8ECF5"/>
          </a:solidFill>
          <a:ln w="12700">
            <a:solidFill>
              <a:srgbClr val="E8ECF5"/>
            </a:solidFill>
            <a:prstDash val="solid"/>
          </a:ln>
        </p:spPr>
      </p:sp>
      <p:sp>
        <p:nvSpPr>
          <p:cNvPr id="18" name="Shape 16"/>
          <p:cNvSpPr/>
          <p:nvPr/>
        </p:nvSpPr>
        <p:spPr>
          <a:xfrm>
            <a:off x="3154680" y="3200400"/>
            <a:ext cx="2363222" cy="256032"/>
          </a:xfrm>
          <a:prstGeom prst="rect">
            <a:avLst/>
          </a:prstGeom>
          <a:solidFill>
            <a:srgbClr val="3867D6"/>
          </a:solidFill>
          <a:ln w="12700">
            <a:solidFill>
              <a:srgbClr val="3867D6"/>
            </a:solidFill>
            <a:prstDash val="solid"/>
          </a:ln>
        </p:spPr>
      </p:sp>
      <p:sp>
        <p:nvSpPr>
          <p:cNvPr id="19" name="Text 17"/>
          <p:cNvSpPr/>
          <p:nvPr/>
        </p:nvSpPr>
        <p:spPr>
          <a:xfrm>
            <a:off x="6080760" y="3154680"/>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0.6101</a:t>
            </a:r>
            <a:endParaRPr lang="en-US" sz="1350" dirty="0"/>
          </a:p>
        </p:txBody>
      </p:sp>
      <p:sp>
        <p:nvSpPr>
          <p:cNvPr id="20" name="Text 18"/>
          <p:cNvSpPr/>
          <p:nvPr/>
        </p:nvSpPr>
        <p:spPr>
          <a:xfrm>
            <a:off x="868680" y="3712464"/>
            <a:ext cx="2286000" cy="512064"/>
          </a:xfrm>
          <a:prstGeom prst="rect">
            <a:avLst/>
          </a:prstGeom>
          <a:noFill/>
          <a:ln/>
        </p:spPr>
        <p:txBody>
          <a:bodyPr wrap="square" lIns="0" tIns="0" rIns="0" bIns="0" rtlCol="0" anchor="ctr">
            <a:normAutofit/>
          </a:bodyPr>
          <a:lstStyle/>
          <a:p>
            <a:pPr marL="0" indent="0">
              <a:buNone/>
            </a:pPr>
            <a:r>
              <a:rPr lang="en-US" sz="1350" dirty="0">
                <a:solidFill>
                  <a:srgbClr val="1A1E2A"/>
                </a:solidFill>
              </a:rPr>
              <a:t>DistilBERT</a:t>
            </a:r>
            <a:endParaRPr lang="en-US" sz="1350" dirty="0"/>
          </a:p>
        </p:txBody>
      </p:sp>
      <p:sp>
        <p:nvSpPr>
          <p:cNvPr id="21" name="Shape 19"/>
          <p:cNvSpPr/>
          <p:nvPr/>
        </p:nvSpPr>
        <p:spPr>
          <a:xfrm>
            <a:off x="3154680" y="3758184"/>
            <a:ext cx="2788920" cy="256032"/>
          </a:xfrm>
          <a:prstGeom prst="rect">
            <a:avLst/>
          </a:prstGeom>
          <a:solidFill>
            <a:srgbClr val="E8ECF5"/>
          </a:solidFill>
          <a:ln w="12700">
            <a:solidFill>
              <a:srgbClr val="E8ECF5"/>
            </a:solidFill>
            <a:prstDash val="solid"/>
          </a:ln>
        </p:spPr>
      </p:sp>
      <p:sp>
        <p:nvSpPr>
          <p:cNvPr id="22" name="Shape 20"/>
          <p:cNvSpPr/>
          <p:nvPr/>
        </p:nvSpPr>
        <p:spPr>
          <a:xfrm>
            <a:off x="3154680" y="3758184"/>
            <a:ext cx="2273357" cy="256032"/>
          </a:xfrm>
          <a:prstGeom prst="rect">
            <a:avLst/>
          </a:prstGeom>
          <a:solidFill>
            <a:srgbClr val="1C8B5A"/>
          </a:solidFill>
          <a:ln w="12700">
            <a:solidFill>
              <a:srgbClr val="1C8B5A"/>
            </a:solidFill>
            <a:prstDash val="solid"/>
          </a:ln>
        </p:spPr>
      </p:sp>
      <p:sp>
        <p:nvSpPr>
          <p:cNvPr id="23" name="Text 21"/>
          <p:cNvSpPr/>
          <p:nvPr/>
        </p:nvSpPr>
        <p:spPr>
          <a:xfrm>
            <a:off x="6080760" y="3712464"/>
            <a:ext cx="640080" cy="512064"/>
          </a:xfrm>
          <a:prstGeom prst="rect">
            <a:avLst/>
          </a:prstGeom>
          <a:noFill/>
          <a:ln/>
        </p:spPr>
        <p:txBody>
          <a:bodyPr wrap="square" lIns="0" tIns="0" rIns="0" bIns="0" rtlCol="0" anchor="ctr"/>
          <a:lstStyle/>
          <a:p>
            <a:pPr marL="0" indent="0" algn="r">
              <a:buNone/>
            </a:pPr>
            <a:r>
              <a:rPr lang="en-US" sz="1350" dirty="0">
                <a:solidFill>
                  <a:srgbClr val="1A1E2A"/>
                </a:solidFill>
              </a:rPr>
              <a:t>0.5869</a:t>
            </a:r>
            <a:endParaRPr lang="en-US" sz="1350" dirty="0"/>
          </a:p>
        </p:txBody>
      </p:sp>
      <p:sp>
        <p:nvSpPr>
          <p:cNvPr id="24" name="Text 22"/>
          <p:cNvSpPr/>
          <p:nvPr/>
        </p:nvSpPr>
        <p:spPr>
          <a:xfrm>
            <a:off x="7315200" y="1417320"/>
            <a:ext cx="3474720" cy="274320"/>
          </a:xfrm>
          <a:prstGeom prst="rect">
            <a:avLst/>
          </a:prstGeom>
          <a:noFill/>
          <a:ln/>
        </p:spPr>
        <p:txBody>
          <a:bodyPr wrap="square" lIns="0" tIns="0" rIns="0" bIns="0" rtlCol="0" anchor="ctr"/>
          <a:lstStyle/>
          <a:p>
            <a:pPr marL="0" indent="0">
              <a:buNone/>
            </a:pPr>
            <a:r>
              <a:rPr lang="en-US" sz="1800" b="1" dirty="0">
                <a:solidFill>
                  <a:srgbClr val="172033"/>
                </a:solidFill>
              </a:rPr>
              <a:t>En önemli bulgu</a:t>
            </a:r>
            <a:endParaRPr lang="en-US" sz="1800" dirty="0"/>
          </a:p>
        </p:txBody>
      </p:sp>
      <p:sp>
        <p:nvSpPr>
          <p:cNvPr id="25" name="Text 23"/>
          <p:cNvSpPr/>
          <p:nvPr/>
        </p:nvSpPr>
        <p:spPr>
          <a:xfrm>
            <a:off x="7315200" y="1874520"/>
            <a:ext cx="3840480" cy="502920"/>
          </a:xfrm>
          <a:prstGeom prst="rect">
            <a:avLst/>
          </a:prstGeom>
          <a:noFill/>
          <a:ln/>
        </p:spPr>
        <p:txBody>
          <a:bodyPr wrap="square" lIns="0" tIns="0" rIns="0" bIns="0" rtlCol="0" anchor="ctr">
            <a:normAutofit/>
          </a:bodyPr>
          <a:lstStyle/>
          <a:p>
            <a:pPr marL="0" indent="0">
              <a:buNone/>
            </a:pPr>
            <a:r>
              <a:rPr lang="en-US" sz="2000" b="1" dirty="0">
                <a:solidFill>
                  <a:srgbClr val="D64545"/>
                </a:solidFill>
              </a:rPr>
              <a:t>Original FinBERT, Reuters’ta fine-tuned FinBERT’i geçti.</a:t>
            </a:r>
            <a:endParaRPr lang="en-US" sz="2000" dirty="0"/>
          </a:p>
        </p:txBody>
      </p:sp>
      <p:sp>
        <p:nvSpPr>
          <p:cNvPr id="26" name="Text 24"/>
          <p:cNvSpPr/>
          <p:nvPr/>
        </p:nvSpPr>
        <p:spPr>
          <a:xfrm>
            <a:off x="7315200" y="2743200"/>
            <a:ext cx="3840480" cy="1097280"/>
          </a:xfrm>
          <a:prstGeom prst="rect">
            <a:avLst/>
          </a:prstGeom>
          <a:noFill/>
          <a:ln/>
        </p:spPr>
        <p:txBody>
          <a:bodyPr wrap="square" lIns="381" tIns="381" rIns="381" bIns="381" rtlCol="0" anchor="ctr">
            <a:normAutofit/>
          </a:bodyPr>
          <a:lstStyle/>
          <a:p>
            <a:pPr marL="0" indent="0">
              <a:buNone/>
            </a:pPr>
            <a:r>
              <a:rPr lang="en-US" sz="1550" dirty="0">
                <a:solidFill>
                  <a:srgbClr val="1A1E2A"/>
                </a:solidFill>
              </a:rPr>
              <a:t>Bu sonuç fine-tuning’in yalnızca iç dağılım başarısını artırmadığını; bazen dış dağılım genellemesini azaltabileceğini düşündürdü.</a:t>
            </a:r>
            <a:endParaRPr lang="en-US" sz="1550" dirty="0"/>
          </a:p>
        </p:txBody>
      </p:sp>
      <p:sp>
        <p:nvSpPr>
          <p:cNvPr id="27" name="Shape 25"/>
          <p:cNvSpPr/>
          <p:nvPr/>
        </p:nvSpPr>
        <p:spPr>
          <a:xfrm>
            <a:off x="914400" y="4709160"/>
            <a:ext cx="10149840" cy="685800"/>
          </a:xfrm>
          <a:prstGeom prst="roundRect">
            <a:avLst>
              <a:gd name="adj" fmla="val 10667"/>
            </a:avLst>
          </a:prstGeom>
          <a:solidFill>
            <a:srgbClr val="F0FAF8"/>
          </a:solidFill>
          <a:ln w="15240">
            <a:solidFill>
              <a:srgbClr val="D64545"/>
            </a:solidFill>
            <a:prstDash val="solid"/>
          </a:ln>
        </p:spPr>
      </p:sp>
      <p:sp>
        <p:nvSpPr>
          <p:cNvPr id="28" name="Text 26"/>
          <p:cNvSpPr/>
          <p:nvPr/>
        </p:nvSpPr>
        <p:spPr>
          <a:xfrm>
            <a:off x="1078992" y="4855464"/>
            <a:ext cx="982065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Reuters sonucu tezin ana mesajını oluşturdu: iç test başarısı ≠ dış genelleme.</a:t>
            </a:r>
            <a:endParaRPr lang="en-US" sz="1500" dirty="0"/>
          </a:p>
        </p:txBody>
      </p:sp>
      <p:sp>
        <p:nvSpPr>
          <p:cNvPr id="29" name="Text 27"/>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0" name="Text 28"/>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22</a:t>
            </a:r>
            <a:endParaRPr lang="en-US" sz="850" dirty="0"/>
          </a:p>
        </p:txBody>
      </p:sp>
      <p:sp>
        <p:nvSpPr>
          <p:cNvPr id="31" name="Shape 29"/>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240280"/>
            <a:ext cx="10789920" cy="685800"/>
          </a:xfrm>
          <a:prstGeom prst="rect">
            <a:avLst/>
          </a:prstGeom>
          <a:noFill/>
          <a:ln/>
        </p:spPr>
        <p:txBody>
          <a:bodyPr wrap="square" lIns="0" tIns="0" rIns="0" bIns="0" rtlCol="0" anchor="ctr"/>
          <a:lstStyle/>
          <a:p>
            <a:pPr marL="0" indent="0" algn="ctr">
              <a:buNone/>
            </a:pPr>
            <a:r>
              <a:rPr lang="en-US" sz="3600" b="1" dirty="0">
                <a:solidFill>
                  <a:srgbClr val="FFFFFF"/>
                </a:solidFill>
              </a:rPr>
              <a:t>« HATA ve TANISAL ANALİZLER »</a:t>
            </a:r>
            <a:endParaRPr lang="en-US" sz="3600" dirty="0"/>
          </a:p>
        </p:txBody>
      </p:sp>
      <p:sp>
        <p:nvSpPr>
          <p:cNvPr id="3" name="Text 1"/>
          <p:cNvSpPr/>
          <p:nvPr/>
        </p:nvSpPr>
        <p:spPr>
          <a:xfrm>
            <a:off x="1554480" y="3063240"/>
            <a:ext cx="9144000" cy="502920"/>
          </a:xfrm>
          <a:prstGeom prst="rect">
            <a:avLst/>
          </a:prstGeom>
          <a:noFill/>
          <a:ln/>
        </p:spPr>
        <p:txBody>
          <a:bodyPr wrap="square" lIns="0" tIns="0" rIns="0" bIns="0" rtlCol="0" anchor="ctr">
            <a:normAutofit/>
          </a:bodyPr>
          <a:lstStyle/>
          <a:p>
            <a:pPr marL="0" indent="0" algn="ctr">
              <a:buNone/>
            </a:pPr>
            <a:r>
              <a:rPr lang="en-US" sz="1800" dirty="0">
                <a:solidFill>
                  <a:srgbClr val="DCE6FF"/>
                </a:solidFill>
              </a:rPr>
              <a:t>Model neden düşüyor? Neutral, label semantics ve veri etkisi</a:t>
            </a:r>
            <a:endParaRPr lang="en-US" sz="1800" dirty="0"/>
          </a:p>
        </p:txBody>
      </p:sp>
      <p:sp>
        <p:nvSpPr>
          <p:cNvPr id="4" name="Text 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5" name="Text 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23</a:t>
            </a:r>
            <a:endParaRPr lang="en-US" sz="850" dirty="0"/>
          </a:p>
        </p:txBody>
      </p:sp>
      <p:sp>
        <p:nvSpPr>
          <p:cNvPr id="6" name="Shape 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Neutral sınıfı: performans düşüşünün merkezi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Fine-tuned FinBERT farklı kaynaklarda Neutral sınıfını koruyamadı.</a:t>
            </a:r>
            <a:endParaRPr lang="en-US" sz="1450" dirty="0"/>
          </a:p>
        </p:txBody>
      </p:sp>
      <p:sp>
        <p:nvSpPr>
          <p:cNvPr id="4" name="Text 2"/>
          <p:cNvSpPr/>
          <p:nvPr/>
        </p:nvSpPr>
        <p:spPr>
          <a:xfrm>
            <a:off x="868680" y="1481328"/>
            <a:ext cx="2743200" cy="582930"/>
          </a:xfrm>
          <a:prstGeom prst="rect">
            <a:avLst/>
          </a:prstGeom>
          <a:noFill/>
          <a:ln/>
        </p:spPr>
        <p:txBody>
          <a:bodyPr wrap="square" lIns="0" tIns="0" rIns="0" bIns="0" rtlCol="0" anchor="ctr">
            <a:normAutofit/>
          </a:bodyPr>
          <a:lstStyle/>
          <a:p>
            <a:pPr marL="0" indent="0">
              <a:buNone/>
            </a:pPr>
            <a:r>
              <a:rPr lang="en-US" sz="1350" dirty="0">
                <a:solidFill>
                  <a:srgbClr val="1A1E2A"/>
                </a:solidFill>
              </a:rPr>
              <a:t>Synthetic Neutral F1</a:t>
            </a:r>
            <a:endParaRPr lang="en-US" sz="1350" dirty="0"/>
          </a:p>
        </p:txBody>
      </p:sp>
      <p:sp>
        <p:nvSpPr>
          <p:cNvPr id="5" name="Shape 3"/>
          <p:cNvSpPr/>
          <p:nvPr/>
        </p:nvSpPr>
        <p:spPr>
          <a:xfrm>
            <a:off x="3611880" y="1527048"/>
            <a:ext cx="2331720" cy="256032"/>
          </a:xfrm>
          <a:prstGeom prst="rect">
            <a:avLst/>
          </a:prstGeom>
          <a:solidFill>
            <a:srgbClr val="E8ECF5"/>
          </a:solidFill>
          <a:ln w="12700">
            <a:solidFill>
              <a:srgbClr val="E8ECF5"/>
            </a:solidFill>
            <a:prstDash val="solid"/>
          </a:ln>
        </p:spPr>
      </p:sp>
      <p:sp>
        <p:nvSpPr>
          <p:cNvPr id="6" name="Shape 4"/>
          <p:cNvSpPr/>
          <p:nvPr/>
        </p:nvSpPr>
        <p:spPr>
          <a:xfrm>
            <a:off x="3611880" y="1527048"/>
            <a:ext cx="2302807" cy="256032"/>
          </a:xfrm>
          <a:prstGeom prst="rect">
            <a:avLst/>
          </a:prstGeom>
          <a:solidFill>
            <a:srgbClr val="1C8B5A"/>
          </a:solidFill>
          <a:ln w="12700">
            <a:solidFill>
              <a:srgbClr val="1C8B5A"/>
            </a:solidFill>
            <a:prstDash val="solid"/>
          </a:ln>
        </p:spPr>
      </p:sp>
      <p:sp>
        <p:nvSpPr>
          <p:cNvPr id="7" name="Text 5"/>
          <p:cNvSpPr/>
          <p:nvPr/>
        </p:nvSpPr>
        <p:spPr>
          <a:xfrm>
            <a:off x="6080760" y="1481328"/>
            <a:ext cx="640080" cy="582930"/>
          </a:xfrm>
          <a:prstGeom prst="rect">
            <a:avLst/>
          </a:prstGeom>
          <a:noFill/>
          <a:ln/>
        </p:spPr>
        <p:txBody>
          <a:bodyPr wrap="square" lIns="0" tIns="0" rIns="0" bIns="0" rtlCol="0" anchor="ctr"/>
          <a:lstStyle/>
          <a:p>
            <a:pPr marL="0" indent="0" algn="r">
              <a:buNone/>
            </a:pPr>
            <a:r>
              <a:rPr lang="en-US" sz="1350" dirty="0">
                <a:solidFill>
                  <a:srgbClr val="1A1E2A"/>
                </a:solidFill>
              </a:rPr>
              <a:t>0.9876</a:t>
            </a:r>
            <a:endParaRPr lang="en-US" sz="1350" dirty="0"/>
          </a:p>
        </p:txBody>
      </p:sp>
      <p:sp>
        <p:nvSpPr>
          <p:cNvPr id="8" name="Text 6"/>
          <p:cNvSpPr/>
          <p:nvPr/>
        </p:nvSpPr>
        <p:spPr>
          <a:xfrm>
            <a:off x="868680" y="2109978"/>
            <a:ext cx="2743200" cy="582930"/>
          </a:xfrm>
          <a:prstGeom prst="rect">
            <a:avLst/>
          </a:prstGeom>
          <a:noFill/>
          <a:ln/>
        </p:spPr>
        <p:txBody>
          <a:bodyPr wrap="square" lIns="0" tIns="0" rIns="0" bIns="0" rtlCol="0" anchor="ctr">
            <a:normAutofit/>
          </a:bodyPr>
          <a:lstStyle/>
          <a:p>
            <a:pPr marL="0" indent="0">
              <a:buNone/>
            </a:pPr>
            <a:r>
              <a:rPr lang="en-US" sz="1350" dirty="0">
                <a:solidFill>
                  <a:srgbClr val="1A1E2A"/>
                </a:solidFill>
              </a:rPr>
              <a:t>Internal Neutral F1</a:t>
            </a:r>
            <a:endParaRPr lang="en-US" sz="1350" dirty="0"/>
          </a:p>
        </p:txBody>
      </p:sp>
      <p:sp>
        <p:nvSpPr>
          <p:cNvPr id="9" name="Shape 7"/>
          <p:cNvSpPr/>
          <p:nvPr/>
        </p:nvSpPr>
        <p:spPr>
          <a:xfrm>
            <a:off x="3611880" y="2155698"/>
            <a:ext cx="2331720" cy="256032"/>
          </a:xfrm>
          <a:prstGeom prst="rect">
            <a:avLst/>
          </a:prstGeom>
          <a:solidFill>
            <a:srgbClr val="E8ECF5"/>
          </a:solidFill>
          <a:ln w="12700">
            <a:solidFill>
              <a:srgbClr val="E8ECF5"/>
            </a:solidFill>
            <a:prstDash val="solid"/>
          </a:ln>
        </p:spPr>
      </p:sp>
      <p:sp>
        <p:nvSpPr>
          <p:cNvPr id="10" name="Shape 8"/>
          <p:cNvSpPr/>
          <p:nvPr/>
        </p:nvSpPr>
        <p:spPr>
          <a:xfrm>
            <a:off x="3611880" y="2155698"/>
            <a:ext cx="2135156" cy="256032"/>
          </a:xfrm>
          <a:prstGeom prst="rect">
            <a:avLst/>
          </a:prstGeom>
          <a:solidFill>
            <a:srgbClr val="3867D6"/>
          </a:solidFill>
          <a:ln w="12700">
            <a:solidFill>
              <a:srgbClr val="3867D6"/>
            </a:solidFill>
            <a:prstDash val="solid"/>
          </a:ln>
        </p:spPr>
      </p:sp>
      <p:sp>
        <p:nvSpPr>
          <p:cNvPr id="11" name="Text 9"/>
          <p:cNvSpPr/>
          <p:nvPr/>
        </p:nvSpPr>
        <p:spPr>
          <a:xfrm>
            <a:off x="6080760" y="2109978"/>
            <a:ext cx="640080" cy="582930"/>
          </a:xfrm>
          <a:prstGeom prst="rect">
            <a:avLst/>
          </a:prstGeom>
          <a:noFill/>
          <a:ln/>
        </p:spPr>
        <p:txBody>
          <a:bodyPr wrap="square" lIns="0" tIns="0" rIns="0" bIns="0" rtlCol="0" anchor="ctr"/>
          <a:lstStyle/>
          <a:p>
            <a:pPr marL="0" indent="0" algn="r">
              <a:buNone/>
            </a:pPr>
            <a:r>
              <a:rPr lang="en-US" sz="1350" b="1" dirty="0">
                <a:solidFill>
                  <a:srgbClr val="1A1E2A"/>
                </a:solidFill>
              </a:rPr>
              <a:t>0.9157</a:t>
            </a:r>
            <a:endParaRPr lang="en-US" sz="1350" dirty="0"/>
          </a:p>
        </p:txBody>
      </p:sp>
      <p:sp>
        <p:nvSpPr>
          <p:cNvPr id="12" name="Text 10"/>
          <p:cNvSpPr/>
          <p:nvPr/>
        </p:nvSpPr>
        <p:spPr>
          <a:xfrm>
            <a:off x="868680" y="2738628"/>
            <a:ext cx="2743200" cy="582930"/>
          </a:xfrm>
          <a:prstGeom prst="rect">
            <a:avLst/>
          </a:prstGeom>
          <a:noFill/>
          <a:ln/>
        </p:spPr>
        <p:txBody>
          <a:bodyPr wrap="square" lIns="0" tIns="0" rIns="0" bIns="0" rtlCol="0" anchor="ctr">
            <a:normAutofit/>
          </a:bodyPr>
          <a:lstStyle/>
          <a:p>
            <a:pPr marL="0" indent="0">
              <a:buNone/>
            </a:pPr>
            <a:r>
              <a:rPr lang="en-US" sz="1350" dirty="0">
                <a:solidFill>
                  <a:srgbClr val="1A1E2A"/>
                </a:solidFill>
              </a:rPr>
              <a:t>S&amp;P Neutral F1</a:t>
            </a:r>
            <a:endParaRPr lang="en-US" sz="1350" dirty="0"/>
          </a:p>
        </p:txBody>
      </p:sp>
      <p:sp>
        <p:nvSpPr>
          <p:cNvPr id="13" name="Shape 11"/>
          <p:cNvSpPr/>
          <p:nvPr/>
        </p:nvSpPr>
        <p:spPr>
          <a:xfrm>
            <a:off x="3611880" y="2784348"/>
            <a:ext cx="2331720" cy="256032"/>
          </a:xfrm>
          <a:prstGeom prst="rect">
            <a:avLst/>
          </a:prstGeom>
          <a:solidFill>
            <a:srgbClr val="E8ECF5"/>
          </a:solidFill>
          <a:ln w="12700">
            <a:solidFill>
              <a:srgbClr val="E8ECF5"/>
            </a:solidFill>
            <a:prstDash val="solid"/>
          </a:ln>
        </p:spPr>
      </p:sp>
      <p:sp>
        <p:nvSpPr>
          <p:cNvPr id="14" name="Shape 12"/>
          <p:cNvSpPr/>
          <p:nvPr/>
        </p:nvSpPr>
        <p:spPr>
          <a:xfrm>
            <a:off x="3611880" y="2784348"/>
            <a:ext cx="1757651" cy="256032"/>
          </a:xfrm>
          <a:prstGeom prst="rect">
            <a:avLst/>
          </a:prstGeom>
          <a:solidFill>
            <a:srgbClr val="F4A62A"/>
          </a:solidFill>
          <a:ln w="12700">
            <a:solidFill>
              <a:srgbClr val="F4A62A"/>
            </a:solidFill>
            <a:prstDash val="solid"/>
          </a:ln>
        </p:spPr>
      </p:sp>
      <p:sp>
        <p:nvSpPr>
          <p:cNvPr id="15" name="Text 13"/>
          <p:cNvSpPr/>
          <p:nvPr/>
        </p:nvSpPr>
        <p:spPr>
          <a:xfrm>
            <a:off x="6080760" y="2738628"/>
            <a:ext cx="640080" cy="582930"/>
          </a:xfrm>
          <a:prstGeom prst="rect">
            <a:avLst/>
          </a:prstGeom>
          <a:noFill/>
          <a:ln/>
        </p:spPr>
        <p:txBody>
          <a:bodyPr wrap="square" lIns="0" tIns="0" rIns="0" bIns="0" rtlCol="0" anchor="ctr"/>
          <a:lstStyle/>
          <a:p>
            <a:pPr marL="0" indent="0" algn="r">
              <a:buNone/>
            </a:pPr>
            <a:r>
              <a:rPr lang="en-US" sz="1350" dirty="0">
                <a:solidFill>
                  <a:srgbClr val="1A1E2A"/>
                </a:solidFill>
              </a:rPr>
              <a:t>0.7538</a:t>
            </a:r>
            <a:endParaRPr lang="en-US" sz="1350" dirty="0"/>
          </a:p>
        </p:txBody>
      </p:sp>
      <p:sp>
        <p:nvSpPr>
          <p:cNvPr id="16" name="Text 14"/>
          <p:cNvSpPr/>
          <p:nvPr/>
        </p:nvSpPr>
        <p:spPr>
          <a:xfrm>
            <a:off x="868680" y="3367278"/>
            <a:ext cx="2743200" cy="582930"/>
          </a:xfrm>
          <a:prstGeom prst="rect">
            <a:avLst/>
          </a:prstGeom>
          <a:noFill/>
          <a:ln/>
        </p:spPr>
        <p:txBody>
          <a:bodyPr wrap="square" lIns="0" tIns="0" rIns="0" bIns="0" rtlCol="0" anchor="ctr">
            <a:normAutofit/>
          </a:bodyPr>
          <a:lstStyle/>
          <a:p>
            <a:pPr marL="0" indent="0">
              <a:buNone/>
            </a:pPr>
            <a:r>
              <a:rPr lang="en-US" sz="1350" dirty="0">
                <a:solidFill>
                  <a:srgbClr val="1A1E2A"/>
                </a:solidFill>
              </a:rPr>
              <a:t>Reuters Neutral F1</a:t>
            </a:r>
            <a:endParaRPr lang="en-US" sz="1350" dirty="0"/>
          </a:p>
        </p:txBody>
      </p:sp>
      <p:sp>
        <p:nvSpPr>
          <p:cNvPr id="17" name="Shape 15"/>
          <p:cNvSpPr/>
          <p:nvPr/>
        </p:nvSpPr>
        <p:spPr>
          <a:xfrm>
            <a:off x="3611880" y="3412998"/>
            <a:ext cx="2331720" cy="256032"/>
          </a:xfrm>
          <a:prstGeom prst="rect">
            <a:avLst/>
          </a:prstGeom>
          <a:solidFill>
            <a:srgbClr val="E8ECF5"/>
          </a:solidFill>
          <a:ln w="12700">
            <a:solidFill>
              <a:srgbClr val="E8ECF5"/>
            </a:solidFill>
            <a:prstDash val="solid"/>
          </a:ln>
        </p:spPr>
      </p:sp>
      <p:sp>
        <p:nvSpPr>
          <p:cNvPr id="18" name="Shape 16"/>
          <p:cNvSpPr/>
          <p:nvPr/>
        </p:nvSpPr>
        <p:spPr>
          <a:xfrm>
            <a:off x="3611880" y="3412998"/>
            <a:ext cx="1230449" cy="256032"/>
          </a:xfrm>
          <a:prstGeom prst="rect">
            <a:avLst/>
          </a:prstGeom>
          <a:solidFill>
            <a:srgbClr val="D64545"/>
          </a:solidFill>
          <a:ln w="12700">
            <a:solidFill>
              <a:srgbClr val="D64545"/>
            </a:solidFill>
            <a:prstDash val="solid"/>
          </a:ln>
        </p:spPr>
      </p:sp>
      <p:sp>
        <p:nvSpPr>
          <p:cNvPr id="19" name="Text 17"/>
          <p:cNvSpPr/>
          <p:nvPr/>
        </p:nvSpPr>
        <p:spPr>
          <a:xfrm>
            <a:off x="6080760" y="3367278"/>
            <a:ext cx="640080" cy="582930"/>
          </a:xfrm>
          <a:prstGeom prst="rect">
            <a:avLst/>
          </a:prstGeom>
          <a:noFill/>
          <a:ln/>
        </p:spPr>
        <p:txBody>
          <a:bodyPr wrap="square" lIns="0" tIns="0" rIns="0" bIns="0" rtlCol="0" anchor="ctr"/>
          <a:lstStyle/>
          <a:p>
            <a:pPr marL="0" indent="0" algn="r">
              <a:buNone/>
            </a:pPr>
            <a:r>
              <a:rPr lang="en-US" sz="1350" b="1" dirty="0">
                <a:solidFill>
                  <a:srgbClr val="1A1E2A"/>
                </a:solidFill>
              </a:rPr>
              <a:t>0.5277</a:t>
            </a:r>
            <a:endParaRPr lang="en-US" sz="1350" dirty="0"/>
          </a:p>
        </p:txBody>
      </p:sp>
      <p:sp>
        <p:nvSpPr>
          <p:cNvPr id="20" name="Text 18"/>
          <p:cNvSpPr/>
          <p:nvPr/>
        </p:nvSpPr>
        <p:spPr>
          <a:xfrm>
            <a:off x="7315200" y="1417320"/>
            <a:ext cx="3840480" cy="2011680"/>
          </a:xfrm>
          <a:prstGeom prst="rect">
            <a:avLst/>
          </a:prstGeom>
          <a:noFill/>
          <a:ln/>
        </p:spPr>
        <p:txBody>
          <a:bodyPr wrap="square" lIns="635" tIns="635" rIns="635" bIns="635" rtlCol="0" anchor="ctr">
            <a:normAutofit/>
          </a:bodyPr>
          <a:lstStyle/>
          <a:p>
            <a:r>
              <a:rPr lang="en-US" sz="1600" dirty="0">
                <a:solidFill>
                  <a:srgbClr val="1A1E2A"/>
                </a:solidFill>
              </a:rPr>
              <a:t>İç testte Neutral oldukça güçlü ayrılıyor.</a:t>
            </a:r>
            <a:endParaRPr lang="en-US" sz="1600" dirty="0"/>
          </a:p>
          <a:p>
            <a:r>
              <a:rPr lang="en-US" sz="1600" dirty="0">
                <a:solidFill>
                  <a:srgbClr val="1A1E2A"/>
                </a:solidFill>
              </a:rPr>
              <a:t>Reuters’ta Neutral F1 yaklaşık 0.53’e düşüyor.</a:t>
            </a:r>
            <a:endParaRPr lang="en-US" sz="1600" dirty="0"/>
          </a:p>
          <a:p>
            <a:r>
              <a:rPr lang="en-US" sz="1600" dirty="0">
                <a:solidFill>
                  <a:srgbClr val="1A1E2A"/>
                </a:solidFill>
              </a:rPr>
              <a:t>Bu düşüş, yalnızca model değil veri kaynağı ve etiket tanımı farklılığını da düşündürüyor.</a:t>
            </a:r>
            <a:endParaRPr lang="en-US" sz="1600" dirty="0"/>
          </a:p>
        </p:txBody>
      </p:sp>
      <p:sp>
        <p:nvSpPr>
          <p:cNvPr id="21" name="Shape 19"/>
          <p:cNvSpPr/>
          <p:nvPr/>
        </p:nvSpPr>
        <p:spPr>
          <a:xfrm>
            <a:off x="914400" y="4663440"/>
            <a:ext cx="10149840" cy="713232"/>
          </a:xfrm>
          <a:prstGeom prst="roundRect">
            <a:avLst>
              <a:gd name="adj" fmla="val 10256"/>
            </a:avLst>
          </a:prstGeom>
          <a:solidFill>
            <a:srgbClr val="F0FAF8"/>
          </a:solidFill>
          <a:ln w="15240">
            <a:solidFill>
              <a:srgbClr val="0F9D8F"/>
            </a:solidFill>
            <a:prstDash val="solid"/>
          </a:ln>
        </p:spPr>
      </p:sp>
      <p:sp>
        <p:nvSpPr>
          <p:cNvPr id="22" name="Text 20"/>
          <p:cNvSpPr/>
          <p:nvPr/>
        </p:nvSpPr>
        <p:spPr>
          <a:xfrm>
            <a:off x="1078992" y="4809744"/>
            <a:ext cx="9820656" cy="484632"/>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Neutral sınıfındaki düşüş bizi domain shift ve label semantics tartışmasına götürdü.</a:t>
            </a:r>
            <a:endParaRPr lang="en-US" sz="1500" dirty="0"/>
          </a:p>
        </p:txBody>
      </p:sp>
      <p:sp>
        <p:nvSpPr>
          <p:cNvPr id="23" name="Text 21"/>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4" name="Text 22"/>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24</a:t>
            </a:r>
            <a:endParaRPr lang="en-US" sz="850" dirty="0"/>
          </a:p>
        </p:txBody>
      </p:sp>
      <p:sp>
        <p:nvSpPr>
          <p:cNvPr id="25" name="Shape 23"/>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Domain shift ve label semantics ne demek?</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Reuters düşüşü iki olası açıklama doğurdu.</a:t>
            </a:r>
            <a:endParaRPr lang="en-US" sz="1450" dirty="0"/>
          </a:p>
        </p:txBody>
      </p:sp>
      <p:sp>
        <p:nvSpPr>
          <p:cNvPr id="4" name="Text 2"/>
          <p:cNvSpPr/>
          <p:nvPr/>
        </p:nvSpPr>
        <p:spPr>
          <a:xfrm>
            <a:off x="777240" y="1325880"/>
            <a:ext cx="3291840" cy="274320"/>
          </a:xfrm>
          <a:prstGeom prst="rect">
            <a:avLst/>
          </a:prstGeom>
          <a:noFill/>
          <a:ln/>
        </p:spPr>
        <p:txBody>
          <a:bodyPr wrap="square" lIns="0" tIns="0" rIns="0" bIns="0" rtlCol="0" anchor="ctr"/>
          <a:lstStyle/>
          <a:p>
            <a:pPr marL="0" indent="0">
              <a:buNone/>
            </a:pPr>
            <a:r>
              <a:rPr lang="en-US" sz="1900" b="1" dirty="0">
                <a:solidFill>
                  <a:srgbClr val="3867D6"/>
                </a:solidFill>
              </a:rPr>
              <a:t>Domain shift</a:t>
            </a:r>
            <a:endParaRPr lang="en-US" sz="1900" dirty="0"/>
          </a:p>
        </p:txBody>
      </p:sp>
      <p:sp>
        <p:nvSpPr>
          <p:cNvPr id="5" name="Text 3"/>
          <p:cNvSpPr/>
          <p:nvPr/>
        </p:nvSpPr>
        <p:spPr>
          <a:xfrm>
            <a:off x="777240" y="1783080"/>
            <a:ext cx="4846320" cy="1234440"/>
          </a:xfrm>
          <a:prstGeom prst="rect">
            <a:avLst/>
          </a:prstGeom>
          <a:noFill/>
          <a:ln/>
        </p:spPr>
        <p:txBody>
          <a:bodyPr wrap="square" lIns="381" tIns="381" rIns="381" bIns="381" rtlCol="0" anchor="ctr">
            <a:normAutofit/>
          </a:bodyPr>
          <a:lstStyle/>
          <a:p>
            <a:pPr marL="0" indent="0">
              <a:buNone/>
            </a:pPr>
            <a:r>
              <a:rPr lang="en-US" sz="1650" dirty="0">
                <a:solidFill>
                  <a:srgbClr val="1A1E2A"/>
                </a:solidFill>
              </a:rPr>
              <a:t>Eğitimde görülen veri ile testte karşılaşılan veri aynı dağılımdan gelmez. Twitter tarzı kısa metin ile Reuters tarzı profesyonel haber dili farklı olabilir.</a:t>
            </a:r>
            <a:endParaRPr lang="en-US" sz="1650" dirty="0"/>
          </a:p>
        </p:txBody>
      </p:sp>
      <p:sp>
        <p:nvSpPr>
          <p:cNvPr id="6" name="Text 4"/>
          <p:cNvSpPr/>
          <p:nvPr/>
        </p:nvSpPr>
        <p:spPr>
          <a:xfrm>
            <a:off x="6400800" y="1325880"/>
            <a:ext cx="3291840" cy="274320"/>
          </a:xfrm>
          <a:prstGeom prst="rect">
            <a:avLst/>
          </a:prstGeom>
          <a:noFill/>
          <a:ln/>
        </p:spPr>
        <p:txBody>
          <a:bodyPr wrap="square" lIns="0" tIns="0" rIns="0" bIns="0" rtlCol="0" anchor="ctr"/>
          <a:lstStyle/>
          <a:p>
            <a:pPr marL="0" indent="0">
              <a:buNone/>
            </a:pPr>
            <a:r>
              <a:rPr lang="en-US" sz="1900" b="1" dirty="0">
                <a:solidFill>
                  <a:srgbClr val="0F9D8F"/>
                </a:solidFill>
              </a:rPr>
              <a:t>Label semantics</a:t>
            </a:r>
            <a:endParaRPr lang="en-US" sz="1900" dirty="0"/>
          </a:p>
        </p:txBody>
      </p:sp>
      <p:sp>
        <p:nvSpPr>
          <p:cNvPr id="7" name="Text 5"/>
          <p:cNvSpPr/>
          <p:nvPr/>
        </p:nvSpPr>
        <p:spPr>
          <a:xfrm>
            <a:off x="6400800" y="1783080"/>
            <a:ext cx="4846320" cy="1234440"/>
          </a:xfrm>
          <a:prstGeom prst="rect">
            <a:avLst/>
          </a:prstGeom>
          <a:noFill/>
          <a:ln/>
        </p:spPr>
        <p:txBody>
          <a:bodyPr wrap="square" lIns="381" tIns="381" rIns="381" bIns="381" rtlCol="0" anchor="ctr">
            <a:normAutofit/>
          </a:bodyPr>
          <a:lstStyle/>
          <a:p>
            <a:pPr marL="0" indent="0">
              <a:buNone/>
            </a:pPr>
            <a:r>
              <a:rPr lang="en-US" sz="1650" dirty="0">
                <a:solidFill>
                  <a:srgbClr val="1A1E2A"/>
                </a:solidFill>
              </a:rPr>
              <a:t>Positive / Neutral / Negative etiket adları aynı olsa da hangi durumda hangi etiketin verileceği veri setinden veri setine değişebilir.</a:t>
            </a:r>
            <a:endParaRPr lang="en-US" sz="1650" dirty="0"/>
          </a:p>
        </p:txBody>
      </p:sp>
      <p:sp>
        <p:nvSpPr>
          <p:cNvPr id="8" name="Shape 6"/>
          <p:cNvSpPr/>
          <p:nvPr/>
        </p:nvSpPr>
        <p:spPr>
          <a:xfrm>
            <a:off x="5989320" y="1234440"/>
            <a:ext cx="0" cy="2011680"/>
          </a:xfrm>
          <a:prstGeom prst="line">
            <a:avLst/>
          </a:prstGeom>
          <a:noFill/>
          <a:ln w="25400">
            <a:solidFill>
              <a:srgbClr val="DDE3EF"/>
            </a:solidFill>
            <a:prstDash val="solid"/>
          </a:ln>
        </p:spPr>
      </p:sp>
      <p:sp>
        <p:nvSpPr>
          <p:cNvPr id="9" name="Text 7"/>
          <p:cNvSpPr/>
          <p:nvPr/>
        </p:nvSpPr>
        <p:spPr>
          <a:xfrm>
            <a:off x="914400" y="3840480"/>
            <a:ext cx="4114800" cy="274320"/>
          </a:xfrm>
          <a:prstGeom prst="rect">
            <a:avLst/>
          </a:prstGeom>
          <a:noFill/>
          <a:ln/>
        </p:spPr>
        <p:txBody>
          <a:bodyPr wrap="square" lIns="0" tIns="0" rIns="0" bIns="0" rtlCol="0" anchor="ctr"/>
          <a:lstStyle/>
          <a:p>
            <a:pPr marL="0" indent="0">
              <a:buNone/>
            </a:pPr>
            <a:r>
              <a:rPr lang="en-US" sz="1700" b="1" dirty="0">
                <a:solidFill>
                  <a:srgbClr val="172033"/>
                </a:solidFill>
              </a:rPr>
              <a:t>Örnek label semantics farkı</a:t>
            </a:r>
            <a:endParaRPr lang="en-US" sz="1700" dirty="0"/>
          </a:p>
        </p:txBody>
      </p:sp>
      <p:sp>
        <p:nvSpPr>
          <p:cNvPr id="10" name="Text 8"/>
          <p:cNvSpPr/>
          <p:nvPr/>
        </p:nvSpPr>
        <p:spPr>
          <a:xfrm>
            <a:off x="914400" y="4297680"/>
            <a:ext cx="9875520" cy="640080"/>
          </a:xfrm>
          <a:prstGeom prst="rect">
            <a:avLst/>
          </a:prstGeom>
          <a:noFill/>
          <a:ln/>
        </p:spPr>
        <p:txBody>
          <a:bodyPr wrap="square" lIns="381" tIns="381" rIns="381" bIns="381" rtlCol="0" anchor="ctr">
            <a:normAutofit/>
          </a:bodyPr>
          <a:lstStyle/>
          <a:p>
            <a:pPr marL="0" indent="0">
              <a:buNone/>
            </a:pPr>
            <a:r>
              <a:rPr lang="en-US" sz="1700" b="1" dirty="0">
                <a:solidFill>
                  <a:srgbClr val="D64545"/>
                </a:solidFill>
              </a:rPr>
              <a:t>“Revenue increased 10%, below expectations.”</a:t>
            </a:r>
            <a:endParaRPr lang="en-US" sz="1700" dirty="0"/>
          </a:p>
          <a:p>
            <a:pPr marL="0" indent="0">
              <a:buNone/>
            </a:pPr>
            <a:r>
              <a:rPr lang="en-US" sz="1700" b="1" dirty="0">
                <a:solidFill>
                  <a:srgbClr val="D64545"/>
                </a:solidFill>
              </a:rPr>
              <a:t>Aynı cümle bir yerde Positive, başka bir yerde Negative veya Neutral sayılabilir.</a:t>
            </a:r>
            <a:endParaRPr lang="en-US" sz="1700" dirty="0"/>
          </a:p>
        </p:txBody>
      </p:sp>
      <p:sp>
        <p:nvSpPr>
          <p:cNvPr id="11" name="Text 9"/>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2" name="Text 10"/>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25</a:t>
            </a:r>
            <a:endParaRPr lang="en-US" sz="850" dirty="0"/>
          </a:p>
        </p:txBody>
      </p:sp>
      <p:sp>
        <p:nvSpPr>
          <p:cNvPr id="13" name="Shape 11"/>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Hata analizi: model nerede yanılıyor?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Hatalar özellikle Neutral sınırlarında ve yüksek confidence ile yoğunlaştı.</a:t>
            </a:r>
            <a:endParaRPr lang="en-US" sz="1450" dirty="0"/>
          </a:p>
        </p:txBody>
      </p:sp>
      <p:sp>
        <p:nvSpPr>
          <p:cNvPr id="4" name="Text 2"/>
          <p:cNvSpPr/>
          <p:nvPr/>
        </p:nvSpPr>
        <p:spPr>
          <a:xfrm>
            <a:off x="822960" y="1417320"/>
            <a:ext cx="2926080" cy="274320"/>
          </a:xfrm>
          <a:prstGeom prst="rect">
            <a:avLst/>
          </a:prstGeom>
          <a:noFill/>
          <a:ln/>
        </p:spPr>
        <p:txBody>
          <a:bodyPr wrap="square" lIns="0" tIns="0" rIns="0" bIns="0" rtlCol="0" anchor="ctr"/>
          <a:lstStyle/>
          <a:p>
            <a:pPr marL="0" indent="0">
              <a:buNone/>
            </a:pPr>
            <a:r>
              <a:rPr lang="en-US" sz="1800" b="1" dirty="0">
                <a:solidFill>
                  <a:srgbClr val="172033"/>
                </a:solidFill>
              </a:rPr>
              <a:t>İç test hataları</a:t>
            </a:r>
            <a:endParaRPr lang="en-US" sz="1800" dirty="0"/>
          </a:p>
        </p:txBody>
      </p:sp>
      <p:sp>
        <p:nvSpPr>
          <p:cNvPr id="5" name="Text 3"/>
          <p:cNvSpPr/>
          <p:nvPr/>
        </p:nvSpPr>
        <p:spPr>
          <a:xfrm>
            <a:off x="822960" y="1874520"/>
            <a:ext cx="1371600" cy="548640"/>
          </a:xfrm>
          <a:prstGeom prst="rect">
            <a:avLst/>
          </a:prstGeom>
          <a:noFill/>
          <a:ln/>
        </p:spPr>
        <p:txBody>
          <a:bodyPr wrap="square" lIns="0" tIns="0" rIns="0" bIns="0" rtlCol="0" anchor="ctr"/>
          <a:lstStyle/>
          <a:p>
            <a:pPr marL="0" indent="0">
              <a:buNone/>
            </a:pPr>
            <a:r>
              <a:rPr lang="en-US" sz="3800" b="1" dirty="0">
                <a:solidFill>
                  <a:srgbClr val="D64545"/>
                </a:solidFill>
              </a:rPr>
              <a:t>282</a:t>
            </a:r>
            <a:endParaRPr lang="en-US" sz="3800" dirty="0"/>
          </a:p>
        </p:txBody>
      </p:sp>
      <p:sp>
        <p:nvSpPr>
          <p:cNvPr id="6" name="Text 4"/>
          <p:cNvSpPr/>
          <p:nvPr/>
        </p:nvSpPr>
        <p:spPr>
          <a:xfrm>
            <a:off x="2514600" y="2029968"/>
            <a:ext cx="1828800" cy="228600"/>
          </a:xfrm>
          <a:prstGeom prst="rect">
            <a:avLst/>
          </a:prstGeom>
          <a:noFill/>
          <a:ln/>
        </p:spPr>
        <p:txBody>
          <a:bodyPr wrap="square" lIns="0" tIns="0" rIns="0" bIns="0" rtlCol="0" anchor="ctr"/>
          <a:lstStyle/>
          <a:p>
            <a:pPr marL="0" indent="0">
              <a:buNone/>
            </a:pPr>
            <a:r>
              <a:rPr lang="en-US" sz="1500" dirty="0">
                <a:solidFill>
                  <a:srgbClr val="5E6A7D"/>
                </a:solidFill>
              </a:rPr>
              <a:t>toplam hata</a:t>
            </a:r>
            <a:endParaRPr lang="en-US" sz="1500" dirty="0"/>
          </a:p>
        </p:txBody>
      </p:sp>
      <p:sp>
        <p:nvSpPr>
          <p:cNvPr id="7" name="Text 5"/>
          <p:cNvSpPr/>
          <p:nvPr/>
        </p:nvSpPr>
        <p:spPr>
          <a:xfrm>
            <a:off x="822960" y="2743200"/>
            <a:ext cx="4389120" cy="1325880"/>
          </a:xfrm>
          <a:prstGeom prst="rect">
            <a:avLst/>
          </a:prstGeom>
          <a:noFill/>
          <a:ln/>
        </p:spPr>
        <p:txBody>
          <a:bodyPr wrap="square" lIns="635" tIns="635" rIns="635" bIns="635" rtlCol="0" anchor="ctr">
            <a:normAutofit/>
          </a:bodyPr>
          <a:lstStyle/>
          <a:p>
            <a:r>
              <a:rPr lang="en-US" sz="1580" dirty="0">
                <a:solidFill>
                  <a:srgbClr val="1A1E2A"/>
                </a:solidFill>
              </a:rPr>
              <a:t>Neutral → Positive: 78</a:t>
            </a:r>
            <a:endParaRPr lang="en-US" sz="1580" dirty="0"/>
          </a:p>
          <a:p>
            <a:r>
              <a:rPr lang="en-US" sz="1580" dirty="0">
                <a:solidFill>
                  <a:srgbClr val="1A1E2A"/>
                </a:solidFill>
              </a:rPr>
              <a:t>Neutral → Negative: 75</a:t>
            </a:r>
            <a:endParaRPr lang="en-US" sz="1580" dirty="0"/>
          </a:p>
          <a:p>
            <a:r>
              <a:rPr lang="en-US" sz="1580" dirty="0">
                <a:solidFill>
                  <a:srgbClr val="1A1E2A"/>
                </a:solidFill>
              </a:rPr>
              <a:t>Neutral kaynaklı hatalar toplam hatanın önemli kısmını oluşturdu.</a:t>
            </a:r>
            <a:endParaRPr lang="en-US" sz="1580" dirty="0"/>
          </a:p>
        </p:txBody>
      </p:sp>
      <p:sp>
        <p:nvSpPr>
          <p:cNvPr id="8" name="Text 6"/>
          <p:cNvSpPr/>
          <p:nvPr/>
        </p:nvSpPr>
        <p:spPr>
          <a:xfrm>
            <a:off x="6583680" y="1417320"/>
            <a:ext cx="2926080" cy="274320"/>
          </a:xfrm>
          <a:prstGeom prst="rect">
            <a:avLst/>
          </a:prstGeom>
          <a:noFill/>
          <a:ln/>
        </p:spPr>
        <p:txBody>
          <a:bodyPr wrap="square" lIns="0" tIns="0" rIns="0" bIns="0" rtlCol="0" anchor="ctr"/>
          <a:lstStyle/>
          <a:p>
            <a:pPr marL="0" indent="0">
              <a:buNone/>
            </a:pPr>
            <a:r>
              <a:rPr lang="en-US" sz="1800" b="1" dirty="0">
                <a:solidFill>
                  <a:srgbClr val="172033"/>
                </a:solidFill>
              </a:rPr>
              <a:t>Confidence bulgusu</a:t>
            </a:r>
            <a:endParaRPr lang="en-US" sz="1800" dirty="0"/>
          </a:p>
        </p:txBody>
      </p:sp>
      <p:sp>
        <p:nvSpPr>
          <p:cNvPr id="9" name="Text 7"/>
          <p:cNvSpPr/>
          <p:nvPr/>
        </p:nvSpPr>
        <p:spPr>
          <a:xfrm>
            <a:off x="6583680" y="1874520"/>
            <a:ext cx="1920240" cy="548640"/>
          </a:xfrm>
          <a:prstGeom prst="rect">
            <a:avLst/>
          </a:prstGeom>
          <a:noFill/>
          <a:ln/>
        </p:spPr>
        <p:txBody>
          <a:bodyPr wrap="square" lIns="0" tIns="0" rIns="0" bIns="0" rtlCol="0" anchor="ctr"/>
          <a:lstStyle/>
          <a:p>
            <a:pPr marL="0" indent="0">
              <a:buNone/>
            </a:pPr>
            <a:r>
              <a:rPr lang="en-US" sz="3800" b="1" dirty="0">
                <a:solidFill>
                  <a:srgbClr val="F4A62A"/>
                </a:solidFill>
              </a:rPr>
              <a:t>~%77</a:t>
            </a:r>
            <a:endParaRPr lang="en-US" sz="3800" dirty="0"/>
          </a:p>
        </p:txBody>
      </p:sp>
      <p:sp>
        <p:nvSpPr>
          <p:cNvPr id="10" name="Text 8"/>
          <p:cNvSpPr/>
          <p:nvPr/>
        </p:nvSpPr>
        <p:spPr>
          <a:xfrm>
            <a:off x="8823960" y="1938528"/>
            <a:ext cx="1920240" cy="411480"/>
          </a:xfrm>
          <a:prstGeom prst="rect">
            <a:avLst/>
          </a:prstGeom>
          <a:noFill/>
          <a:ln/>
        </p:spPr>
        <p:txBody>
          <a:bodyPr wrap="square" lIns="0" tIns="0" rIns="0" bIns="0" rtlCol="0" anchor="ctr">
            <a:normAutofit/>
          </a:bodyPr>
          <a:lstStyle/>
          <a:p>
            <a:pPr marL="0" indent="0">
              <a:buNone/>
            </a:pPr>
            <a:r>
              <a:rPr lang="en-US" sz="1300" dirty="0">
                <a:solidFill>
                  <a:srgbClr val="5E6A7D"/>
                </a:solidFill>
              </a:rPr>
              <a:t>yanlış tahminlerde</a:t>
            </a:r>
            <a:endParaRPr lang="en-US" sz="1300" dirty="0"/>
          </a:p>
          <a:p>
            <a:pPr marL="0" indent="0">
              <a:buNone/>
            </a:pPr>
            <a:r>
              <a:rPr lang="en-US" sz="1300" dirty="0">
                <a:solidFill>
                  <a:srgbClr val="5E6A7D"/>
                </a:solidFill>
              </a:rPr>
              <a:t>confidence ≥ 0.90</a:t>
            </a:r>
            <a:endParaRPr lang="en-US" sz="1300" dirty="0"/>
          </a:p>
        </p:txBody>
      </p:sp>
      <p:sp>
        <p:nvSpPr>
          <p:cNvPr id="11" name="Text 9"/>
          <p:cNvSpPr/>
          <p:nvPr/>
        </p:nvSpPr>
        <p:spPr>
          <a:xfrm>
            <a:off x="6583680" y="2926080"/>
            <a:ext cx="4023360" cy="914400"/>
          </a:xfrm>
          <a:prstGeom prst="rect">
            <a:avLst/>
          </a:prstGeom>
          <a:noFill/>
          <a:ln/>
        </p:spPr>
        <p:txBody>
          <a:bodyPr wrap="square" lIns="381" tIns="381" rIns="381" bIns="381" rtlCol="0" anchor="ctr">
            <a:normAutofit/>
          </a:bodyPr>
          <a:lstStyle/>
          <a:p>
            <a:pPr marL="0" indent="0">
              <a:buNone/>
            </a:pPr>
            <a:r>
              <a:rPr lang="en-US" sz="1600" b="1" dirty="0">
                <a:solidFill>
                  <a:srgbClr val="1A1E2A"/>
                </a:solidFill>
              </a:rPr>
              <a:t>Model bazen emin olmadığı için değil, yanlış öğrendiği karar sınırından emin olduğu için hata yapıyor olabilir.</a:t>
            </a:r>
            <a:endParaRPr lang="en-US" sz="1600" dirty="0"/>
          </a:p>
        </p:txBody>
      </p:sp>
      <p:sp>
        <p:nvSpPr>
          <p:cNvPr id="12" name="Shape 10"/>
          <p:cNvSpPr/>
          <p:nvPr/>
        </p:nvSpPr>
        <p:spPr>
          <a:xfrm>
            <a:off x="914400" y="4800600"/>
            <a:ext cx="10058400" cy="640080"/>
          </a:xfrm>
          <a:prstGeom prst="roundRect">
            <a:avLst>
              <a:gd name="adj" fmla="val 11429"/>
            </a:avLst>
          </a:prstGeom>
          <a:solidFill>
            <a:srgbClr val="F0FAF8"/>
          </a:solidFill>
          <a:ln w="15240">
            <a:solidFill>
              <a:srgbClr val="3867D6"/>
            </a:solidFill>
            <a:prstDash val="solid"/>
          </a:ln>
        </p:spPr>
      </p:sp>
      <p:sp>
        <p:nvSpPr>
          <p:cNvPr id="13" name="Text 11"/>
          <p:cNvSpPr/>
          <p:nvPr/>
        </p:nvSpPr>
        <p:spPr>
          <a:xfrm>
            <a:off x="1078992" y="4946904"/>
            <a:ext cx="9729216" cy="41148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bulgu ileride calibration analizi yapılmasını anlamlı kılıyor.</a:t>
            </a:r>
            <a:endParaRPr lang="en-US" sz="1500" dirty="0"/>
          </a:p>
        </p:txBody>
      </p:sp>
      <p:sp>
        <p:nvSpPr>
          <p:cNvPr id="14" name="Text 1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5" name="Text 1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26</a:t>
            </a:r>
            <a:endParaRPr lang="en-US" sz="850" dirty="0"/>
          </a:p>
        </p:txBody>
      </p:sp>
      <p:sp>
        <p:nvSpPr>
          <p:cNvPr id="16" name="Shape 1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PhraseBank ablasyonu: daha fazla veri her zaman çözüm değil</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Ek finansal veri bazı senaryolarda performansı düşürdü.</a:t>
            </a:r>
            <a:endParaRPr lang="en-US" sz="1450" dirty="0"/>
          </a:p>
        </p:txBody>
      </p:sp>
      <p:sp>
        <p:nvSpPr>
          <p:cNvPr id="4" name="Shape 2"/>
          <p:cNvSpPr/>
          <p:nvPr/>
        </p:nvSpPr>
        <p:spPr>
          <a:xfrm>
            <a:off x="914400" y="1417320"/>
            <a:ext cx="4059936" cy="563880"/>
          </a:xfrm>
          <a:prstGeom prst="rect">
            <a:avLst/>
          </a:prstGeom>
          <a:solidFill>
            <a:srgbClr val="1D2B46"/>
          </a:solidFill>
          <a:ln w="6350">
            <a:solidFill>
              <a:srgbClr val="DDE3EF"/>
            </a:solidFill>
            <a:prstDash val="solid"/>
          </a:ln>
        </p:spPr>
      </p:sp>
      <p:sp>
        <p:nvSpPr>
          <p:cNvPr id="5" name="Text 3"/>
          <p:cNvSpPr/>
          <p:nvPr/>
        </p:nvSpPr>
        <p:spPr>
          <a:xfrm>
            <a:off x="987552" y="1490472"/>
            <a:ext cx="3913632" cy="4724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Eğitim konfigürasyonu</a:t>
            </a:r>
            <a:endParaRPr lang="en-US" sz="1150" dirty="0"/>
          </a:p>
        </p:txBody>
      </p:sp>
      <p:sp>
        <p:nvSpPr>
          <p:cNvPr id="6" name="Shape 4"/>
          <p:cNvSpPr/>
          <p:nvPr/>
        </p:nvSpPr>
        <p:spPr>
          <a:xfrm>
            <a:off x="4974336" y="1417320"/>
            <a:ext cx="1826971" cy="563880"/>
          </a:xfrm>
          <a:prstGeom prst="rect">
            <a:avLst/>
          </a:prstGeom>
          <a:solidFill>
            <a:srgbClr val="1D2B46"/>
          </a:solidFill>
          <a:ln w="6350">
            <a:solidFill>
              <a:srgbClr val="DDE3EF"/>
            </a:solidFill>
            <a:prstDash val="solid"/>
          </a:ln>
        </p:spPr>
      </p:sp>
      <p:sp>
        <p:nvSpPr>
          <p:cNvPr id="7" name="Text 5"/>
          <p:cNvSpPr/>
          <p:nvPr/>
        </p:nvSpPr>
        <p:spPr>
          <a:xfrm>
            <a:off x="5047488" y="1490472"/>
            <a:ext cx="1680667" cy="4724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Internal</a:t>
            </a:r>
            <a:endParaRPr lang="en-US" sz="1150" dirty="0"/>
          </a:p>
        </p:txBody>
      </p:sp>
      <p:sp>
        <p:nvSpPr>
          <p:cNvPr id="8" name="Shape 6"/>
          <p:cNvSpPr/>
          <p:nvPr/>
        </p:nvSpPr>
        <p:spPr>
          <a:xfrm>
            <a:off x="6801307" y="1417320"/>
            <a:ext cx="1826971" cy="563880"/>
          </a:xfrm>
          <a:prstGeom prst="rect">
            <a:avLst/>
          </a:prstGeom>
          <a:solidFill>
            <a:srgbClr val="1D2B46"/>
          </a:solidFill>
          <a:ln w="6350">
            <a:solidFill>
              <a:srgbClr val="DDE3EF"/>
            </a:solidFill>
            <a:prstDash val="solid"/>
          </a:ln>
        </p:spPr>
      </p:sp>
      <p:sp>
        <p:nvSpPr>
          <p:cNvPr id="9" name="Text 7"/>
          <p:cNvSpPr/>
          <p:nvPr/>
        </p:nvSpPr>
        <p:spPr>
          <a:xfrm>
            <a:off x="6874459" y="1490472"/>
            <a:ext cx="1680667" cy="4724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Reuters</a:t>
            </a:r>
            <a:endParaRPr lang="en-US" sz="1150" dirty="0"/>
          </a:p>
        </p:txBody>
      </p:sp>
      <p:sp>
        <p:nvSpPr>
          <p:cNvPr id="10" name="Shape 8"/>
          <p:cNvSpPr/>
          <p:nvPr/>
        </p:nvSpPr>
        <p:spPr>
          <a:xfrm>
            <a:off x="8628278" y="1417320"/>
            <a:ext cx="2435962" cy="563880"/>
          </a:xfrm>
          <a:prstGeom prst="rect">
            <a:avLst/>
          </a:prstGeom>
          <a:solidFill>
            <a:srgbClr val="1D2B46"/>
          </a:solidFill>
          <a:ln w="6350">
            <a:solidFill>
              <a:srgbClr val="DDE3EF"/>
            </a:solidFill>
            <a:prstDash val="solid"/>
          </a:ln>
        </p:spPr>
      </p:sp>
      <p:sp>
        <p:nvSpPr>
          <p:cNvPr id="11" name="Text 9"/>
          <p:cNvSpPr/>
          <p:nvPr/>
        </p:nvSpPr>
        <p:spPr>
          <a:xfrm>
            <a:off x="8701430" y="1490472"/>
            <a:ext cx="2289658" cy="4724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Yorum</a:t>
            </a:r>
            <a:endParaRPr lang="en-US" sz="1150" dirty="0"/>
          </a:p>
        </p:txBody>
      </p:sp>
      <p:sp>
        <p:nvSpPr>
          <p:cNvPr id="12" name="Shape 10"/>
          <p:cNvSpPr/>
          <p:nvPr/>
        </p:nvSpPr>
        <p:spPr>
          <a:xfrm>
            <a:off x="914400" y="1981200"/>
            <a:ext cx="4059936" cy="563880"/>
          </a:xfrm>
          <a:prstGeom prst="rect">
            <a:avLst/>
          </a:prstGeom>
          <a:solidFill>
            <a:srgbClr val="FFFFFF"/>
          </a:solidFill>
          <a:ln w="6350">
            <a:solidFill>
              <a:srgbClr val="DDE3EF"/>
            </a:solidFill>
            <a:prstDash val="solid"/>
          </a:ln>
        </p:spPr>
      </p:sp>
      <p:sp>
        <p:nvSpPr>
          <p:cNvPr id="13" name="Text 11"/>
          <p:cNvSpPr/>
          <p:nvPr/>
        </p:nvSpPr>
        <p:spPr>
          <a:xfrm>
            <a:off x="987552" y="2054352"/>
            <a:ext cx="3913632"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Twitter-only</a:t>
            </a:r>
            <a:endParaRPr lang="en-US" sz="1400" dirty="0"/>
          </a:p>
        </p:txBody>
      </p:sp>
      <p:sp>
        <p:nvSpPr>
          <p:cNvPr id="14" name="Shape 12"/>
          <p:cNvSpPr/>
          <p:nvPr/>
        </p:nvSpPr>
        <p:spPr>
          <a:xfrm>
            <a:off x="4974336" y="1981200"/>
            <a:ext cx="1826971" cy="563880"/>
          </a:xfrm>
          <a:prstGeom prst="rect">
            <a:avLst/>
          </a:prstGeom>
          <a:solidFill>
            <a:srgbClr val="FFFFFF"/>
          </a:solidFill>
          <a:ln w="6350">
            <a:solidFill>
              <a:srgbClr val="DDE3EF"/>
            </a:solidFill>
            <a:prstDash val="solid"/>
          </a:ln>
        </p:spPr>
      </p:sp>
      <p:sp>
        <p:nvSpPr>
          <p:cNvPr id="15" name="Text 13"/>
          <p:cNvSpPr/>
          <p:nvPr/>
        </p:nvSpPr>
        <p:spPr>
          <a:xfrm>
            <a:off x="5047488" y="2054352"/>
            <a:ext cx="1680667"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0.8810</a:t>
            </a:r>
            <a:endParaRPr lang="en-US" sz="1400" dirty="0"/>
          </a:p>
        </p:txBody>
      </p:sp>
      <p:sp>
        <p:nvSpPr>
          <p:cNvPr id="16" name="Shape 14"/>
          <p:cNvSpPr/>
          <p:nvPr/>
        </p:nvSpPr>
        <p:spPr>
          <a:xfrm>
            <a:off x="6801307" y="1981200"/>
            <a:ext cx="1826971" cy="563880"/>
          </a:xfrm>
          <a:prstGeom prst="rect">
            <a:avLst/>
          </a:prstGeom>
          <a:solidFill>
            <a:srgbClr val="FFFFFF"/>
          </a:solidFill>
          <a:ln w="6350">
            <a:solidFill>
              <a:srgbClr val="DDE3EF"/>
            </a:solidFill>
            <a:prstDash val="solid"/>
          </a:ln>
        </p:spPr>
      </p:sp>
      <p:sp>
        <p:nvSpPr>
          <p:cNvPr id="17" name="Text 15"/>
          <p:cNvSpPr/>
          <p:nvPr/>
        </p:nvSpPr>
        <p:spPr>
          <a:xfrm>
            <a:off x="6874459" y="2054352"/>
            <a:ext cx="1680667"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0.6465</a:t>
            </a:r>
            <a:endParaRPr lang="en-US" sz="1400" dirty="0"/>
          </a:p>
        </p:txBody>
      </p:sp>
      <p:sp>
        <p:nvSpPr>
          <p:cNvPr id="18" name="Shape 16"/>
          <p:cNvSpPr/>
          <p:nvPr/>
        </p:nvSpPr>
        <p:spPr>
          <a:xfrm>
            <a:off x="8628278" y="1981200"/>
            <a:ext cx="2435962" cy="563880"/>
          </a:xfrm>
          <a:prstGeom prst="rect">
            <a:avLst/>
          </a:prstGeom>
          <a:solidFill>
            <a:srgbClr val="FFFFFF"/>
          </a:solidFill>
          <a:ln w="6350">
            <a:solidFill>
              <a:srgbClr val="DDE3EF"/>
            </a:solidFill>
            <a:prstDash val="solid"/>
          </a:ln>
        </p:spPr>
      </p:sp>
      <p:sp>
        <p:nvSpPr>
          <p:cNvPr id="19" name="Text 17"/>
          <p:cNvSpPr/>
          <p:nvPr/>
        </p:nvSpPr>
        <p:spPr>
          <a:xfrm>
            <a:off x="8701430" y="2054352"/>
            <a:ext cx="2289658"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Daha yüksek</a:t>
            </a:r>
            <a:endParaRPr lang="en-US" sz="1400" dirty="0"/>
          </a:p>
        </p:txBody>
      </p:sp>
      <p:sp>
        <p:nvSpPr>
          <p:cNvPr id="20" name="Shape 18"/>
          <p:cNvSpPr/>
          <p:nvPr/>
        </p:nvSpPr>
        <p:spPr>
          <a:xfrm>
            <a:off x="914400" y="2545080"/>
            <a:ext cx="4059936" cy="563880"/>
          </a:xfrm>
          <a:prstGeom prst="rect">
            <a:avLst/>
          </a:prstGeom>
          <a:solidFill>
            <a:srgbClr val="F4F6FB"/>
          </a:solidFill>
          <a:ln w="6350">
            <a:solidFill>
              <a:srgbClr val="DDE3EF"/>
            </a:solidFill>
            <a:prstDash val="solid"/>
          </a:ln>
        </p:spPr>
      </p:sp>
      <p:sp>
        <p:nvSpPr>
          <p:cNvPr id="21" name="Text 19"/>
          <p:cNvSpPr/>
          <p:nvPr/>
        </p:nvSpPr>
        <p:spPr>
          <a:xfrm>
            <a:off x="987552" y="2618232"/>
            <a:ext cx="3913632"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Twitter + PhraseBank</a:t>
            </a:r>
            <a:endParaRPr lang="en-US" sz="1400" dirty="0"/>
          </a:p>
        </p:txBody>
      </p:sp>
      <p:sp>
        <p:nvSpPr>
          <p:cNvPr id="22" name="Shape 20"/>
          <p:cNvSpPr/>
          <p:nvPr/>
        </p:nvSpPr>
        <p:spPr>
          <a:xfrm>
            <a:off x="4974336" y="2545080"/>
            <a:ext cx="1826971" cy="563880"/>
          </a:xfrm>
          <a:prstGeom prst="rect">
            <a:avLst/>
          </a:prstGeom>
          <a:solidFill>
            <a:srgbClr val="F4F6FB"/>
          </a:solidFill>
          <a:ln w="6350">
            <a:solidFill>
              <a:srgbClr val="DDE3EF"/>
            </a:solidFill>
            <a:prstDash val="solid"/>
          </a:ln>
        </p:spPr>
      </p:sp>
      <p:sp>
        <p:nvSpPr>
          <p:cNvPr id="23" name="Text 21"/>
          <p:cNvSpPr/>
          <p:nvPr/>
        </p:nvSpPr>
        <p:spPr>
          <a:xfrm>
            <a:off x="5047488" y="2618232"/>
            <a:ext cx="1680667"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0.8679</a:t>
            </a:r>
            <a:endParaRPr lang="en-US" sz="1400" dirty="0"/>
          </a:p>
        </p:txBody>
      </p:sp>
      <p:sp>
        <p:nvSpPr>
          <p:cNvPr id="24" name="Shape 22"/>
          <p:cNvSpPr/>
          <p:nvPr/>
        </p:nvSpPr>
        <p:spPr>
          <a:xfrm>
            <a:off x="6801307" y="2545080"/>
            <a:ext cx="1826971" cy="563880"/>
          </a:xfrm>
          <a:prstGeom prst="rect">
            <a:avLst/>
          </a:prstGeom>
          <a:solidFill>
            <a:srgbClr val="F4F6FB"/>
          </a:solidFill>
          <a:ln w="6350">
            <a:solidFill>
              <a:srgbClr val="DDE3EF"/>
            </a:solidFill>
            <a:prstDash val="solid"/>
          </a:ln>
        </p:spPr>
      </p:sp>
      <p:sp>
        <p:nvSpPr>
          <p:cNvPr id="25" name="Text 23"/>
          <p:cNvSpPr/>
          <p:nvPr/>
        </p:nvSpPr>
        <p:spPr>
          <a:xfrm>
            <a:off x="6874459" y="2618232"/>
            <a:ext cx="1680667"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0.6305</a:t>
            </a:r>
            <a:endParaRPr lang="en-US" sz="1400" dirty="0"/>
          </a:p>
        </p:txBody>
      </p:sp>
      <p:sp>
        <p:nvSpPr>
          <p:cNvPr id="26" name="Shape 24"/>
          <p:cNvSpPr/>
          <p:nvPr/>
        </p:nvSpPr>
        <p:spPr>
          <a:xfrm>
            <a:off x="8628278" y="2545080"/>
            <a:ext cx="2435962" cy="563880"/>
          </a:xfrm>
          <a:prstGeom prst="rect">
            <a:avLst/>
          </a:prstGeom>
          <a:solidFill>
            <a:srgbClr val="F4F6FB"/>
          </a:solidFill>
          <a:ln w="6350">
            <a:solidFill>
              <a:srgbClr val="DDE3EF"/>
            </a:solidFill>
            <a:prstDash val="solid"/>
          </a:ln>
        </p:spPr>
      </p:sp>
      <p:sp>
        <p:nvSpPr>
          <p:cNvPr id="27" name="Text 25"/>
          <p:cNvSpPr/>
          <p:nvPr/>
        </p:nvSpPr>
        <p:spPr>
          <a:xfrm>
            <a:off x="8701430" y="2618232"/>
            <a:ext cx="2289658" cy="472440"/>
          </a:xfrm>
          <a:prstGeom prst="rect">
            <a:avLst/>
          </a:prstGeom>
          <a:noFill/>
          <a:ln/>
        </p:spPr>
        <p:txBody>
          <a:bodyPr wrap="square" lIns="0" tIns="0" rIns="0" bIns="0" rtlCol="0" anchor="ctr">
            <a:normAutofit/>
          </a:bodyPr>
          <a:lstStyle/>
          <a:p>
            <a:pPr marL="0" indent="0">
              <a:buNone/>
            </a:pPr>
            <a:r>
              <a:rPr lang="en-US" sz="1400" dirty="0">
                <a:solidFill>
                  <a:srgbClr val="1A1E2A"/>
                </a:solidFill>
              </a:rPr>
              <a:t>Düşüş</a:t>
            </a:r>
            <a:endParaRPr lang="en-US" sz="1400" dirty="0"/>
          </a:p>
        </p:txBody>
      </p:sp>
      <p:sp>
        <p:nvSpPr>
          <p:cNvPr id="28" name="Text 26"/>
          <p:cNvSpPr/>
          <p:nvPr/>
        </p:nvSpPr>
        <p:spPr>
          <a:xfrm>
            <a:off x="960120" y="3703320"/>
            <a:ext cx="9784080" cy="1234440"/>
          </a:xfrm>
          <a:prstGeom prst="rect">
            <a:avLst/>
          </a:prstGeom>
          <a:noFill/>
          <a:ln/>
        </p:spPr>
        <p:txBody>
          <a:bodyPr wrap="square" lIns="635" tIns="635" rIns="635" bIns="635" rtlCol="0" anchor="ctr">
            <a:normAutofit/>
          </a:bodyPr>
          <a:lstStyle/>
          <a:p>
            <a:r>
              <a:rPr lang="en-US" sz="1600" dirty="0">
                <a:solidFill>
                  <a:srgbClr val="1A1E2A"/>
                </a:solidFill>
              </a:rPr>
              <a:t>Başlangıç varsayımı: Financial PhraseBank eklenirse model daha fazla finansal veri görür ve güçlenir.</a:t>
            </a:r>
            <a:endParaRPr lang="en-US" sz="1600" dirty="0"/>
          </a:p>
          <a:p>
            <a:r>
              <a:rPr lang="en-US" sz="1600" dirty="0">
                <a:solidFill>
                  <a:srgbClr val="1A1E2A"/>
                </a:solidFill>
              </a:rPr>
              <a:t>Deney sonucu: RoBERTa’da Twitter-only bazı testlerde daha iyi çıktı.</a:t>
            </a:r>
            <a:endParaRPr lang="en-US" sz="1600" dirty="0"/>
          </a:p>
          <a:p>
            <a:r>
              <a:rPr lang="en-US" sz="1600" dirty="0">
                <a:solidFill>
                  <a:srgbClr val="1A1E2A"/>
                </a:solidFill>
              </a:rPr>
              <a:t>Olası neden: veri kaynakları aynı etiket adlarını kullansa bile etiket semantiği ve dil yapısı farklı olabilir.</a:t>
            </a:r>
            <a:endParaRPr lang="en-US" sz="1600" dirty="0"/>
          </a:p>
        </p:txBody>
      </p:sp>
      <p:sp>
        <p:nvSpPr>
          <p:cNvPr id="29" name="Shape 27"/>
          <p:cNvSpPr/>
          <p:nvPr/>
        </p:nvSpPr>
        <p:spPr>
          <a:xfrm>
            <a:off x="960120" y="5440680"/>
            <a:ext cx="9966960" cy="502920"/>
          </a:xfrm>
          <a:prstGeom prst="roundRect">
            <a:avLst>
              <a:gd name="adj" fmla="val 14545"/>
            </a:avLst>
          </a:prstGeom>
          <a:solidFill>
            <a:srgbClr val="F0FAF8"/>
          </a:solidFill>
          <a:ln w="15240">
            <a:solidFill>
              <a:srgbClr val="0F9D8F"/>
            </a:solidFill>
            <a:prstDash val="solid"/>
          </a:ln>
        </p:spPr>
      </p:sp>
      <p:sp>
        <p:nvSpPr>
          <p:cNvPr id="30" name="Text 28"/>
          <p:cNvSpPr/>
          <p:nvPr/>
        </p:nvSpPr>
        <p:spPr>
          <a:xfrm>
            <a:off x="1124712" y="5586984"/>
            <a:ext cx="9637776" cy="27432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bulgu devam çalışmasında veri kompozisyonu ve label semantics deneylerinin temelini oluşturuyor.</a:t>
            </a:r>
            <a:endParaRPr lang="en-US" sz="1500" dirty="0"/>
          </a:p>
        </p:txBody>
      </p:sp>
      <p:sp>
        <p:nvSpPr>
          <p:cNvPr id="31" name="Text 29"/>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2" name="Text 30"/>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27</a:t>
            </a:r>
            <a:endParaRPr lang="en-US" sz="850" dirty="0"/>
          </a:p>
        </p:txBody>
      </p:sp>
      <p:sp>
        <p:nvSpPr>
          <p:cNvPr id="33" name="Shape 31"/>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Sentetik veri ve zero-shot bulguları</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Kolay benchmark ve genel NLI yaklaşımı dikkatle yorumlanmalı.</a:t>
            </a:r>
            <a:endParaRPr lang="en-US" sz="1450" dirty="0"/>
          </a:p>
        </p:txBody>
      </p:sp>
      <p:sp>
        <p:nvSpPr>
          <p:cNvPr id="4" name="Text 2"/>
          <p:cNvSpPr/>
          <p:nvPr/>
        </p:nvSpPr>
        <p:spPr>
          <a:xfrm>
            <a:off x="822960" y="1417320"/>
            <a:ext cx="3108960" cy="274320"/>
          </a:xfrm>
          <a:prstGeom prst="rect">
            <a:avLst/>
          </a:prstGeom>
          <a:noFill/>
          <a:ln/>
        </p:spPr>
        <p:txBody>
          <a:bodyPr wrap="square" lIns="0" tIns="0" rIns="0" bIns="0" rtlCol="0" anchor="ctr"/>
          <a:lstStyle/>
          <a:p>
            <a:pPr marL="0" indent="0">
              <a:buNone/>
            </a:pPr>
            <a:r>
              <a:rPr lang="en-US" sz="1900" b="1" dirty="0">
                <a:solidFill>
                  <a:srgbClr val="172033"/>
                </a:solidFill>
              </a:rPr>
              <a:t>Sentetik test</a:t>
            </a:r>
            <a:endParaRPr lang="en-US" sz="1900" dirty="0"/>
          </a:p>
        </p:txBody>
      </p:sp>
      <p:sp>
        <p:nvSpPr>
          <p:cNvPr id="5" name="Text 3"/>
          <p:cNvSpPr/>
          <p:nvPr/>
        </p:nvSpPr>
        <p:spPr>
          <a:xfrm>
            <a:off x="822960" y="1874520"/>
            <a:ext cx="3108960" cy="411480"/>
          </a:xfrm>
          <a:prstGeom prst="rect">
            <a:avLst/>
          </a:prstGeom>
          <a:noFill/>
          <a:ln/>
        </p:spPr>
        <p:txBody>
          <a:bodyPr wrap="square" lIns="0" tIns="0" rIns="0" bIns="0" rtlCol="0" anchor="ctr"/>
          <a:lstStyle/>
          <a:p>
            <a:pPr marL="0" indent="0">
              <a:buNone/>
            </a:pPr>
            <a:r>
              <a:rPr lang="en-US" sz="2600" b="1" dirty="0">
                <a:solidFill>
                  <a:srgbClr val="1C8B5A"/>
                </a:solidFill>
              </a:rPr>
              <a:t>RoBERTa ≈ 0.9957</a:t>
            </a:r>
            <a:endParaRPr lang="en-US" sz="2600" dirty="0"/>
          </a:p>
        </p:txBody>
      </p:sp>
      <p:sp>
        <p:nvSpPr>
          <p:cNvPr id="6" name="Text 4"/>
          <p:cNvSpPr/>
          <p:nvPr/>
        </p:nvSpPr>
        <p:spPr>
          <a:xfrm>
            <a:off x="822960" y="2560320"/>
            <a:ext cx="4572000" cy="822960"/>
          </a:xfrm>
          <a:prstGeom prst="rect">
            <a:avLst/>
          </a:prstGeom>
          <a:noFill/>
          <a:ln/>
        </p:spPr>
        <p:txBody>
          <a:bodyPr wrap="square" lIns="381" tIns="381" rIns="381" bIns="381" rtlCol="0" anchor="ctr">
            <a:normAutofit/>
          </a:bodyPr>
          <a:lstStyle/>
          <a:p>
            <a:pPr marL="0" indent="0">
              <a:buNone/>
            </a:pPr>
            <a:r>
              <a:rPr lang="en-US" sz="1630" dirty="0">
                <a:solidFill>
                  <a:srgbClr val="1A1E2A"/>
                </a:solidFill>
              </a:rPr>
              <a:t>3.000 sentetik örnekte skor çok yüksek çıktı; fakat Reuters sonucu çok daha düşük kaldı.</a:t>
            </a:r>
            <a:endParaRPr lang="en-US" sz="1630" dirty="0"/>
          </a:p>
        </p:txBody>
      </p:sp>
      <p:sp>
        <p:nvSpPr>
          <p:cNvPr id="7" name="Text 5"/>
          <p:cNvSpPr/>
          <p:nvPr/>
        </p:nvSpPr>
        <p:spPr>
          <a:xfrm>
            <a:off x="6492240" y="1417320"/>
            <a:ext cx="3108960" cy="274320"/>
          </a:xfrm>
          <a:prstGeom prst="rect">
            <a:avLst/>
          </a:prstGeom>
          <a:noFill/>
          <a:ln/>
        </p:spPr>
        <p:txBody>
          <a:bodyPr wrap="square" lIns="0" tIns="0" rIns="0" bIns="0" rtlCol="0" anchor="ctr"/>
          <a:lstStyle/>
          <a:p>
            <a:pPr marL="0" indent="0">
              <a:buNone/>
            </a:pPr>
            <a:r>
              <a:rPr lang="en-US" sz="1900" b="1" dirty="0">
                <a:solidFill>
                  <a:srgbClr val="172033"/>
                </a:solidFill>
              </a:rPr>
              <a:t>Zero-shot NLI</a:t>
            </a:r>
            <a:endParaRPr lang="en-US" sz="1900" dirty="0"/>
          </a:p>
        </p:txBody>
      </p:sp>
      <p:sp>
        <p:nvSpPr>
          <p:cNvPr id="8" name="Text 6"/>
          <p:cNvSpPr/>
          <p:nvPr/>
        </p:nvSpPr>
        <p:spPr>
          <a:xfrm>
            <a:off x="6492240" y="1874520"/>
            <a:ext cx="3474720" cy="411480"/>
          </a:xfrm>
          <a:prstGeom prst="rect">
            <a:avLst/>
          </a:prstGeom>
          <a:noFill/>
          <a:ln/>
        </p:spPr>
        <p:txBody>
          <a:bodyPr wrap="square" lIns="0" tIns="0" rIns="0" bIns="0" rtlCol="0" anchor="ctr"/>
          <a:lstStyle/>
          <a:p>
            <a:pPr marL="0" indent="0">
              <a:buNone/>
            </a:pPr>
            <a:r>
              <a:rPr lang="en-US" sz="2600" b="1" dirty="0">
                <a:solidFill>
                  <a:srgbClr val="F4A62A"/>
                </a:solidFill>
              </a:rPr>
              <a:t>BART-MNLI ≈ 0.558</a:t>
            </a:r>
            <a:endParaRPr lang="en-US" sz="2600" dirty="0"/>
          </a:p>
        </p:txBody>
      </p:sp>
      <p:sp>
        <p:nvSpPr>
          <p:cNvPr id="9" name="Text 7"/>
          <p:cNvSpPr/>
          <p:nvPr/>
        </p:nvSpPr>
        <p:spPr>
          <a:xfrm>
            <a:off x="6492240" y="2560320"/>
            <a:ext cx="4206240" cy="822960"/>
          </a:xfrm>
          <a:prstGeom prst="rect">
            <a:avLst/>
          </a:prstGeom>
          <a:noFill/>
          <a:ln/>
        </p:spPr>
        <p:txBody>
          <a:bodyPr wrap="square" lIns="381" tIns="381" rIns="381" bIns="381" rtlCol="0" anchor="ctr">
            <a:normAutofit/>
          </a:bodyPr>
          <a:lstStyle/>
          <a:p>
            <a:pPr marL="0" indent="0">
              <a:buNone/>
            </a:pPr>
            <a:r>
              <a:rPr lang="en-US" sz="1630" dirty="0">
                <a:solidFill>
                  <a:srgbClr val="1A1E2A"/>
                </a:solidFill>
              </a:rPr>
              <a:t>S&amp;P’de zero-shot NLI modelleri fine-tuned modellerin belirgin biçimde gerisinde kaldı.</a:t>
            </a:r>
            <a:endParaRPr lang="en-US" sz="1630" dirty="0"/>
          </a:p>
        </p:txBody>
      </p:sp>
      <p:sp>
        <p:nvSpPr>
          <p:cNvPr id="10" name="Shape 8"/>
          <p:cNvSpPr/>
          <p:nvPr/>
        </p:nvSpPr>
        <p:spPr>
          <a:xfrm>
            <a:off x="914400" y="4800600"/>
            <a:ext cx="10149840" cy="685800"/>
          </a:xfrm>
          <a:prstGeom prst="roundRect">
            <a:avLst>
              <a:gd name="adj" fmla="val 10667"/>
            </a:avLst>
          </a:prstGeom>
          <a:solidFill>
            <a:srgbClr val="F0FAF8"/>
          </a:solidFill>
          <a:ln w="15240">
            <a:solidFill>
              <a:srgbClr val="D64545"/>
            </a:solidFill>
            <a:prstDash val="solid"/>
          </a:ln>
        </p:spPr>
      </p:sp>
      <p:sp>
        <p:nvSpPr>
          <p:cNvPr id="11" name="Text 9"/>
          <p:cNvSpPr/>
          <p:nvPr/>
        </p:nvSpPr>
        <p:spPr>
          <a:xfrm>
            <a:off x="1078992" y="4946904"/>
            <a:ext cx="982065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Sentetik veri yüksek skor verdi; gerçek dünya genellemesi için Reuters/S&amp;P gibi dış testler daha belirleyici oldu.</a:t>
            </a:r>
            <a:endParaRPr lang="en-US" sz="1500" dirty="0"/>
          </a:p>
        </p:txBody>
      </p:sp>
      <p:sp>
        <p:nvSpPr>
          <p:cNvPr id="12" name="Text 1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3" name="Text 1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28</a:t>
            </a:r>
            <a:endParaRPr lang="en-US" sz="850" dirty="0"/>
          </a:p>
        </p:txBody>
      </p:sp>
      <p:sp>
        <p:nvSpPr>
          <p:cNvPr id="14" name="Shape 1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Verimlilik: doğruluk-maliyet dengesi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En yüksek F1 ile en hızlı model aynı olmak zorunda değil.</a:t>
            </a:r>
            <a:endParaRPr lang="en-US" sz="1450" dirty="0"/>
          </a:p>
        </p:txBody>
      </p:sp>
      <p:sp>
        <p:nvSpPr>
          <p:cNvPr id="4" name="Text 2"/>
          <p:cNvSpPr/>
          <p:nvPr/>
        </p:nvSpPr>
        <p:spPr>
          <a:xfrm>
            <a:off x="914400" y="1600200"/>
            <a:ext cx="2286000" cy="274320"/>
          </a:xfrm>
          <a:prstGeom prst="rect">
            <a:avLst/>
          </a:prstGeom>
          <a:noFill/>
          <a:ln/>
        </p:spPr>
        <p:txBody>
          <a:bodyPr wrap="square" lIns="0" tIns="0" rIns="0" bIns="0" rtlCol="0" anchor="ctr"/>
          <a:lstStyle/>
          <a:p>
            <a:pPr marL="0" indent="0">
              <a:buNone/>
            </a:pPr>
            <a:r>
              <a:rPr lang="en-US" sz="2000" b="1" dirty="0">
                <a:solidFill>
                  <a:srgbClr val="172033"/>
                </a:solidFill>
              </a:rPr>
              <a:t>BERT</a:t>
            </a:r>
            <a:endParaRPr lang="en-US" sz="2000" dirty="0"/>
          </a:p>
        </p:txBody>
      </p:sp>
      <p:sp>
        <p:nvSpPr>
          <p:cNvPr id="5" name="Text 3"/>
          <p:cNvSpPr/>
          <p:nvPr/>
        </p:nvSpPr>
        <p:spPr>
          <a:xfrm>
            <a:off x="914400" y="2057400"/>
            <a:ext cx="1920240" cy="548640"/>
          </a:xfrm>
          <a:prstGeom prst="rect">
            <a:avLst/>
          </a:prstGeom>
          <a:noFill/>
          <a:ln/>
        </p:spPr>
        <p:txBody>
          <a:bodyPr wrap="square" lIns="0" tIns="0" rIns="0" bIns="0" rtlCol="0" anchor="ctr"/>
          <a:lstStyle/>
          <a:p>
            <a:pPr marL="0" indent="0">
              <a:buNone/>
            </a:pPr>
            <a:r>
              <a:rPr lang="en-US" sz="3800" b="1" dirty="0">
                <a:solidFill>
                  <a:srgbClr val="3867D6"/>
                </a:solidFill>
              </a:rPr>
              <a:t>31.4</a:t>
            </a:r>
            <a:endParaRPr lang="en-US" sz="3800" dirty="0"/>
          </a:p>
        </p:txBody>
      </p:sp>
      <p:sp>
        <p:nvSpPr>
          <p:cNvPr id="6" name="Text 4"/>
          <p:cNvSpPr/>
          <p:nvPr/>
        </p:nvSpPr>
        <p:spPr>
          <a:xfrm>
            <a:off x="3063240" y="2240280"/>
            <a:ext cx="1005840" cy="182880"/>
          </a:xfrm>
          <a:prstGeom prst="rect">
            <a:avLst/>
          </a:prstGeom>
          <a:noFill/>
          <a:ln/>
        </p:spPr>
        <p:txBody>
          <a:bodyPr wrap="square" lIns="0" tIns="0" rIns="0" bIns="0" rtlCol="0" anchor="ctr"/>
          <a:lstStyle/>
          <a:p>
            <a:pPr marL="0" indent="0">
              <a:buNone/>
            </a:pPr>
            <a:r>
              <a:rPr lang="en-US" sz="1400" dirty="0">
                <a:solidFill>
                  <a:srgbClr val="5E6A7D"/>
                </a:solidFill>
              </a:rPr>
              <a:t>örnek/s</a:t>
            </a:r>
            <a:endParaRPr lang="en-US" sz="1400" dirty="0"/>
          </a:p>
        </p:txBody>
      </p:sp>
      <p:sp>
        <p:nvSpPr>
          <p:cNvPr id="7" name="Text 5"/>
          <p:cNvSpPr/>
          <p:nvPr/>
        </p:nvSpPr>
        <p:spPr>
          <a:xfrm>
            <a:off x="6400800" y="1600200"/>
            <a:ext cx="2286000" cy="274320"/>
          </a:xfrm>
          <a:prstGeom prst="rect">
            <a:avLst/>
          </a:prstGeom>
          <a:noFill/>
          <a:ln/>
        </p:spPr>
        <p:txBody>
          <a:bodyPr wrap="square" lIns="0" tIns="0" rIns="0" bIns="0" rtlCol="0" anchor="ctr"/>
          <a:lstStyle/>
          <a:p>
            <a:pPr marL="0" indent="0">
              <a:buNone/>
            </a:pPr>
            <a:r>
              <a:rPr lang="en-US" sz="2000" b="1" dirty="0">
                <a:solidFill>
                  <a:srgbClr val="172033"/>
                </a:solidFill>
              </a:rPr>
              <a:t>DistilBERT</a:t>
            </a:r>
            <a:endParaRPr lang="en-US" sz="2000" dirty="0"/>
          </a:p>
        </p:txBody>
      </p:sp>
      <p:sp>
        <p:nvSpPr>
          <p:cNvPr id="8" name="Text 6"/>
          <p:cNvSpPr/>
          <p:nvPr/>
        </p:nvSpPr>
        <p:spPr>
          <a:xfrm>
            <a:off x="6400800" y="2057400"/>
            <a:ext cx="1920240" cy="548640"/>
          </a:xfrm>
          <a:prstGeom prst="rect">
            <a:avLst/>
          </a:prstGeom>
          <a:noFill/>
          <a:ln/>
        </p:spPr>
        <p:txBody>
          <a:bodyPr wrap="square" lIns="0" tIns="0" rIns="0" bIns="0" rtlCol="0" anchor="ctr"/>
          <a:lstStyle/>
          <a:p>
            <a:pPr marL="0" indent="0">
              <a:buNone/>
            </a:pPr>
            <a:r>
              <a:rPr lang="en-US" sz="3800" b="1" dirty="0">
                <a:solidFill>
                  <a:srgbClr val="1C8B5A"/>
                </a:solidFill>
              </a:rPr>
              <a:t>70.3</a:t>
            </a:r>
            <a:endParaRPr lang="en-US" sz="3800" dirty="0"/>
          </a:p>
        </p:txBody>
      </p:sp>
      <p:sp>
        <p:nvSpPr>
          <p:cNvPr id="9" name="Text 7"/>
          <p:cNvSpPr/>
          <p:nvPr/>
        </p:nvSpPr>
        <p:spPr>
          <a:xfrm>
            <a:off x="8549640" y="2240280"/>
            <a:ext cx="1005840" cy="182880"/>
          </a:xfrm>
          <a:prstGeom prst="rect">
            <a:avLst/>
          </a:prstGeom>
          <a:noFill/>
          <a:ln/>
        </p:spPr>
        <p:txBody>
          <a:bodyPr wrap="square" lIns="0" tIns="0" rIns="0" bIns="0" rtlCol="0" anchor="ctr"/>
          <a:lstStyle/>
          <a:p>
            <a:pPr marL="0" indent="0">
              <a:buNone/>
            </a:pPr>
            <a:r>
              <a:rPr lang="en-US" sz="1400" dirty="0">
                <a:solidFill>
                  <a:srgbClr val="5E6A7D"/>
                </a:solidFill>
              </a:rPr>
              <a:t>örnek/s</a:t>
            </a:r>
            <a:endParaRPr lang="en-US" sz="1400" dirty="0"/>
          </a:p>
        </p:txBody>
      </p:sp>
      <p:sp>
        <p:nvSpPr>
          <p:cNvPr id="10" name="Shape 8"/>
          <p:cNvSpPr/>
          <p:nvPr/>
        </p:nvSpPr>
        <p:spPr>
          <a:xfrm>
            <a:off x="914400" y="3749040"/>
            <a:ext cx="10058400" cy="731520"/>
          </a:xfrm>
          <a:prstGeom prst="roundRect">
            <a:avLst>
              <a:gd name="adj" fmla="val 10000"/>
            </a:avLst>
          </a:prstGeom>
          <a:solidFill>
            <a:srgbClr val="F0FAF8"/>
          </a:solidFill>
          <a:ln w="15240">
            <a:solidFill>
              <a:srgbClr val="0F9D8F"/>
            </a:solidFill>
            <a:prstDash val="solid"/>
          </a:ln>
        </p:spPr>
      </p:sp>
      <p:sp>
        <p:nvSpPr>
          <p:cNvPr id="11" name="Text 9"/>
          <p:cNvSpPr/>
          <p:nvPr/>
        </p:nvSpPr>
        <p:spPr>
          <a:xfrm>
            <a:off x="1078992" y="3895344"/>
            <a:ext cx="9729216" cy="50292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DistilBERT yaklaşık 2.24× daha hızlı; RoBERTa ise doğruluk tarafında öne çıktı.</a:t>
            </a:r>
            <a:endParaRPr lang="en-US" sz="1500" dirty="0"/>
          </a:p>
        </p:txBody>
      </p:sp>
      <p:sp>
        <p:nvSpPr>
          <p:cNvPr id="12" name="Text 10"/>
          <p:cNvSpPr/>
          <p:nvPr/>
        </p:nvSpPr>
        <p:spPr>
          <a:xfrm>
            <a:off x="914400" y="4892040"/>
            <a:ext cx="9601200" cy="868680"/>
          </a:xfrm>
          <a:prstGeom prst="rect">
            <a:avLst/>
          </a:prstGeom>
          <a:noFill/>
          <a:ln/>
        </p:spPr>
        <p:txBody>
          <a:bodyPr wrap="square" lIns="635" tIns="635" rIns="635" bIns="635" rtlCol="0" anchor="ctr">
            <a:normAutofit/>
          </a:bodyPr>
          <a:lstStyle/>
          <a:p>
            <a:r>
              <a:rPr lang="en-US" sz="1550" dirty="0">
                <a:solidFill>
                  <a:srgbClr val="1A1E2A"/>
                </a:solidFill>
              </a:rPr>
              <a:t>Araştırma sonucunda tek seçim kriteri F1 olmamalı.</a:t>
            </a:r>
            <a:endParaRPr lang="en-US" sz="1550" dirty="0"/>
          </a:p>
          <a:p>
            <a:r>
              <a:rPr lang="en-US" sz="1550" dirty="0">
                <a:solidFill>
                  <a:srgbClr val="1A1E2A"/>
                </a:solidFill>
              </a:rPr>
              <a:t>Canlı sistemlerde latency, throughput ve kaynak maliyeti de önemlidir.</a:t>
            </a:r>
            <a:endParaRPr lang="en-US" sz="1550" dirty="0"/>
          </a:p>
          <a:p>
            <a:r>
              <a:rPr lang="en-US" sz="1550" dirty="0">
                <a:solidFill>
                  <a:srgbClr val="1A1E2A"/>
                </a:solidFill>
              </a:rPr>
              <a:t>Bu nedenle doğruluk-verimlilik dengesi ayrıca raporlandı.</a:t>
            </a:r>
            <a:endParaRPr lang="en-US" sz="1550" dirty="0"/>
          </a:p>
        </p:txBody>
      </p:sp>
      <p:sp>
        <p:nvSpPr>
          <p:cNvPr id="13" name="Text 11"/>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14" name="Text 12"/>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29</a:t>
            </a:r>
            <a:endParaRPr lang="en-US" sz="850" dirty="0"/>
          </a:p>
        </p:txBody>
      </p:sp>
      <p:sp>
        <p:nvSpPr>
          <p:cNvPr id="15" name="Shape 13"/>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240280"/>
            <a:ext cx="10789920" cy="685800"/>
          </a:xfrm>
          <a:prstGeom prst="rect">
            <a:avLst/>
          </a:prstGeom>
          <a:noFill/>
          <a:ln/>
        </p:spPr>
        <p:txBody>
          <a:bodyPr wrap="square" lIns="0" tIns="0" rIns="0" bIns="0" rtlCol="0" anchor="ctr"/>
          <a:lstStyle/>
          <a:p>
            <a:pPr marL="0" indent="0" algn="ctr">
              <a:buNone/>
            </a:pPr>
            <a:r>
              <a:rPr lang="en-US" sz="3600" b="1" dirty="0">
                <a:solidFill>
                  <a:srgbClr val="FFFFFF"/>
                </a:solidFill>
              </a:rPr>
              <a:t>« SONUÇ ve DEVAM PLANI »</a:t>
            </a:r>
            <a:endParaRPr lang="en-US" sz="3600" dirty="0"/>
          </a:p>
        </p:txBody>
      </p:sp>
      <p:sp>
        <p:nvSpPr>
          <p:cNvPr id="3" name="Text 1"/>
          <p:cNvSpPr/>
          <p:nvPr/>
        </p:nvSpPr>
        <p:spPr>
          <a:xfrm>
            <a:off x="1554480" y="3063240"/>
            <a:ext cx="9144000" cy="502920"/>
          </a:xfrm>
          <a:prstGeom prst="rect">
            <a:avLst/>
          </a:prstGeom>
          <a:noFill/>
          <a:ln/>
        </p:spPr>
        <p:txBody>
          <a:bodyPr wrap="square" lIns="0" tIns="0" rIns="0" bIns="0" rtlCol="0" anchor="ctr">
            <a:normAutofit/>
          </a:bodyPr>
          <a:lstStyle/>
          <a:p>
            <a:pPr marL="0" indent="0" algn="ctr">
              <a:buNone/>
            </a:pPr>
            <a:r>
              <a:rPr lang="en-US" sz="1800" dirty="0">
                <a:solidFill>
                  <a:srgbClr val="DCE6FF"/>
                </a:solidFill>
              </a:rPr>
              <a:t>Ana mesaj, sınırlılıklar ve 2 aylık geliştirme adımları</a:t>
            </a:r>
            <a:endParaRPr lang="en-US" sz="1800" dirty="0"/>
          </a:p>
        </p:txBody>
      </p:sp>
      <p:sp>
        <p:nvSpPr>
          <p:cNvPr id="4" name="Text 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5" name="Text 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30</a:t>
            </a:r>
            <a:endParaRPr lang="en-US" sz="850" dirty="0"/>
          </a:p>
        </p:txBody>
      </p:sp>
      <p:sp>
        <p:nvSpPr>
          <p:cNvPr id="6" name="Shape 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Ana sonuçlar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Çalışmanın tek parça halinde yorumu.</a:t>
            </a:r>
            <a:endParaRPr lang="en-US" sz="1450" dirty="0"/>
          </a:p>
        </p:txBody>
      </p:sp>
      <p:sp>
        <p:nvSpPr>
          <p:cNvPr id="4" name="Shape 2"/>
          <p:cNvSpPr/>
          <p:nvPr/>
        </p:nvSpPr>
        <p:spPr>
          <a:xfrm>
            <a:off x="777240" y="1307592"/>
            <a:ext cx="457200" cy="329184"/>
          </a:xfrm>
          <a:prstGeom prst="roundRect">
            <a:avLst>
              <a:gd name="adj" fmla="val 22222"/>
            </a:avLst>
          </a:prstGeom>
          <a:solidFill>
            <a:srgbClr val="3867D6"/>
          </a:solidFill>
          <a:ln w="12700">
            <a:solidFill>
              <a:srgbClr val="3867D6"/>
            </a:solidFill>
            <a:prstDash val="solid"/>
          </a:ln>
        </p:spPr>
      </p:sp>
      <p:sp>
        <p:nvSpPr>
          <p:cNvPr id="5" name="Text 3"/>
          <p:cNvSpPr/>
          <p:nvPr/>
        </p:nvSpPr>
        <p:spPr>
          <a:xfrm>
            <a:off x="850392" y="1371600"/>
            <a:ext cx="310896" cy="164592"/>
          </a:xfrm>
          <a:prstGeom prst="rect">
            <a:avLst/>
          </a:prstGeom>
          <a:noFill/>
          <a:ln/>
        </p:spPr>
        <p:txBody>
          <a:bodyPr wrap="square" lIns="0" tIns="0" rIns="0" bIns="0" rtlCol="0" anchor="ctr"/>
          <a:lstStyle/>
          <a:p>
            <a:pPr marL="0" indent="0" algn="ctr">
              <a:buNone/>
            </a:pPr>
            <a:r>
              <a:rPr lang="en-US" sz="1050" b="1" dirty="0">
                <a:solidFill>
                  <a:srgbClr val="FFFFFF"/>
                </a:solidFill>
              </a:rPr>
              <a:t>1</a:t>
            </a:r>
            <a:endParaRPr lang="en-US" sz="1050" dirty="0"/>
          </a:p>
        </p:txBody>
      </p:sp>
      <p:sp>
        <p:nvSpPr>
          <p:cNvPr id="6" name="Text 4"/>
          <p:cNvSpPr/>
          <p:nvPr/>
        </p:nvSpPr>
        <p:spPr>
          <a:xfrm>
            <a:off x="1463040" y="1234440"/>
            <a:ext cx="7955280" cy="256032"/>
          </a:xfrm>
          <a:prstGeom prst="rect">
            <a:avLst/>
          </a:prstGeom>
          <a:noFill/>
          <a:ln/>
        </p:spPr>
        <p:txBody>
          <a:bodyPr wrap="square" lIns="0" tIns="0" rIns="0" bIns="0" rtlCol="0" anchor="ctr">
            <a:normAutofit/>
          </a:bodyPr>
          <a:lstStyle/>
          <a:p>
            <a:pPr marL="0" indent="0">
              <a:buNone/>
            </a:pPr>
            <a:r>
              <a:rPr lang="en-US" sz="1750" b="1" dirty="0">
                <a:solidFill>
                  <a:srgbClr val="172033"/>
                </a:solidFill>
              </a:rPr>
              <a:t>Finans alanına özel pretrained model olmak tek başına yeterli değildir.</a:t>
            </a:r>
            <a:endParaRPr lang="en-US" sz="1750" dirty="0"/>
          </a:p>
        </p:txBody>
      </p:sp>
      <p:sp>
        <p:nvSpPr>
          <p:cNvPr id="7" name="Text 5"/>
          <p:cNvSpPr/>
          <p:nvPr/>
        </p:nvSpPr>
        <p:spPr>
          <a:xfrm>
            <a:off x="1463040" y="1618488"/>
            <a:ext cx="9052560" cy="228600"/>
          </a:xfrm>
          <a:prstGeom prst="rect">
            <a:avLst/>
          </a:prstGeom>
          <a:noFill/>
          <a:ln/>
        </p:spPr>
        <p:txBody>
          <a:bodyPr wrap="square" lIns="0" tIns="0" rIns="0" bIns="0" rtlCol="0" anchor="ctr">
            <a:normAutofit/>
          </a:bodyPr>
          <a:lstStyle/>
          <a:p>
            <a:pPr marL="0" indent="0">
              <a:buNone/>
            </a:pPr>
            <a:r>
              <a:rPr lang="en-US" sz="1450" dirty="0">
                <a:solidFill>
                  <a:srgbClr val="5E6A7D"/>
                </a:solidFill>
              </a:rPr>
              <a:t>Original FinBERT baseline sonucu bunu gösterdi.</a:t>
            </a:r>
            <a:endParaRPr lang="en-US" sz="1450" dirty="0"/>
          </a:p>
        </p:txBody>
      </p:sp>
      <p:sp>
        <p:nvSpPr>
          <p:cNvPr id="8" name="Shape 6"/>
          <p:cNvSpPr/>
          <p:nvPr/>
        </p:nvSpPr>
        <p:spPr>
          <a:xfrm>
            <a:off x="777240" y="2267712"/>
            <a:ext cx="457200" cy="329184"/>
          </a:xfrm>
          <a:prstGeom prst="roundRect">
            <a:avLst>
              <a:gd name="adj" fmla="val 22222"/>
            </a:avLst>
          </a:prstGeom>
          <a:solidFill>
            <a:srgbClr val="0F9D8F"/>
          </a:solidFill>
          <a:ln w="12700">
            <a:solidFill>
              <a:srgbClr val="0F9D8F"/>
            </a:solidFill>
            <a:prstDash val="solid"/>
          </a:ln>
        </p:spPr>
      </p:sp>
      <p:sp>
        <p:nvSpPr>
          <p:cNvPr id="9" name="Text 7"/>
          <p:cNvSpPr/>
          <p:nvPr/>
        </p:nvSpPr>
        <p:spPr>
          <a:xfrm>
            <a:off x="850392" y="2331720"/>
            <a:ext cx="310896" cy="164592"/>
          </a:xfrm>
          <a:prstGeom prst="rect">
            <a:avLst/>
          </a:prstGeom>
          <a:noFill/>
          <a:ln/>
        </p:spPr>
        <p:txBody>
          <a:bodyPr wrap="square" lIns="0" tIns="0" rIns="0" bIns="0" rtlCol="0" anchor="ctr"/>
          <a:lstStyle/>
          <a:p>
            <a:pPr marL="0" indent="0" algn="ctr">
              <a:buNone/>
            </a:pPr>
            <a:r>
              <a:rPr lang="en-US" sz="1050" b="1" dirty="0">
                <a:solidFill>
                  <a:srgbClr val="FFFFFF"/>
                </a:solidFill>
              </a:rPr>
              <a:t>2</a:t>
            </a:r>
            <a:endParaRPr lang="en-US" sz="1050" dirty="0"/>
          </a:p>
        </p:txBody>
      </p:sp>
      <p:sp>
        <p:nvSpPr>
          <p:cNvPr id="10" name="Text 8"/>
          <p:cNvSpPr/>
          <p:nvPr/>
        </p:nvSpPr>
        <p:spPr>
          <a:xfrm>
            <a:off x="1463040" y="2194560"/>
            <a:ext cx="7955280" cy="256032"/>
          </a:xfrm>
          <a:prstGeom prst="rect">
            <a:avLst/>
          </a:prstGeom>
          <a:noFill/>
          <a:ln/>
        </p:spPr>
        <p:txBody>
          <a:bodyPr wrap="square" lIns="0" tIns="0" rIns="0" bIns="0" rtlCol="0" anchor="ctr">
            <a:normAutofit/>
          </a:bodyPr>
          <a:lstStyle/>
          <a:p>
            <a:pPr marL="0" indent="0">
              <a:buNone/>
            </a:pPr>
            <a:r>
              <a:rPr lang="en-US" sz="1750" b="1" dirty="0">
                <a:solidFill>
                  <a:srgbClr val="172033"/>
                </a:solidFill>
              </a:rPr>
              <a:t>Task-specific fine-tuning iç dağılımda performansı ciddi biçimde artırır.</a:t>
            </a:r>
            <a:endParaRPr lang="en-US" sz="1750" dirty="0"/>
          </a:p>
        </p:txBody>
      </p:sp>
      <p:sp>
        <p:nvSpPr>
          <p:cNvPr id="11" name="Text 9"/>
          <p:cNvSpPr/>
          <p:nvPr/>
        </p:nvSpPr>
        <p:spPr>
          <a:xfrm>
            <a:off x="1463040" y="2578608"/>
            <a:ext cx="9052560" cy="228600"/>
          </a:xfrm>
          <a:prstGeom prst="rect">
            <a:avLst/>
          </a:prstGeom>
          <a:noFill/>
          <a:ln/>
        </p:spPr>
        <p:txBody>
          <a:bodyPr wrap="square" lIns="0" tIns="0" rIns="0" bIns="0" rtlCol="0" anchor="ctr">
            <a:normAutofit/>
          </a:bodyPr>
          <a:lstStyle/>
          <a:p>
            <a:pPr marL="0" indent="0">
              <a:buNone/>
            </a:pPr>
            <a:r>
              <a:rPr lang="en-US" sz="1450" dirty="0">
                <a:solidFill>
                  <a:srgbClr val="5E6A7D"/>
                </a:solidFill>
              </a:rPr>
              <a:t>FinBERT 0.6794’ten 0.8512’ye çıktı.</a:t>
            </a:r>
            <a:endParaRPr lang="en-US" sz="1450" dirty="0"/>
          </a:p>
        </p:txBody>
      </p:sp>
      <p:sp>
        <p:nvSpPr>
          <p:cNvPr id="12" name="Shape 10"/>
          <p:cNvSpPr/>
          <p:nvPr/>
        </p:nvSpPr>
        <p:spPr>
          <a:xfrm>
            <a:off x="777240" y="3227832"/>
            <a:ext cx="457200" cy="329184"/>
          </a:xfrm>
          <a:prstGeom prst="roundRect">
            <a:avLst>
              <a:gd name="adj" fmla="val 22222"/>
            </a:avLst>
          </a:prstGeom>
          <a:solidFill>
            <a:srgbClr val="D64545"/>
          </a:solidFill>
          <a:ln w="12700">
            <a:solidFill>
              <a:srgbClr val="D64545"/>
            </a:solidFill>
            <a:prstDash val="solid"/>
          </a:ln>
        </p:spPr>
      </p:sp>
      <p:sp>
        <p:nvSpPr>
          <p:cNvPr id="13" name="Text 11"/>
          <p:cNvSpPr/>
          <p:nvPr/>
        </p:nvSpPr>
        <p:spPr>
          <a:xfrm>
            <a:off x="850392" y="3291840"/>
            <a:ext cx="310896" cy="164592"/>
          </a:xfrm>
          <a:prstGeom prst="rect">
            <a:avLst/>
          </a:prstGeom>
          <a:noFill/>
          <a:ln/>
        </p:spPr>
        <p:txBody>
          <a:bodyPr wrap="square" lIns="0" tIns="0" rIns="0" bIns="0" rtlCol="0" anchor="ctr"/>
          <a:lstStyle/>
          <a:p>
            <a:pPr marL="0" indent="0" algn="ctr">
              <a:buNone/>
            </a:pPr>
            <a:r>
              <a:rPr lang="en-US" sz="1050" b="1" dirty="0">
                <a:solidFill>
                  <a:srgbClr val="FFFFFF"/>
                </a:solidFill>
              </a:rPr>
              <a:t>3</a:t>
            </a:r>
            <a:endParaRPr lang="en-US" sz="1050" dirty="0"/>
          </a:p>
        </p:txBody>
      </p:sp>
      <p:sp>
        <p:nvSpPr>
          <p:cNvPr id="14" name="Text 12"/>
          <p:cNvSpPr/>
          <p:nvPr/>
        </p:nvSpPr>
        <p:spPr>
          <a:xfrm>
            <a:off x="1463040" y="3154680"/>
            <a:ext cx="7955280" cy="256032"/>
          </a:xfrm>
          <a:prstGeom prst="rect">
            <a:avLst/>
          </a:prstGeom>
          <a:noFill/>
          <a:ln/>
        </p:spPr>
        <p:txBody>
          <a:bodyPr wrap="square" lIns="0" tIns="0" rIns="0" bIns="0" rtlCol="0" anchor="ctr">
            <a:normAutofit/>
          </a:bodyPr>
          <a:lstStyle/>
          <a:p>
            <a:pPr marL="0" indent="0">
              <a:buNone/>
            </a:pPr>
            <a:r>
              <a:rPr lang="en-US" sz="1750" b="1" dirty="0">
                <a:solidFill>
                  <a:srgbClr val="172033"/>
                </a:solidFill>
              </a:rPr>
              <a:t>Ancak iç test başarısı dış genellemeyi garanti etmez.</a:t>
            </a:r>
            <a:endParaRPr lang="en-US" sz="1750" dirty="0"/>
          </a:p>
        </p:txBody>
      </p:sp>
      <p:sp>
        <p:nvSpPr>
          <p:cNvPr id="15" name="Text 13"/>
          <p:cNvSpPr/>
          <p:nvPr/>
        </p:nvSpPr>
        <p:spPr>
          <a:xfrm>
            <a:off x="1463040" y="3538728"/>
            <a:ext cx="9052560" cy="228600"/>
          </a:xfrm>
          <a:prstGeom prst="rect">
            <a:avLst/>
          </a:prstGeom>
          <a:noFill/>
          <a:ln/>
        </p:spPr>
        <p:txBody>
          <a:bodyPr wrap="square" lIns="0" tIns="0" rIns="0" bIns="0" rtlCol="0" anchor="ctr">
            <a:normAutofit/>
          </a:bodyPr>
          <a:lstStyle/>
          <a:p>
            <a:pPr marL="0" indent="0">
              <a:buNone/>
            </a:pPr>
            <a:r>
              <a:rPr lang="en-US" sz="1450" dirty="0">
                <a:solidFill>
                  <a:srgbClr val="5E6A7D"/>
                </a:solidFill>
              </a:rPr>
              <a:t>Reuters’ta Original FinBERT, fine-tuned FinBERT’i geçti.</a:t>
            </a:r>
            <a:endParaRPr lang="en-US" sz="1450" dirty="0"/>
          </a:p>
        </p:txBody>
      </p:sp>
      <p:sp>
        <p:nvSpPr>
          <p:cNvPr id="16" name="Shape 14"/>
          <p:cNvSpPr/>
          <p:nvPr/>
        </p:nvSpPr>
        <p:spPr>
          <a:xfrm>
            <a:off x="777240" y="4187952"/>
            <a:ext cx="457200" cy="329184"/>
          </a:xfrm>
          <a:prstGeom prst="roundRect">
            <a:avLst>
              <a:gd name="adj" fmla="val 22222"/>
            </a:avLst>
          </a:prstGeom>
          <a:solidFill>
            <a:srgbClr val="F4A62A"/>
          </a:solidFill>
          <a:ln w="12700">
            <a:solidFill>
              <a:srgbClr val="F4A62A"/>
            </a:solidFill>
            <a:prstDash val="solid"/>
          </a:ln>
        </p:spPr>
      </p:sp>
      <p:sp>
        <p:nvSpPr>
          <p:cNvPr id="17" name="Text 15"/>
          <p:cNvSpPr/>
          <p:nvPr/>
        </p:nvSpPr>
        <p:spPr>
          <a:xfrm>
            <a:off x="850392" y="4251960"/>
            <a:ext cx="310896" cy="164592"/>
          </a:xfrm>
          <a:prstGeom prst="rect">
            <a:avLst/>
          </a:prstGeom>
          <a:noFill/>
          <a:ln/>
        </p:spPr>
        <p:txBody>
          <a:bodyPr wrap="square" lIns="0" tIns="0" rIns="0" bIns="0" rtlCol="0" anchor="ctr"/>
          <a:lstStyle/>
          <a:p>
            <a:pPr marL="0" indent="0" algn="ctr">
              <a:buNone/>
            </a:pPr>
            <a:r>
              <a:rPr lang="en-US" sz="1050" b="1" dirty="0">
                <a:solidFill>
                  <a:srgbClr val="FFFFFF"/>
                </a:solidFill>
              </a:rPr>
              <a:t>4</a:t>
            </a:r>
            <a:endParaRPr lang="en-US" sz="1050" dirty="0"/>
          </a:p>
        </p:txBody>
      </p:sp>
      <p:sp>
        <p:nvSpPr>
          <p:cNvPr id="18" name="Text 16"/>
          <p:cNvSpPr/>
          <p:nvPr/>
        </p:nvSpPr>
        <p:spPr>
          <a:xfrm>
            <a:off x="1463040" y="4114800"/>
            <a:ext cx="7955280" cy="256032"/>
          </a:xfrm>
          <a:prstGeom prst="rect">
            <a:avLst/>
          </a:prstGeom>
          <a:noFill/>
          <a:ln/>
        </p:spPr>
        <p:txBody>
          <a:bodyPr wrap="square" lIns="0" tIns="0" rIns="0" bIns="0" rtlCol="0" anchor="ctr">
            <a:normAutofit/>
          </a:bodyPr>
          <a:lstStyle/>
          <a:p>
            <a:pPr marL="0" indent="0">
              <a:buNone/>
            </a:pPr>
            <a:r>
              <a:rPr lang="en-US" sz="1750" b="1" dirty="0">
                <a:solidFill>
                  <a:srgbClr val="172033"/>
                </a:solidFill>
              </a:rPr>
              <a:t>Veri kaynağı ve label semantics performansı doğrudan etkiler.</a:t>
            </a:r>
            <a:endParaRPr lang="en-US" sz="1750" dirty="0"/>
          </a:p>
        </p:txBody>
      </p:sp>
      <p:sp>
        <p:nvSpPr>
          <p:cNvPr id="19" name="Text 17"/>
          <p:cNvSpPr/>
          <p:nvPr/>
        </p:nvSpPr>
        <p:spPr>
          <a:xfrm>
            <a:off x="1463040" y="4498848"/>
            <a:ext cx="9052560" cy="228600"/>
          </a:xfrm>
          <a:prstGeom prst="rect">
            <a:avLst/>
          </a:prstGeom>
          <a:noFill/>
          <a:ln/>
        </p:spPr>
        <p:txBody>
          <a:bodyPr wrap="square" lIns="0" tIns="0" rIns="0" bIns="0" rtlCol="0" anchor="ctr">
            <a:normAutofit/>
          </a:bodyPr>
          <a:lstStyle/>
          <a:p>
            <a:pPr marL="0" indent="0">
              <a:buNone/>
            </a:pPr>
            <a:r>
              <a:rPr lang="en-US" sz="1450" dirty="0">
                <a:solidFill>
                  <a:srgbClr val="5E6A7D"/>
                </a:solidFill>
              </a:rPr>
              <a:t>Neutral sınıfı ve PhraseBank ablasyonu bu tartışmayı destekledi.</a:t>
            </a:r>
            <a:endParaRPr lang="en-US" sz="1450" dirty="0"/>
          </a:p>
        </p:txBody>
      </p:sp>
      <p:sp>
        <p:nvSpPr>
          <p:cNvPr id="20" name="Shape 18"/>
          <p:cNvSpPr/>
          <p:nvPr/>
        </p:nvSpPr>
        <p:spPr>
          <a:xfrm>
            <a:off x="914400" y="5532120"/>
            <a:ext cx="10058400" cy="502920"/>
          </a:xfrm>
          <a:prstGeom prst="roundRect">
            <a:avLst>
              <a:gd name="adj" fmla="val 14545"/>
            </a:avLst>
          </a:prstGeom>
          <a:solidFill>
            <a:srgbClr val="F0FAF8"/>
          </a:solidFill>
          <a:ln w="15240">
            <a:solidFill>
              <a:srgbClr val="D64545"/>
            </a:solidFill>
            <a:prstDash val="solid"/>
          </a:ln>
        </p:spPr>
      </p:sp>
      <p:sp>
        <p:nvSpPr>
          <p:cNvPr id="21" name="Text 19"/>
          <p:cNvSpPr/>
          <p:nvPr/>
        </p:nvSpPr>
        <p:spPr>
          <a:xfrm>
            <a:off x="1078992" y="5678424"/>
            <a:ext cx="9729216" cy="27432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Savunma mesajı: iyi iç test skoru, gerçek dünya genellemesini garanti etmez.</a:t>
            </a:r>
            <a:endParaRPr lang="en-US" sz="1500" dirty="0"/>
          </a:p>
        </p:txBody>
      </p:sp>
      <p:sp>
        <p:nvSpPr>
          <p:cNvPr id="22" name="Text 2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3" name="Text 2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31</a:t>
            </a:r>
            <a:endParaRPr lang="en-US" sz="850" dirty="0"/>
          </a:p>
        </p:txBody>
      </p:sp>
      <p:sp>
        <p:nvSpPr>
          <p:cNvPr id="24" name="Shape 2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Sınırlılıklar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Devam çalışmasının neden gerekli olduğunu açıkça ortaya koyuyor.</a:t>
            </a:r>
            <a:endParaRPr lang="en-US" sz="1450" dirty="0"/>
          </a:p>
        </p:txBody>
      </p:sp>
      <p:sp>
        <p:nvSpPr>
          <p:cNvPr id="4" name="Text 2"/>
          <p:cNvSpPr/>
          <p:nvPr/>
        </p:nvSpPr>
        <p:spPr>
          <a:xfrm>
            <a:off x="777240" y="1280160"/>
            <a:ext cx="10332720" cy="3017520"/>
          </a:xfrm>
          <a:prstGeom prst="rect">
            <a:avLst/>
          </a:prstGeom>
          <a:noFill/>
          <a:ln/>
        </p:spPr>
        <p:txBody>
          <a:bodyPr wrap="square" lIns="635" tIns="635" rIns="635" bIns="635" rtlCol="0" anchor="ctr">
            <a:normAutofit/>
          </a:bodyPr>
          <a:lstStyle/>
          <a:p>
            <a:r>
              <a:rPr lang="en-US" sz="1700" dirty="0">
                <a:solidFill>
                  <a:srgbClr val="1A1E2A"/>
                </a:solidFill>
              </a:rPr>
              <a:t>S&amp;P ve Reuters etiketleri LLM destekli oluşturuldu; insan doğrulaması henüz sistematik olarak tamamlanmadı.</a:t>
            </a:r>
            <a:endParaRPr lang="en-US" sz="1700" dirty="0"/>
          </a:p>
          <a:p>
            <a:r>
              <a:rPr lang="en-US" sz="1700" dirty="0">
                <a:solidFill>
                  <a:srgbClr val="1A1E2A"/>
                </a:solidFill>
              </a:rPr>
              <a:t>External test setleri hazır akademik gold-standard benchmark değildir; bu nedenle “LLM destekli dış değerlendirme seti” olarak yorumlanmalıdır.</a:t>
            </a:r>
            <a:endParaRPr lang="en-US" sz="1700" dirty="0"/>
          </a:p>
          <a:p>
            <a:r>
              <a:rPr lang="en-US" sz="1700" dirty="0">
                <a:solidFill>
                  <a:srgbClr val="1A1E2A"/>
                </a:solidFill>
              </a:rPr>
              <a:t>Prediction dosyaları ve istatistiksel test pipeline’ı savunma sonrası temizlenerek yeniden üretilecektir.</a:t>
            </a:r>
            <a:endParaRPr lang="en-US" sz="1700" dirty="0"/>
          </a:p>
          <a:p>
            <a:r>
              <a:rPr lang="en-US" sz="1700" dirty="0">
                <a:solidFill>
                  <a:srgbClr val="1A1E2A"/>
                </a:solidFill>
              </a:rPr>
              <a:t>Label semantics farklarının etkisi şu an tartışılmakta; iki aylık süreçte sistematik olarak ölçülecektir.</a:t>
            </a:r>
            <a:endParaRPr lang="en-US" sz="1700" dirty="0"/>
          </a:p>
        </p:txBody>
      </p:sp>
      <p:sp>
        <p:nvSpPr>
          <p:cNvPr id="5" name="Shape 3"/>
          <p:cNvSpPr/>
          <p:nvPr/>
        </p:nvSpPr>
        <p:spPr>
          <a:xfrm>
            <a:off x="914400" y="5074920"/>
            <a:ext cx="10058400" cy="685800"/>
          </a:xfrm>
          <a:prstGeom prst="roundRect">
            <a:avLst>
              <a:gd name="adj" fmla="val 10667"/>
            </a:avLst>
          </a:prstGeom>
          <a:solidFill>
            <a:srgbClr val="F0FAF8"/>
          </a:solidFill>
          <a:ln w="15240">
            <a:solidFill>
              <a:srgbClr val="0F9D8F"/>
            </a:solidFill>
            <a:prstDash val="solid"/>
          </a:ln>
        </p:spPr>
      </p:sp>
      <p:sp>
        <p:nvSpPr>
          <p:cNvPr id="6" name="Text 4"/>
          <p:cNvSpPr/>
          <p:nvPr/>
        </p:nvSpPr>
        <p:spPr>
          <a:xfrm>
            <a:off x="1078992" y="5221224"/>
            <a:ext cx="9729216" cy="45720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sınırlılıklar tezi zayıflatmak için değil; sonraki iki aylık çalışmanın bilimsel gerekçesini netleştirmek için sunuluyor.</a:t>
            </a:r>
            <a:endParaRPr lang="en-US" sz="1500" dirty="0"/>
          </a:p>
        </p:txBody>
      </p:sp>
      <p:sp>
        <p:nvSpPr>
          <p:cNvPr id="7" name="Text 5"/>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8" name="Text 6"/>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32</a:t>
            </a:r>
            <a:endParaRPr lang="en-US" sz="850" dirty="0"/>
          </a:p>
        </p:txBody>
      </p:sp>
      <p:sp>
        <p:nvSpPr>
          <p:cNvPr id="9" name="Shape 7"/>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Devam planı 1: Üç modelle yeniden etiketleme</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Amaç: tek model etiketine bağımlılığı azaltmak ve daha güvenilir veri havuzu oluşturmak.</a:t>
            </a:r>
            <a:endParaRPr lang="en-US" sz="1450" dirty="0"/>
          </a:p>
        </p:txBody>
      </p:sp>
      <p:sp>
        <p:nvSpPr>
          <p:cNvPr id="4" name="Shape 2"/>
          <p:cNvSpPr/>
          <p:nvPr/>
        </p:nvSpPr>
        <p:spPr>
          <a:xfrm>
            <a:off x="731520" y="1417320"/>
            <a:ext cx="2567635" cy="525780"/>
          </a:xfrm>
          <a:prstGeom prst="rect">
            <a:avLst/>
          </a:prstGeom>
          <a:solidFill>
            <a:srgbClr val="1D2B46"/>
          </a:solidFill>
          <a:ln w="6350">
            <a:solidFill>
              <a:srgbClr val="DDE3EF"/>
            </a:solidFill>
            <a:prstDash val="solid"/>
          </a:ln>
        </p:spPr>
      </p:sp>
      <p:sp>
        <p:nvSpPr>
          <p:cNvPr id="5" name="Text 3"/>
          <p:cNvSpPr/>
          <p:nvPr/>
        </p:nvSpPr>
        <p:spPr>
          <a:xfrm>
            <a:off x="804672" y="1490472"/>
            <a:ext cx="2421331" cy="4343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Metin</a:t>
            </a:r>
            <a:endParaRPr lang="en-US" sz="1150" dirty="0"/>
          </a:p>
        </p:txBody>
      </p:sp>
      <p:sp>
        <p:nvSpPr>
          <p:cNvPr id="6" name="Shape 4"/>
          <p:cNvSpPr/>
          <p:nvPr/>
        </p:nvSpPr>
        <p:spPr>
          <a:xfrm>
            <a:off x="3299155" y="1417320"/>
            <a:ext cx="2032711" cy="525780"/>
          </a:xfrm>
          <a:prstGeom prst="rect">
            <a:avLst/>
          </a:prstGeom>
          <a:solidFill>
            <a:srgbClr val="1D2B46"/>
          </a:solidFill>
          <a:ln w="6350">
            <a:solidFill>
              <a:srgbClr val="DDE3EF"/>
            </a:solidFill>
            <a:prstDash val="solid"/>
          </a:ln>
        </p:spPr>
      </p:sp>
      <p:sp>
        <p:nvSpPr>
          <p:cNvPr id="7" name="Text 5"/>
          <p:cNvSpPr/>
          <p:nvPr/>
        </p:nvSpPr>
        <p:spPr>
          <a:xfrm>
            <a:off x="3372307" y="1490472"/>
            <a:ext cx="1886407" cy="4343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Model A</a:t>
            </a:r>
            <a:endParaRPr lang="en-US" sz="1150" dirty="0"/>
          </a:p>
        </p:txBody>
      </p:sp>
      <p:sp>
        <p:nvSpPr>
          <p:cNvPr id="8" name="Shape 6"/>
          <p:cNvSpPr/>
          <p:nvPr/>
        </p:nvSpPr>
        <p:spPr>
          <a:xfrm>
            <a:off x="5331866" y="1417320"/>
            <a:ext cx="2032711" cy="525780"/>
          </a:xfrm>
          <a:prstGeom prst="rect">
            <a:avLst/>
          </a:prstGeom>
          <a:solidFill>
            <a:srgbClr val="1D2B46"/>
          </a:solidFill>
          <a:ln w="6350">
            <a:solidFill>
              <a:srgbClr val="DDE3EF"/>
            </a:solidFill>
            <a:prstDash val="solid"/>
          </a:ln>
        </p:spPr>
      </p:sp>
      <p:sp>
        <p:nvSpPr>
          <p:cNvPr id="9" name="Text 7"/>
          <p:cNvSpPr/>
          <p:nvPr/>
        </p:nvSpPr>
        <p:spPr>
          <a:xfrm>
            <a:off x="5405018" y="1490472"/>
            <a:ext cx="1886407" cy="4343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Model B</a:t>
            </a:r>
            <a:endParaRPr lang="en-US" sz="1150" dirty="0"/>
          </a:p>
        </p:txBody>
      </p:sp>
      <p:sp>
        <p:nvSpPr>
          <p:cNvPr id="10" name="Shape 8"/>
          <p:cNvSpPr/>
          <p:nvPr/>
        </p:nvSpPr>
        <p:spPr>
          <a:xfrm>
            <a:off x="7364578" y="1417320"/>
            <a:ext cx="2032711" cy="525780"/>
          </a:xfrm>
          <a:prstGeom prst="rect">
            <a:avLst/>
          </a:prstGeom>
          <a:solidFill>
            <a:srgbClr val="1D2B46"/>
          </a:solidFill>
          <a:ln w="6350">
            <a:solidFill>
              <a:srgbClr val="DDE3EF"/>
            </a:solidFill>
            <a:prstDash val="solid"/>
          </a:ln>
        </p:spPr>
      </p:sp>
      <p:sp>
        <p:nvSpPr>
          <p:cNvPr id="11" name="Text 9"/>
          <p:cNvSpPr/>
          <p:nvPr/>
        </p:nvSpPr>
        <p:spPr>
          <a:xfrm>
            <a:off x="7437730" y="1490472"/>
            <a:ext cx="1886407" cy="4343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Model C</a:t>
            </a:r>
            <a:endParaRPr lang="en-US" sz="1150" dirty="0"/>
          </a:p>
        </p:txBody>
      </p:sp>
      <p:sp>
        <p:nvSpPr>
          <p:cNvPr id="12" name="Shape 10"/>
          <p:cNvSpPr/>
          <p:nvPr/>
        </p:nvSpPr>
        <p:spPr>
          <a:xfrm>
            <a:off x="9397289" y="1417320"/>
            <a:ext cx="2032711" cy="525780"/>
          </a:xfrm>
          <a:prstGeom prst="rect">
            <a:avLst/>
          </a:prstGeom>
          <a:solidFill>
            <a:srgbClr val="1D2B46"/>
          </a:solidFill>
          <a:ln w="6350">
            <a:solidFill>
              <a:srgbClr val="DDE3EF"/>
            </a:solidFill>
            <a:prstDash val="solid"/>
          </a:ln>
        </p:spPr>
      </p:sp>
      <p:sp>
        <p:nvSpPr>
          <p:cNvPr id="13" name="Text 11"/>
          <p:cNvSpPr/>
          <p:nvPr/>
        </p:nvSpPr>
        <p:spPr>
          <a:xfrm>
            <a:off x="9470441" y="1490472"/>
            <a:ext cx="1886407" cy="434340"/>
          </a:xfrm>
          <a:prstGeom prst="rect">
            <a:avLst/>
          </a:prstGeom>
          <a:noFill/>
          <a:ln/>
        </p:spPr>
        <p:txBody>
          <a:bodyPr wrap="square" lIns="0" tIns="0" rIns="0" bIns="0" rtlCol="0" anchor="ctr">
            <a:normAutofit/>
          </a:bodyPr>
          <a:lstStyle/>
          <a:p>
            <a:pPr marL="0" indent="0">
              <a:buNone/>
            </a:pPr>
            <a:r>
              <a:rPr lang="en-US" sz="1150" b="1" dirty="0">
                <a:solidFill>
                  <a:srgbClr val="FFFFFF"/>
                </a:solidFill>
              </a:rPr>
              <a:t>Karar</a:t>
            </a:r>
            <a:endParaRPr lang="en-US" sz="1150" dirty="0"/>
          </a:p>
        </p:txBody>
      </p:sp>
      <p:sp>
        <p:nvSpPr>
          <p:cNvPr id="14" name="Shape 12"/>
          <p:cNvSpPr/>
          <p:nvPr/>
        </p:nvSpPr>
        <p:spPr>
          <a:xfrm>
            <a:off x="731520" y="1943100"/>
            <a:ext cx="2567635" cy="525780"/>
          </a:xfrm>
          <a:prstGeom prst="rect">
            <a:avLst/>
          </a:prstGeom>
          <a:solidFill>
            <a:srgbClr val="FFFFFF"/>
          </a:solidFill>
          <a:ln w="6350">
            <a:solidFill>
              <a:srgbClr val="DDE3EF"/>
            </a:solidFill>
            <a:prstDash val="solid"/>
          </a:ln>
        </p:spPr>
      </p:sp>
      <p:sp>
        <p:nvSpPr>
          <p:cNvPr id="15" name="Text 13"/>
          <p:cNvSpPr/>
          <p:nvPr/>
        </p:nvSpPr>
        <p:spPr>
          <a:xfrm>
            <a:off x="804672" y="2016252"/>
            <a:ext cx="2421331"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Haber 1</a:t>
            </a:r>
            <a:endParaRPr lang="en-US" sz="1270" dirty="0"/>
          </a:p>
        </p:txBody>
      </p:sp>
      <p:sp>
        <p:nvSpPr>
          <p:cNvPr id="16" name="Shape 14"/>
          <p:cNvSpPr/>
          <p:nvPr/>
        </p:nvSpPr>
        <p:spPr>
          <a:xfrm>
            <a:off x="3299155" y="1943100"/>
            <a:ext cx="2032711" cy="525780"/>
          </a:xfrm>
          <a:prstGeom prst="rect">
            <a:avLst/>
          </a:prstGeom>
          <a:solidFill>
            <a:srgbClr val="FFFFFF"/>
          </a:solidFill>
          <a:ln w="6350">
            <a:solidFill>
              <a:srgbClr val="DDE3EF"/>
            </a:solidFill>
            <a:prstDash val="solid"/>
          </a:ln>
        </p:spPr>
      </p:sp>
      <p:sp>
        <p:nvSpPr>
          <p:cNvPr id="17" name="Text 15"/>
          <p:cNvSpPr/>
          <p:nvPr/>
        </p:nvSpPr>
        <p:spPr>
          <a:xfrm>
            <a:off x="3372307" y="201625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Positive</a:t>
            </a:r>
            <a:endParaRPr lang="en-US" sz="1270" dirty="0"/>
          </a:p>
        </p:txBody>
      </p:sp>
      <p:sp>
        <p:nvSpPr>
          <p:cNvPr id="18" name="Shape 16"/>
          <p:cNvSpPr/>
          <p:nvPr/>
        </p:nvSpPr>
        <p:spPr>
          <a:xfrm>
            <a:off x="5331866" y="1943100"/>
            <a:ext cx="2032711" cy="525780"/>
          </a:xfrm>
          <a:prstGeom prst="rect">
            <a:avLst/>
          </a:prstGeom>
          <a:solidFill>
            <a:srgbClr val="FFFFFF"/>
          </a:solidFill>
          <a:ln w="6350">
            <a:solidFill>
              <a:srgbClr val="DDE3EF"/>
            </a:solidFill>
            <a:prstDash val="solid"/>
          </a:ln>
        </p:spPr>
      </p:sp>
      <p:sp>
        <p:nvSpPr>
          <p:cNvPr id="19" name="Text 17"/>
          <p:cNvSpPr/>
          <p:nvPr/>
        </p:nvSpPr>
        <p:spPr>
          <a:xfrm>
            <a:off x="5405018" y="201625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Positive</a:t>
            </a:r>
            <a:endParaRPr lang="en-US" sz="1270" dirty="0"/>
          </a:p>
        </p:txBody>
      </p:sp>
      <p:sp>
        <p:nvSpPr>
          <p:cNvPr id="20" name="Shape 18"/>
          <p:cNvSpPr/>
          <p:nvPr/>
        </p:nvSpPr>
        <p:spPr>
          <a:xfrm>
            <a:off x="7364578" y="1943100"/>
            <a:ext cx="2032711" cy="525780"/>
          </a:xfrm>
          <a:prstGeom prst="rect">
            <a:avLst/>
          </a:prstGeom>
          <a:solidFill>
            <a:srgbClr val="FFFFFF"/>
          </a:solidFill>
          <a:ln w="6350">
            <a:solidFill>
              <a:srgbClr val="DDE3EF"/>
            </a:solidFill>
            <a:prstDash val="solid"/>
          </a:ln>
        </p:spPr>
      </p:sp>
      <p:sp>
        <p:nvSpPr>
          <p:cNvPr id="21" name="Text 19"/>
          <p:cNvSpPr/>
          <p:nvPr/>
        </p:nvSpPr>
        <p:spPr>
          <a:xfrm>
            <a:off x="7437730" y="201625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Positive</a:t>
            </a:r>
            <a:endParaRPr lang="en-US" sz="1270" dirty="0"/>
          </a:p>
        </p:txBody>
      </p:sp>
      <p:sp>
        <p:nvSpPr>
          <p:cNvPr id="22" name="Shape 20"/>
          <p:cNvSpPr/>
          <p:nvPr/>
        </p:nvSpPr>
        <p:spPr>
          <a:xfrm>
            <a:off x="9397289" y="1943100"/>
            <a:ext cx="2032711" cy="525780"/>
          </a:xfrm>
          <a:prstGeom prst="rect">
            <a:avLst/>
          </a:prstGeom>
          <a:solidFill>
            <a:srgbClr val="FFFFFF"/>
          </a:solidFill>
          <a:ln w="6350">
            <a:solidFill>
              <a:srgbClr val="DDE3EF"/>
            </a:solidFill>
            <a:prstDash val="solid"/>
          </a:ln>
        </p:spPr>
      </p:sp>
      <p:sp>
        <p:nvSpPr>
          <p:cNvPr id="23" name="Text 21"/>
          <p:cNvSpPr/>
          <p:nvPr/>
        </p:nvSpPr>
        <p:spPr>
          <a:xfrm>
            <a:off x="9470441" y="201625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Consensus ✓</a:t>
            </a:r>
            <a:endParaRPr lang="en-US" sz="1270" dirty="0"/>
          </a:p>
        </p:txBody>
      </p:sp>
      <p:sp>
        <p:nvSpPr>
          <p:cNvPr id="24" name="Shape 22"/>
          <p:cNvSpPr/>
          <p:nvPr/>
        </p:nvSpPr>
        <p:spPr>
          <a:xfrm>
            <a:off x="731520" y="2468880"/>
            <a:ext cx="2567635" cy="525780"/>
          </a:xfrm>
          <a:prstGeom prst="rect">
            <a:avLst/>
          </a:prstGeom>
          <a:solidFill>
            <a:srgbClr val="F4F6FB"/>
          </a:solidFill>
          <a:ln w="6350">
            <a:solidFill>
              <a:srgbClr val="DDE3EF"/>
            </a:solidFill>
            <a:prstDash val="solid"/>
          </a:ln>
        </p:spPr>
      </p:sp>
      <p:sp>
        <p:nvSpPr>
          <p:cNvPr id="25" name="Text 23"/>
          <p:cNvSpPr/>
          <p:nvPr/>
        </p:nvSpPr>
        <p:spPr>
          <a:xfrm>
            <a:off x="804672" y="2542032"/>
            <a:ext cx="2421331"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Haber 2</a:t>
            </a:r>
            <a:endParaRPr lang="en-US" sz="1270" dirty="0"/>
          </a:p>
        </p:txBody>
      </p:sp>
      <p:sp>
        <p:nvSpPr>
          <p:cNvPr id="26" name="Shape 24"/>
          <p:cNvSpPr/>
          <p:nvPr/>
        </p:nvSpPr>
        <p:spPr>
          <a:xfrm>
            <a:off x="3299155" y="2468880"/>
            <a:ext cx="2032711" cy="525780"/>
          </a:xfrm>
          <a:prstGeom prst="rect">
            <a:avLst/>
          </a:prstGeom>
          <a:solidFill>
            <a:srgbClr val="F4F6FB"/>
          </a:solidFill>
          <a:ln w="6350">
            <a:solidFill>
              <a:srgbClr val="DDE3EF"/>
            </a:solidFill>
            <a:prstDash val="solid"/>
          </a:ln>
        </p:spPr>
      </p:sp>
      <p:sp>
        <p:nvSpPr>
          <p:cNvPr id="27" name="Text 25"/>
          <p:cNvSpPr/>
          <p:nvPr/>
        </p:nvSpPr>
        <p:spPr>
          <a:xfrm>
            <a:off x="3372307" y="254203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Neutral</a:t>
            </a:r>
            <a:endParaRPr lang="en-US" sz="1270" dirty="0"/>
          </a:p>
        </p:txBody>
      </p:sp>
      <p:sp>
        <p:nvSpPr>
          <p:cNvPr id="28" name="Shape 26"/>
          <p:cNvSpPr/>
          <p:nvPr/>
        </p:nvSpPr>
        <p:spPr>
          <a:xfrm>
            <a:off x="5331866" y="2468880"/>
            <a:ext cx="2032711" cy="525780"/>
          </a:xfrm>
          <a:prstGeom prst="rect">
            <a:avLst/>
          </a:prstGeom>
          <a:solidFill>
            <a:srgbClr val="F4F6FB"/>
          </a:solidFill>
          <a:ln w="6350">
            <a:solidFill>
              <a:srgbClr val="DDE3EF"/>
            </a:solidFill>
            <a:prstDash val="solid"/>
          </a:ln>
        </p:spPr>
      </p:sp>
      <p:sp>
        <p:nvSpPr>
          <p:cNvPr id="29" name="Text 27"/>
          <p:cNvSpPr/>
          <p:nvPr/>
        </p:nvSpPr>
        <p:spPr>
          <a:xfrm>
            <a:off x="5405018" y="254203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Neutral</a:t>
            </a:r>
            <a:endParaRPr lang="en-US" sz="1270" dirty="0"/>
          </a:p>
        </p:txBody>
      </p:sp>
      <p:sp>
        <p:nvSpPr>
          <p:cNvPr id="30" name="Shape 28"/>
          <p:cNvSpPr/>
          <p:nvPr/>
        </p:nvSpPr>
        <p:spPr>
          <a:xfrm>
            <a:off x="7364578" y="2468880"/>
            <a:ext cx="2032711" cy="525780"/>
          </a:xfrm>
          <a:prstGeom prst="rect">
            <a:avLst/>
          </a:prstGeom>
          <a:solidFill>
            <a:srgbClr val="F4F6FB"/>
          </a:solidFill>
          <a:ln w="6350">
            <a:solidFill>
              <a:srgbClr val="DDE3EF"/>
            </a:solidFill>
            <a:prstDash val="solid"/>
          </a:ln>
        </p:spPr>
      </p:sp>
      <p:sp>
        <p:nvSpPr>
          <p:cNvPr id="31" name="Text 29"/>
          <p:cNvSpPr/>
          <p:nvPr/>
        </p:nvSpPr>
        <p:spPr>
          <a:xfrm>
            <a:off x="7437730" y="254203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Positive</a:t>
            </a:r>
            <a:endParaRPr lang="en-US" sz="1270" dirty="0"/>
          </a:p>
        </p:txBody>
      </p:sp>
      <p:sp>
        <p:nvSpPr>
          <p:cNvPr id="32" name="Shape 30"/>
          <p:cNvSpPr/>
          <p:nvPr/>
        </p:nvSpPr>
        <p:spPr>
          <a:xfrm>
            <a:off x="9397289" y="2468880"/>
            <a:ext cx="2032711" cy="525780"/>
          </a:xfrm>
          <a:prstGeom prst="rect">
            <a:avLst/>
          </a:prstGeom>
          <a:solidFill>
            <a:srgbClr val="F4F6FB"/>
          </a:solidFill>
          <a:ln w="6350">
            <a:solidFill>
              <a:srgbClr val="DDE3EF"/>
            </a:solidFill>
            <a:prstDash val="solid"/>
          </a:ln>
        </p:spPr>
      </p:sp>
      <p:sp>
        <p:nvSpPr>
          <p:cNvPr id="33" name="Text 31"/>
          <p:cNvSpPr/>
          <p:nvPr/>
        </p:nvSpPr>
        <p:spPr>
          <a:xfrm>
            <a:off x="9470441" y="254203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2/3 majority</a:t>
            </a:r>
            <a:endParaRPr lang="en-US" sz="1270" dirty="0"/>
          </a:p>
        </p:txBody>
      </p:sp>
      <p:sp>
        <p:nvSpPr>
          <p:cNvPr id="34" name="Shape 32"/>
          <p:cNvSpPr/>
          <p:nvPr/>
        </p:nvSpPr>
        <p:spPr>
          <a:xfrm>
            <a:off x="731520" y="2994660"/>
            <a:ext cx="2567635" cy="525780"/>
          </a:xfrm>
          <a:prstGeom prst="rect">
            <a:avLst/>
          </a:prstGeom>
          <a:solidFill>
            <a:srgbClr val="FFFFFF"/>
          </a:solidFill>
          <a:ln w="6350">
            <a:solidFill>
              <a:srgbClr val="DDE3EF"/>
            </a:solidFill>
            <a:prstDash val="solid"/>
          </a:ln>
        </p:spPr>
      </p:sp>
      <p:sp>
        <p:nvSpPr>
          <p:cNvPr id="35" name="Text 33"/>
          <p:cNvSpPr/>
          <p:nvPr/>
        </p:nvSpPr>
        <p:spPr>
          <a:xfrm>
            <a:off x="804672" y="3067812"/>
            <a:ext cx="2421331"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Haber 3</a:t>
            </a:r>
            <a:endParaRPr lang="en-US" sz="1270" dirty="0"/>
          </a:p>
        </p:txBody>
      </p:sp>
      <p:sp>
        <p:nvSpPr>
          <p:cNvPr id="36" name="Shape 34"/>
          <p:cNvSpPr/>
          <p:nvPr/>
        </p:nvSpPr>
        <p:spPr>
          <a:xfrm>
            <a:off x="3299155" y="2994660"/>
            <a:ext cx="2032711" cy="525780"/>
          </a:xfrm>
          <a:prstGeom prst="rect">
            <a:avLst/>
          </a:prstGeom>
          <a:solidFill>
            <a:srgbClr val="FFFFFF"/>
          </a:solidFill>
          <a:ln w="6350">
            <a:solidFill>
              <a:srgbClr val="DDE3EF"/>
            </a:solidFill>
            <a:prstDash val="solid"/>
          </a:ln>
        </p:spPr>
      </p:sp>
      <p:sp>
        <p:nvSpPr>
          <p:cNvPr id="37" name="Text 35"/>
          <p:cNvSpPr/>
          <p:nvPr/>
        </p:nvSpPr>
        <p:spPr>
          <a:xfrm>
            <a:off x="3372307" y="306781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Negative</a:t>
            </a:r>
            <a:endParaRPr lang="en-US" sz="1270" dirty="0"/>
          </a:p>
        </p:txBody>
      </p:sp>
      <p:sp>
        <p:nvSpPr>
          <p:cNvPr id="38" name="Shape 36"/>
          <p:cNvSpPr/>
          <p:nvPr/>
        </p:nvSpPr>
        <p:spPr>
          <a:xfrm>
            <a:off x="5331866" y="2994660"/>
            <a:ext cx="2032711" cy="525780"/>
          </a:xfrm>
          <a:prstGeom prst="rect">
            <a:avLst/>
          </a:prstGeom>
          <a:solidFill>
            <a:srgbClr val="FFFFFF"/>
          </a:solidFill>
          <a:ln w="6350">
            <a:solidFill>
              <a:srgbClr val="DDE3EF"/>
            </a:solidFill>
            <a:prstDash val="solid"/>
          </a:ln>
        </p:spPr>
      </p:sp>
      <p:sp>
        <p:nvSpPr>
          <p:cNvPr id="39" name="Text 37"/>
          <p:cNvSpPr/>
          <p:nvPr/>
        </p:nvSpPr>
        <p:spPr>
          <a:xfrm>
            <a:off x="5405018" y="306781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Positive</a:t>
            </a:r>
            <a:endParaRPr lang="en-US" sz="1270" dirty="0"/>
          </a:p>
        </p:txBody>
      </p:sp>
      <p:sp>
        <p:nvSpPr>
          <p:cNvPr id="40" name="Shape 38"/>
          <p:cNvSpPr/>
          <p:nvPr/>
        </p:nvSpPr>
        <p:spPr>
          <a:xfrm>
            <a:off x="7364578" y="2994660"/>
            <a:ext cx="2032711" cy="525780"/>
          </a:xfrm>
          <a:prstGeom prst="rect">
            <a:avLst/>
          </a:prstGeom>
          <a:solidFill>
            <a:srgbClr val="FFFFFF"/>
          </a:solidFill>
          <a:ln w="6350">
            <a:solidFill>
              <a:srgbClr val="DDE3EF"/>
            </a:solidFill>
            <a:prstDash val="solid"/>
          </a:ln>
        </p:spPr>
      </p:sp>
      <p:sp>
        <p:nvSpPr>
          <p:cNvPr id="41" name="Text 39"/>
          <p:cNvSpPr/>
          <p:nvPr/>
        </p:nvSpPr>
        <p:spPr>
          <a:xfrm>
            <a:off x="7437730" y="306781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Neutral</a:t>
            </a:r>
            <a:endParaRPr lang="en-US" sz="1270" dirty="0"/>
          </a:p>
        </p:txBody>
      </p:sp>
      <p:sp>
        <p:nvSpPr>
          <p:cNvPr id="42" name="Shape 40"/>
          <p:cNvSpPr/>
          <p:nvPr/>
        </p:nvSpPr>
        <p:spPr>
          <a:xfrm>
            <a:off x="9397289" y="2994660"/>
            <a:ext cx="2032711" cy="525780"/>
          </a:xfrm>
          <a:prstGeom prst="rect">
            <a:avLst/>
          </a:prstGeom>
          <a:solidFill>
            <a:srgbClr val="FFFFFF"/>
          </a:solidFill>
          <a:ln w="6350">
            <a:solidFill>
              <a:srgbClr val="DDE3EF"/>
            </a:solidFill>
            <a:prstDash val="solid"/>
          </a:ln>
        </p:spPr>
      </p:sp>
      <p:sp>
        <p:nvSpPr>
          <p:cNvPr id="43" name="Text 41"/>
          <p:cNvSpPr/>
          <p:nvPr/>
        </p:nvSpPr>
        <p:spPr>
          <a:xfrm>
            <a:off x="9470441" y="3067812"/>
            <a:ext cx="1886407" cy="434340"/>
          </a:xfrm>
          <a:prstGeom prst="rect">
            <a:avLst/>
          </a:prstGeom>
          <a:noFill/>
          <a:ln/>
        </p:spPr>
        <p:txBody>
          <a:bodyPr wrap="square" lIns="0" tIns="0" rIns="0" bIns="0" rtlCol="0" anchor="ctr">
            <a:normAutofit/>
          </a:bodyPr>
          <a:lstStyle/>
          <a:p>
            <a:pPr marL="0" indent="0">
              <a:buNone/>
            </a:pPr>
            <a:r>
              <a:rPr lang="en-US" sz="1270" dirty="0">
                <a:solidFill>
                  <a:srgbClr val="1A1E2A"/>
                </a:solidFill>
              </a:rPr>
              <a:t>Tutarsız / dışarıda</a:t>
            </a:r>
            <a:endParaRPr lang="en-US" sz="1270" dirty="0"/>
          </a:p>
        </p:txBody>
      </p:sp>
      <p:sp>
        <p:nvSpPr>
          <p:cNvPr id="44" name="Text 42"/>
          <p:cNvSpPr/>
          <p:nvPr/>
        </p:nvSpPr>
        <p:spPr>
          <a:xfrm>
            <a:off x="914400" y="3977640"/>
            <a:ext cx="9784080" cy="1143000"/>
          </a:xfrm>
          <a:prstGeom prst="rect">
            <a:avLst/>
          </a:prstGeom>
          <a:noFill/>
          <a:ln/>
        </p:spPr>
        <p:txBody>
          <a:bodyPr wrap="square" lIns="635" tIns="635" rIns="635" bIns="635" rtlCol="0" anchor="ctr">
            <a:normAutofit/>
          </a:bodyPr>
          <a:lstStyle/>
          <a:p>
            <a:r>
              <a:rPr lang="en-US" sz="1570" dirty="0">
                <a:solidFill>
                  <a:srgbClr val="1A1E2A"/>
                </a:solidFill>
              </a:rPr>
              <a:t>Hem eğitim veri setleri hem dış test setleri üç farklı modelle yeniden etiketlenecek.</a:t>
            </a:r>
            <a:endParaRPr lang="en-US" sz="1570" dirty="0"/>
          </a:p>
          <a:p>
            <a:r>
              <a:rPr lang="en-US" sz="1570" dirty="0">
                <a:solidFill>
                  <a:srgbClr val="1A1E2A"/>
                </a:solidFill>
              </a:rPr>
              <a:t>3/3 consensus geçen örnekler en güvenilir çekirdek set olarak kullanılacak.</a:t>
            </a:r>
            <a:endParaRPr lang="en-US" sz="1570" dirty="0"/>
          </a:p>
          <a:p>
            <a:r>
              <a:rPr lang="en-US" sz="1570" dirty="0">
                <a:solidFill>
                  <a:srgbClr val="1A1E2A"/>
                </a:solidFill>
              </a:rPr>
              <a:t>2/3 majority örnekler ayrı raporlanacak; tutarsız örnekler analiz edilecek veya dışarıda bırakılacak.</a:t>
            </a:r>
            <a:endParaRPr lang="en-US" sz="1570" dirty="0"/>
          </a:p>
        </p:txBody>
      </p:sp>
      <p:sp>
        <p:nvSpPr>
          <p:cNvPr id="45" name="Text 43"/>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46" name="Text 44"/>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33</a:t>
            </a:r>
            <a:endParaRPr lang="en-US" sz="850" dirty="0"/>
          </a:p>
        </p:txBody>
      </p:sp>
      <p:sp>
        <p:nvSpPr>
          <p:cNvPr id="47" name="Shape 45"/>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Devam planı 2: Eğitim veri setini kontrollü büyütme</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S&amp;P/Reuters örnekleri train’e eklenebilir; fakat test bölümü kesinlikle hariç tutulmalı.</a:t>
            </a:r>
            <a:endParaRPr lang="en-US" sz="1450" dirty="0"/>
          </a:p>
        </p:txBody>
      </p:sp>
      <p:sp>
        <p:nvSpPr>
          <p:cNvPr id="4" name="Text 2"/>
          <p:cNvSpPr/>
          <p:nvPr/>
        </p:nvSpPr>
        <p:spPr>
          <a:xfrm>
            <a:off x="822960" y="1325880"/>
            <a:ext cx="2286000" cy="274320"/>
          </a:xfrm>
          <a:prstGeom prst="rect">
            <a:avLst/>
          </a:prstGeom>
          <a:noFill/>
          <a:ln/>
        </p:spPr>
        <p:txBody>
          <a:bodyPr wrap="square" lIns="0" tIns="0" rIns="0" bIns="0" rtlCol="0" anchor="ctr"/>
          <a:lstStyle/>
          <a:p>
            <a:pPr marL="0" indent="0">
              <a:buNone/>
            </a:pPr>
            <a:r>
              <a:rPr lang="en-US" sz="1800" b="1" dirty="0">
                <a:solidFill>
                  <a:srgbClr val="172033"/>
                </a:solidFill>
              </a:rPr>
              <a:t>Yeni öneri</a:t>
            </a:r>
            <a:endParaRPr lang="en-US" sz="1800" dirty="0"/>
          </a:p>
        </p:txBody>
      </p:sp>
      <p:sp>
        <p:nvSpPr>
          <p:cNvPr id="5" name="Text 3"/>
          <p:cNvSpPr/>
          <p:nvPr/>
        </p:nvSpPr>
        <p:spPr>
          <a:xfrm>
            <a:off x="822960" y="1783080"/>
            <a:ext cx="5120640" cy="731520"/>
          </a:xfrm>
          <a:prstGeom prst="rect">
            <a:avLst/>
          </a:prstGeom>
          <a:noFill/>
          <a:ln/>
        </p:spPr>
        <p:txBody>
          <a:bodyPr wrap="square" lIns="381" tIns="381" rIns="381" bIns="381" rtlCol="0" anchor="ctr">
            <a:normAutofit/>
          </a:bodyPr>
          <a:lstStyle/>
          <a:p>
            <a:pPr marL="0" indent="0">
              <a:buNone/>
            </a:pPr>
            <a:r>
              <a:rPr lang="en-US" sz="1700" dirty="0">
                <a:solidFill>
                  <a:srgbClr val="1A1E2A"/>
                </a:solidFill>
              </a:rPr>
              <a:t>Consensus ile güvenilir bulunan S&amp;P/Reuters örneklerinin bir bölümü eğitim havuzuna eklenebilir.</a:t>
            </a:r>
            <a:endParaRPr lang="en-US" sz="1700" dirty="0"/>
          </a:p>
        </p:txBody>
      </p:sp>
      <p:sp>
        <p:nvSpPr>
          <p:cNvPr id="6" name="Text 4"/>
          <p:cNvSpPr/>
          <p:nvPr/>
        </p:nvSpPr>
        <p:spPr>
          <a:xfrm>
            <a:off x="6492240" y="1325880"/>
            <a:ext cx="2560320" cy="274320"/>
          </a:xfrm>
          <a:prstGeom prst="rect">
            <a:avLst/>
          </a:prstGeom>
          <a:noFill/>
          <a:ln/>
        </p:spPr>
        <p:txBody>
          <a:bodyPr wrap="square" lIns="0" tIns="0" rIns="0" bIns="0" rtlCol="0" anchor="ctr"/>
          <a:lstStyle/>
          <a:p>
            <a:pPr marL="0" indent="0">
              <a:buNone/>
            </a:pPr>
            <a:r>
              <a:rPr lang="en-US" sz="1800" b="1" dirty="0">
                <a:solidFill>
                  <a:srgbClr val="172033"/>
                </a:solidFill>
              </a:rPr>
              <a:t>Leakage kontrolü</a:t>
            </a:r>
            <a:endParaRPr lang="en-US" sz="1800" dirty="0"/>
          </a:p>
        </p:txBody>
      </p:sp>
      <p:sp>
        <p:nvSpPr>
          <p:cNvPr id="7" name="Text 5"/>
          <p:cNvSpPr/>
          <p:nvPr/>
        </p:nvSpPr>
        <p:spPr>
          <a:xfrm>
            <a:off x="6492240" y="1783080"/>
            <a:ext cx="4297680" cy="731520"/>
          </a:xfrm>
          <a:prstGeom prst="rect">
            <a:avLst/>
          </a:prstGeom>
          <a:noFill/>
          <a:ln/>
        </p:spPr>
        <p:txBody>
          <a:bodyPr wrap="square" lIns="381" tIns="381" rIns="381" bIns="381" rtlCol="0" anchor="ctr">
            <a:normAutofit/>
          </a:bodyPr>
          <a:lstStyle/>
          <a:p>
            <a:pPr marL="0" indent="0">
              <a:buNone/>
            </a:pPr>
            <a:r>
              <a:rPr lang="en-US" sz="1700" b="1" dirty="0">
                <a:solidFill>
                  <a:srgbClr val="D64545"/>
                </a:solidFill>
              </a:rPr>
              <a:t>Train’e eklenen örnekler external testte kullanılmayacak. Test setleri önceden kilitlenecek.</a:t>
            </a:r>
            <a:endParaRPr lang="en-US" sz="1700" dirty="0"/>
          </a:p>
        </p:txBody>
      </p:sp>
      <p:sp>
        <p:nvSpPr>
          <p:cNvPr id="8" name="Shape 6"/>
          <p:cNvSpPr/>
          <p:nvPr/>
        </p:nvSpPr>
        <p:spPr>
          <a:xfrm>
            <a:off x="1005840" y="3429000"/>
            <a:ext cx="4567428" cy="518160"/>
          </a:xfrm>
          <a:prstGeom prst="rect">
            <a:avLst/>
          </a:prstGeom>
          <a:solidFill>
            <a:srgbClr val="1D2B46"/>
          </a:solidFill>
          <a:ln w="6350">
            <a:solidFill>
              <a:srgbClr val="DDE3EF"/>
            </a:solidFill>
            <a:prstDash val="solid"/>
          </a:ln>
        </p:spPr>
      </p:sp>
      <p:sp>
        <p:nvSpPr>
          <p:cNvPr id="9" name="Text 7"/>
          <p:cNvSpPr/>
          <p:nvPr/>
        </p:nvSpPr>
        <p:spPr>
          <a:xfrm>
            <a:off x="1078992" y="3502152"/>
            <a:ext cx="4421124" cy="426720"/>
          </a:xfrm>
          <a:prstGeom prst="rect">
            <a:avLst/>
          </a:prstGeom>
          <a:noFill/>
          <a:ln/>
        </p:spPr>
        <p:txBody>
          <a:bodyPr wrap="square" lIns="0" tIns="0" rIns="0" bIns="0" rtlCol="0" anchor="ctr">
            <a:normAutofit/>
          </a:bodyPr>
          <a:lstStyle/>
          <a:p>
            <a:pPr marL="0" indent="0">
              <a:buNone/>
            </a:pPr>
            <a:r>
              <a:rPr lang="en-US" sz="1150" b="1" dirty="0">
                <a:solidFill>
                  <a:srgbClr val="FFFFFF"/>
                </a:solidFill>
              </a:rPr>
              <a:t>Eski kurgu</a:t>
            </a:r>
            <a:endParaRPr lang="en-US" sz="1150" dirty="0"/>
          </a:p>
        </p:txBody>
      </p:sp>
      <p:sp>
        <p:nvSpPr>
          <p:cNvPr id="10" name="Shape 8"/>
          <p:cNvSpPr/>
          <p:nvPr/>
        </p:nvSpPr>
        <p:spPr>
          <a:xfrm>
            <a:off x="5573268" y="3429000"/>
            <a:ext cx="5582412" cy="518160"/>
          </a:xfrm>
          <a:prstGeom prst="rect">
            <a:avLst/>
          </a:prstGeom>
          <a:solidFill>
            <a:srgbClr val="1D2B46"/>
          </a:solidFill>
          <a:ln w="6350">
            <a:solidFill>
              <a:srgbClr val="DDE3EF"/>
            </a:solidFill>
            <a:prstDash val="solid"/>
          </a:ln>
        </p:spPr>
      </p:sp>
      <p:sp>
        <p:nvSpPr>
          <p:cNvPr id="11" name="Text 9"/>
          <p:cNvSpPr/>
          <p:nvPr/>
        </p:nvSpPr>
        <p:spPr>
          <a:xfrm>
            <a:off x="5646420" y="3502152"/>
            <a:ext cx="5436108" cy="426720"/>
          </a:xfrm>
          <a:prstGeom prst="rect">
            <a:avLst/>
          </a:prstGeom>
          <a:noFill/>
          <a:ln/>
        </p:spPr>
        <p:txBody>
          <a:bodyPr wrap="square" lIns="0" tIns="0" rIns="0" bIns="0" rtlCol="0" anchor="ctr">
            <a:normAutofit/>
          </a:bodyPr>
          <a:lstStyle/>
          <a:p>
            <a:pPr marL="0" indent="0">
              <a:buNone/>
            </a:pPr>
            <a:r>
              <a:rPr lang="en-US" sz="1150" b="1" dirty="0">
                <a:solidFill>
                  <a:srgbClr val="FFFFFF"/>
                </a:solidFill>
              </a:rPr>
              <a:t>Yeni kurgu</a:t>
            </a:r>
            <a:endParaRPr lang="en-US" sz="1150" dirty="0"/>
          </a:p>
        </p:txBody>
      </p:sp>
      <p:sp>
        <p:nvSpPr>
          <p:cNvPr id="12" name="Shape 10"/>
          <p:cNvSpPr/>
          <p:nvPr/>
        </p:nvSpPr>
        <p:spPr>
          <a:xfrm>
            <a:off x="1005840" y="3947160"/>
            <a:ext cx="4567428" cy="518160"/>
          </a:xfrm>
          <a:prstGeom prst="rect">
            <a:avLst/>
          </a:prstGeom>
          <a:solidFill>
            <a:srgbClr val="FFFFFF"/>
          </a:solidFill>
          <a:ln w="6350">
            <a:solidFill>
              <a:srgbClr val="DDE3EF"/>
            </a:solidFill>
            <a:prstDash val="solid"/>
          </a:ln>
        </p:spPr>
      </p:sp>
      <p:sp>
        <p:nvSpPr>
          <p:cNvPr id="13" name="Text 11"/>
          <p:cNvSpPr/>
          <p:nvPr/>
        </p:nvSpPr>
        <p:spPr>
          <a:xfrm>
            <a:off x="1078992" y="4020312"/>
            <a:ext cx="4421124" cy="426720"/>
          </a:xfrm>
          <a:prstGeom prst="rect">
            <a:avLst/>
          </a:prstGeom>
          <a:noFill/>
          <a:ln/>
        </p:spPr>
        <p:txBody>
          <a:bodyPr wrap="square" lIns="0" tIns="0" rIns="0" bIns="0" rtlCol="0" anchor="ctr">
            <a:normAutofit/>
          </a:bodyPr>
          <a:lstStyle/>
          <a:p>
            <a:pPr marL="0" indent="0">
              <a:buNone/>
            </a:pPr>
            <a:r>
              <a:rPr lang="en-US" sz="1240" dirty="0">
                <a:solidFill>
                  <a:srgbClr val="1A1E2A"/>
                </a:solidFill>
              </a:rPr>
              <a:t>Twitter + PhraseBank → Train</a:t>
            </a:r>
            <a:endParaRPr lang="en-US" sz="1240" dirty="0"/>
          </a:p>
        </p:txBody>
      </p:sp>
      <p:sp>
        <p:nvSpPr>
          <p:cNvPr id="14" name="Shape 12"/>
          <p:cNvSpPr/>
          <p:nvPr/>
        </p:nvSpPr>
        <p:spPr>
          <a:xfrm>
            <a:off x="5573268" y="3947160"/>
            <a:ext cx="5582412" cy="518160"/>
          </a:xfrm>
          <a:prstGeom prst="rect">
            <a:avLst/>
          </a:prstGeom>
          <a:solidFill>
            <a:srgbClr val="FFFFFF"/>
          </a:solidFill>
          <a:ln w="6350">
            <a:solidFill>
              <a:srgbClr val="DDE3EF"/>
            </a:solidFill>
            <a:prstDash val="solid"/>
          </a:ln>
        </p:spPr>
      </p:sp>
      <p:sp>
        <p:nvSpPr>
          <p:cNvPr id="15" name="Text 13"/>
          <p:cNvSpPr/>
          <p:nvPr/>
        </p:nvSpPr>
        <p:spPr>
          <a:xfrm>
            <a:off x="5646420" y="4020312"/>
            <a:ext cx="5436108" cy="426720"/>
          </a:xfrm>
          <a:prstGeom prst="rect">
            <a:avLst/>
          </a:prstGeom>
          <a:noFill/>
          <a:ln/>
        </p:spPr>
        <p:txBody>
          <a:bodyPr wrap="square" lIns="0" tIns="0" rIns="0" bIns="0" rtlCol="0" anchor="ctr">
            <a:normAutofit/>
          </a:bodyPr>
          <a:lstStyle/>
          <a:p>
            <a:pPr marL="0" indent="0">
              <a:buNone/>
            </a:pPr>
            <a:r>
              <a:rPr lang="en-US" sz="1240" dirty="0">
                <a:solidFill>
                  <a:srgbClr val="1A1E2A"/>
                </a:solidFill>
              </a:rPr>
              <a:t>Twitter + PhraseBank + consensus S&amp;P/Reuters-train → Train</a:t>
            </a:r>
            <a:endParaRPr lang="en-US" sz="1240" dirty="0"/>
          </a:p>
        </p:txBody>
      </p:sp>
      <p:sp>
        <p:nvSpPr>
          <p:cNvPr id="16" name="Shape 14"/>
          <p:cNvSpPr/>
          <p:nvPr/>
        </p:nvSpPr>
        <p:spPr>
          <a:xfrm>
            <a:off x="1005840" y="4465320"/>
            <a:ext cx="4567428" cy="518160"/>
          </a:xfrm>
          <a:prstGeom prst="rect">
            <a:avLst/>
          </a:prstGeom>
          <a:solidFill>
            <a:srgbClr val="F4F6FB"/>
          </a:solidFill>
          <a:ln w="6350">
            <a:solidFill>
              <a:srgbClr val="DDE3EF"/>
            </a:solidFill>
            <a:prstDash val="solid"/>
          </a:ln>
        </p:spPr>
      </p:sp>
      <p:sp>
        <p:nvSpPr>
          <p:cNvPr id="17" name="Text 15"/>
          <p:cNvSpPr/>
          <p:nvPr/>
        </p:nvSpPr>
        <p:spPr>
          <a:xfrm>
            <a:off x="1078992" y="4538472"/>
            <a:ext cx="4421124" cy="426720"/>
          </a:xfrm>
          <a:prstGeom prst="rect">
            <a:avLst/>
          </a:prstGeom>
          <a:noFill/>
          <a:ln/>
        </p:spPr>
        <p:txBody>
          <a:bodyPr wrap="square" lIns="0" tIns="0" rIns="0" bIns="0" rtlCol="0" anchor="ctr">
            <a:normAutofit/>
          </a:bodyPr>
          <a:lstStyle/>
          <a:p>
            <a:pPr marL="0" indent="0">
              <a:buNone/>
            </a:pPr>
            <a:r>
              <a:rPr lang="en-US" sz="1240" dirty="0">
                <a:solidFill>
                  <a:srgbClr val="1A1E2A"/>
                </a:solidFill>
              </a:rPr>
              <a:t>S&amp;P/Reuters → External test</a:t>
            </a:r>
            <a:endParaRPr lang="en-US" sz="1240" dirty="0"/>
          </a:p>
        </p:txBody>
      </p:sp>
      <p:sp>
        <p:nvSpPr>
          <p:cNvPr id="18" name="Shape 16"/>
          <p:cNvSpPr/>
          <p:nvPr/>
        </p:nvSpPr>
        <p:spPr>
          <a:xfrm>
            <a:off x="5573268" y="4465320"/>
            <a:ext cx="5582412" cy="518160"/>
          </a:xfrm>
          <a:prstGeom prst="rect">
            <a:avLst/>
          </a:prstGeom>
          <a:solidFill>
            <a:srgbClr val="F4F6FB"/>
          </a:solidFill>
          <a:ln w="6350">
            <a:solidFill>
              <a:srgbClr val="DDE3EF"/>
            </a:solidFill>
            <a:prstDash val="solid"/>
          </a:ln>
        </p:spPr>
      </p:sp>
      <p:sp>
        <p:nvSpPr>
          <p:cNvPr id="19" name="Text 17"/>
          <p:cNvSpPr/>
          <p:nvPr/>
        </p:nvSpPr>
        <p:spPr>
          <a:xfrm>
            <a:off x="5646420" y="4538472"/>
            <a:ext cx="5436108" cy="426720"/>
          </a:xfrm>
          <a:prstGeom prst="rect">
            <a:avLst/>
          </a:prstGeom>
          <a:noFill/>
          <a:ln/>
        </p:spPr>
        <p:txBody>
          <a:bodyPr wrap="square" lIns="0" tIns="0" rIns="0" bIns="0" rtlCol="0" anchor="ctr">
            <a:normAutofit/>
          </a:bodyPr>
          <a:lstStyle/>
          <a:p>
            <a:pPr marL="0" indent="0">
              <a:buNone/>
            </a:pPr>
            <a:r>
              <a:rPr lang="en-US" sz="1240" dirty="0">
                <a:solidFill>
                  <a:srgbClr val="1A1E2A"/>
                </a:solidFill>
              </a:rPr>
              <a:t>Kilitli S&amp;P/Reuters-test → External test</a:t>
            </a:r>
            <a:endParaRPr lang="en-US" sz="1240" dirty="0"/>
          </a:p>
        </p:txBody>
      </p:sp>
      <p:sp>
        <p:nvSpPr>
          <p:cNvPr id="20" name="Shape 18"/>
          <p:cNvSpPr/>
          <p:nvPr/>
        </p:nvSpPr>
        <p:spPr>
          <a:xfrm>
            <a:off x="1005840" y="5486400"/>
            <a:ext cx="10149840" cy="502920"/>
          </a:xfrm>
          <a:prstGeom prst="roundRect">
            <a:avLst>
              <a:gd name="adj" fmla="val 14545"/>
            </a:avLst>
          </a:prstGeom>
          <a:solidFill>
            <a:srgbClr val="F0FAF8"/>
          </a:solidFill>
          <a:ln w="15240">
            <a:solidFill>
              <a:srgbClr val="0F9D8F"/>
            </a:solidFill>
            <a:prstDash val="solid"/>
          </a:ln>
        </p:spPr>
      </p:sp>
      <p:sp>
        <p:nvSpPr>
          <p:cNvPr id="21" name="Text 19"/>
          <p:cNvSpPr/>
          <p:nvPr/>
        </p:nvSpPr>
        <p:spPr>
          <a:xfrm>
            <a:off x="1170432" y="5632704"/>
            <a:ext cx="9820656" cy="274320"/>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Araştırma sorusu: kaynak çeşitliliği artırılırsa domain shift etkisi azalır mı?</a:t>
            </a:r>
            <a:endParaRPr lang="en-US" sz="1500" dirty="0"/>
          </a:p>
        </p:txBody>
      </p:sp>
      <p:sp>
        <p:nvSpPr>
          <p:cNvPr id="22" name="Text 20"/>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23" name="Text 21"/>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34</a:t>
            </a:r>
            <a:endParaRPr lang="en-US" sz="850" dirty="0"/>
          </a:p>
        </p:txBody>
      </p:sp>
      <p:sp>
        <p:nvSpPr>
          <p:cNvPr id="24" name="Shape 22"/>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Devam planı 3: Yeni deneyler</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Mevcut bulgulardan doğrudan çıkan üç deney ailesi.</a:t>
            </a:r>
            <a:endParaRPr lang="en-US" sz="1450" dirty="0"/>
          </a:p>
        </p:txBody>
      </p:sp>
      <p:sp>
        <p:nvSpPr>
          <p:cNvPr id="4" name="Shape 2"/>
          <p:cNvSpPr/>
          <p:nvPr/>
        </p:nvSpPr>
        <p:spPr>
          <a:xfrm>
            <a:off x="594360" y="1234440"/>
            <a:ext cx="2544775" cy="859536"/>
          </a:xfrm>
          <a:prstGeom prst="rect">
            <a:avLst/>
          </a:prstGeom>
          <a:solidFill>
            <a:srgbClr val="1D2B46"/>
          </a:solidFill>
          <a:ln w="6350">
            <a:solidFill>
              <a:srgbClr val="DDE3EF"/>
            </a:solidFill>
            <a:prstDash val="solid"/>
          </a:ln>
        </p:spPr>
      </p:sp>
      <p:sp>
        <p:nvSpPr>
          <p:cNvPr id="5" name="Text 3"/>
          <p:cNvSpPr/>
          <p:nvPr/>
        </p:nvSpPr>
        <p:spPr>
          <a:xfrm>
            <a:off x="667512" y="1307592"/>
            <a:ext cx="2398471" cy="768096"/>
          </a:xfrm>
          <a:prstGeom prst="rect">
            <a:avLst/>
          </a:prstGeom>
          <a:noFill/>
          <a:ln/>
        </p:spPr>
        <p:txBody>
          <a:bodyPr wrap="square" lIns="0" tIns="0" rIns="0" bIns="0" rtlCol="0" anchor="ctr">
            <a:normAutofit/>
          </a:bodyPr>
          <a:lstStyle/>
          <a:p>
            <a:pPr marL="0" indent="0">
              <a:buNone/>
            </a:pPr>
            <a:r>
              <a:rPr lang="en-US" sz="1180" b="1" dirty="0">
                <a:solidFill>
                  <a:srgbClr val="FFFFFF"/>
                </a:solidFill>
              </a:rPr>
              <a:t>Deney</a:t>
            </a:r>
            <a:endParaRPr lang="en-US" sz="1180" dirty="0"/>
          </a:p>
        </p:txBody>
      </p:sp>
      <p:sp>
        <p:nvSpPr>
          <p:cNvPr id="6" name="Shape 4"/>
          <p:cNvSpPr/>
          <p:nvPr/>
        </p:nvSpPr>
        <p:spPr>
          <a:xfrm>
            <a:off x="3139135" y="1234440"/>
            <a:ext cx="4646981" cy="859536"/>
          </a:xfrm>
          <a:prstGeom prst="rect">
            <a:avLst/>
          </a:prstGeom>
          <a:solidFill>
            <a:srgbClr val="1D2B46"/>
          </a:solidFill>
          <a:ln w="6350">
            <a:solidFill>
              <a:srgbClr val="DDE3EF"/>
            </a:solidFill>
            <a:prstDash val="solid"/>
          </a:ln>
        </p:spPr>
      </p:sp>
      <p:sp>
        <p:nvSpPr>
          <p:cNvPr id="7" name="Text 5"/>
          <p:cNvSpPr/>
          <p:nvPr/>
        </p:nvSpPr>
        <p:spPr>
          <a:xfrm>
            <a:off x="3212287" y="1307592"/>
            <a:ext cx="4500677" cy="768096"/>
          </a:xfrm>
          <a:prstGeom prst="rect">
            <a:avLst/>
          </a:prstGeom>
          <a:noFill/>
          <a:ln/>
        </p:spPr>
        <p:txBody>
          <a:bodyPr wrap="square" lIns="0" tIns="0" rIns="0" bIns="0" rtlCol="0" anchor="ctr">
            <a:normAutofit/>
          </a:bodyPr>
          <a:lstStyle/>
          <a:p>
            <a:pPr marL="0" indent="0">
              <a:buNone/>
            </a:pPr>
            <a:r>
              <a:rPr lang="en-US" sz="1180" b="1" dirty="0">
                <a:solidFill>
                  <a:srgbClr val="FFFFFF"/>
                </a:solidFill>
              </a:rPr>
              <a:t>Soru</a:t>
            </a:r>
            <a:endParaRPr lang="en-US" sz="1180" dirty="0"/>
          </a:p>
        </p:txBody>
      </p:sp>
      <p:sp>
        <p:nvSpPr>
          <p:cNvPr id="8" name="Shape 6"/>
          <p:cNvSpPr/>
          <p:nvPr/>
        </p:nvSpPr>
        <p:spPr>
          <a:xfrm>
            <a:off x="7786116" y="1234440"/>
            <a:ext cx="3872484" cy="859536"/>
          </a:xfrm>
          <a:prstGeom prst="rect">
            <a:avLst/>
          </a:prstGeom>
          <a:solidFill>
            <a:srgbClr val="1D2B46"/>
          </a:solidFill>
          <a:ln w="6350">
            <a:solidFill>
              <a:srgbClr val="DDE3EF"/>
            </a:solidFill>
            <a:prstDash val="solid"/>
          </a:ln>
        </p:spPr>
      </p:sp>
      <p:sp>
        <p:nvSpPr>
          <p:cNvPr id="9" name="Text 7"/>
          <p:cNvSpPr/>
          <p:nvPr/>
        </p:nvSpPr>
        <p:spPr>
          <a:xfrm>
            <a:off x="7859268" y="1307592"/>
            <a:ext cx="3726180" cy="768096"/>
          </a:xfrm>
          <a:prstGeom prst="rect">
            <a:avLst/>
          </a:prstGeom>
          <a:noFill/>
          <a:ln/>
        </p:spPr>
        <p:txBody>
          <a:bodyPr wrap="square" lIns="0" tIns="0" rIns="0" bIns="0" rtlCol="0" anchor="ctr">
            <a:normAutofit/>
          </a:bodyPr>
          <a:lstStyle/>
          <a:p>
            <a:pPr marL="0" indent="0">
              <a:buNone/>
            </a:pPr>
            <a:r>
              <a:rPr lang="en-US" sz="1180" b="1" dirty="0">
                <a:solidFill>
                  <a:srgbClr val="FFFFFF"/>
                </a:solidFill>
              </a:rPr>
              <a:t>Beklenen katkı</a:t>
            </a:r>
            <a:endParaRPr lang="en-US" sz="1180" dirty="0"/>
          </a:p>
        </p:txBody>
      </p:sp>
      <p:sp>
        <p:nvSpPr>
          <p:cNvPr id="10" name="Shape 8"/>
          <p:cNvSpPr/>
          <p:nvPr/>
        </p:nvSpPr>
        <p:spPr>
          <a:xfrm>
            <a:off x="594360" y="2093976"/>
            <a:ext cx="2544775" cy="859536"/>
          </a:xfrm>
          <a:prstGeom prst="rect">
            <a:avLst/>
          </a:prstGeom>
          <a:solidFill>
            <a:srgbClr val="FFFFFF"/>
          </a:solidFill>
          <a:ln w="6350">
            <a:solidFill>
              <a:srgbClr val="DDE3EF"/>
            </a:solidFill>
            <a:prstDash val="solid"/>
          </a:ln>
        </p:spPr>
      </p:sp>
      <p:sp>
        <p:nvSpPr>
          <p:cNvPr id="11" name="Text 9"/>
          <p:cNvSpPr/>
          <p:nvPr/>
        </p:nvSpPr>
        <p:spPr>
          <a:xfrm>
            <a:off x="667512" y="2167128"/>
            <a:ext cx="2398471"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Fine-tuning miktarı</a:t>
            </a:r>
            <a:endParaRPr lang="en-US" sz="1180" dirty="0"/>
          </a:p>
        </p:txBody>
      </p:sp>
      <p:sp>
        <p:nvSpPr>
          <p:cNvPr id="12" name="Shape 10"/>
          <p:cNvSpPr/>
          <p:nvPr/>
        </p:nvSpPr>
        <p:spPr>
          <a:xfrm>
            <a:off x="3139135" y="2093976"/>
            <a:ext cx="4646981" cy="859536"/>
          </a:xfrm>
          <a:prstGeom prst="rect">
            <a:avLst/>
          </a:prstGeom>
          <a:solidFill>
            <a:srgbClr val="FFFFFF"/>
          </a:solidFill>
          <a:ln w="6350">
            <a:solidFill>
              <a:srgbClr val="DDE3EF"/>
            </a:solidFill>
            <a:prstDash val="solid"/>
          </a:ln>
        </p:spPr>
      </p:sp>
      <p:sp>
        <p:nvSpPr>
          <p:cNvPr id="13" name="Text 11"/>
          <p:cNvSpPr/>
          <p:nvPr/>
        </p:nvSpPr>
        <p:spPr>
          <a:xfrm>
            <a:off x="3212287" y="2167128"/>
            <a:ext cx="4500677"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%0, %10, %25, %50, %75, %100 eğitim verisiyle ne değişiyor?</a:t>
            </a:r>
            <a:endParaRPr lang="en-US" sz="1180" dirty="0"/>
          </a:p>
        </p:txBody>
      </p:sp>
      <p:sp>
        <p:nvSpPr>
          <p:cNvPr id="14" name="Shape 12"/>
          <p:cNvSpPr/>
          <p:nvPr/>
        </p:nvSpPr>
        <p:spPr>
          <a:xfrm>
            <a:off x="7786116" y="2093976"/>
            <a:ext cx="3872484" cy="859536"/>
          </a:xfrm>
          <a:prstGeom prst="rect">
            <a:avLst/>
          </a:prstGeom>
          <a:solidFill>
            <a:srgbClr val="FFFFFF"/>
          </a:solidFill>
          <a:ln w="6350">
            <a:solidFill>
              <a:srgbClr val="DDE3EF"/>
            </a:solidFill>
            <a:prstDash val="solid"/>
          </a:ln>
        </p:spPr>
      </p:sp>
      <p:sp>
        <p:nvSpPr>
          <p:cNvPr id="15" name="Text 13"/>
          <p:cNvSpPr/>
          <p:nvPr/>
        </p:nvSpPr>
        <p:spPr>
          <a:xfrm>
            <a:off x="7859268" y="2167128"/>
            <a:ext cx="3726180"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Aşırı adaptation dış genellemeyi bozuyor mu?</a:t>
            </a:r>
            <a:endParaRPr lang="en-US" sz="1180" dirty="0"/>
          </a:p>
        </p:txBody>
      </p:sp>
      <p:sp>
        <p:nvSpPr>
          <p:cNvPr id="16" name="Shape 14"/>
          <p:cNvSpPr/>
          <p:nvPr/>
        </p:nvSpPr>
        <p:spPr>
          <a:xfrm>
            <a:off x="594360" y="2953512"/>
            <a:ext cx="2544775" cy="859536"/>
          </a:xfrm>
          <a:prstGeom prst="rect">
            <a:avLst/>
          </a:prstGeom>
          <a:solidFill>
            <a:srgbClr val="F4F6FB"/>
          </a:solidFill>
          <a:ln w="6350">
            <a:solidFill>
              <a:srgbClr val="DDE3EF"/>
            </a:solidFill>
            <a:prstDash val="solid"/>
          </a:ln>
        </p:spPr>
      </p:sp>
      <p:sp>
        <p:nvSpPr>
          <p:cNvPr id="17" name="Text 15"/>
          <p:cNvSpPr/>
          <p:nvPr/>
        </p:nvSpPr>
        <p:spPr>
          <a:xfrm>
            <a:off x="667512" y="3026664"/>
            <a:ext cx="2398471"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Veri kompozisyonu</a:t>
            </a:r>
            <a:endParaRPr lang="en-US" sz="1180" dirty="0"/>
          </a:p>
        </p:txBody>
      </p:sp>
      <p:sp>
        <p:nvSpPr>
          <p:cNvPr id="18" name="Shape 16"/>
          <p:cNvSpPr/>
          <p:nvPr/>
        </p:nvSpPr>
        <p:spPr>
          <a:xfrm>
            <a:off x="3139135" y="2953512"/>
            <a:ext cx="4646981" cy="859536"/>
          </a:xfrm>
          <a:prstGeom prst="rect">
            <a:avLst/>
          </a:prstGeom>
          <a:solidFill>
            <a:srgbClr val="F4F6FB"/>
          </a:solidFill>
          <a:ln w="6350">
            <a:solidFill>
              <a:srgbClr val="DDE3EF"/>
            </a:solidFill>
            <a:prstDash val="solid"/>
          </a:ln>
        </p:spPr>
      </p:sp>
      <p:sp>
        <p:nvSpPr>
          <p:cNvPr id="19" name="Text 17"/>
          <p:cNvSpPr/>
          <p:nvPr/>
        </p:nvSpPr>
        <p:spPr>
          <a:xfrm>
            <a:off x="3212287" y="3026664"/>
            <a:ext cx="4500677"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Twitter / PhraseBank / S&amp;P / Reuters oranları değişince ne oluyor?</a:t>
            </a:r>
            <a:endParaRPr lang="en-US" sz="1180" dirty="0"/>
          </a:p>
        </p:txBody>
      </p:sp>
      <p:sp>
        <p:nvSpPr>
          <p:cNvPr id="20" name="Shape 18"/>
          <p:cNvSpPr/>
          <p:nvPr/>
        </p:nvSpPr>
        <p:spPr>
          <a:xfrm>
            <a:off x="7786116" y="2953512"/>
            <a:ext cx="3872484" cy="859536"/>
          </a:xfrm>
          <a:prstGeom prst="rect">
            <a:avLst/>
          </a:prstGeom>
          <a:solidFill>
            <a:srgbClr val="F4F6FB"/>
          </a:solidFill>
          <a:ln w="6350">
            <a:solidFill>
              <a:srgbClr val="DDE3EF"/>
            </a:solidFill>
            <a:prstDash val="solid"/>
          </a:ln>
        </p:spPr>
      </p:sp>
      <p:sp>
        <p:nvSpPr>
          <p:cNvPr id="21" name="Text 19"/>
          <p:cNvSpPr/>
          <p:nvPr/>
        </p:nvSpPr>
        <p:spPr>
          <a:xfrm>
            <a:off x="7859268" y="3026664"/>
            <a:ext cx="3726180"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Hangi veri karışımı daha sağlam model üretiyor?</a:t>
            </a:r>
            <a:endParaRPr lang="en-US" sz="1180" dirty="0"/>
          </a:p>
        </p:txBody>
      </p:sp>
      <p:sp>
        <p:nvSpPr>
          <p:cNvPr id="22" name="Shape 20"/>
          <p:cNvSpPr/>
          <p:nvPr/>
        </p:nvSpPr>
        <p:spPr>
          <a:xfrm>
            <a:off x="594360" y="3813048"/>
            <a:ext cx="2544775" cy="859536"/>
          </a:xfrm>
          <a:prstGeom prst="rect">
            <a:avLst/>
          </a:prstGeom>
          <a:solidFill>
            <a:srgbClr val="FFFFFF"/>
          </a:solidFill>
          <a:ln w="6350">
            <a:solidFill>
              <a:srgbClr val="DDE3EF"/>
            </a:solidFill>
            <a:prstDash val="solid"/>
          </a:ln>
        </p:spPr>
      </p:sp>
      <p:sp>
        <p:nvSpPr>
          <p:cNvPr id="23" name="Text 21"/>
          <p:cNvSpPr/>
          <p:nvPr/>
        </p:nvSpPr>
        <p:spPr>
          <a:xfrm>
            <a:off x="667512" y="3886200"/>
            <a:ext cx="2398471"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Label semantics</a:t>
            </a:r>
            <a:endParaRPr lang="en-US" sz="1180" dirty="0"/>
          </a:p>
        </p:txBody>
      </p:sp>
      <p:sp>
        <p:nvSpPr>
          <p:cNvPr id="24" name="Shape 22"/>
          <p:cNvSpPr/>
          <p:nvPr/>
        </p:nvSpPr>
        <p:spPr>
          <a:xfrm>
            <a:off x="3139135" y="3813048"/>
            <a:ext cx="4646981" cy="859536"/>
          </a:xfrm>
          <a:prstGeom prst="rect">
            <a:avLst/>
          </a:prstGeom>
          <a:solidFill>
            <a:srgbClr val="FFFFFF"/>
          </a:solidFill>
          <a:ln w="6350">
            <a:solidFill>
              <a:srgbClr val="DDE3EF"/>
            </a:solidFill>
            <a:prstDash val="solid"/>
          </a:ln>
        </p:spPr>
      </p:sp>
      <p:sp>
        <p:nvSpPr>
          <p:cNvPr id="25" name="Text 23"/>
          <p:cNvSpPr/>
          <p:nvPr/>
        </p:nvSpPr>
        <p:spPr>
          <a:xfrm>
            <a:off x="3212287" y="3886200"/>
            <a:ext cx="4500677"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Positive/Neutral/Negative karar kriterleri setler arasında aynı mı?</a:t>
            </a:r>
            <a:endParaRPr lang="en-US" sz="1180" dirty="0"/>
          </a:p>
        </p:txBody>
      </p:sp>
      <p:sp>
        <p:nvSpPr>
          <p:cNvPr id="26" name="Shape 24"/>
          <p:cNvSpPr/>
          <p:nvPr/>
        </p:nvSpPr>
        <p:spPr>
          <a:xfrm>
            <a:off x="7786116" y="3813048"/>
            <a:ext cx="3872484" cy="859536"/>
          </a:xfrm>
          <a:prstGeom prst="rect">
            <a:avLst/>
          </a:prstGeom>
          <a:solidFill>
            <a:srgbClr val="FFFFFF"/>
          </a:solidFill>
          <a:ln w="6350">
            <a:solidFill>
              <a:srgbClr val="DDE3EF"/>
            </a:solidFill>
            <a:prstDash val="solid"/>
          </a:ln>
        </p:spPr>
      </p:sp>
      <p:sp>
        <p:nvSpPr>
          <p:cNvPr id="27" name="Text 25"/>
          <p:cNvSpPr/>
          <p:nvPr/>
        </p:nvSpPr>
        <p:spPr>
          <a:xfrm>
            <a:off x="7859268" y="3886200"/>
            <a:ext cx="3726180"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Reuters ve Neutral düşüşünün nedeni açıklanabilir.</a:t>
            </a:r>
            <a:endParaRPr lang="en-US" sz="1180" dirty="0"/>
          </a:p>
        </p:txBody>
      </p:sp>
      <p:sp>
        <p:nvSpPr>
          <p:cNvPr id="28" name="Shape 26"/>
          <p:cNvSpPr/>
          <p:nvPr/>
        </p:nvSpPr>
        <p:spPr>
          <a:xfrm>
            <a:off x="594360" y="4672584"/>
            <a:ext cx="2544775" cy="859536"/>
          </a:xfrm>
          <a:prstGeom prst="rect">
            <a:avLst/>
          </a:prstGeom>
          <a:solidFill>
            <a:srgbClr val="F4F6FB"/>
          </a:solidFill>
          <a:ln w="6350">
            <a:solidFill>
              <a:srgbClr val="DDE3EF"/>
            </a:solidFill>
            <a:prstDash val="solid"/>
          </a:ln>
        </p:spPr>
      </p:sp>
      <p:sp>
        <p:nvSpPr>
          <p:cNvPr id="29" name="Text 27"/>
          <p:cNvSpPr/>
          <p:nvPr/>
        </p:nvSpPr>
        <p:spPr>
          <a:xfrm>
            <a:off x="667512" y="4745736"/>
            <a:ext cx="2398471"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Calibration</a:t>
            </a:r>
            <a:endParaRPr lang="en-US" sz="1180" dirty="0"/>
          </a:p>
        </p:txBody>
      </p:sp>
      <p:sp>
        <p:nvSpPr>
          <p:cNvPr id="30" name="Shape 28"/>
          <p:cNvSpPr/>
          <p:nvPr/>
        </p:nvSpPr>
        <p:spPr>
          <a:xfrm>
            <a:off x="3139135" y="4672584"/>
            <a:ext cx="4646981" cy="859536"/>
          </a:xfrm>
          <a:prstGeom prst="rect">
            <a:avLst/>
          </a:prstGeom>
          <a:solidFill>
            <a:srgbClr val="F4F6FB"/>
          </a:solidFill>
          <a:ln w="6350">
            <a:solidFill>
              <a:srgbClr val="DDE3EF"/>
            </a:solidFill>
            <a:prstDash val="solid"/>
          </a:ln>
        </p:spPr>
      </p:sp>
      <p:sp>
        <p:nvSpPr>
          <p:cNvPr id="31" name="Text 29"/>
          <p:cNvSpPr/>
          <p:nvPr/>
        </p:nvSpPr>
        <p:spPr>
          <a:xfrm>
            <a:off x="3212287" y="4745736"/>
            <a:ext cx="4500677"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Model yanlışken ne kadar emin?</a:t>
            </a:r>
            <a:endParaRPr lang="en-US" sz="1180" dirty="0"/>
          </a:p>
        </p:txBody>
      </p:sp>
      <p:sp>
        <p:nvSpPr>
          <p:cNvPr id="32" name="Shape 30"/>
          <p:cNvSpPr/>
          <p:nvPr/>
        </p:nvSpPr>
        <p:spPr>
          <a:xfrm>
            <a:off x="7786116" y="4672584"/>
            <a:ext cx="3872484" cy="859536"/>
          </a:xfrm>
          <a:prstGeom prst="rect">
            <a:avLst/>
          </a:prstGeom>
          <a:solidFill>
            <a:srgbClr val="F4F6FB"/>
          </a:solidFill>
          <a:ln w="6350">
            <a:solidFill>
              <a:srgbClr val="DDE3EF"/>
            </a:solidFill>
            <a:prstDash val="solid"/>
          </a:ln>
        </p:spPr>
      </p:sp>
      <p:sp>
        <p:nvSpPr>
          <p:cNvPr id="33" name="Text 31"/>
          <p:cNvSpPr/>
          <p:nvPr/>
        </p:nvSpPr>
        <p:spPr>
          <a:xfrm>
            <a:off x="7859268" y="4745736"/>
            <a:ext cx="3726180" cy="768096"/>
          </a:xfrm>
          <a:prstGeom prst="rect">
            <a:avLst/>
          </a:prstGeom>
          <a:noFill/>
          <a:ln/>
        </p:spPr>
        <p:txBody>
          <a:bodyPr wrap="square" lIns="0" tIns="0" rIns="0" bIns="0" rtlCol="0" anchor="ctr">
            <a:normAutofit/>
          </a:bodyPr>
          <a:lstStyle/>
          <a:p>
            <a:pPr marL="0" indent="0">
              <a:buNone/>
            </a:pPr>
            <a:r>
              <a:rPr lang="en-US" sz="1180" dirty="0">
                <a:solidFill>
                  <a:srgbClr val="1A1E2A"/>
                </a:solidFill>
              </a:rPr>
              <a:t>Confidence güvenilirliği ölçülür.</a:t>
            </a:r>
            <a:endParaRPr lang="en-US" sz="1180" dirty="0"/>
          </a:p>
        </p:txBody>
      </p:sp>
      <p:sp>
        <p:nvSpPr>
          <p:cNvPr id="34" name="Text 32"/>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5" name="Text 33"/>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35</a:t>
            </a:r>
            <a:endParaRPr lang="en-US" sz="850" dirty="0"/>
          </a:p>
        </p:txBody>
      </p:sp>
      <p:sp>
        <p:nvSpPr>
          <p:cNvPr id="36" name="Shape 34"/>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Devam planı 4: Finansal model audit’i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FinBERT / FinGPT gibi modellerin eğitim kaynakları sonuç yorumunu etkiler.</a:t>
            </a:r>
            <a:endParaRPr lang="en-US" sz="1450" dirty="0"/>
          </a:p>
        </p:txBody>
      </p:sp>
      <p:sp>
        <p:nvSpPr>
          <p:cNvPr id="4" name="Text 2"/>
          <p:cNvSpPr/>
          <p:nvPr/>
        </p:nvSpPr>
        <p:spPr>
          <a:xfrm>
            <a:off x="777240" y="1325880"/>
            <a:ext cx="10241280" cy="2926080"/>
          </a:xfrm>
          <a:prstGeom prst="rect">
            <a:avLst/>
          </a:prstGeom>
          <a:noFill/>
          <a:ln/>
        </p:spPr>
        <p:txBody>
          <a:bodyPr wrap="square" lIns="635" tIns="635" rIns="635" bIns="635" rtlCol="0" anchor="ctr">
            <a:normAutofit/>
          </a:bodyPr>
          <a:lstStyle/>
          <a:p>
            <a:r>
              <a:rPr lang="en-US" sz="1620" dirty="0">
                <a:solidFill>
                  <a:srgbClr val="1A1E2A"/>
                </a:solidFill>
              </a:rPr>
              <a:t>ProsusAI FinBERT: Reuters TRC2 + Financial PhraseBank bilgisi nedeniyle PhraseBank örtüşmesi dikkate alınmalı.</a:t>
            </a:r>
            <a:endParaRPr lang="en-US" sz="1620" dirty="0"/>
          </a:p>
          <a:p>
            <a:r>
              <a:rPr lang="en-US" sz="1620" dirty="0">
                <a:solidFill>
                  <a:srgbClr val="1A1E2A"/>
                </a:solidFill>
              </a:rPr>
              <a:t>yiyanghkust FinBERT: 10-K/10-Q, earnings call ve analyst report corpuslarıyla farklı finansal pretraining alternatifi sunar.</a:t>
            </a:r>
            <a:endParaRPr lang="en-US" sz="1620" dirty="0"/>
          </a:p>
          <a:p>
            <a:r>
              <a:rPr lang="en-US" sz="1620" dirty="0">
                <a:solidFill>
                  <a:srgbClr val="1A1E2A"/>
                </a:solidFill>
              </a:rPr>
              <a:t>FinGPT sentiment: PhraseBank ve Twitter Financial News gibi bizim verilerle örtüşebilecek kaynaklar içerir.</a:t>
            </a:r>
            <a:endParaRPr lang="en-US" sz="1620" dirty="0"/>
          </a:p>
          <a:p>
            <a:r>
              <a:rPr lang="en-US" sz="1620" dirty="0">
                <a:solidFill>
                  <a:srgbClr val="1A1E2A"/>
                </a:solidFill>
              </a:rPr>
              <a:t>Yeni model eklenirse, yalnızca skor değil; modelin hangi verileri daha önce görmüş olabileceği de raporlanacak.</a:t>
            </a:r>
            <a:endParaRPr lang="en-US" sz="1620" dirty="0"/>
          </a:p>
        </p:txBody>
      </p:sp>
      <p:sp>
        <p:nvSpPr>
          <p:cNvPr id="5" name="Shape 3"/>
          <p:cNvSpPr/>
          <p:nvPr/>
        </p:nvSpPr>
        <p:spPr>
          <a:xfrm>
            <a:off x="914400" y="5074920"/>
            <a:ext cx="10058400" cy="658368"/>
          </a:xfrm>
          <a:prstGeom prst="roundRect">
            <a:avLst>
              <a:gd name="adj" fmla="val 11111"/>
            </a:avLst>
          </a:prstGeom>
          <a:solidFill>
            <a:srgbClr val="F0FAF8"/>
          </a:solidFill>
          <a:ln w="15240">
            <a:solidFill>
              <a:srgbClr val="F4A62A"/>
            </a:solidFill>
            <a:prstDash val="solid"/>
          </a:ln>
        </p:spPr>
      </p:sp>
      <p:sp>
        <p:nvSpPr>
          <p:cNvPr id="6" name="Text 4"/>
          <p:cNvSpPr/>
          <p:nvPr/>
        </p:nvSpPr>
        <p:spPr>
          <a:xfrm>
            <a:off x="1078992" y="5221224"/>
            <a:ext cx="9729216" cy="429768"/>
          </a:xfrm>
          <a:prstGeom prst="rect">
            <a:avLst/>
          </a:prstGeom>
          <a:noFill/>
          <a:ln/>
        </p:spPr>
        <p:txBody>
          <a:bodyPr wrap="square" lIns="254" tIns="254" rIns="254" bIns="254" rtlCol="0" anchor="ctr">
            <a:normAutofit/>
          </a:bodyPr>
          <a:lstStyle/>
          <a:p>
            <a:pPr marL="0" indent="0">
              <a:buNone/>
            </a:pPr>
            <a:r>
              <a:rPr lang="en-US" sz="1500" b="1" dirty="0">
                <a:solidFill>
                  <a:srgbClr val="172033"/>
                </a:solidFill>
              </a:rPr>
              <a:t>Bu adım, model karşılaştırmalarında data contamination / benchmark overlap riskini daha açık yönetmemizi sağlar.</a:t>
            </a:r>
            <a:endParaRPr lang="en-US" sz="1500" dirty="0"/>
          </a:p>
        </p:txBody>
      </p:sp>
      <p:sp>
        <p:nvSpPr>
          <p:cNvPr id="7" name="Text 5"/>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8" name="Text 6"/>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36</a:t>
            </a:r>
            <a:endParaRPr lang="en-US" sz="850" dirty="0"/>
          </a:p>
        </p:txBody>
      </p:sp>
      <p:sp>
        <p:nvSpPr>
          <p:cNvPr id="9" name="Shape 7"/>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9184"/>
            <a:ext cx="10881360" cy="502920"/>
          </a:xfrm>
          <a:prstGeom prst="rect">
            <a:avLst/>
          </a:prstGeom>
          <a:noFill/>
          <a:ln/>
        </p:spPr>
        <p:txBody>
          <a:bodyPr wrap="square" lIns="0" tIns="0" rIns="0" bIns="0" rtlCol="0" anchor="ctr">
            <a:normAutofit/>
          </a:bodyPr>
          <a:lstStyle/>
          <a:p>
            <a:pPr marL="0" indent="0">
              <a:buNone/>
            </a:pPr>
            <a:r>
              <a:rPr lang="en-US" sz="3100" b="1" dirty="0">
                <a:solidFill>
                  <a:srgbClr val="172033"/>
                </a:solidFill>
                <a:latin typeface="Aptos Display" pitchFamily="34" charset="0"/>
                <a:ea typeface="Aptos Display" pitchFamily="34" charset="-122"/>
                <a:cs typeface="Aptos Display" pitchFamily="34" charset="-120"/>
              </a:rPr>
              <a:t>2 aylık çalışma takvimi</a:t>
            </a:r>
            <a:endParaRPr lang="en-US" sz="3100" dirty="0"/>
          </a:p>
        </p:txBody>
      </p:sp>
      <p:sp>
        <p:nvSpPr>
          <p:cNvPr id="3" name="Text 1"/>
          <p:cNvSpPr/>
          <p:nvPr/>
        </p:nvSpPr>
        <p:spPr>
          <a:xfrm>
            <a:off x="530352" y="868680"/>
            <a:ext cx="10789920" cy="292608"/>
          </a:xfrm>
          <a:prstGeom prst="rect">
            <a:avLst/>
          </a:prstGeom>
          <a:noFill/>
          <a:ln/>
        </p:spPr>
        <p:txBody>
          <a:bodyPr wrap="square" lIns="0" tIns="0" rIns="0" bIns="0" rtlCol="0" anchor="ctr">
            <a:normAutofit/>
          </a:bodyPr>
          <a:lstStyle/>
          <a:p>
            <a:pPr marL="0" indent="0">
              <a:buNone/>
            </a:pPr>
            <a:r>
              <a:rPr lang="en-US" sz="1450" dirty="0">
                <a:solidFill>
                  <a:srgbClr val="5E6A7D"/>
                </a:solidFill>
              </a:rPr>
              <a:t>Önce metodoloji temizliği, sonra yeni deneyler ve makale hazırlığı.</a:t>
            </a:r>
            <a:endParaRPr lang="en-US" sz="1450" dirty="0"/>
          </a:p>
        </p:txBody>
      </p:sp>
      <p:sp>
        <p:nvSpPr>
          <p:cNvPr id="4" name="Shape 2"/>
          <p:cNvSpPr/>
          <p:nvPr/>
        </p:nvSpPr>
        <p:spPr>
          <a:xfrm>
            <a:off x="548640" y="1234440"/>
            <a:ext cx="1555394" cy="605790"/>
          </a:xfrm>
          <a:prstGeom prst="rect">
            <a:avLst/>
          </a:prstGeom>
          <a:solidFill>
            <a:srgbClr val="1D2B46"/>
          </a:solidFill>
          <a:ln w="6350">
            <a:solidFill>
              <a:srgbClr val="DDE3EF"/>
            </a:solidFill>
            <a:prstDash val="solid"/>
          </a:ln>
        </p:spPr>
      </p:sp>
      <p:sp>
        <p:nvSpPr>
          <p:cNvPr id="5" name="Text 3"/>
          <p:cNvSpPr/>
          <p:nvPr/>
        </p:nvSpPr>
        <p:spPr>
          <a:xfrm>
            <a:off x="621792" y="1307592"/>
            <a:ext cx="1409090" cy="514350"/>
          </a:xfrm>
          <a:prstGeom prst="rect">
            <a:avLst/>
          </a:prstGeom>
          <a:noFill/>
          <a:ln/>
        </p:spPr>
        <p:txBody>
          <a:bodyPr wrap="square" lIns="0" tIns="0" rIns="0" bIns="0" rtlCol="0" anchor="ctr">
            <a:normAutofit/>
          </a:bodyPr>
          <a:lstStyle/>
          <a:p>
            <a:pPr marL="0" indent="0">
              <a:buNone/>
            </a:pPr>
            <a:r>
              <a:rPr lang="en-US" sz="1150" b="1" dirty="0">
                <a:solidFill>
                  <a:srgbClr val="FFFFFF"/>
                </a:solidFill>
              </a:rPr>
              <a:t>Hafta</a:t>
            </a:r>
            <a:endParaRPr lang="en-US" sz="1150" dirty="0"/>
          </a:p>
        </p:txBody>
      </p:sp>
      <p:sp>
        <p:nvSpPr>
          <p:cNvPr id="6" name="Shape 4"/>
          <p:cNvSpPr/>
          <p:nvPr/>
        </p:nvSpPr>
        <p:spPr>
          <a:xfrm>
            <a:off x="2104034" y="1234440"/>
            <a:ext cx="9554566" cy="605790"/>
          </a:xfrm>
          <a:prstGeom prst="rect">
            <a:avLst/>
          </a:prstGeom>
          <a:solidFill>
            <a:srgbClr val="1D2B46"/>
          </a:solidFill>
          <a:ln w="6350">
            <a:solidFill>
              <a:srgbClr val="DDE3EF"/>
            </a:solidFill>
            <a:prstDash val="solid"/>
          </a:ln>
        </p:spPr>
      </p:sp>
      <p:sp>
        <p:nvSpPr>
          <p:cNvPr id="7" name="Text 5"/>
          <p:cNvSpPr/>
          <p:nvPr/>
        </p:nvSpPr>
        <p:spPr>
          <a:xfrm>
            <a:off x="2177186" y="1307592"/>
            <a:ext cx="9408262" cy="514350"/>
          </a:xfrm>
          <a:prstGeom prst="rect">
            <a:avLst/>
          </a:prstGeom>
          <a:noFill/>
          <a:ln/>
        </p:spPr>
        <p:txBody>
          <a:bodyPr wrap="square" lIns="0" tIns="0" rIns="0" bIns="0" rtlCol="0" anchor="ctr">
            <a:normAutofit/>
          </a:bodyPr>
          <a:lstStyle/>
          <a:p>
            <a:pPr marL="0" indent="0">
              <a:buNone/>
            </a:pPr>
            <a:r>
              <a:rPr lang="en-US" sz="1150" b="1" dirty="0">
                <a:solidFill>
                  <a:srgbClr val="FFFFFF"/>
                </a:solidFill>
              </a:rPr>
              <a:t>İş paketi</a:t>
            </a:r>
            <a:endParaRPr lang="en-US" sz="1150" dirty="0"/>
          </a:p>
        </p:txBody>
      </p:sp>
      <p:sp>
        <p:nvSpPr>
          <p:cNvPr id="8" name="Shape 6"/>
          <p:cNvSpPr/>
          <p:nvPr/>
        </p:nvSpPr>
        <p:spPr>
          <a:xfrm>
            <a:off x="548640" y="1840230"/>
            <a:ext cx="1555394" cy="605790"/>
          </a:xfrm>
          <a:prstGeom prst="rect">
            <a:avLst/>
          </a:prstGeom>
          <a:solidFill>
            <a:srgbClr val="FFFFFF"/>
          </a:solidFill>
          <a:ln w="6350">
            <a:solidFill>
              <a:srgbClr val="DDE3EF"/>
            </a:solidFill>
            <a:prstDash val="solid"/>
          </a:ln>
        </p:spPr>
      </p:sp>
      <p:sp>
        <p:nvSpPr>
          <p:cNvPr id="9" name="Text 7"/>
          <p:cNvSpPr/>
          <p:nvPr/>
        </p:nvSpPr>
        <p:spPr>
          <a:xfrm>
            <a:off x="621792" y="191338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1–2</a:t>
            </a:r>
            <a:endParaRPr lang="en-US" sz="1220" dirty="0"/>
          </a:p>
        </p:txBody>
      </p:sp>
      <p:sp>
        <p:nvSpPr>
          <p:cNvPr id="10" name="Shape 8"/>
          <p:cNvSpPr/>
          <p:nvPr/>
        </p:nvSpPr>
        <p:spPr>
          <a:xfrm>
            <a:off x="2104034" y="1840230"/>
            <a:ext cx="9554566" cy="605790"/>
          </a:xfrm>
          <a:prstGeom prst="rect">
            <a:avLst/>
          </a:prstGeom>
          <a:solidFill>
            <a:srgbClr val="FFFFFF"/>
          </a:solidFill>
          <a:ln w="6350">
            <a:solidFill>
              <a:srgbClr val="DDE3EF"/>
            </a:solidFill>
            <a:prstDash val="solid"/>
          </a:ln>
        </p:spPr>
      </p:sp>
      <p:sp>
        <p:nvSpPr>
          <p:cNvPr id="11" name="Text 9"/>
          <p:cNvSpPr/>
          <p:nvPr/>
        </p:nvSpPr>
        <p:spPr>
          <a:xfrm>
            <a:off x="2177186" y="191338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Prediction dosyaları, Notebook 17, istatistiksel test pipeline’ı ve README temizliği</a:t>
            </a:r>
            <a:endParaRPr lang="en-US" sz="1220" dirty="0"/>
          </a:p>
        </p:txBody>
      </p:sp>
      <p:sp>
        <p:nvSpPr>
          <p:cNvPr id="12" name="Shape 10"/>
          <p:cNvSpPr/>
          <p:nvPr/>
        </p:nvSpPr>
        <p:spPr>
          <a:xfrm>
            <a:off x="548640" y="2446020"/>
            <a:ext cx="1555394" cy="605790"/>
          </a:xfrm>
          <a:prstGeom prst="rect">
            <a:avLst/>
          </a:prstGeom>
          <a:solidFill>
            <a:srgbClr val="F4F6FB"/>
          </a:solidFill>
          <a:ln w="6350">
            <a:solidFill>
              <a:srgbClr val="DDE3EF"/>
            </a:solidFill>
            <a:prstDash val="solid"/>
          </a:ln>
        </p:spPr>
      </p:sp>
      <p:sp>
        <p:nvSpPr>
          <p:cNvPr id="13" name="Text 11"/>
          <p:cNvSpPr/>
          <p:nvPr/>
        </p:nvSpPr>
        <p:spPr>
          <a:xfrm>
            <a:off x="621792" y="251917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2–3</a:t>
            </a:r>
            <a:endParaRPr lang="en-US" sz="1220" dirty="0"/>
          </a:p>
        </p:txBody>
      </p:sp>
      <p:sp>
        <p:nvSpPr>
          <p:cNvPr id="14" name="Shape 12"/>
          <p:cNvSpPr/>
          <p:nvPr/>
        </p:nvSpPr>
        <p:spPr>
          <a:xfrm>
            <a:off x="2104034" y="2446020"/>
            <a:ext cx="9554566" cy="605790"/>
          </a:xfrm>
          <a:prstGeom prst="rect">
            <a:avLst/>
          </a:prstGeom>
          <a:solidFill>
            <a:srgbClr val="F4F6FB"/>
          </a:solidFill>
          <a:ln w="6350">
            <a:solidFill>
              <a:srgbClr val="DDE3EF"/>
            </a:solidFill>
            <a:prstDash val="solid"/>
          </a:ln>
        </p:spPr>
      </p:sp>
      <p:sp>
        <p:nvSpPr>
          <p:cNvPr id="15" name="Text 13"/>
          <p:cNvSpPr/>
          <p:nvPr/>
        </p:nvSpPr>
        <p:spPr>
          <a:xfrm>
            <a:off x="2177186" y="251917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Üç modelle yeniden etiketleme; consensus / majority / tutarsız örnek raporları</a:t>
            </a:r>
            <a:endParaRPr lang="en-US" sz="1220" dirty="0"/>
          </a:p>
        </p:txBody>
      </p:sp>
      <p:sp>
        <p:nvSpPr>
          <p:cNvPr id="16" name="Shape 14"/>
          <p:cNvSpPr/>
          <p:nvPr/>
        </p:nvSpPr>
        <p:spPr>
          <a:xfrm>
            <a:off x="548640" y="3051810"/>
            <a:ext cx="1555394" cy="605790"/>
          </a:xfrm>
          <a:prstGeom prst="rect">
            <a:avLst/>
          </a:prstGeom>
          <a:solidFill>
            <a:srgbClr val="FFFFFF"/>
          </a:solidFill>
          <a:ln w="6350">
            <a:solidFill>
              <a:srgbClr val="DDE3EF"/>
            </a:solidFill>
            <a:prstDash val="solid"/>
          </a:ln>
        </p:spPr>
      </p:sp>
      <p:sp>
        <p:nvSpPr>
          <p:cNvPr id="17" name="Text 15"/>
          <p:cNvSpPr/>
          <p:nvPr/>
        </p:nvSpPr>
        <p:spPr>
          <a:xfrm>
            <a:off x="621792" y="312496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3–4</a:t>
            </a:r>
            <a:endParaRPr lang="en-US" sz="1220" dirty="0"/>
          </a:p>
        </p:txBody>
      </p:sp>
      <p:sp>
        <p:nvSpPr>
          <p:cNvPr id="18" name="Shape 16"/>
          <p:cNvSpPr/>
          <p:nvPr/>
        </p:nvSpPr>
        <p:spPr>
          <a:xfrm>
            <a:off x="2104034" y="3051810"/>
            <a:ext cx="9554566" cy="605790"/>
          </a:xfrm>
          <a:prstGeom prst="rect">
            <a:avLst/>
          </a:prstGeom>
          <a:solidFill>
            <a:srgbClr val="FFFFFF"/>
          </a:solidFill>
          <a:ln w="6350">
            <a:solidFill>
              <a:srgbClr val="DDE3EF"/>
            </a:solidFill>
            <a:prstDash val="solid"/>
          </a:ln>
        </p:spPr>
      </p:sp>
      <p:sp>
        <p:nvSpPr>
          <p:cNvPr id="19" name="Text 17"/>
          <p:cNvSpPr/>
          <p:nvPr/>
        </p:nvSpPr>
        <p:spPr>
          <a:xfrm>
            <a:off x="2177186" y="312496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Kilitli train/test ayrımı ve consensus veriyle eğitim setini kontrollü büyütme</a:t>
            </a:r>
            <a:endParaRPr lang="en-US" sz="1220" dirty="0"/>
          </a:p>
        </p:txBody>
      </p:sp>
      <p:sp>
        <p:nvSpPr>
          <p:cNvPr id="20" name="Shape 18"/>
          <p:cNvSpPr/>
          <p:nvPr/>
        </p:nvSpPr>
        <p:spPr>
          <a:xfrm>
            <a:off x="548640" y="3657600"/>
            <a:ext cx="1555394" cy="605790"/>
          </a:xfrm>
          <a:prstGeom prst="rect">
            <a:avLst/>
          </a:prstGeom>
          <a:solidFill>
            <a:srgbClr val="F4F6FB"/>
          </a:solidFill>
          <a:ln w="6350">
            <a:solidFill>
              <a:srgbClr val="DDE3EF"/>
            </a:solidFill>
            <a:prstDash val="solid"/>
          </a:ln>
        </p:spPr>
      </p:sp>
      <p:sp>
        <p:nvSpPr>
          <p:cNvPr id="21" name="Text 19"/>
          <p:cNvSpPr/>
          <p:nvPr/>
        </p:nvSpPr>
        <p:spPr>
          <a:xfrm>
            <a:off x="621792" y="373075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4–5</a:t>
            </a:r>
            <a:endParaRPr lang="en-US" sz="1220" dirty="0"/>
          </a:p>
        </p:txBody>
      </p:sp>
      <p:sp>
        <p:nvSpPr>
          <p:cNvPr id="22" name="Shape 20"/>
          <p:cNvSpPr/>
          <p:nvPr/>
        </p:nvSpPr>
        <p:spPr>
          <a:xfrm>
            <a:off x="2104034" y="3657600"/>
            <a:ext cx="9554566" cy="605790"/>
          </a:xfrm>
          <a:prstGeom prst="rect">
            <a:avLst/>
          </a:prstGeom>
          <a:solidFill>
            <a:srgbClr val="F4F6FB"/>
          </a:solidFill>
          <a:ln w="6350">
            <a:solidFill>
              <a:srgbClr val="DDE3EF"/>
            </a:solidFill>
            <a:prstDash val="solid"/>
          </a:ln>
        </p:spPr>
      </p:sp>
      <p:sp>
        <p:nvSpPr>
          <p:cNvPr id="23" name="Text 21"/>
          <p:cNvSpPr/>
          <p:nvPr/>
        </p:nvSpPr>
        <p:spPr>
          <a:xfrm>
            <a:off x="2177186" y="373075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Fine-tuning miktarı deneyi ve veri kompozisyonu deneyleri</a:t>
            </a:r>
            <a:endParaRPr lang="en-US" sz="1220" dirty="0"/>
          </a:p>
        </p:txBody>
      </p:sp>
      <p:sp>
        <p:nvSpPr>
          <p:cNvPr id="24" name="Shape 22"/>
          <p:cNvSpPr/>
          <p:nvPr/>
        </p:nvSpPr>
        <p:spPr>
          <a:xfrm>
            <a:off x="548640" y="4263390"/>
            <a:ext cx="1555394" cy="605790"/>
          </a:xfrm>
          <a:prstGeom prst="rect">
            <a:avLst/>
          </a:prstGeom>
          <a:solidFill>
            <a:srgbClr val="FFFFFF"/>
          </a:solidFill>
          <a:ln w="6350">
            <a:solidFill>
              <a:srgbClr val="DDE3EF"/>
            </a:solidFill>
            <a:prstDash val="solid"/>
          </a:ln>
        </p:spPr>
      </p:sp>
      <p:sp>
        <p:nvSpPr>
          <p:cNvPr id="25" name="Text 23"/>
          <p:cNvSpPr/>
          <p:nvPr/>
        </p:nvSpPr>
        <p:spPr>
          <a:xfrm>
            <a:off x="621792" y="433654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5–6</a:t>
            </a:r>
            <a:endParaRPr lang="en-US" sz="1220" dirty="0"/>
          </a:p>
        </p:txBody>
      </p:sp>
      <p:sp>
        <p:nvSpPr>
          <p:cNvPr id="26" name="Shape 24"/>
          <p:cNvSpPr/>
          <p:nvPr/>
        </p:nvSpPr>
        <p:spPr>
          <a:xfrm>
            <a:off x="2104034" y="4263390"/>
            <a:ext cx="9554566" cy="605790"/>
          </a:xfrm>
          <a:prstGeom prst="rect">
            <a:avLst/>
          </a:prstGeom>
          <a:solidFill>
            <a:srgbClr val="FFFFFF"/>
          </a:solidFill>
          <a:ln w="6350">
            <a:solidFill>
              <a:srgbClr val="DDE3EF"/>
            </a:solidFill>
            <a:prstDash val="solid"/>
          </a:ln>
        </p:spPr>
      </p:sp>
      <p:sp>
        <p:nvSpPr>
          <p:cNvPr id="27" name="Text 25"/>
          <p:cNvSpPr/>
          <p:nvPr/>
        </p:nvSpPr>
        <p:spPr>
          <a:xfrm>
            <a:off x="2177186" y="433654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Label semantics ve hata kategorileri analizi</a:t>
            </a:r>
            <a:endParaRPr lang="en-US" sz="1220" dirty="0"/>
          </a:p>
        </p:txBody>
      </p:sp>
      <p:sp>
        <p:nvSpPr>
          <p:cNvPr id="28" name="Shape 26"/>
          <p:cNvSpPr/>
          <p:nvPr/>
        </p:nvSpPr>
        <p:spPr>
          <a:xfrm>
            <a:off x="548640" y="4869180"/>
            <a:ext cx="1555394" cy="605790"/>
          </a:xfrm>
          <a:prstGeom prst="rect">
            <a:avLst/>
          </a:prstGeom>
          <a:solidFill>
            <a:srgbClr val="F4F6FB"/>
          </a:solidFill>
          <a:ln w="6350">
            <a:solidFill>
              <a:srgbClr val="DDE3EF"/>
            </a:solidFill>
            <a:prstDash val="solid"/>
          </a:ln>
        </p:spPr>
      </p:sp>
      <p:sp>
        <p:nvSpPr>
          <p:cNvPr id="29" name="Text 27"/>
          <p:cNvSpPr/>
          <p:nvPr/>
        </p:nvSpPr>
        <p:spPr>
          <a:xfrm>
            <a:off x="621792" y="494233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6–7</a:t>
            </a:r>
            <a:endParaRPr lang="en-US" sz="1220" dirty="0"/>
          </a:p>
        </p:txBody>
      </p:sp>
      <p:sp>
        <p:nvSpPr>
          <p:cNvPr id="30" name="Shape 28"/>
          <p:cNvSpPr/>
          <p:nvPr/>
        </p:nvSpPr>
        <p:spPr>
          <a:xfrm>
            <a:off x="2104034" y="4869180"/>
            <a:ext cx="9554566" cy="605790"/>
          </a:xfrm>
          <a:prstGeom prst="rect">
            <a:avLst/>
          </a:prstGeom>
          <a:solidFill>
            <a:srgbClr val="F4F6FB"/>
          </a:solidFill>
          <a:ln w="6350">
            <a:solidFill>
              <a:srgbClr val="DDE3EF"/>
            </a:solidFill>
            <a:prstDash val="solid"/>
          </a:ln>
        </p:spPr>
      </p:sp>
      <p:sp>
        <p:nvSpPr>
          <p:cNvPr id="31" name="Text 29"/>
          <p:cNvSpPr/>
          <p:nvPr/>
        </p:nvSpPr>
        <p:spPr>
          <a:xfrm>
            <a:off x="2177186" y="494233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Calibration, efficiency, gerekirse LoRA/PEFT veya financial RoBERTa karşılaştırması</a:t>
            </a:r>
            <a:endParaRPr lang="en-US" sz="1220" dirty="0"/>
          </a:p>
        </p:txBody>
      </p:sp>
      <p:sp>
        <p:nvSpPr>
          <p:cNvPr id="32" name="Shape 30"/>
          <p:cNvSpPr/>
          <p:nvPr/>
        </p:nvSpPr>
        <p:spPr>
          <a:xfrm>
            <a:off x="548640" y="5474970"/>
            <a:ext cx="1555394" cy="605790"/>
          </a:xfrm>
          <a:prstGeom prst="rect">
            <a:avLst/>
          </a:prstGeom>
          <a:solidFill>
            <a:srgbClr val="FFFFFF"/>
          </a:solidFill>
          <a:ln w="6350">
            <a:solidFill>
              <a:srgbClr val="DDE3EF"/>
            </a:solidFill>
            <a:prstDash val="solid"/>
          </a:ln>
        </p:spPr>
      </p:sp>
      <p:sp>
        <p:nvSpPr>
          <p:cNvPr id="33" name="Text 31"/>
          <p:cNvSpPr/>
          <p:nvPr/>
        </p:nvSpPr>
        <p:spPr>
          <a:xfrm>
            <a:off x="621792" y="5548122"/>
            <a:ext cx="1409090"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8</a:t>
            </a:r>
            <a:endParaRPr lang="en-US" sz="1220" dirty="0"/>
          </a:p>
        </p:txBody>
      </p:sp>
      <p:sp>
        <p:nvSpPr>
          <p:cNvPr id="34" name="Shape 32"/>
          <p:cNvSpPr/>
          <p:nvPr/>
        </p:nvSpPr>
        <p:spPr>
          <a:xfrm>
            <a:off x="2104034" y="5474970"/>
            <a:ext cx="9554566" cy="605790"/>
          </a:xfrm>
          <a:prstGeom prst="rect">
            <a:avLst/>
          </a:prstGeom>
          <a:solidFill>
            <a:srgbClr val="FFFFFF"/>
          </a:solidFill>
          <a:ln w="6350">
            <a:solidFill>
              <a:srgbClr val="DDE3EF"/>
            </a:solidFill>
            <a:prstDash val="solid"/>
          </a:ln>
        </p:spPr>
      </p:sp>
      <p:sp>
        <p:nvSpPr>
          <p:cNvPr id="35" name="Text 33"/>
          <p:cNvSpPr/>
          <p:nvPr/>
        </p:nvSpPr>
        <p:spPr>
          <a:xfrm>
            <a:off x="2177186" y="5548122"/>
            <a:ext cx="9408262" cy="514350"/>
          </a:xfrm>
          <a:prstGeom prst="rect">
            <a:avLst/>
          </a:prstGeom>
          <a:noFill/>
          <a:ln/>
        </p:spPr>
        <p:txBody>
          <a:bodyPr wrap="square" lIns="0" tIns="0" rIns="0" bIns="0" rtlCol="0" anchor="ctr">
            <a:normAutofit/>
          </a:bodyPr>
          <a:lstStyle/>
          <a:p>
            <a:pPr marL="0" indent="0">
              <a:buNone/>
            </a:pPr>
            <a:r>
              <a:rPr lang="en-US" sz="1220" dirty="0">
                <a:solidFill>
                  <a:srgbClr val="1A1E2A"/>
                </a:solidFill>
              </a:rPr>
              <a:t>Grafikler, tablolar, tez revizyonu ve makale taslağı</a:t>
            </a:r>
            <a:endParaRPr lang="en-US" sz="1220" dirty="0"/>
          </a:p>
        </p:txBody>
      </p:sp>
      <p:sp>
        <p:nvSpPr>
          <p:cNvPr id="36" name="Text 34"/>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37" name="Text 35"/>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37</a:t>
            </a:r>
            <a:endParaRPr lang="en-US" sz="850" dirty="0"/>
          </a:p>
        </p:txBody>
      </p:sp>
      <p:sp>
        <p:nvSpPr>
          <p:cNvPr id="38" name="Shape 36"/>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72033"/>
        </a:solidFill>
        <a:effectLst/>
      </p:bgPr>
    </p:bg>
    <p:spTree>
      <p:nvGrpSpPr>
        <p:cNvPr id="1" name=""/>
        <p:cNvGrpSpPr/>
        <p:nvPr/>
      </p:nvGrpSpPr>
      <p:grpSpPr>
        <a:xfrm>
          <a:off x="0" y="0"/>
          <a:ext cx="0" cy="0"/>
          <a:chOff x="0" y="0"/>
          <a:chExt cx="0" cy="0"/>
        </a:xfrm>
      </p:grpSpPr>
      <p:sp>
        <p:nvSpPr>
          <p:cNvPr id="2" name="Text 0"/>
          <p:cNvSpPr/>
          <p:nvPr/>
        </p:nvSpPr>
        <p:spPr>
          <a:xfrm>
            <a:off x="731520" y="2148840"/>
            <a:ext cx="10789920" cy="502920"/>
          </a:xfrm>
          <a:prstGeom prst="rect">
            <a:avLst/>
          </a:prstGeom>
          <a:noFill/>
          <a:ln/>
        </p:spPr>
        <p:txBody>
          <a:bodyPr wrap="square" lIns="0" tIns="0" rIns="0" bIns="0" rtlCol="0" anchor="ctr"/>
          <a:lstStyle/>
          <a:p>
            <a:pPr marL="0" indent="0" algn="ctr">
              <a:buNone/>
            </a:pPr>
            <a:r>
              <a:rPr lang="en-US" sz="3800" b="1" dirty="0">
                <a:solidFill>
                  <a:srgbClr val="FFFFFF"/>
                </a:solidFill>
              </a:rPr>
              <a:t>Teşekkürler</a:t>
            </a:r>
            <a:endParaRPr lang="en-US" sz="3800" dirty="0"/>
          </a:p>
        </p:txBody>
      </p:sp>
      <p:sp>
        <p:nvSpPr>
          <p:cNvPr id="3" name="Text 1"/>
          <p:cNvSpPr/>
          <p:nvPr/>
        </p:nvSpPr>
        <p:spPr>
          <a:xfrm>
            <a:off x="731520" y="2880360"/>
            <a:ext cx="10789920" cy="320040"/>
          </a:xfrm>
          <a:prstGeom prst="rect">
            <a:avLst/>
          </a:prstGeom>
          <a:noFill/>
          <a:ln/>
        </p:spPr>
        <p:txBody>
          <a:bodyPr wrap="square" lIns="0" tIns="0" rIns="0" bIns="0" rtlCol="0" anchor="ctr"/>
          <a:lstStyle/>
          <a:p>
            <a:pPr marL="0" indent="0" algn="ctr">
              <a:buNone/>
            </a:pPr>
            <a:r>
              <a:rPr lang="en-US" sz="2100" dirty="0">
                <a:solidFill>
                  <a:srgbClr val="DCE6FF"/>
                </a:solidFill>
              </a:rPr>
              <a:t>Sorular ve görüşler</a:t>
            </a:r>
            <a:endParaRPr lang="en-US" sz="2100" dirty="0"/>
          </a:p>
        </p:txBody>
      </p:sp>
      <p:sp>
        <p:nvSpPr>
          <p:cNvPr id="4" name="Text 2"/>
          <p:cNvSpPr/>
          <p:nvPr/>
        </p:nvSpPr>
        <p:spPr>
          <a:xfrm>
            <a:off x="1463040" y="3977640"/>
            <a:ext cx="9326880" cy="594360"/>
          </a:xfrm>
          <a:prstGeom prst="rect">
            <a:avLst/>
          </a:prstGeom>
          <a:noFill/>
          <a:ln/>
        </p:spPr>
        <p:txBody>
          <a:bodyPr wrap="square" lIns="0" tIns="0" rIns="0" bIns="0" rtlCol="0" anchor="ctr">
            <a:normAutofit/>
          </a:bodyPr>
          <a:lstStyle/>
          <a:p>
            <a:pPr marL="0" indent="0" algn="ctr">
              <a:buNone/>
            </a:pPr>
            <a:r>
              <a:rPr lang="en-US" sz="1800" b="1" dirty="0">
                <a:solidFill>
                  <a:srgbClr val="FFFFFF"/>
                </a:solidFill>
              </a:rPr>
              <a:t>Ana mesaj: İç test başarısı önemli; ancak finansal NLP’de gerçek değer, farklı veri kaynaklarında güvenilir genelleme sağlayabilmektir.</a:t>
            </a:r>
            <a:endParaRPr lang="en-US" sz="1800" dirty="0"/>
          </a:p>
        </p:txBody>
      </p:sp>
      <p:sp>
        <p:nvSpPr>
          <p:cNvPr id="5" name="Text 3"/>
          <p:cNvSpPr/>
          <p:nvPr/>
        </p:nvSpPr>
        <p:spPr>
          <a:xfrm>
            <a:off x="502920" y="6473952"/>
            <a:ext cx="3931920" cy="182880"/>
          </a:xfrm>
          <a:prstGeom prst="rect">
            <a:avLst/>
          </a:prstGeom>
          <a:noFill/>
          <a:ln/>
        </p:spPr>
        <p:txBody>
          <a:bodyPr wrap="square" lIns="0" tIns="0" rIns="0" bIns="0" rtlCol="0" anchor="ctr"/>
          <a:lstStyle/>
          <a:p>
            <a:pPr marL="0" indent="0">
              <a:buNone/>
            </a:pPr>
            <a:r>
              <a:rPr lang="en-US" sz="850" dirty="0">
                <a:solidFill>
                  <a:srgbClr val="5E6A7D"/>
                </a:solidFill>
              </a:rPr>
              <a:t>Tez savunması</a:t>
            </a:r>
            <a:endParaRPr lang="en-US" sz="850" dirty="0"/>
          </a:p>
        </p:txBody>
      </p:sp>
      <p:sp>
        <p:nvSpPr>
          <p:cNvPr id="6" name="Text 4"/>
          <p:cNvSpPr/>
          <p:nvPr/>
        </p:nvSpPr>
        <p:spPr>
          <a:xfrm>
            <a:off x="11247120" y="6455664"/>
            <a:ext cx="411480" cy="182880"/>
          </a:xfrm>
          <a:prstGeom prst="rect">
            <a:avLst/>
          </a:prstGeom>
          <a:noFill/>
          <a:ln/>
        </p:spPr>
        <p:txBody>
          <a:bodyPr wrap="square" lIns="0" tIns="0" rIns="0" bIns="0" rtlCol="0" anchor="ctr"/>
          <a:lstStyle/>
          <a:p>
            <a:pPr marL="0" indent="0" algn="r">
              <a:buNone/>
            </a:pPr>
            <a:r>
              <a:rPr lang="en-US" sz="850" dirty="0">
                <a:solidFill>
                  <a:srgbClr val="5E6A7D"/>
                </a:solidFill>
              </a:rPr>
              <a:t>38</a:t>
            </a:r>
            <a:endParaRPr lang="en-US" sz="850" dirty="0"/>
          </a:p>
        </p:txBody>
      </p:sp>
      <p:sp>
        <p:nvSpPr>
          <p:cNvPr id="7" name="Shape 5"/>
          <p:cNvSpPr/>
          <p:nvPr/>
        </p:nvSpPr>
        <p:spPr>
          <a:xfrm>
            <a:off x="502920" y="6327648"/>
            <a:ext cx="11201400" cy="0"/>
          </a:xfrm>
          <a:prstGeom prst="line">
            <a:avLst/>
          </a:prstGeom>
          <a:noFill/>
          <a:ln w="12700">
            <a:solidFill>
              <a:srgbClr val="E8ECF5"/>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4729</Words>
  <Application>Microsoft Office PowerPoint</Application>
  <PresentationFormat>Widescreen</PresentationFormat>
  <Paragraphs>647</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with 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Tez Savunma Sunumu - Serkan Kaymak</dc:title>
  <dc:subject>Finansal Duygu Analizinde Transformer Modellerinin Karşılaştırılması</dc:subject>
  <dc:creator>Serkan Kaymak</dc:creator>
  <cp:lastModifiedBy>serkan kaymak</cp:lastModifiedBy>
  <cp:revision>2</cp:revision>
  <dcterms:created xsi:type="dcterms:W3CDTF">2026-08-25T16:59:26Z</dcterms:created>
  <dcterms:modified xsi:type="dcterms:W3CDTF">2026-08-25T17:22:22Z</dcterms:modified>
</cp:coreProperties>
</file>